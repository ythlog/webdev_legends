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1" r:id="rId15"/>
    <p:sldId id="280" r:id="rId16"/>
    <p:sldId id="272" r:id="rId17"/>
    <p:sldId id="281" r:id="rId18"/>
    <p:sldId id="273" r:id="rId19"/>
    <p:sldId id="274" r:id="rId20"/>
    <p:sldId id="275" r:id="rId21"/>
    <p:sldId id="276" r:id="rId22"/>
    <p:sldId id="277" r:id="rId23"/>
    <p:sldId id="278" r:id="rId24"/>
    <p:sldId id="279" r:id="rId25"/>
    <p:sldId id="282" r:id="rId26"/>
    <p:sldId id="283"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111" d="100"/>
          <a:sy n="111"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6DC65D-E695-47CF-8404-1BAB502D69F8}"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825D40-8A47-49EC-A884-0F8882D734BC}" type="slidenum">
              <a:rPr lang="en-US" smtClean="0"/>
              <a:t>‹#›</a:t>
            </a:fld>
            <a:endParaRPr lang="en-US"/>
          </a:p>
        </p:txBody>
      </p:sp>
    </p:spTree>
    <p:extLst>
      <p:ext uri="{BB962C8B-B14F-4D97-AF65-F5344CB8AC3E}">
        <p14:creationId xmlns:p14="http://schemas.microsoft.com/office/powerpoint/2010/main" val="132541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825D40-8A47-49EC-A884-0F8882D734BC}" type="slidenum">
              <a:rPr lang="en-US" smtClean="0"/>
              <a:t>9</a:t>
            </a:fld>
            <a:endParaRPr lang="en-US"/>
          </a:p>
        </p:txBody>
      </p:sp>
    </p:spTree>
    <p:extLst>
      <p:ext uri="{BB962C8B-B14F-4D97-AF65-F5344CB8AC3E}">
        <p14:creationId xmlns:p14="http://schemas.microsoft.com/office/powerpoint/2010/main" val="2002332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825D40-8A47-49EC-A884-0F8882D734BC}" type="slidenum">
              <a:rPr lang="en-US" smtClean="0"/>
              <a:t>13</a:t>
            </a:fld>
            <a:endParaRPr lang="en-US"/>
          </a:p>
        </p:txBody>
      </p:sp>
    </p:spTree>
    <p:extLst>
      <p:ext uri="{BB962C8B-B14F-4D97-AF65-F5344CB8AC3E}">
        <p14:creationId xmlns:p14="http://schemas.microsoft.com/office/powerpoint/2010/main" val="1203605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8A2BA-E20D-4C9B-85C2-34DC9539F1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91C03A-8C5F-45A5-B0EC-06AE15F6D8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BECEA1-2FEE-4703-86F4-53320DB3E79E}"/>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5" name="Footer Placeholder 4">
            <a:extLst>
              <a:ext uri="{FF2B5EF4-FFF2-40B4-BE49-F238E27FC236}">
                <a16:creationId xmlns:a16="http://schemas.microsoft.com/office/drawing/2014/main" id="{A1381A12-C539-4965-ABB0-49F40393F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B6876D-8CAA-40B3-9B61-B8355017103E}"/>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113524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83AA3-C3F6-4C2B-8791-98B3D02B94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51B865-BCFC-4385-804E-038DEFF560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A97A8-7C9D-4AC6-9264-6EF369070529}"/>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5" name="Footer Placeholder 4">
            <a:extLst>
              <a:ext uri="{FF2B5EF4-FFF2-40B4-BE49-F238E27FC236}">
                <a16:creationId xmlns:a16="http://schemas.microsoft.com/office/drawing/2014/main" id="{6A4F8A10-C109-4D3F-9C1D-932BBFAE61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D334A-6D90-4557-84EA-C3B9E7976B4B}"/>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325197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82EB8-DF5F-4A0D-B714-69C8A7C9B5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3511F9-214C-4CB4-AF32-FD26A6A393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C30DA9-DD32-4380-A2D7-38DAD0C6115E}"/>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5" name="Footer Placeholder 4">
            <a:extLst>
              <a:ext uri="{FF2B5EF4-FFF2-40B4-BE49-F238E27FC236}">
                <a16:creationId xmlns:a16="http://schemas.microsoft.com/office/drawing/2014/main" id="{5A326114-407E-44CF-9AC5-00EDE4AC9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0B78D0-F6B9-47D1-838D-D4431DF37935}"/>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3474600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A3EF-01E8-40D7-B391-2E58079F19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D0D328-5EEB-4822-B28C-535CAF5750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E760A9-4828-40FC-BEBA-E0D4C63614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8C0A44-84B7-4915-A1E2-0FA05B52C403}"/>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6" name="Footer Placeholder 5">
            <a:extLst>
              <a:ext uri="{FF2B5EF4-FFF2-40B4-BE49-F238E27FC236}">
                <a16:creationId xmlns:a16="http://schemas.microsoft.com/office/drawing/2014/main" id="{6C1672B8-7F42-4248-8833-C554B16AE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3AB16A-88F2-43BB-8DBD-F2D20C220E7B}"/>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2840464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319D-045A-47E1-9953-A31FAE20D0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D6E755-2569-4E68-8FCC-498EF7CEA9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CB8A7-6BAD-4AD6-862B-8FF8453F59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F787D5-CA72-4D42-B78C-BA4D3F1EEE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44E065-3C01-414F-AD59-ACDB923D06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29A0A3-3FAE-4509-9F6C-CC2AB0E7435D}"/>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8" name="Footer Placeholder 7">
            <a:extLst>
              <a:ext uri="{FF2B5EF4-FFF2-40B4-BE49-F238E27FC236}">
                <a16:creationId xmlns:a16="http://schemas.microsoft.com/office/drawing/2014/main" id="{2D5B70EB-37C8-47FD-9918-E99D6F1000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A9FBBE-2706-41EC-BC5A-FC27EAAD8FAC}"/>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696269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C5B09-BDDD-47E5-9C0C-65EA24E752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90E632-5C56-49BB-BE5D-E37075F04388}"/>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4" name="Footer Placeholder 3">
            <a:extLst>
              <a:ext uri="{FF2B5EF4-FFF2-40B4-BE49-F238E27FC236}">
                <a16:creationId xmlns:a16="http://schemas.microsoft.com/office/drawing/2014/main" id="{6DA4B1E9-BD05-4618-AA4D-EC16A9861B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9E522B-6FA2-4DC5-B2FA-E9A9909D6875}"/>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3850674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0E664F-B76D-4F43-B342-750D5EEC15B4}"/>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3" name="Footer Placeholder 2">
            <a:extLst>
              <a:ext uri="{FF2B5EF4-FFF2-40B4-BE49-F238E27FC236}">
                <a16:creationId xmlns:a16="http://schemas.microsoft.com/office/drawing/2014/main" id="{F84E68B5-0978-4ED5-9574-4CBEB8601D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BC44DF-1A21-4385-B5C2-1F4992523941}"/>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3180598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5509-C547-45E4-BDF6-BDB0272C97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07C2A1-EAA9-441C-82F5-1D856624DA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B71AFE-2E5B-450C-8A81-DF11538F6E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7E670-6D71-4AD6-A405-C33B38A24790}"/>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6" name="Footer Placeholder 5">
            <a:extLst>
              <a:ext uri="{FF2B5EF4-FFF2-40B4-BE49-F238E27FC236}">
                <a16:creationId xmlns:a16="http://schemas.microsoft.com/office/drawing/2014/main" id="{418BD36E-2AAD-492B-BDD6-B861632174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6273B7-EEDF-44E7-91E6-27147306DA48}"/>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61750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CCC0D-879A-4AEE-A10E-752108D26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A30DD0-9217-4B3F-B687-4E71703D44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2D742D-9DE9-4A68-A01E-13B4F1B8C0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BBB070-42C5-42B2-B6E6-A8A05C184BCE}"/>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6" name="Footer Placeholder 5">
            <a:extLst>
              <a:ext uri="{FF2B5EF4-FFF2-40B4-BE49-F238E27FC236}">
                <a16:creationId xmlns:a16="http://schemas.microsoft.com/office/drawing/2014/main" id="{71C65D22-FD5E-42F7-B0E3-678D83AD68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91E4E2-20B2-41E6-8754-F1AB41D56F5F}"/>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3397057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6BD52-417E-4C6E-BAB3-997EC6B0EF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341020-299E-4B0C-A28F-FD40AD11BC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B4FFCB-C07F-4B78-9282-66C75332FFA8}"/>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5" name="Footer Placeholder 4">
            <a:extLst>
              <a:ext uri="{FF2B5EF4-FFF2-40B4-BE49-F238E27FC236}">
                <a16:creationId xmlns:a16="http://schemas.microsoft.com/office/drawing/2014/main" id="{EC337B69-B5AA-470C-802A-771815D91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73AF6C-4ACE-4553-B672-CC1D25AFE613}"/>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2671233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5D3BEE-D0A4-4526-B2C8-AD6F08FEB4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C22D59-9B57-4047-BCAC-6ACDD5D66B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3DED4F-C171-49A7-A349-AED40254A851}"/>
              </a:ext>
            </a:extLst>
          </p:cNvPr>
          <p:cNvSpPr>
            <a:spLocks noGrp="1"/>
          </p:cNvSpPr>
          <p:nvPr>
            <p:ph type="dt" sz="half" idx="10"/>
          </p:nvPr>
        </p:nvSpPr>
        <p:spPr/>
        <p:txBody>
          <a:bodyPr/>
          <a:lstStyle/>
          <a:p>
            <a:fld id="{7413961A-5AE7-498C-A496-0025CB0C071C}" type="datetimeFigureOut">
              <a:rPr lang="en-US" smtClean="0"/>
              <a:t>5/11/2026</a:t>
            </a:fld>
            <a:endParaRPr lang="en-US"/>
          </a:p>
        </p:txBody>
      </p:sp>
      <p:sp>
        <p:nvSpPr>
          <p:cNvPr id="5" name="Footer Placeholder 4">
            <a:extLst>
              <a:ext uri="{FF2B5EF4-FFF2-40B4-BE49-F238E27FC236}">
                <a16:creationId xmlns:a16="http://schemas.microsoft.com/office/drawing/2014/main" id="{884DAD95-3EC5-4D53-A10F-04385B55AD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2CE5D1-9729-48E9-889A-E1A7B58D8F9F}"/>
              </a:ext>
            </a:extLst>
          </p:cNvPr>
          <p:cNvSpPr>
            <a:spLocks noGrp="1"/>
          </p:cNvSpPr>
          <p:nvPr>
            <p:ph type="sldNum" sz="quarter" idx="12"/>
          </p:nvPr>
        </p:nvSpPr>
        <p:spPr/>
        <p:txBody>
          <a:bodyPr/>
          <a:lstStyle/>
          <a:p>
            <a:fld id="{AE7D7347-867B-4ACF-9E7F-EF9EAD3144DB}" type="slidenum">
              <a:rPr lang="en-US" smtClean="0"/>
              <a:t>‹#›</a:t>
            </a:fld>
            <a:endParaRPr lang="en-US"/>
          </a:p>
        </p:txBody>
      </p:sp>
    </p:spTree>
    <p:extLst>
      <p:ext uri="{BB962C8B-B14F-4D97-AF65-F5344CB8AC3E}">
        <p14:creationId xmlns:p14="http://schemas.microsoft.com/office/powerpoint/2010/main" val="3669075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4720E1-BFA3-4D0E-BE0F-9E19C1658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5487D-9927-4E0B-9D8E-477711F22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5725F-3622-4846-82F8-8AEBB4A55F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13961A-5AE7-498C-A496-0025CB0C071C}" type="datetimeFigureOut">
              <a:rPr lang="en-US" smtClean="0"/>
              <a:t>5/11/2026</a:t>
            </a:fld>
            <a:endParaRPr lang="en-US"/>
          </a:p>
        </p:txBody>
      </p:sp>
      <p:sp>
        <p:nvSpPr>
          <p:cNvPr id="5" name="Footer Placeholder 4">
            <a:extLst>
              <a:ext uri="{FF2B5EF4-FFF2-40B4-BE49-F238E27FC236}">
                <a16:creationId xmlns:a16="http://schemas.microsoft.com/office/drawing/2014/main" id="{1BED69F5-CC2D-4561-8EA0-FC5C9DA560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EB0BB3-5208-47FE-8F67-3F29DD5700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7D7347-867B-4ACF-9E7F-EF9EAD3144DB}" type="slidenum">
              <a:rPr lang="en-US" smtClean="0"/>
              <a:t>‹#›</a:t>
            </a:fld>
            <a:endParaRPr lang="en-US"/>
          </a:p>
        </p:txBody>
      </p:sp>
    </p:spTree>
    <p:extLst>
      <p:ext uri="{BB962C8B-B14F-4D97-AF65-F5344CB8AC3E}">
        <p14:creationId xmlns:p14="http://schemas.microsoft.com/office/powerpoint/2010/main" val="3533307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18A7-F4C4-40F9-8051-A6D98E0E33CC}"/>
              </a:ext>
            </a:extLst>
          </p:cNvPr>
          <p:cNvSpPr>
            <a:spLocks noGrp="1"/>
          </p:cNvSpPr>
          <p:nvPr>
            <p:ph type="ctrTitle"/>
          </p:nvPr>
        </p:nvSpPr>
        <p:spPr/>
        <p:txBody>
          <a:bodyPr>
            <a:normAutofit/>
          </a:bodyPr>
          <a:lstStyle/>
          <a:p>
            <a:r>
              <a:rPr lang="en-US" sz="4000" dirty="0">
                <a:latin typeface="Arial" panose="020B0604020202020204" pitchFamily="34" charset="0"/>
                <a:cs typeface="Arial" panose="020B0604020202020204" pitchFamily="34" charset="0"/>
              </a:rPr>
              <a:t>TRANSPORTATION PROBLEM</a:t>
            </a:r>
          </a:p>
        </p:txBody>
      </p:sp>
    </p:spTree>
    <p:extLst>
      <p:ext uri="{BB962C8B-B14F-4D97-AF65-F5344CB8AC3E}">
        <p14:creationId xmlns:p14="http://schemas.microsoft.com/office/powerpoint/2010/main" val="41648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6FC5-C364-4BC3-B369-353C60641D81}"/>
              </a:ext>
            </a:extLst>
          </p:cNvPr>
          <p:cNvSpPr>
            <a:spLocks noGrp="1"/>
          </p:cNvSpPr>
          <p:nvPr>
            <p:ph type="title"/>
          </p:nvPr>
        </p:nvSpPr>
        <p:spPr>
          <a:xfrm>
            <a:off x="214256" y="214519"/>
            <a:ext cx="11737489" cy="581548"/>
          </a:xfrm>
        </p:spPr>
        <p:txBody>
          <a:bodyPr>
            <a:normAutofit/>
          </a:bodyPr>
          <a:lstStyle/>
          <a:p>
            <a:r>
              <a:rPr lang="en-US" sz="2800" b="1" i="0" dirty="0">
                <a:solidFill>
                  <a:srgbClr val="273239"/>
                </a:solidFill>
                <a:effectLst/>
                <a:latin typeface="Arial" panose="020B0604020202020204" pitchFamily="34" charset="0"/>
                <a:cs typeface="Arial" panose="020B0604020202020204" pitchFamily="34" charset="0"/>
              </a:rPr>
              <a:t>Transportation problem</a:t>
            </a:r>
            <a:r>
              <a:rPr lang="en-US" sz="2800" b="0" i="0" dirty="0">
                <a:solidFill>
                  <a:srgbClr val="273239"/>
                </a:solidFill>
                <a:effectLst/>
                <a:latin typeface="Arial" panose="020B0604020202020204" pitchFamily="34" charset="0"/>
                <a:cs typeface="Arial" panose="020B0604020202020204" pitchFamily="34" charset="0"/>
              </a:rPr>
              <a:t> </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397137" y="1043492"/>
            <a:ext cx="11457790" cy="5464883"/>
          </a:xfrm>
        </p:spPr>
        <p:txBody>
          <a:bodyPr/>
          <a:lstStyle/>
          <a:p>
            <a:pPr algn="just"/>
            <a:r>
              <a:rPr lang="en-US" sz="2400" b="0" i="0" dirty="0">
                <a:solidFill>
                  <a:srgbClr val="374151"/>
                </a:solidFill>
                <a:effectLst/>
                <a:latin typeface="Arial" panose="020B0604020202020204" pitchFamily="34" charset="0"/>
                <a:cs typeface="Arial" panose="020B0604020202020204" pitchFamily="34" charset="0"/>
              </a:rPr>
              <a:t>Transportation problems are a type of linear programming problems that involve determining the optimal allocation of goods or resources from a set of supply points (e.g., factories, warehouses) to a set of demand points (e.g., customers, distribution centers) while minimizing or maximizing certain objective functions, typically cost or profit.</a:t>
            </a:r>
          </a:p>
          <a:p>
            <a:pPr marL="0" indent="0" algn="just">
              <a:buNone/>
            </a:pPr>
            <a:endParaRPr lang="en-US" sz="2400" dirty="0">
              <a:solidFill>
                <a:srgbClr val="374151"/>
              </a:solidFill>
              <a:latin typeface="Arial" panose="020B0604020202020204" pitchFamily="34" charset="0"/>
              <a:cs typeface="Arial" panose="020B0604020202020204" pitchFamily="34" charset="0"/>
            </a:endParaRPr>
          </a:p>
          <a:p>
            <a:pPr algn="just"/>
            <a:r>
              <a:rPr lang="en-US" sz="2400" b="0" i="0" dirty="0">
                <a:solidFill>
                  <a:srgbClr val="374151"/>
                </a:solidFill>
                <a:effectLst/>
                <a:latin typeface="Arial" panose="020B0604020202020204" pitchFamily="34" charset="0"/>
                <a:cs typeface="Arial" panose="020B0604020202020204" pitchFamily="34" charset="0"/>
              </a:rPr>
              <a:t>Transportation problems are relevant in various industries, including logistics, supply chain management, and operations research. They can help organizations optimize their transportation networks, minimize costs, maximize profits, and improve overall efficiency. By solving transportation problems, companies can make informed decisions regarding the allocation of resources, route planning, inventory management, and capacity utilization.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1936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6FC5-C364-4BC3-B369-353C60641D81}"/>
              </a:ext>
            </a:extLst>
          </p:cNvPr>
          <p:cNvSpPr>
            <a:spLocks noGrp="1"/>
          </p:cNvSpPr>
          <p:nvPr>
            <p:ph type="title"/>
          </p:nvPr>
        </p:nvSpPr>
        <p:spPr>
          <a:xfrm>
            <a:off x="300318" y="225276"/>
            <a:ext cx="11479306" cy="721397"/>
          </a:xfrm>
        </p:spPr>
        <p:txBody>
          <a:bodyPr>
            <a:normAutofit/>
          </a:bodyPr>
          <a:lstStyle/>
          <a:p>
            <a:r>
              <a:rPr lang="en-US" sz="2800" b="0" i="0" dirty="0">
                <a:solidFill>
                  <a:srgbClr val="374151"/>
                </a:solidFill>
                <a:effectLst/>
                <a:latin typeface="Arial" panose="020B0604020202020204" pitchFamily="34" charset="0"/>
                <a:cs typeface="Arial" panose="020B0604020202020204" pitchFamily="34" charset="0"/>
              </a:rPr>
              <a:t>Key Components of Transportation Problems</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1118795"/>
            <a:ext cx="11230983" cy="5217460"/>
          </a:xfrm>
        </p:spPr>
        <p:txBody>
          <a:bodyPr>
            <a:normAutofit/>
          </a:bodyPr>
          <a:lstStyle/>
          <a:p>
            <a:pPr algn="just">
              <a:buFont typeface="+mj-lt"/>
              <a:buAutoNum type="arabicPeriod"/>
            </a:pPr>
            <a:r>
              <a:rPr lang="en-US" sz="2000" b="0" i="0" dirty="0">
                <a:solidFill>
                  <a:srgbClr val="374151"/>
                </a:solidFill>
                <a:effectLst/>
                <a:latin typeface="Arial" panose="020B0604020202020204" pitchFamily="34" charset="0"/>
                <a:cs typeface="Arial" panose="020B0604020202020204" pitchFamily="34" charset="0"/>
              </a:rPr>
              <a:t> Supply Points: These represent the sources of supply, such as factories, warehouses, or production facilities. Each supply point has a specific capacity or supply limit.</a:t>
            </a:r>
          </a:p>
          <a:p>
            <a:pPr marL="0" indent="0" algn="just">
              <a:buNone/>
            </a:pPr>
            <a:endParaRPr lang="en-US" sz="2000" b="0" i="0" dirty="0">
              <a:solidFill>
                <a:srgbClr val="374151"/>
              </a:solidFill>
              <a:effectLst/>
              <a:latin typeface="Arial" panose="020B0604020202020204" pitchFamily="34" charset="0"/>
              <a:cs typeface="Arial" panose="020B0604020202020204" pitchFamily="34" charset="0"/>
            </a:endParaRP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2.  Demand Points: These represent the destinations or demand locations, such as customers or distribution centers. Each demand point has a specific demand requirement.</a:t>
            </a:r>
          </a:p>
          <a:p>
            <a:pPr marL="0" indent="0" algn="just">
              <a:buNone/>
            </a:pPr>
            <a:endParaRPr lang="en-US" sz="2000" b="0" i="0" dirty="0">
              <a:solidFill>
                <a:srgbClr val="374151"/>
              </a:solidFill>
              <a:effectLst/>
              <a:latin typeface="Arial" panose="020B0604020202020204" pitchFamily="34" charset="0"/>
              <a:cs typeface="Arial" panose="020B0604020202020204" pitchFamily="34" charset="0"/>
            </a:endParaRP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3.  Transportation Costs (or Profits): These represent the cost of transporting a unit of goods from a supply point to a demand point. The costs can vary depending on the distance, mode of transportation, tariffs, or other factors. In maximization problems, these costs may be replaced with profit values.</a:t>
            </a:r>
          </a:p>
          <a:p>
            <a:pPr marL="0" indent="0" algn="just">
              <a:buNone/>
            </a:pPr>
            <a:endParaRPr lang="en-US" sz="2000" b="0" i="0" dirty="0">
              <a:solidFill>
                <a:srgbClr val="374151"/>
              </a:solidFill>
              <a:effectLst/>
              <a:latin typeface="Arial" panose="020B0604020202020204" pitchFamily="34" charset="0"/>
              <a:cs typeface="Arial" panose="020B0604020202020204" pitchFamily="34" charset="0"/>
            </a:endParaRP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4.  Objective Function: The objective function defines the goal of the transportation problem, either to minimize transportation costs or maximize profits. The objective is usually achieved by optimizing the allocation of goods.</a:t>
            </a:r>
          </a:p>
          <a:p>
            <a:pPr marL="0" indent="0" algn="just">
              <a:buNone/>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2585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6FC5-C364-4BC3-B369-353C60641D81}"/>
              </a:ext>
            </a:extLst>
          </p:cNvPr>
          <p:cNvSpPr>
            <a:spLocks noGrp="1"/>
          </p:cNvSpPr>
          <p:nvPr>
            <p:ph type="title"/>
          </p:nvPr>
        </p:nvSpPr>
        <p:spPr>
          <a:xfrm>
            <a:off x="300318" y="225276"/>
            <a:ext cx="11479306" cy="721397"/>
          </a:xfrm>
        </p:spPr>
        <p:txBody>
          <a:bodyPr>
            <a:normAutofit/>
          </a:bodyPr>
          <a:lstStyle/>
          <a:p>
            <a:r>
              <a:rPr lang="en-US" sz="2800" b="0" i="0" dirty="0">
                <a:solidFill>
                  <a:srgbClr val="374151"/>
                </a:solidFill>
                <a:effectLst/>
                <a:latin typeface="Arial" panose="020B0604020202020204" pitchFamily="34" charset="0"/>
                <a:cs typeface="Arial" panose="020B0604020202020204" pitchFamily="34" charset="0"/>
              </a:rPr>
              <a:t>Common Techniques to Solve Transportation Problems</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1118795"/>
            <a:ext cx="11230983" cy="5217460"/>
          </a:xfrm>
        </p:spPr>
        <p:txBody>
          <a:bodyPr>
            <a:normAutofit/>
          </a:bodyPr>
          <a:lstStyle/>
          <a:p>
            <a:pPr algn="just">
              <a:buFont typeface="+mj-lt"/>
              <a:buAutoNum type="arabicPeriod"/>
            </a:pPr>
            <a:r>
              <a:rPr lang="en-US" sz="2400" b="0" i="0" dirty="0">
                <a:solidFill>
                  <a:srgbClr val="374151"/>
                </a:solidFill>
                <a:effectLst/>
                <a:latin typeface="Arial" panose="020B0604020202020204" pitchFamily="34" charset="0"/>
                <a:cs typeface="Arial" panose="020B0604020202020204" pitchFamily="34" charset="0"/>
              </a:rPr>
              <a:t> North-West Corner Method: This initial allocation method starts from the top-left corner and allocates goods in a "north-west" direction until the supply and demand constraints are satisfied. It is a simple and quick method but may not always yield an optimal solution.</a:t>
            </a:r>
          </a:p>
          <a:p>
            <a:pPr marL="0" indent="0" algn="just">
              <a:buNone/>
            </a:pPr>
            <a:endParaRPr lang="en-US" sz="2400" b="0" i="0" dirty="0">
              <a:solidFill>
                <a:srgbClr val="374151"/>
              </a:solidFill>
              <a:effectLst/>
              <a:latin typeface="Arial" panose="020B0604020202020204" pitchFamily="34" charset="0"/>
              <a:cs typeface="Arial" panose="020B0604020202020204" pitchFamily="34" charset="0"/>
            </a:endParaRPr>
          </a:p>
          <a:p>
            <a:pPr marL="0" indent="0" algn="just">
              <a:buNone/>
            </a:pPr>
            <a:r>
              <a:rPr lang="en-US" sz="2400" b="0" i="0" dirty="0">
                <a:solidFill>
                  <a:srgbClr val="374151"/>
                </a:solidFill>
                <a:effectLst/>
                <a:latin typeface="Arial" panose="020B0604020202020204" pitchFamily="34" charset="0"/>
                <a:cs typeface="Arial" panose="020B0604020202020204" pitchFamily="34" charset="0"/>
              </a:rPr>
              <a:t>2. Least Cost Method: This method selects the cell with the lowest transportation cost and allocates goods to that cell until the supply and demand constraints are met. It provides a more optimized initial solution compared to the North-West Corner Method.</a:t>
            </a:r>
          </a:p>
          <a:p>
            <a:pPr marL="0" indent="0" algn="l">
              <a:buNone/>
            </a:pPr>
            <a:endParaRPr lang="en-US" sz="2000" b="0" i="0" dirty="0">
              <a:solidFill>
                <a:srgbClr val="374151"/>
              </a:solidFill>
              <a:effectLst/>
              <a:latin typeface="Söhne"/>
            </a:endParaRPr>
          </a:p>
          <a:p>
            <a:pPr marL="0" indent="0" algn="just">
              <a:buNone/>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18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6FC5-C364-4BC3-B369-353C60641D81}"/>
              </a:ext>
            </a:extLst>
          </p:cNvPr>
          <p:cNvSpPr>
            <a:spLocks noGrp="1"/>
          </p:cNvSpPr>
          <p:nvPr>
            <p:ph type="title"/>
          </p:nvPr>
        </p:nvSpPr>
        <p:spPr>
          <a:xfrm>
            <a:off x="300318" y="225276"/>
            <a:ext cx="11479306" cy="721397"/>
          </a:xfrm>
        </p:spPr>
        <p:txBody>
          <a:bodyPr>
            <a:normAutofit/>
          </a:bodyPr>
          <a:lstStyle/>
          <a:p>
            <a:r>
              <a:rPr lang="en-US" sz="2800" b="0" i="0" dirty="0">
                <a:solidFill>
                  <a:srgbClr val="374151"/>
                </a:solidFill>
                <a:effectLst/>
                <a:latin typeface="Arial" panose="020B0604020202020204" pitchFamily="34" charset="0"/>
                <a:cs typeface="Arial" panose="020B0604020202020204" pitchFamily="34" charset="0"/>
              </a:rPr>
              <a:t>Common Techniques to Solve Transportation Problems</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1118795"/>
            <a:ext cx="11230983" cy="5217460"/>
          </a:xfrm>
        </p:spPr>
        <p:txBody>
          <a:bodyPr>
            <a:normAutofit/>
          </a:bodyPr>
          <a:lstStyle/>
          <a:p>
            <a:pPr marL="0" indent="0" algn="l">
              <a:buNone/>
            </a:pPr>
            <a:r>
              <a:rPr lang="en-US" sz="2000" b="0" i="0" dirty="0">
                <a:solidFill>
                  <a:srgbClr val="374151"/>
                </a:solidFill>
                <a:effectLst/>
                <a:latin typeface="Söhne"/>
              </a:rPr>
              <a:t>3</a:t>
            </a:r>
            <a:r>
              <a:rPr lang="en-US" sz="2400" b="0" i="0" dirty="0">
                <a:solidFill>
                  <a:srgbClr val="374151"/>
                </a:solidFill>
                <a:effectLst/>
                <a:latin typeface="Arial" panose="020B0604020202020204" pitchFamily="34" charset="0"/>
                <a:cs typeface="Arial" panose="020B0604020202020204" pitchFamily="34" charset="0"/>
              </a:rPr>
              <a:t>.  Vogel's Approximation Method (VAM): VAM is an improvement over the Least Cost Method as it considers the difference between the two lowest costs for each row and column. By selecting the cell with the largest difference, it aims to provide a better initial solution.</a:t>
            </a:r>
          </a:p>
          <a:p>
            <a:pPr marL="0" indent="0" algn="l">
              <a:buNone/>
            </a:pPr>
            <a:endParaRPr lang="en-US" sz="2400" b="0" i="0" dirty="0">
              <a:solidFill>
                <a:srgbClr val="374151"/>
              </a:solidFill>
              <a:effectLst/>
              <a:latin typeface="Arial" panose="020B0604020202020204" pitchFamily="34" charset="0"/>
              <a:cs typeface="Arial" panose="020B0604020202020204" pitchFamily="34" charset="0"/>
            </a:endParaRPr>
          </a:p>
          <a:p>
            <a:pPr marL="0" indent="0" algn="l">
              <a:buNone/>
            </a:pPr>
            <a:r>
              <a:rPr lang="en-US" sz="2400" b="0" i="0" dirty="0">
                <a:solidFill>
                  <a:srgbClr val="374151"/>
                </a:solidFill>
                <a:effectLst/>
                <a:latin typeface="Arial" panose="020B0604020202020204" pitchFamily="34" charset="0"/>
                <a:cs typeface="Arial" panose="020B0604020202020204" pitchFamily="34" charset="0"/>
              </a:rPr>
              <a:t>4.  Optimality Methods: Once an initial solution is obtained, optimization methods like the Stepping Stone Method or the Modified Distribution Method can be used to iteratively improve the solution and find the optimal allocation that minimizes costs or maximizes profits.</a:t>
            </a:r>
          </a:p>
          <a:p>
            <a:pPr marL="0" indent="0" algn="just">
              <a:buNone/>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6368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6FC5-C364-4BC3-B369-353C60641D81}"/>
              </a:ext>
            </a:extLst>
          </p:cNvPr>
          <p:cNvSpPr>
            <a:spLocks noGrp="1"/>
          </p:cNvSpPr>
          <p:nvPr>
            <p:ph type="title"/>
          </p:nvPr>
        </p:nvSpPr>
        <p:spPr>
          <a:xfrm>
            <a:off x="300318" y="225276"/>
            <a:ext cx="11479306" cy="721397"/>
          </a:xfrm>
        </p:spPr>
        <p:txBody>
          <a:bodyPr>
            <a:normAutofit/>
          </a:bodyPr>
          <a:lstStyle/>
          <a:p>
            <a:r>
              <a:rPr lang="en-US" sz="2800" b="0" i="0" dirty="0">
                <a:solidFill>
                  <a:srgbClr val="374151"/>
                </a:solidFill>
                <a:effectLst/>
                <a:latin typeface="Arial" panose="020B0604020202020204" pitchFamily="34" charset="0"/>
                <a:cs typeface="Arial" panose="020B0604020202020204" pitchFamily="34" charset="0"/>
              </a:rPr>
              <a:t>Advantages of using Excel for Transportation Problems</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1118795"/>
            <a:ext cx="11230983" cy="5217460"/>
          </a:xfrm>
        </p:spPr>
        <p:txBody>
          <a:bodyPr>
            <a:normAutofit/>
          </a:bodyPr>
          <a:lstStyle/>
          <a:p>
            <a:pPr marL="0" indent="0" algn="just">
              <a:buNone/>
            </a:pPr>
            <a:r>
              <a:rPr lang="en-US" sz="2400" b="0" i="0" dirty="0">
                <a:solidFill>
                  <a:srgbClr val="374151"/>
                </a:solidFill>
                <a:effectLst/>
                <a:latin typeface="Arial" panose="020B0604020202020204" pitchFamily="34" charset="0"/>
                <a:cs typeface="Arial" panose="020B0604020202020204" pitchFamily="34" charset="0"/>
              </a:rPr>
              <a:t>Excel is a widely used spreadsheet software that offers several advantages for solving transportation problems:</a:t>
            </a:r>
          </a:p>
          <a:p>
            <a:pPr marL="0" indent="0" algn="just">
              <a:buNone/>
            </a:pPr>
            <a:endParaRPr lang="en-US" sz="1000" b="0" i="0" dirty="0">
              <a:solidFill>
                <a:srgbClr val="374151"/>
              </a:solidFill>
              <a:effectLst/>
              <a:latin typeface="Arial" panose="020B0604020202020204" pitchFamily="34" charset="0"/>
              <a:cs typeface="Arial" panose="020B0604020202020204" pitchFamily="34" charset="0"/>
            </a:endParaRPr>
          </a:p>
          <a:p>
            <a:pPr algn="just">
              <a:buFont typeface="Arial" panose="020B0604020202020204" pitchFamily="34" charset="0"/>
              <a:buChar char="•"/>
            </a:pPr>
            <a:r>
              <a:rPr lang="en-US" sz="2000" b="0" i="0" dirty="0">
                <a:solidFill>
                  <a:srgbClr val="374151"/>
                </a:solidFill>
                <a:effectLst/>
                <a:latin typeface="Arial" panose="020B0604020202020204" pitchFamily="34" charset="0"/>
                <a:cs typeface="Arial" panose="020B0604020202020204" pitchFamily="34" charset="0"/>
              </a:rPr>
              <a:t>Accessibility: Excel is readily available and familiar to many users, making it easily accessible for modeling and analysis.</a:t>
            </a:r>
          </a:p>
          <a:p>
            <a:pPr algn="just">
              <a:buFont typeface="Arial" panose="020B0604020202020204" pitchFamily="34" charset="0"/>
              <a:buChar char="•"/>
            </a:pPr>
            <a:r>
              <a:rPr lang="en-US" sz="2000" b="0" i="0" dirty="0">
                <a:solidFill>
                  <a:srgbClr val="374151"/>
                </a:solidFill>
                <a:effectLst/>
                <a:latin typeface="Arial" panose="020B0604020202020204" pitchFamily="34" charset="0"/>
                <a:cs typeface="Arial" panose="020B0604020202020204" pitchFamily="34" charset="0"/>
              </a:rPr>
              <a:t>Flexibility: Excel provides a flexible platform for creating transportation models, allowing users to customize their spreadsheets based on specific problem requirements.</a:t>
            </a:r>
          </a:p>
          <a:p>
            <a:pPr algn="just">
              <a:buFont typeface="Arial" panose="020B0604020202020204" pitchFamily="34" charset="0"/>
              <a:buChar char="•"/>
            </a:pPr>
            <a:r>
              <a:rPr lang="en-US" sz="2000" b="0" i="0" dirty="0">
                <a:solidFill>
                  <a:srgbClr val="374151"/>
                </a:solidFill>
                <a:effectLst/>
                <a:latin typeface="Arial" panose="020B0604020202020204" pitchFamily="34" charset="0"/>
                <a:cs typeface="Arial" panose="020B0604020202020204" pitchFamily="34" charset="0"/>
              </a:rPr>
              <a:t>Solver Add-in: Excel's Solver add-in is a powerful tool that can be used to solve optimization problems, including transportation problems, by applying linear programming techniques.</a:t>
            </a:r>
          </a:p>
          <a:p>
            <a:pPr algn="just">
              <a:buFont typeface="Arial" panose="020B0604020202020204" pitchFamily="34" charset="0"/>
              <a:buChar char="•"/>
            </a:pPr>
            <a:r>
              <a:rPr lang="en-US" sz="2000" b="0" i="0" dirty="0">
                <a:solidFill>
                  <a:srgbClr val="374151"/>
                </a:solidFill>
                <a:effectLst/>
                <a:latin typeface="Arial" panose="020B0604020202020204" pitchFamily="34" charset="0"/>
                <a:cs typeface="Arial" panose="020B0604020202020204" pitchFamily="34" charset="0"/>
              </a:rPr>
              <a:t>Data Manipulation: Excel's data manipulation capabilities enable users to organize and manipulate the transportation data efficiently, including costs, supply and demand quantities, and constraints.</a:t>
            </a:r>
          </a:p>
          <a:p>
            <a:pPr algn="just">
              <a:buFont typeface="Arial" panose="020B0604020202020204" pitchFamily="34" charset="0"/>
              <a:buChar char="•"/>
            </a:pPr>
            <a:r>
              <a:rPr lang="en-US" sz="2000" b="0" i="0" dirty="0">
                <a:solidFill>
                  <a:srgbClr val="374151"/>
                </a:solidFill>
                <a:effectLst/>
                <a:latin typeface="Arial" panose="020B0604020202020204" pitchFamily="34" charset="0"/>
                <a:cs typeface="Arial" panose="020B0604020202020204" pitchFamily="34" charset="0"/>
              </a:rPr>
              <a:t>Sensitivity Analysis: Excel allows for sensitivity analysis by changing input values and observing the impact on the solution, which is useful for exploring various scenarios and assessing the robustness of the optimal solution</a:t>
            </a:r>
          </a:p>
          <a:p>
            <a:pPr algn="l">
              <a:buFont typeface="Arial" panose="020B0604020202020204" pitchFamily="34" charset="0"/>
              <a:buChar char="•"/>
            </a:pPr>
            <a:endParaRPr lang="en-US" sz="2000" b="0"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2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66FC5-C364-4BC3-B369-353C60641D81}"/>
              </a:ext>
            </a:extLst>
          </p:cNvPr>
          <p:cNvSpPr>
            <a:spLocks noGrp="1"/>
          </p:cNvSpPr>
          <p:nvPr>
            <p:ph type="title"/>
          </p:nvPr>
        </p:nvSpPr>
        <p:spPr>
          <a:xfrm>
            <a:off x="300318" y="225276"/>
            <a:ext cx="11479306" cy="721397"/>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310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Example 1: Transportation Problem with Minimization Objective</a:t>
            </a:r>
            <a:br>
              <a:rPr kumimoji="0" lang="en-US" sz="1600" b="1" i="0" u="none" strike="noStrike" kern="1200" cap="none" spc="0" normalizeH="0" baseline="0" noProof="0" dirty="0">
                <a:ln>
                  <a:noFill/>
                </a:ln>
                <a:solidFill>
                  <a:prstClr val="black"/>
                </a:solidFill>
                <a:effectLst/>
                <a:uLnTx/>
                <a:uFillTx/>
                <a:latin typeface="Söhne"/>
                <a:ea typeface="+mn-ea"/>
                <a:cs typeface="+mn-cs"/>
              </a:rPr>
            </a:b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825900"/>
          </a:xfrm>
        </p:spPr>
        <p:txBody>
          <a:bodyPr>
            <a:normAutofit/>
          </a:bodyPr>
          <a:lstStyle/>
          <a:p>
            <a:pPr marL="0" indent="0" algn="l">
              <a:buNone/>
            </a:pPr>
            <a:r>
              <a:rPr lang="en-US" sz="2400" b="0" i="0" dirty="0">
                <a:solidFill>
                  <a:srgbClr val="374151"/>
                </a:solidFill>
                <a:effectLst/>
                <a:latin typeface="Arial" panose="020B0604020202020204" pitchFamily="34" charset="0"/>
                <a:cs typeface="Arial" panose="020B0604020202020204" pitchFamily="34" charset="0"/>
              </a:rPr>
              <a:t>Consider a company that needs to transport goods from three factories (A, B, and C) to three distribution centers (X, Y, and Z). The transportation costs per unit are given as follows:</a:t>
            </a:r>
          </a:p>
          <a:p>
            <a:pPr marL="0" indent="0" algn="l">
              <a:buNone/>
            </a:pPr>
            <a:endParaRPr lang="en-US" sz="2400" dirty="0">
              <a:solidFill>
                <a:srgbClr val="374151"/>
              </a:solidFill>
              <a:latin typeface="Arial" panose="020B0604020202020204" pitchFamily="34" charset="0"/>
              <a:cs typeface="Arial" panose="020B0604020202020204" pitchFamily="34" charset="0"/>
            </a:endParaRPr>
          </a:p>
          <a:p>
            <a:pPr marL="0" indent="0" algn="l">
              <a:buNone/>
            </a:pPr>
            <a:endParaRPr lang="en-US" sz="2400" b="0" i="0" dirty="0">
              <a:solidFill>
                <a:srgbClr val="374151"/>
              </a:solidFill>
              <a:effectLst/>
              <a:latin typeface="Arial" panose="020B0604020202020204" pitchFamily="34" charset="0"/>
              <a:cs typeface="Arial" panose="020B0604020202020204" pitchFamily="34" charset="0"/>
            </a:endParaRPr>
          </a:p>
          <a:p>
            <a:pPr marL="0" indent="0" algn="l">
              <a:buNone/>
            </a:pPr>
            <a:endParaRPr lang="en-US" sz="2400" b="0"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2400" b="0" i="0" dirty="0">
              <a:solidFill>
                <a:srgbClr val="374151"/>
              </a:solidFill>
              <a:effectLst/>
              <a:latin typeface="Arial" panose="020B0604020202020204" pitchFamily="34" charset="0"/>
              <a:cs typeface="Arial" panose="020B0604020202020204" pitchFamily="34" charset="0"/>
            </a:endParaRPr>
          </a:p>
          <a:p>
            <a:pPr marL="0" indent="0" algn="just">
              <a:buNone/>
            </a:pPr>
            <a:r>
              <a:rPr lang="en-US" sz="2400" b="0" i="0" dirty="0">
                <a:solidFill>
                  <a:srgbClr val="374151"/>
                </a:solidFill>
                <a:effectLst/>
                <a:latin typeface="Arial" panose="020B0604020202020204" pitchFamily="34" charset="0"/>
                <a:cs typeface="Arial" panose="020B0604020202020204" pitchFamily="34" charset="0"/>
              </a:rPr>
              <a:t>The supply and demand constraints are as follows:</a:t>
            </a:r>
            <a:r>
              <a:rPr lang="en-US" sz="2400" dirty="0">
                <a:latin typeface="Arial" panose="020B0604020202020204" pitchFamily="34" charset="0"/>
                <a:cs typeface="Arial" panose="020B0604020202020204" pitchFamily="34" charset="0"/>
              </a:rPr>
              <a:t>   </a:t>
            </a:r>
          </a:p>
          <a:p>
            <a:pPr marL="0" indent="0" algn="just">
              <a:buNone/>
            </a:pPr>
            <a:endParaRPr lang="en-US" sz="2400" dirty="0">
              <a:latin typeface="Arial" panose="020B0604020202020204" pitchFamily="34" charset="0"/>
              <a:cs typeface="Arial" panose="020B0604020202020204" pitchFamily="34" charset="0"/>
            </a:endParaRPr>
          </a:p>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graphicFrame>
        <p:nvGraphicFramePr>
          <p:cNvPr id="5" name="Table 4">
            <a:extLst>
              <a:ext uri="{FF2B5EF4-FFF2-40B4-BE49-F238E27FC236}">
                <a16:creationId xmlns:a16="http://schemas.microsoft.com/office/drawing/2014/main" id="{E83BE37E-7873-443A-A0AF-64CCA134C248}"/>
              </a:ext>
            </a:extLst>
          </p:cNvPr>
          <p:cNvGraphicFramePr>
            <a:graphicFrameLocks noGrp="1"/>
          </p:cNvGraphicFramePr>
          <p:nvPr>
            <p:extLst>
              <p:ext uri="{D42A27DB-BD31-4B8C-83A1-F6EECF244321}">
                <p14:modId xmlns:p14="http://schemas.microsoft.com/office/powerpoint/2010/main" val="1877817341"/>
              </p:ext>
            </p:extLst>
          </p:nvPr>
        </p:nvGraphicFramePr>
        <p:xfrm>
          <a:off x="1344707" y="2021088"/>
          <a:ext cx="9047180" cy="1501140"/>
        </p:xfrm>
        <a:graphic>
          <a:graphicData uri="http://schemas.openxmlformats.org/drawingml/2006/table">
            <a:tbl>
              <a:tblPr/>
              <a:tblGrid>
                <a:gridCol w="1968648">
                  <a:extLst>
                    <a:ext uri="{9D8B030D-6E8A-4147-A177-3AD203B41FA5}">
                      <a16:colId xmlns:a16="http://schemas.microsoft.com/office/drawing/2014/main" val="1314963891"/>
                    </a:ext>
                  </a:extLst>
                </a:gridCol>
                <a:gridCol w="2345167">
                  <a:extLst>
                    <a:ext uri="{9D8B030D-6E8A-4147-A177-3AD203B41FA5}">
                      <a16:colId xmlns:a16="http://schemas.microsoft.com/office/drawing/2014/main" val="2282508170"/>
                    </a:ext>
                  </a:extLst>
                </a:gridCol>
                <a:gridCol w="2291505">
                  <a:extLst>
                    <a:ext uri="{9D8B030D-6E8A-4147-A177-3AD203B41FA5}">
                      <a16:colId xmlns:a16="http://schemas.microsoft.com/office/drawing/2014/main" val="1504768979"/>
                    </a:ext>
                  </a:extLst>
                </a:gridCol>
                <a:gridCol w="2441860">
                  <a:extLst>
                    <a:ext uri="{9D8B030D-6E8A-4147-A177-3AD203B41FA5}">
                      <a16:colId xmlns:a16="http://schemas.microsoft.com/office/drawing/2014/main" val="14077560"/>
                    </a:ext>
                  </a:extLst>
                </a:gridCol>
              </a:tblGrid>
              <a:tr h="66232">
                <a:tc>
                  <a:txBody>
                    <a:bodyPr/>
                    <a:lstStyle/>
                    <a:p>
                      <a:pPr algn="l" fontAlgn="b"/>
                      <a:endParaRPr lang="en-US" sz="1600" b="0" i="0" u="none" strike="noStrike" dirty="0">
                        <a:solidFill>
                          <a:srgbClr val="000000"/>
                        </a:solidFill>
                        <a:effectLst/>
                        <a:latin typeface="Arial" panose="020B0604020202020204" pitchFamily="34" charset="0"/>
                      </a:endParaRPr>
                    </a:p>
                    <a:p>
                      <a:pPr algn="l" fontAlgn="b"/>
                      <a:r>
                        <a:rPr lang="en-US" sz="1600" b="0" i="0" u="none" strike="noStrike" dirty="0">
                          <a:solidFill>
                            <a:srgbClr val="000000"/>
                          </a:solidFill>
                          <a:effectLst/>
                          <a:latin typeface="Arial" panose="020B0604020202020204" pitchFamily="34" charset="0"/>
                        </a:rPr>
                        <a:t>Transportation Cost</a:t>
                      </a:r>
                    </a:p>
                    <a:p>
                      <a:pPr algn="l" fontAlgn="b"/>
                      <a:endParaRPr lang="en-US" sz="16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Distribution Center (X)</a:t>
                      </a:r>
                    </a:p>
                    <a:p>
                      <a:pPr algn="ctr" fontAlgn="b"/>
                      <a:endParaRPr lang="en-US" sz="16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Distribution Center (Y)</a:t>
                      </a:r>
                    </a:p>
                    <a:p>
                      <a:pPr algn="ctr" fontAlgn="b"/>
                      <a:endParaRPr lang="en-US" sz="16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Distribution Center (Z)</a:t>
                      </a:r>
                    </a:p>
                    <a:p>
                      <a:pPr algn="ctr" fontAlgn="b"/>
                      <a:endParaRPr lang="en-US" sz="16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740868"/>
                  </a:ext>
                </a:extLst>
              </a:tr>
              <a:tr h="228600">
                <a:tc>
                  <a:txBody>
                    <a:bodyPr/>
                    <a:lstStyle/>
                    <a:p>
                      <a:pPr algn="l" fontAlgn="b"/>
                      <a:r>
                        <a:rPr lang="en-US" sz="1600" b="0" i="0" u="none" strike="noStrike" dirty="0">
                          <a:solidFill>
                            <a:srgbClr val="000000"/>
                          </a:solidFill>
                          <a:effectLst/>
                          <a:latin typeface="Arial" panose="020B0604020202020204" pitchFamily="34" charset="0"/>
                        </a:rPr>
                        <a:t>Factory 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2167222"/>
                  </a:ext>
                </a:extLst>
              </a:tr>
              <a:tr h="228600">
                <a:tc>
                  <a:txBody>
                    <a:bodyPr/>
                    <a:lstStyle/>
                    <a:p>
                      <a:pPr algn="l" fontAlgn="b"/>
                      <a:r>
                        <a:rPr lang="en-US" sz="1600" b="0" i="0" u="none" strike="noStrike" dirty="0">
                          <a:solidFill>
                            <a:srgbClr val="000000"/>
                          </a:solidFill>
                          <a:effectLst/>
                          <a:latin typeface="Arial" panose="020B0604020202020204" pitchFamily="34" charset="0"/>
                        </a:rPr>
                        <a:t>Factory 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58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3791352"/>
                  </a:ext>
                </a:extLst>
              </a:tr>
              <a:tr h="228600">
                <a:tc>
                  <a:txBody>
                    <a:bodyPr/>
                    <a:lstStyle/>
                    <a:p>
                      <a:pPr algn="l" fontAlgn="b"/>
                      <a:r>
                        <a:rPr lang="en-US" sz="1600" b="0" i="0" u="none" strike="noStrike" dirty="0">
                          <a:solidFill>
                            <a:srgbClr val="000000"/>
                          </a:solidFill>
                          <a:effectLst/>
                          <a:latin typeface="Arial" panose="020B0604020202020204" pitchFamily="34" charset="0"/>
                        </a:rPr>
                        <a:t>Factory 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rial" panose="020B0604020202020204" pitchFamily="34" charset="0"/>
                        </a:rPr>
                        <a:t>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4145534"/>
                  </a:ext>
                </a:extLst>
              </a:tr>
            </a:tbl>
          </a:graphicData>
        </a:graphic>
      </p:graphicFrame>
      <p:graphicFrame>
        <p:nvGraphicFramePr>
          <p:cNvPr id="4" name="Table 6">
            <a:extLst>
              <a:ext uri="{FF2B5EF4-FFF2-40B4-BE49-F238E27FC236}">
                <a16:creationId xmlns:a16="http://schemas.microsoft.com/office/drawing/2014/main" id="{911764F7-1FDD-4EE6-8483-C93DA73239C1}"/>
              </a:ext>
            </a:extLst>
          </p:cNvPr>
          <p:cNvGraphicFramePr>
            <a:graphicFrameLocks noGrp="1"/>
          </p:cNvGraphicFramePr>
          <p:nvPr>
            <p:extLst>
              <p:ext uri="{D42A27DB-BD31-4B8C-83A1-F6EECF244321}">
                <p14:modId xmlns:p14="http://schemas.microsoft.com/office/powerpoint/2010/main" val="4155684137"/>
              </p:ext>
            </p:extLst>
          </p:nvPr>
        </p:nvGraphicFramePr>
        <p:xfrm>
          <a:off x="2700337" y="4252613"/>
          <a:ext cx="5267325" cy="2225040"/>
        </p:xfrm>
        <a:graphic>
          <a:graphicData uri="http://schemas.openxmlformats.org/drawingml/2006/table">
            <a:tbl>
              <a:tblPr firstRow="1" bandRow="1">
                <a:tableStyleId>{2D5ABB26-0587-4C30-8999-92F81FD0307C}</a:tableStyleId>
              </a:tblPr>
              <a:tblGrid>
                <a:gridCol w="5267325">
                  <a:extLst>
                    <a:ext uri="{9D8B030D-6E8A-4147-A177-3AD203B41FA5}">
                      <a16:colId xmlns:a16="http://schemas.microsoft.com/office/drawing/2014/main" val="1296047795"/>
                    </a:ext>
                  </a:extLst>
                </a:gridCol>
              </a:tblGrid>
              <a:tr h="370840">
                <a:tc>
                  <a:txBody>
                    <a:bodyPr/>
                    <a:lstStyle/>
                    <a:p>
                      <a:pPr algn="ctr"/>
                      <a:r>
                        <a:rPr lang="en-US" sz="1800" dirty="0">
                          <a:latin typeface="Arial" panose="020B0604020202020204" pitchFamily="34" charset="0"/>
                          <a:cs typeface="Arial" panose="020B0604020202020204" pitchFamily="34" charset="0"/>
                        </a:rPr>
                        <a:t>Supply from A: 100 units</a:t>
                      </a:r>
                    </a:p>
                  </a:txBody>
                  <a:tcPr/>
                </a:tc>
                <a:extLst>
                  <a:ext uri="{0D108BD9-81ED-4DB2-BD59-A6C34878D82A}">
                    <a16:rowId xmlns:a16="http://schemas.microsoft.com/office/drawing/2014/main" val="2611753281"/>
                  </a:ext>
                </a:extLst>
              </a:tr>
              <a:tr h="370840">
                <a:tc>
                  <a:txBody>
                    <a:bodyPr/>
                    <a:lstStyle/>
                    <a:p>
                      <a:pPr algn="ctr"/>
                      <a:r>
                        <a:rPr lang="en-US" sz="1800" dirty="0">
                          <a:latin typeface="Arial" panose="020B0604020202020204" pitchFamily="34" charset="0"/>
                          <a:cs typeface="Arial" panose="020B0604020202020204" pitchFamily="34" charset="0"/>
                        </a:rPr>
                        <a:t>Supply from B:  200 units</a:t>
                      </a:r>
                    </a:p>
                  </a:txBody>
                  <a:tcPr/>
                </a:tc>
                <a:extLst>
                  <a:ext uri="{0D108BD9-81ED-4DB2-BD59-A6C34878D82A}">
                    <a16:rowId xmlns:a16="http://schemas.microsoft.com/office/drawing/2014/main" val="1157520799"/>
                  </a:ext>
                </a:extLst>
              </a:tr>
              <a:tr h="370840">
                <a:tc>
                  <a:txBody>
                    <a:bodyPr/>
                    <a:lstStyle/>
                    <a:p>
                      <a:pPr algn="ctr"/>
                      <a:r>
                        <a:rPr lang="en-US" sz="1800" dirty="0">
                          <a:latin typeface="Arial" panose="020B0604020202020204" pitchFamily="34" charset="0"/>
                          <a:cs typeface="Arial" panose="020B0604020202020204" pitchFamily="34" charset="0"/>
                        </a:rPr>
                        <a:t>Supply from C: 300 units</a:t>
                      </a:r>
                    </a:p>
                  </a:txBody>
                  <a:tcPr/>
                </a:tc>
                <a:extLst>
                  <a:ext uri="{0D108BD9-81ED-4DB2-BD59-A6C34878D82A}">
                    <a16:rowId xmlns:a16="http://schemas.microsoft.com/office/drawing/2014/main" val="3471604999"/>
                  </a:ext>
                </a:extLst>
              </a:tr>
              <a:tr h="370840">
                <a:tc>
                  <a:txBody>
                    <a:bodyPr/>
                    <a:lstStyle/>
                    <a:p>
                      <a:pPr algn="ctr"/>
                      <a:r>
                        <a:rPr lang="en-US" sz="1800" dirty="0">
                          <a:latin typeface="Arial" panose="020B0604020202020204" pitchFamily="34" charset="0"/>
                          <a:cs typeface="Arial" panose="020B0604020202020204" pitchFamily="34" charset="0"/>
                        </a:rPr>
                        <a:t>Demand at X: 200 units</a:t>
                      </a:r>
                    </a:p>
                  </a:txBody>
                  <a:tcPr/>
                </a:tc>
                <a:extLst>
                  <a:ext uri="{0D108BD9-81ED-4DB2-BD59-A6C34878D82A}">
                    <a16:rowId xmlns:a16="http://schemas.microsoft.com/office/drawing/2014/main" val="162587251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Demand at Y: 200 units</a:t>
                      </a:r>
                    </a:p>
                  </a:txBody>
                  <a:tcPr/>
                </a:tc>
                <a:extLst>
                  <a:ext uri="{0D108BD9-81ED-4DB2-BD59-A6C34878D82A}">
                    <a16:rowId xmlns:a16="http://schemas.microsoft.com/office/drawing/2014/main" val="1653448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Demand at Z: 200 units</a:t>
                      </a:r>
                    </a:p>
                  </a:txBody>
                  <a:tcPr/>
                </a:tc>
                <a:extLst>
                  <a:ext uri="{0D108BD9-81ED-4DB2-BD59-A6C34878D82A}">
                    <a16:rowId xmlns:a16="http://schemas.microsoft.com/office/drawing/2014/main" val="1602937255"/>
                  </a:ext>
                </a:extLst>
              </a:tr>
            </a:tbl>
          </a:graphicData>
        </a:graphic>
      </p:graphicFrame>
    </p:spTree>
    <p:extLst>
      <p:ext uri="{BB962C8B-B14F-4D97-AF65-F5344CB8AC3E}">
        <p14:creationId xmlns:p14="http://schemas.microsoft.com/office/powerpoint/2010/main" val="109863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572844" y="521745"/>
            <a:ext cx="10754957" cy="6186309"/>
          </a:xfrm>
          <a:prstGeom prst="rect">
            <a:avLst/>
          </a:prstGeom>
          <a:noFill/>
        </p:spPr>
        <p:txBody>
          <a:bodyPr wrap="square">
            <a:spAutoFit/>
          </a:bodyPr>
          <a:lstStyle/>
          <a:p>
            <a:pPr algn="l"/>
            <a:r>
              <a:rPr lang="en-US" sz="2400" b="0" i="0" dirty="0">
                <a:solidFill>
                  <a:srgbClr val="374151"/>
                </a:solidFill>
                <a:effectLst/>
                <a:latin typeface="Arial" panose="020B0604020202020204" pitchFamily="34" charset="0"/>
                <a:cs typeface="Arial" panose="020B0604020202020204" pitchFamily="34" charset="0"/>
              </a:rPr>
              <a:t>To solve this transportation problem using Excel, you can create a spreadsheet with the following columns:</a:t>
            </a:r>
          </a:p>
          <a:p>
            <a:pPr algn="l"/>
            <a:endParaRPr lang="en-US" sz="2400" b="0" i="0" dirty="0">
              <a:solidFill>
                <a:srgbClr val="374151"/>
              </a:solidFill>
              <a:effectLst/>
              <a:latin typeface="Arial" panose="020B0604020202020204" pitchFamily="34" charset="0"/>
              <a:cs typeface="Arial" panose="020B0604020202020204" pitchFamily="34" charset="0"/>
            </a:endParaRPr>
          </a:p>
          <a:p>
            <a:pPr algn="l">
              <a:buFont typeface="+mj-lt"/>
              <a:buAutoNum type="arabicPeriod"/>
            </a:pPr>
            <a:r>
              <a:rPr lang="en-US" sz="2400" b="0" i="0" dirty="0">
                <a:solidFill>
                  <a:srgbClr val="374151"/>
                </a:solidFill>
                <a:effectLst/>
                <a:latin typeface="Arial" panose="020B0604020202020204" pitchFamily="34" charset="0"/>
                <a:cs typeface="Arial" panose="020B0604020202020204" pitchFamily="34" charset="0"/>
              </a:rPr>
              <a:t>Factory (A, B, C)</a:t>
            </a:r>
          </a:p>
          <a:p>
            <a:pPr algn="l">
              <a:buFont typeface="+mj-lt"/>
              <a:buAutoNum type="arabicPeriod"/>
            </a:pPr>
            <a:r>
              <a:rPr lang="en-US" sz="2400" b="0" i="0" dirty="0">
                <a:solidFill>
                  <a:srgbClr val="374151"/>
                </a:solidFill>
                <a:effectLst/>
                <a:latin typeface="Arial" panose="020B0604020202020204" pitchFamily="34" charset="0"/>
                <a:cs typeface="Arial" panose="020B0604020202020204" pitchFamily="34" charset="0"/>
              </a:rPr>
              <a:t>Distribution Center (X, Y, Z)</a:t>
            </a:r>
          </a:p>
          <a:p>
            <a:pPr algn="l">
              <a:buFont typeface="+mj-lt"/>
              <a:buAutoNum type="arabicPeriod"/>
            </a:pPr>
            <a:r>
              <a:rPr lang="en-US" sz="2400" b="0" i="0" dirty="0">
                <a:solidFill>
                  <a:srgbClr val="374151"/>
                </a:solidFill>
                <a:effectLst/>
                <a:latin typeface="Arial" panose="020B0604020202020204" pitchFamily="34" charset="0"/>
                <a:cs typeface="Arial" panose="020B0604020202020204" pitchFamily="34" charset="0"/>
              </a:rPr>
              <a:t>Quantity (to be determined)</a:t>
            </a:r>
          </a:p>
          <a:p>
            <a:pPr algn="l">
              <a:buFont typeface="+mj-lt"/>
              <a:buAutoNum type="arabicPeriod"/>
            </a:pPr>
            <a:r>
              <a:rPr lang="en-US" sz="2400" b="0" i="0" dirty="0">
                <a:solidFill>
                  <a:srgbClr val="374151"/>
                </a:solidFill>
                <a:effectLst/>
                <a:latin typeface="Arial" panose="020B0604020202020204" pitchFamily="34" charset="0"/>
                <a:cs typeface="Arial" panose="020B0604020202020204" pitchFamily="34" charset="0"/>
              </a:rPr>
              <a:t>Unit Cost (given)</a:t>
            </a:r>
          </a:p>
          <a:p>
            <a:pPr algn="l">
              <a:buFont typeface="+mj-lt"/>
              <a:buAutoNum type="arabicPeriod"/>
            </a:pPr>
            <a:r>
              <a:rPr lang="en-US" sz="2400" b="0" i="0" dirty="0">
                <a:solidFill>
                  <a:srgbClr val="374151"/>
                </a:solidFill>
                <a:effectLst/>
                <a:latin typeface="Arial" panose="020B0604020202020204" pitchFamily="34" charset="0"/>
                <a:cs typeface="Arial" panose="020B0604020202020204" pitchFamily="34" charset="0"/>
              </a:rPr>
              <a:t>Total Cost (calculated as Quantity multiplied by Unit Cost)</a:t>
            </a:r>
          </a:p>
          <a:p>
            <a:pPr algn="l">
              <a:buFont typeface="+mj-lt"/>
              <a:buAutoNum type="arabicPeriod"/>
            </a:pPr>
            <a:endParaRPr lang="en-US" sz="2400" dirty="0">
              <a:solidFill>
                <a:srgbClr val="374151"/>
              </a:solidFill>
              <a:latin typeface="Arial" panose="020B0604020202020204" pitchFamily="34" charset="0"/>
              <a:cs typeface="Arial" panose="020B0604020202020204" pitchFamily="34" charset="0"/>
            </a:endParaRPr>
          </a:p>
          <a:p>
            <a:pPr algn="l">
              <a:buFont typeface="+mj-lt"/>
              <a:buAutoNum type="arabicPeriod"/>
            </a:pPr>
            <a:endParaRPr lang="en-US" b="0" i="0" dirty="0">
              <a:solidFill>
                <a:srgbClr val="374151"/>
              </a:solidFill>
              <a:effectLst/>
              <a:latin typeface="Söhne"/>
            </a:endParaRPr>
          </a:p>
          <a:p>
            <a:pPr algn="l">
              <a:buFont typeface="+mj-lt"/>
              <a:buAutoNum type="arabicPeriod"/>
            </a:pPr>
            <a:endParaRPr lang="en-US" dirty="0">
              <a:solidFill>
                <a:srgbClr val="374151"/>
              </a:solidFill>
              <a:latin typeface="Söhne"/>
            </a:endParaRPr>
          </a:p>
          <a:p>
            <a:pPr algn="l">
              <a:buFont typeface="+mj-lt"/>
              <a:buAutoNum type="arabicPeriod"/>
            </a:pPr>
            <a:endParaRPr lang="en-US" b="0" i="0" dirty="0">
              <a:solidFill>
                <a:srgbClr val="374151"/>
              </a:solidFill>
              <a:effectLst/>
              <a:latin typeface="Söhne"/>
            </a:endParaRPr>
          </a:p>
          <a:p>
            <a:pPr algn="l">
              <a:buFont typeface="+mj-lt"/>
              <a:buAutoNum type="arabicPeriod"/>
            </a:pPr>
            <a:endParaRPr lang="en-US" dirty="0">
              <a:solidFill>
                <a:srgbClr val="374151"/>
              </a:solidFill>
              <a:latin typeface="Söhne"/>
            </a:endParaRPr>
          </a:p>
          <a:p>
            <a:pPr algn="l">
              <a:buFont typeface="+mj-lt"/>
              <a:buAutoNum type="arabicPeriod"/>
            </a:pPr>
            <a:endParaRPr lang="en-US" b="0" i="0" dirty="0">
              <a:solidFill>
                <a:srgbClr val="374151"/>
              </a:solidFill>
              <a:effectLst/>
              <a:latin typeface="Söhne"/>
            </a:endParaRPr>
          </a:p>
          <a:p>
            <a:pPr algn="l">
              <a:buFont typeface="+mj-lt"/>
              <a:buAutoNum type="arabicPeriod"/>
            </a:pPr>
            <a:endParaRPr lang="en-US" dirty="0">
              <a:solidFill>
                <a:srgbClr val="374151"/>
              </a:solidFill>
              <a:latin typeface="Söhne"/>
            </a:endParaRPr>
          </a:p>
          <a:p>
            <a:pPr algn="l">
              <a:buFont typeface="+mj-lt"/>
              <a:buAutoNum type="arabicPeriod"/>
            </a:pPr>
            <a:endParaRPr lang="en-US" b="0" i="0" dirty="0">
              <a:solidFill>
                <a:srgbClr val="374151"/>
              </a:solidFill>
              <a:effectLst/>
              <a:latin typeface="Söhne"/>
            </a:endParaRPr>
          </a:p>
          <a:p>
            <a:pPr algn="l">
              <a:buFont typeface="+mj-lt"/>
              <a:buAutoNum type="arabicPeriod"/>
            </a:pPr>
            <a:endParaRPr lang="en-US" dirty="0">
              <a:solidFill>
                <a:srgbClr val="374151"/>
              </a:solidFill>
              <a:latin typeface="Söhne"/>
            </a:endParaRPr>
          </a:p>
          <a:p>
            <a:pPr algn="l">
              <a:buFont typeface="+mj-lt"/>
              <a:buAutoNum type="arabicPeriod"/>
            </a:pPr>
            <a:endParaRPr lang="en-US" b="0" i="0" dirty="0">
              <a:solidFill>
                <a:srgbClr val="374151"/>
              </a:solidFill>
              <a:effectLst/>
              <a:latin typeface="Söhne"/>
            </a:endParaRPr>
          </a:p>
          <a:p>
            <a:pPr algn="l">
              <a:buFont typeface="+mj-lt"/>
              <a:buAutoNum type="arabicPeriod"/>
            </a:pPr>
            <a:endParaRPr lang="en-US" b="0" i="0" dirty="0">
              <a:solidFill>
                <a:srgbClr val="374151"/>
              </a:solidFill>
              <a:effectLst/>
              <a:latin typeface="Söhne"/>
            </a:endParaRPr>
          </a:p>
        </p:txBody>
      </p:sp>
    </p:spTree>
    <p:extLst>
      <p:ext uri="{BB962C8B-B14F-4D97-AF65-F5344CB8AC3E}">
        <p14:creationId xmlns:p14="http://schemas.microsoft.com/office/powerpoint/2010/main" val="2022012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281490" y="197346"/>
            <a:ext cx="10754957" cy="6463308"/>
          </a:xfrm>
          <a:prstGeom prst="rect">
            <a:avLst/>
          </a:prstGeom>
          <a:noFill/>
        </p:spPr>
        <p:txBody>
          <a:bodyPr wrap="square">
            <a:spAutoFit/>
          </a:bodyPr>
          <a:lstStyle/>
          <a:p>
            <a:pPr algn="l" fontAlgn="base"/>
            <a:r>
              <a:rPr lang="en-US" b="0" i="0" dirty="0">
                <a:solidFill>
                  <a:srgbClr val="000000"/>
                </a:solidFill>
                <a:effectLst/>
                <a:latin typeface="BlinkMacSystemFont"/>
              </a:rPr>
              <a:t>Use the solver in </a:t>
            </a:r>
            <a:r>
              <a:rPr lang="en-US" b="0" i="0" dirty="0">
                <a:solidFill>
                  <a:srgbClr val="000000"/>
                </a:solidFill>
                <a:effectLst/>
                <a:latin typeface="inherit"/>
              </a:rPr>
              <a:t>Excel</a:t>
            </a:r>
            <a:r>
              <a:rPr lang="en-US" b="0" i="0" dirty="0">
                <a:solidFill>
                  <a:srgbClr val="000000"/>
                </a:solidFill>
                <a:effectLst/>
                <a:latin typeface="BlinkMacSystemFont"/>
              </a:rPr>
              <a:t> to find the number of units to ship from each factory to each center that minimizes the total cost.</a:t>
            </a:r>
          </a:p>
          <a:p>
            <a:pPr algn="l" fontAlgn="base"/>
            <a:endParaRPr lang="en-US" b="0" i="0" dirty="0">
              <a:solidFill>
                <a:srgbClr val="000000"/>
              </a:solidFill>
              <a:effectLst/>
              <a:latin typeface="BlinkMacSystemFont"/>
            </a:endParaRPr>
          </a:p>
          <a:p>
            <a:pPr algn="l" fontAlgn="base"/>
            <a:r>
              <a:rPr lang="en-US" b="0" i="0" dirty="0">
                <a:solidFill>
                  <a:srgbClr val="3E3530"/>
                </a:solidFill>
                <a:effectLst/>
                <a:latin typeface="BlinkMacSystemFont"/>
              </a:rPr>
              <a:t>1.  Formulate the Model</a:t>
            </a:r>
          </a:p>
          <a:p>
            <a:pPr algn="l" fontAlgn="base"/>
            <a:endParaRPr lang="en-US" b="0" i="0" dirty="0">
              <a:solidFill>
                <a:srgbClr val="3E3530"/>
              </a:solidFill>
              <a:effectLst/>
              <a:latin typeface="BlinkMacSystemFont"/>
            </a:endParaRPr>
          </a:p>
          <a:p>
            <a:pPr algn="l" fontAlgn="base"/>
            <a:r>
              <a:rPr lang="en-US" b="0" i="0" dirty="0">
                <a:solidFill>
                  <a:srgbClr val="000000"/>
                </a:solidFill>
                <a:effectLst/>
                <a:latin typeface="BlinkMacSystemFont"/>
              </a:rPr>
              <a:t>The model we are going to solve looks as follows in Excel.</a:t>
            </a: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b="0" i="0" dirty="0">
              <a:solidFill>
                <a:srgbClr val="000000"/>
              </a:solidFill>
              <a:effectLst/>
              <a:latin typeface="BlinkMacSystemFont"/>
            </a:endParaRPr>
          </a:p>
        </p:txBody>
      </p:sp>
      <p:pic>
        <p:nvPicPr>
          <p:cNvPr id="7" name="Picture 6">
            <a:extLst>
              <a:ext uri="{FF2B5EF4-FFF2-40B4-BE49-F238E27FC236}">
                <a16:creationId xmlns:a16="http://schemas.microsoft.com/office/drawing/2014/main" id="{6728504B-02B2-49B3-AFBF-E40C3E632322}"/>
              </a:ext>
            </a:extLst>
          </p:cNvPr>
          <p:cNvPicPr>
            <a:picLocks noChangeAspect="1"/>
          </p:cNvPicPr>
          <p:nvPr/>
        </p:nvPicPr>
        <p:blipFill rotWithShape="1">
          <a:blip r:embed="rId3"/>
          <a:srcRect t="28530" r="42461" b="22488"/>
          <a:stretch/>
        </p:blipFill>
        <p:spPr>
          <a:xfrm>
            <a:off x="281490" y="2015177"/>
            <a:ext cx="11629020" cy="4592509"/>
          </a:xfrm>
          <a:prstGeom prst="rect">
            <a:avLst/>
          </a:prstGeom>
        </p:spPr>
      </p:pic>
    </p:spTree>
    <p:extLst>
      <p:ext uri="{BB962C8B-B14F-4D97-AF65-F5344CB8AC3E}">
        <p14:creationId xmlns:p14="http://schemas.microsoft.com/office/powerpoint/2010/main" val="301038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572844" y="392651"/>
            <a:ext cx="10754957" cy="6740307"/>
          </a:xfrm>
          <a:prstGeom prst="rect">
            <a:avLst/>
          </a:prstGeom>
          <a:noFill/>
        </p:spPr>
        <p:txBody>
          <a:bodyPr wrap="square">
            <a:spAutoFit/>
          </a:bodyPr>
          <a:lstStyle/>
          <a:p>
            <a:pPr algn="l" fontAlgn="base"/>
            <a:r>
              <a:rPr lang="en-US" b="0" i="0" dirty="0">
                <a:solidFill>
                  <a:srgbClr val="000000"/>
                </a:solidFill>
                <a:effectLst/>
                <a:latin typeface="BlinkMacSystemFont"/>
              </a:rPr>
              <a:t>A.  To formulate this </a:t>
            </a:r>
            <a:r>
              <a:rPr lang="en-US" b="0" i="0" dirty="0">
                <a:solidFill>
                  <a:srgbClr val="000000"/>
                </a:solidFill>
                <a:effectLst/>
                <a:latin typeface="inherit"/>
              </a:rPr>
              <a:t>transportation problem</a:t>
            </a:r>
            <a:r>
              <a:rPr lang="en-US" b="0" i="0" dirty="0">
                <a:solidFill>
                  <a:srgbClr val="000000"/>
                </a:solidFill>
                <a:effectLst/>
                <a:latin typeface="BlinkMacSystemFont"/>
              </a:rPr>
              <a:t>, answer the following three questions.</a:t>
            </a:r>
          </a:p>
          <a:p>
            <a:pPr algn="l" fontAlgn="base"/>
            <a:endParaRPr lang="en-US" b="0" i="0" dirty="0">
              <a:solidFill>
                <a:srgbClr val="000000"/>
              </a:solidFill>
              <a:effectLst/>
              <a:latin typeface="BlinkMacSystemFont"/>
            </a:endParaRPr>
          </a:p>
          <a:p>
            <a:pPr algn="just" fontAlgn="base"/>
            <a:r>
              <a:rPr lang="en-US" b="0" i="0" dirty="0">
                <a:solidFill>
                  <a:srgbClr val="000000"/>
                </a:solidFill>
                <a:effectLst/>
                <a:latin typeface="BlinkMacSystemFont"/>
              </a:rPr>
              <a:t>a. What are the decisions to be made? For this problem, we need Excel to find out how many units to ship from each factory to each customer.</a:t>
            </a:r>
          </a:p>
          <a:p>
            <a:pPr algn="just" fontAlgn="base"/>
            <a:endParaRPr lang="en-US" b="0" i="0" dirty="0">
              <a:solidFill>
                <a:srgbClr val="000000"/>
              </a:solidFill>
              <a:effectLst/>
              <a:latin typeface="BlinkMacSystemFont"/>
            </a:endParaRPr>
          </a:p>
          <a:p>
            <a:pPr algn="just" fontAlgn="base"/>
            <a:r>
              <a:rPr lang="en-US" b="0" i="0" dirty="0">
                <a:solidFill>
                  <a:srgbClr val="000000"/>
                </a:solidFill>
                <a:effectLst/>
                <a:latin typeface="BlinkMacSystemFont"/>
              </a:rPr>
              <a:t>b. What are the constraints on these decisions? Each factory has a fixed supply, and each customer has a fixed demand.</a:t>
            </a:r>
          </a:p>
          <a:p>
            <a:pPr algn="just" fontAlgn="base"/>
            <a:endParaRPr lang="en-US" b="0" i="0" dirty="0">
              <a:solidFill>
                <a:srgbClr val="000000"/>
              </a:solidFill>
              <a:effectLst/>
              <a:latin typeface="BlinkMacSystemFont"/>
            </a:endParaRPr>
          </a:p>
          <a:p>
            <a:pPr algn="just" fontAlgn="base"/>
            <a:r>
              <a:rPr lang="en-US" b="0" i="0" dirty="0">
                <a:solidFill>
                  <a:srgbClr val="000000"/>
                </a:solidFill>
                <a:effectLst/>
                <a:latin typeface="BlinkMacSystemFont"/>
              </a:rPr>
              <a:t>c. What is the overall measure of performance for these decisions? The overall measure of performance is the total cost of the shipments, so the objective is to minimize this quantity.</a:t>
            </a:r>
          </a:p>
          <a:p>
            <a:pPr algn="just" fontAlgn="base"/>
            <a:endParaRPr lang="en-US" b="0" i="0" dirty="0">
              <a:solidFill>
                <a:srgbClr val="000000"/>
              </a:solidFill>
              <a:effectLst/>
              <a:latin typeface="BlinkMacSystemFont"/>
            </a:endParaRPr>
          </a:p>
          <a:p>
            <a:pPr algn="just" fontAlgn="base"/>
            <a:r>
              <a:rPr lang="en-US" b="0" i="0" dirty="0">
                <a:solidFill>
                  <a:srgbClr val="000000"/>
                </a:solidFill>
                <a:effectLst/>
                <a:latin typeface="BlinkMacSystemFont"/>
              </a:rPr>
              <a:t>B. To make the model easier to understand, create the following named ranges.</a:t>
            </a:r>
          </a:p>
          <a:p>
            <a:pPr algn="just"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p:txBody>
      </p:sp>
      <p:graphicFrame>
        <p:nvGraphicFramePr>
          <p:cNvPr id="2" name="Table 1">
            <a:extLst>
              <a:ext uri="{FF2B5EF4-FFF2-40B4-BE49-F238E27FC236}">
                <a16:creationId xmlns:a16="http://schemas.microsoft.com/office/drawing/2014/main" id="{B4565E44-0173-4DE8-80D3-E8E7AFA2F0B6}"/>
              </a:ext>
            </a:extLst>
          </p:cNvPr>
          <p:cNvGraphicFramePr>
            <a:graphicFrameLocks noGrp="1"/>
          </p:cNvGraphicFramePr>
          <p:nvPr>
            <p:extLst>
              <p:ext uri="{D42A27DB-BD31-4B8C-83A1-F6EECF244321}">
                <p14:modId xmlns:p14="http://schemas.microsoft.com/office/powerpoint/2010/main" val="2361947627"/>
              </p:ext>
            </p:extLst>
          </p:nvPr>
        </p:nvGraphicFramePr>
        <p:xfrm>
          <a:off x="2042682" y="3917023"/>
          <a:ext cx="4053318" cy="2514600"/>
        </p:xfrm>
        <a:graphic>
          <a:graphicData uri="http://schemas.openxmlformats.org/drawingml/2006/table">
            <a:tbl>
              <a:tblPr>
                <a:tableStyleId>{5C22544A-7EE6-4342-B048-85BDC9FD1C3A}</a:tableStyleId>
              </a:tblPr>
              <a:tblGrid>
                <a:gridCol w="2237431">
                  <a:extLst>
                    <a:ext uri="{9D8B030D-6E8A-4147-A177-3AD203B41FA5}">
                      <a16:colId xmlns:a16="http://schemas.microsoft.com/office/drawing/2014/main" val="1594412315"/>
                    </a:ext>
                  </a:extLst>
                </a:gridCol>
                <a:gridCol w="1815887">
                  <a:extLst>
                    <a:ext uri="{9D8B030D-6E8A-4147-A177-3AD203B41FA5}">
                      <a16:colId xmlns:a16="http://schemas.microsoft.com/office/drawing/2014/main" val="3121970096"/>
                    </a:ext>
                  </a:extLst>
                </a:gridCol>
              </a:tblGrid>
              <a:tr h="294335">
                <a:tc>
                  <a:txBody>
                    <a:bodyPr/>
                    <a:lstStyle/>
                    <a:p>
                      <a:pPr algn="l" fontAlgn="b"/>
                      <a:r>
                        <a:rPr lang="en-US" sz="2000" u="none" strike="noStrike" dirty="0">
                          <a:effectLst/>
                        </a:rPr>
                        <a:t>Range Name</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a:effectLst/>
                        </a:rPr>
                        <a:t>Cells</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211250"/>
                  </a:ext>
                </a:extLst>
              </a:tr>
              <a:tr h="294335">
                <a:tc>
                  <a:txBody>
                    <a:bodyPr/>
                    <a:lstStyle/>
                    <a:p>
                      <a:pPr algn="l" fontAlgn="b"/>
                      <a:r>
                        <a:rPr lang="en-US" sz="2000" u="none" strike="noStrike" dirty="0">
                          <a:effectLst/>
                        </a:rPr>
                        <a:t>UnitCost</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a:effectLst/>
                        </a:rPr>
                        <a:t>C4:C6</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731803"/>
                  </a:ext>
                </a:extLst>
              </a:tr>
              <a:tr h="294335">
                <a:tc>
                  <a:txBody>
                    <a:bodyPr/>
                    <a:lstStyle/>
                    <a:p>
                      <a:pPr algn="l" fontAlgn="b"/>
                      <a:r>
                        <a:rPr lang="en-US" sz="2000" u="none" strike="noStrike" dirty="0">
                          <a:effectLst/>
                        </a:rPr>
                        <a:t>Shipments</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a:effectLst/>
                        </a:rPr>
                        <a:t>C10:E12</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83658"/>
                  </a:ext>
                </a:extLst>
              </a:tr>
              <a:tr h="294335">
                <a:tc>
                  <a:txBody>
                    <a:bodyPr/>
                    <a:lstStyle/>
                    <a:p>
                      <a:pPr algn="l" fontAlgn="b"/>
                      <a:r>
                        <a:rPr lang="en-US" sz="2000" u="none" strike="noStrike">
                          <a:effectLst/>
                        </a:rPr>
                        <a:t>Totalln</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a:effectLst/>
                        </a:rPr>
                        <a:t>C14:E14</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672223"/>
                  </a:ext>
                </a:extLst>
              </a:tr>
              <a:tr h="294335">
                <a:tc>
                  <a:txBody>
                    <a:bodyPr/>
                    <a:lstStyle/>
                    <a:p>
                      <a:pPr algn="l" fontAlgn="b"/>
                      <a:r>
                        <a:rPr lang="en-US" sz="2000" u="none" strike="noStrike">
                          <a:effectLst/>
                        </a:rPr>
                        <a:t>Demand</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a:effectLst/>
                        </a:rPr>
                        <a:t>C16:E16</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194911"/>
                  </a:ext>
                </a:extLst>
              </a:tr>
              <a:tr h="294335">
                <a:tc>
                  <a:txBody>
                    <a:bodyPr/>
                    <a:lstStyle/>
                    <a:p>
                      <a:pPr algn="l" fontAlgn="b"/>
                      <a:r>
                        <a:rPr lang="en-US" sz="2000" u="none" strike="noStrike">
                          <a:effectLst/>
                        </a:rPr>
                        <a:t>TotalOut</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a:effectLst/>
                        </a:rPr>
                        <a:t>G10:G12</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2418625"/>
                  </a:ext>
                </a:extLst>
              </a:tr>
              <a:tr h="294335">
                <a:tc>
                  <a:txBody>
                    <a:bodyPr/>
                    <a:lstStyle/>
                    <a:p>
                      <a:pPr algn="l" fontAlgn="b"/>
                      <a:r>
                        <a:rPr lang="en-US" sz="2000" u="none" strike="noStrike">
                          <a:effectLst/>
                        </a:rPr>
                        <a:t>Supply</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a:effectLst/>
                        </a:rPr>
                        <a:t>I10:I12</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890774"/>
                  </a:ext>
                </a:extLst>
              </a:tr>
              <a:tr h="294335">
                <a:tc>
                  <a:txBody>
                    <a:bodyPr/>
                    <a:lstStyle/>
                    <a:p>
                      <a:pPr algn="l" fontAlgn="b"/>
                      <a:r>
                        <a:rPr lang="en-US" sz="2000" u="none" strike="noStrike">
                          <a:effectLst/>
                        </a:rPr>
                        <a:t>TotalCost</a:t>
                      </a:r>
                      <a:endParaRPr lang="en-US" sz="2000" b="0" i="0" u="none" strike="noStrike">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000" u="none" strike="noStrike" dirty="0">
                          <a:effectLst/>
                        </a:rPr>
                        <a:t>I16</a:t>
                      </a:r>
                      <a:endParaRPr lang="en-US" sz="2000" b="0" i="0" u="none" strike="noStrike" dirty="0">
                        <a:solidFill>
                          <a:srgbClr val="000000"/>
                        </a:solidFill>
                        <a:effectLst/>
                        <a:latin typeface="Amasis MT Pro" panose="020405040500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2533857"/>
                  </a:ext>
                </a:extLst>
              </a:tr>
            </a:tbl>
          </a:graphicData>
        </a:graphic>
      </p:graphicFrame>
    </p:spTree>
    <p:extLst>
      <p:ext uri="{BB962C8B-B14F-4D97-AF65-F5344CB8AC3E}">
        <p14:creationId xmlns:p14="http://schemas.microsoft.com/office/powerpoint/2010/main" val="1017740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114300" y="141866"/>
            <a:ext cx="11887200" cy="6463308"/>
          </a:xfrm>
          <a:prstGeom prst="rect">
            <a:avLst/>
          </a:prstGeom>
          <a:noFill/>
        </p:spPr>
        <p:txBody>
          <a:bodyPr wrap="square">
            <a:spAutoFit/>
          </a:bodyPr>
          <a:lstStyle/>
          <a:p>
            <a:pPr algn="l" fontAlgn="base"/>
            <a:r>
              <a:rPr lang="en-US" b="0" i="0" dirty="0">
                <a:solidFill>
                  <a:srgbClr val="000000"/>
                </a:solidFill>
                <a:effectLst/>
                <a:latin typeface="BlinkMacSystemFont"/>
              </a:rPr>
              <a:t>2. Insert the following functions</a:t>
            </a: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b="0" i="0" dirty="0">
              <a:solidFill>
                <a:srgbClr val="000000"/>
              </a:solidFill>
              <a:effectLst/>
              <a:latin typeface="BlinkMacSystemFont"/>
            </a:endParaRPr>
          </a:p>
          <a:p>
            <a:pPr algn="l" fontAlgn="base"/>
            <a:endParaRPr lang="en-US" b="0" i="0" dirty="0">
              <a:solidFill>
                <a:srgbClr val="000000"/>
              </a:solidFill>
              <a:effectLst/>
              <a:latin typeface="Arial" panose="020B0604020202020204" pitchFamily="34" charset="0"/>
              <a:cs typeface="Arial" panose="020B0604020202020204" pitchFamily="34" charset="0"/>
            </a:endParaRPr>
          </a:p>
          <a:p>
            <a:pPr algn="l" fontAlgn="base"/>
            <a:r>
              <a:rPr lang="en-US" b="0" i="0" dirty="0">
                <a:solidFill>
                  <a:srgbClr val="000000"/>
                </a:solidFill>
                <a:effectLst/>
                <a:latin typeface="Arial" panose="020B0604020202020204" pitchFamily="34" charset="0"/>
                <a:cs typeface="Arial" panose="020B0604020202020204" pitchFamily="34" charset="0"/>
              </a:rPr>
              <a:t>Explanation: The SUM functions calculate the total shipped from each factory (Total Out) to each customer (Total In). Total Cost equals the sumproduct of UnitCost and Shipments.</a:t>
            </a: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p:txBody>
      </p:sp>
      <p:pic>
        <p:nvPicPr>
          <p:cNvPr id="4" name="Picture 3">
            <a:extLst>
              <a:ext uri="{FF2B5EF4-FFF2-40B4-BE49-F238E27FC236}">
                <a16:creationId xmlns:a16="http://schemas.microsoft.com/office/drawing/2014/main" id="{FCE9D5E1-B991-41D0-9874-A33CB1F24FB9}"/>
              </a:ext>
            </a:extLst>
          </p:cNvPr>
          <p:cNvPicPr>
            <a:picLocks noChangeAspect="1"/>
          </p:cNvPicPr>
          <p:nvPr/>
        </p:nvPicPr>
        <p:blipFill rotWithShape="1">
          <a:blip r:embed="rId2"/>
          <a:srcRect t="28739" r="42578" b="22070"/>
          <a:stretch/>
        </p:blipFill>
        <p:spPr>
          <a:xfrm>
            <a:off x="388173" y="537906"/>
            <a:ext cx="11230983" cy="4619882"/>
          </a:xfrm>
          <a:prstGeom prst="rect">
            <a:avLst/>
          </a:prstGeom>
        </p:spPr>
      </p:pic>
    </p:spTree>
    <p:extLst>
      <p:ext uri="{BB962C8B-B14F-4D97-AF65-F5344CB8AC3E}">
        <p14:creationId xmlns:p14="http://schemas.microsoft.com/office/powerpoint/2010/main" val="830025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145677" y="0"/>
            <a:ext cx="10754957" cy="6186309"/>
          </a:xfrm>
          <a:prstGeom prst="rect">
            <a:avLst/>
          </a:prstGeom>
          <a:noFill/>
        </p:spPr>
        <p:txBody>
          <a:bodyPr wrap="square">
            <a:spAutoFit/>
          </a:bodyPr>
          <a:lstStyle/>
          <a:p>
            <a:pPr algn="l" fontAlgn="base"/>
            <a:r>
              <a:rPr lang="en-US" b="0" i="0" dirty="0">
                <a:solidFill>
                  <a:srgbClr val="3E3530"/>
                </a:solidFill>
                <a:effectLst/>
                <a:latin typeface="BlinkMacSystemFont"/>
              </a:rPr>
              <a:t>3.  Solve the Model</a:t>
            </a:r>
          </a:p>
          <a:p>
            <a:pPr algn="l" fontAlgn="base"/>
            <a:r>
              <a:rPr lang="en-US" b="0" i="0" dirty="0">
                <a:solidFill>
                  <a:srgbClr val="000000"/>
                </a:solidFill>
                <a:effectLst/>
                <a:latin typeface="BlinkMacSystemFont"/>
              </a:rPr>
              <a:t>To find the optimal solution, execute the following steps.</a:t>
            </a:r>
          </a:p>
          <a:p>
            <a:pPr algn="l" fontAlgn="base"/>
            <a:r>
              <a:rPr lang="en-US" b="0" i="0" dirty="0">
                <a:solidFill>
                  <a:srgbClr val="000000"/>
                </a:solidFill>
                <a:effectLst/>
                <a:latin typeface="BlinkMacSystemFont"/>
              </a:rPr>
              <a:t>Enter the solver parameters (read on). The result should be consistent with the picture below.</a:t>
            </a:r>
          </a:p>
          <a:p>
            <a:pPr algn="l" fontAlgn="base"/>
            <a:endParaRPr lang="en-US" dirty="0">
              <a:solidFill>
                <a:srgbClr val="000000"/>
              </a:solidFill>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a:p>
            <a:pPr algn="l" fontAlgn="base"/>
            <a:endParaRPr lang="en-US" dirty="0">
              <a:solidFill>
                <a:srgbClr val="000000"/>
              </a:solidFill>
              <a:latin typeface="BlinkMacSystemFont"/>
            </a:endParaRPr>
          </a:p>
          <a:p>
            <a:pPr algn="l" fontAlgn="base"/>
            <a:endParaRPr lang="en-US" b="0" i="0" dirty="0">
              <a:solidFill>
                <a:srgbClr val="000000"/>
              </a:solidFill>
              <a:effectLst/>
              <a:latin typeface="BlinkMacSystemFont"/>
            </a:endParaRPr>
          </a:p>
        </p:txBody>
      </p:sp>
      <p:pic>
        <p:nvPicPr>
          <p:cNvPr id="5" name="Picture 4">
            <a:extLst>
              <a:ext uri="{FF2B5EF4-FFF2-40B4-BE49-F238E27FC236}">
                <a16:creationId xmlns:a16="http://schemas.microsoft.com/office/drawing/2014/main" id="{2EE85012-1F7A-418E-BCD9-0A56156C497C}"/>
              </a:ext>
            </a:extLst>
          </p:cNvPr>
          <p:cNvPicPr>
            <a:picLocks noChangeAspect="1"/>
          </p:cNvPicPr>
          <p:nvPr/>
        </p:nvPicPr>
        <p:blipFill rotWithShape="1">
          <a:blip r:embed="rId2"/>
          <a:srcRect b="16650"/>
          <a:stretch/>
        </p:blipFill>
        <p:spPr>
          <a:xfrm>
            <a:off x="-145677" y="258669"/>
            <a:ext cx="12192000" cy="5927640"/>
          </a:xfrm>
          <a:prstGeom prst="rect">
            <a:avLst/>
          </a:prstGeom>
        </p:spPr>
      </p:pic>
    </p:spTree>
    <p:extLst>
      <p:ext uri="{BB962C8B-B14F-4D97-AF65-F5344CB8AC3E}">
        <p14:creationId xmlns:p14="http://schemas.microsoft.com/office/powerpoint/2010/main" val="4029067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572844" y="392651"/>
            <a:ext cx="10754957" cy="4154984"/>
          </a:xfrm>
          <a:prstGeom prst="rect">
            <a:avLst/>
          </a:prstGeom>
          <a:noFill/>
        </p:spPr>
        <p:txBody>
          <a:bodyPr wrap="square">
            <a:spAutoFit/>
          </a:bodyPr>
          <a:lstStyle/>
          <a:p>
            <a:pPr algn="l" fontAlgn="base"/>
            <a:r>
              <a:rPr lang="en-US" sz="2400" b="0" i="0" dirty="0">
                <a:solidFill>
                  <a:srgbClr val="000000"/>
                </a:solidFill>
                <a:effectLst/>
                <a:latin typeface="Arial" panose="020B0604020202020204" pitchFamily="34" charset="0"/>
                <a:cs typeface="Arial" panose="020B0604020202020204" pitchFamily="34" charset="0"/>
              </a:rPr>
              <a:t>4.  Conclusion</a:t>
            </a:r>
          </a:p>
          <a:p>
            <a:pPr algn="l" fontAlgn="base"/>
            <a:endParaRPr lang="en-US" sz="2400" dirty="0">
              <a:solidFill>
                <a:srgbClr val="000000"/>
              </a:solidFill>
              <a:latin typeface="Arial" panose="020B0604020202020204" pitchFamily="34" charset="0"/>
              <a:cs typeface="Arial" panose="020B0604020202020204" pitchFamily="34" charset="0"/>
            </a:endParaRPr>
          </a:p>
          <a:p>
            <a:pPr algn="l" fontAlgn="base"/>
            <a:r>
              <a:rPr lang="en-US" sz="2400" b="0" i="0" dirty="0">
                <a:solidFill>
                  <a:srgbClr val="000000"/>
                </a:solidFill>
                <a:effectLst/>
                <a:latin typeface="Arial" panose="020B0604020202020204" pitchFamily="34" charset="0"/>
                <a:cs typeface="Arial" panose="020B0604020202020204" pitchFamily="34" charset="0"/>
              </a:rPr>
              <a:t>It is optimal to ship 100 units from Factory 1 to Customer 2, 100 units from Factory 2 to Customer 2, 100 units from Factory 2 to Customer 3, 200 units from Factory 3 to Customer 1 and 100 units from Factory 3 to Customer 3. This solution gives the minimum cost of 26000. All constraints are satisfied.</a:t>
            </a:r>
          </a:p>
          <a:p>
            <a:pPr algn="l" fontAlgn="base"/>
            <a:endParaRPr lang="en-US" sz="2400" dirty="0">
              <a:solidFill>
                <a:srgbClr val="000000"/>
              </a:solidFill>
              <a:latin typeface="Arial" panose="020B0604020202020204" pitchFamily="34" charset="0"/>
              <a:cs typeface="Arial" panose="020B0604020202020204" pitchFamily="34" charset="0"/>
            </a:endParaRPr>
          </a:p>
          <a:p>
            <a:pPr algn="l" fontAlgn="base"/>
            <a:endParaRPr lang="en-US" sz="2400" b="0" i="0" dirty="0">
              <a:solidFill>
                <a:srgbClr val="000000"/>
              </a:solidFill>
              <a:effectLst/>
              <a:latin typeface="Arial" panose="020B0604020202020204" pitchFamily="34" charset="0"/>
              <a:cs typeface="Arial" panose="020B0604020202020204" pitchFamily="34" charset="0"/>
            </a:endParaRPr>
          </a:p>
          <a:p>
            <a:pPr algn="l" fontAlgn="base"/>
            <a:endParaRPr lang="en-US" sz="2400" dirty="0">
              <a:solidFill>
                <a:srgbClr val="000000"/>
              </a:solidFill>
              <a:latin typeface="Arial" panose="020B0604020202020204" pitchFamily="34" charset="0"/>
              <a:cs typeface="Arial" panose="020B0604020202020204" pitchFamily="34" charset="0"/>
            </a:endParaRPr>
          </a:p>
          <a:p>
            <a:pPr algn="l" fontAlgn="base"/>
            <a:endParaRPr lang="en-US" sz="2400" b="0" i="0" dirty="0">
              <a:solidFill>
                <a:srgbClr val="000000"/>
              </a:solidFill>
              <a:effectLst/>
              <a:latin typeface="Arial" panose="020B0604020202020204" pitchFamily="34" charset="0"/>
              <a:cs typeface="Arial" panose="020B0604020202020204" pitchFamily="34" charset="0"/>
            </a:endParaRPr>
          </a:p>
          <a:p>
            <a:pPr algn="l" fontAlgn="base"/>
            <a:endParaRPr lang="en-US" sz="2400" b="0" i="0"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0452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247426" y="392651"/>
            <a:ext cx="11464065" cy="6524863"/>
          </a:xfrm>
          <a:prstGeom prst="rect">
            <a:avLst/>
          </a:prstGeom>
          <a:noFill/>
        </p:spPr>
        <p:txBody>
          <a:bodyPr wrap="square">
            <a:spAutoFit/>
          </a:bodyPr>
          <a:lstStyle/>
          <a:p>
            <a:pPr algn="just" fontAlgn="base"/>
            <a:r>
              <a:rPr lang="en-US" sz="2000" dirty="0">
                <a:solidFill>
                  <a:srgbClr val="434343"/>
                </a:solidFill>
                <a:latin typeface="Arial" panose="020B0604020202020204" pitchFamily="34" charset="0"/>
                <a:cs typeface="Arial" panose="020B0604020202020204" pitchFamily="34" charset="0"/>
              </a:rPr>
              <a:t>Example 2</a:t>
            </a:r>
            <a:r>
              <a:rPr lang="en-US" dirty="0">
                <a:solidFill>
                  <a:srgbClr val="434343"/>
                </a:solidFill>
                <a:latin typeface="Arial" panose="020B0604020202020204" pitchFamily="34" charset="0"/>
                <a:cs typeface="Arial" panose="020B0604020202020204" pitchFamily="34" charset="0"/>
              </a:rPr>
              <a:t>.  A </a:t>
            </a:r>
            <a:r>
              <a:rPr lang="en-US" b="0" i="0" dirty="0">
                <a:solidFill>
                  <a:srgbClr val="434343"/>
                </a:solidFill>
                <a:effectLst/>
                <a:latin typeface="Arial" panose="020B0604020202020204" pitchFamily="34" charset="0"/>
                <a:cs typeface="Arial" panose="020B0604020202020204" pitchFamily="34" charset="0"/>
              </a:rPr>
              <a:t>company has three factories at locations X, Y, and Z that manufacture a particular type of product. This product is to be served to four customers at four different locations A, B, C, and D. </a:t>
            </a:r>
            <a:r>
              <a:rPr lang="en-US" dirty="0">
                <a:solidFill>
                  <a:srgbClr val="434343"/>
                </a:solidFill>
                <a:latin typeface="Arial" panose="020B0604020202020204" pitchFamily="34" charset="0"/>
                <a:cs typeface="Arial" panose="020B0604020202020204" pitchFamily="34" charset="0"/>
              </a:rPr>
              <a:t>T</a:t>
            </a:r>
            <a:r>
              <a:rPr lang="en-US" b="0" i="0" dirty="0">
                <a:solidFill>
                  <a:srgbClr val="434343"/>
                </a:solidFill>
                <a:effectLst/>
                <a:latin typeface="Arial" panose="020B0604020202020204" pitchFamily="34" charset="0"/>
                <a:cs typeface="Arial" panose="020B0604020202020204" pitchFamily="34" charset="0"/>
              </a:rPr>
              <a:t>he cost for transporting a unit product from each factory to each customer is given in Table 1</a:t>
            </a:r>
          </a:p>
          <a:p>
            <a:pPr algn="just" fontAlgn="base"/>
            <a:r>
              <a:rPr lang="en-US" b="0" i="0" dirty="0">
                <a:solidFill>
                  <a:srgbClr val="434343"/>
                </a:solidFill>
                <a:effectLst/>
                <a:latin typeface="Arial" panose="020B0604020202020204" pitchFamily="34" charset="0"/>
                <a:cs typeface="Arial" panose="020B0604020202020204" pitchFamily="34" charset="0"/>
              </a:rPr>
              <a:t>.</a:t>
            </a:r>
          </a:p>
          <a:p>
            <a:pPr algn="just" fontAlgn="base"/>
            <a:r>
              <a:rPr lang="en-US" b="0" i="0" dirty="0">
                <a:solidFill>
                  <a:srgbClr val="434343"/>
                </a:solidFill>
                <a:effectLst/>
                <a:latin typeface="Arial" panose="020B0604020202020204" pitchFamily="34" charset="0"/>
                <a:cs typeface="Arial" panose="020B0604020202020204" pitchFamily="34" charset="0"/>
              </a:rPr>
              <a:t>Table 1 Unit transportation cost in Philippine peso</a:t>
            </a: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b="0" i="0" dirty="0">
              <a:solidFill>
                <a:srgbClr val="434343"/>
              </a:solidFill>
              <a:effectLst/>
              <a:latin typeface="Arial" panose="020B0604020202020204" pitchFamily="34" charset="0"/>
              <a:cs typeface="Arial" panose="020B0604020202020204" pitchFamily="34" charset="0"/>
            </a:endParaRPr>
          </a:p>
          <a:p>
            <a:pPr marL="457200" indent="-457200" algn="just">
              <a:buAutoNum type="arabicPeriod" startAt="2"/>
            </a:pPr>
            <a:endParaRPr lang="en-US" b="1" i="0" dirty="0">
              <a:solidFill>
                <a:srgbClr val="292929"/>
              </a:solidFill>
              <a:effectLst/>
              <a:latin typeface="Arial" panose="020B0604020202020204" pitchFamily="34" charset="0"/>
              <a:cs typeface="Arial" panose="020B0604020202020204" pitchFamily="34" charset="0"/>
            </a:endParaRPr>
          </a:p>
          <a:p>
            <a:pPr algn="l"/>
            <a:endParaRPr lang="en-US" b="1" i="0" dirty="0">
              <a:solidFill>
                <a:srgbClr val="292929"/>
              </a:solidFill>
              <a:effectLst/>
              <a:latin typeface="sohne"/>
            </a:endParaRPr>
          </a:p>
          <a:p>
            <a:pPr algn="just"/>
            <a:r>
              <a:rPr lang="en-US" b="0" i="0" dirty="0">
                <a:solidFill>
                  <a:srgbClr val="000000"/>
                </a:solidFill>
                <a:effectLst/>
                <a:latin typeface="Arial" panose="020B0604020202020204" pitchFamily="34" charset="0"/>
              </a:rPr>
              <a:t>	</a:t>
            </a:r>
            <a:endParaRPr lang="en-US" b="0" i="0" dirty="0">
              <a:solidFill>
                <a:srgbClr val="292929"/>
              </a:solidFill>
              <a:effectLst/>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l" fontAlgn="base"/>
            <a:endParaRPr lang="en-US" b="0" i="0" dirty="0">
              <a:solidFill>
                <a:srgbClr val="434343"/>
              </a:solidFill>
              <a:effectLst/>
              <a:latin typeface="Arial" panose="020B0604020202020204" pitchFamily="34" charset="0"/>
              <a:cs typeface="Arial" panose="020B0604020202020204" pitchFamily="34" charset="0"/>
            </a:endParaRPr>
          </a:p>
          <a:p>
            <a:pPr algn="l" fontAlgn="base"/>
            <a:endParaRPr lang="en-US" dirty="0">
              <a:solidFill>
                <a:srgbClr val="434343"/>
              </a:solidFill>
              <a:latin typeface="Arial" panose="020B0604020202020204" pitchFamily="34" charset="0"/>
              <a:cs typeface="Arial" panose="020B0604020202020204" pitchFamily="34" charset="0"/>
            </a:endParaRPr>
          </a:p>
          <a:p>
            <a:pPr algn="l" fontAlgn="base"/>
            <a:r>
              <a:rPr lang="en-US" b="0" i="0" dirty="0">
                <a:solidFill>
                  <a:srgbClr val="434343"/>
                </a:solidFill>
                <a:effectLst/>
                <a:latin typeface="Arial" panose="020B0604020202020204" pitchFamily="34" charset="0"/>
                <a:cs typeface="Arial" panose="020B0604020202020204" pitchFamily="34" charset="0"/>
              </a:rPr>
              <a:t>The daily supply from a factory is fixed due to its capacity limitations. The supply from the factories at X, Y, and Z are 150, 250, and 100 units, respectively. Further, each customer has a certain demand. Here, the demand of customers at locations A, B, C, and D are 50, 100, 200, and 150, respectively.</a:t>
            </a:r>
          </a:p>
          <a:p>
            <a:pPr algn="l" fontAlgn="base"/>
            <a:endParaRPr lang="en-US" b="0" i="0" dirty="0">
              <a:solidFill>
                <a:srgbClr val="434343"/>
              </a:solidFill>
              <a:effectLst/>
              <a:latin typeface="Arial" panose="020B0604020202020204" pitchFamily="34" charset="0"/>
              <a:cs typeface="Arial" panose="020B0604020202020204" pitchFamily="34" charset="0"/>
            </a:endParaRPr>
          </a:p>
          <a:p>
            <a:pPr algn="l" fontAlgn="base"/>
            <a:r>
              <a:rPr lang="en-US" b="0" i="0" dirty="0">
                <a:solidFill>
                  <a:srgbClr val="434343"/>
                </a:solidFill>
                <a:effectLst/>
                <a:latin typeface="Arial" panose="020B0604020202020204" pitchFamily="34" charset="0"/>
                <a:cs typeface="Arial" panose="020B0604020202020204" pitchFamily="34" charset="0"/>
              </a:rPr>
              <a:t>The problem at hand is to determine the number of units of the product to be transported from each factory to each customer to minimize the total transportation cost. Here, we assume that the total supply from different factories and the total customer demand are equal. </a:t>
            </a:r>
          </a:p>
          <a:p>
            <a:pPr algn="just"/>
            <a:endParaRPr lang="en-US" b="0" i="0" dirty="0">
              <a:solidFill>
                <a:srgbClr val="292929"/>
              </a:solidFill>
              <a:effectLst/>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sz="2000" b="0" i="0" dirty="0">
              <a:solidFill>
                <a:srgbClr val="292929"/>
              </a:solidFill>
              <a:effectLst/>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29723EE-98FF-4A6B-A535-0FD2640C99BA}"/>
              </a:ext>
            </a:extLst>
          </p:cNvPr>
          <p:cNvPicPr>
            <a:picLocks noChangeAspect="1"/>
          </p:cNvPicPr>
          <p:nvPr/>
        </p:nvPicPr>
        <p:blipFill rotWithShape="1">
          <a:blip r:embed="rId2"/>
          <a:srcRect t="48784" r="28301" b="26745"/>
          <a:stretch/>
        </p:blipFill>
        <p:spPr>
          <a:xfrm>
            <a:off x="208879" y="1800225"/>
            <a:ext cx="11230982" cy="2185988"/>
          </a:xfrm>
          <a:prstGeom prst="rect">
            <a:avLst/>
          </a:prstGeom>
        </p:spPr>
      </p:pic>
    </p:spTree>
    <p:extLst>
      <p:ext uri="{BB962C8B-B14F-4D97-AF65-F5344CB8AC3E}">
        <p14:creationId xmlns:p14="http://schemas.microsoft.com/office/powerpoint/2010/main" val="3703970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247426" y="392651"/>
            <a:ext cx="11464065" cy="6340197"/>
          </a:xfrm>
          <a:prstGeom prst="rect">
            <a:avLst/>
          </a:prstGeom>
          <a:noFill/>
        </p:spPr>
        <p:txBody>
          <a:bodyPr wrap="square">
            <a:spAutoFit/>
          </a:bodyPr>
          <a:lstStyle/>
          <a:p>
            <a:pPr algn="just" fontAlgn="base"/>
            <a:r>
              <a:rPr lang="en-US" sz="2000" dirty="0">
                <a:solidFill>
                  <a:srgbClr val="434343"/>
                </a:solidFill>
                <a:latin typeface="Arial" panose="020B0604020202020204" pitchFamily="34" charset="0"/>
                <a:cs typeface="Arial" panose="020B0604020202020204" pitchFamily="34" charset="0"/>
              </a:rPr>
              <a:t>Solution:  Use the solver in Excel to find the number of units to ship from each factory to each center that minimizes the total cost.</a:t>
            </a:r>
          </a:p>
          <a:p>
            <a:pPr algn="just" fontAlgn="base"/>
            <a:endParaRPr lang="en-US" sz="2000" b="0" i="0" dirty="0">
              <a:solidFill>
                <a:srgbClr val="434343"/>
              </a:solidFill>
              <a:effectLst/>
              <a:latin typeface="Arial" panose="020B0604020202020204" pitchFamily="34" charset="0"/>
              <a:cs typeface="Arial" panose="020B0604020202020204" pitchFamily="34" charset="0"/>
            </a:endParaRPr>
          </a:p>
          <a:p>
            <a:pPr algn="just" fontAlgn="base"/>
            <a:r>
              <a:rPr lang="en-US" sz="2000" dirty="0">
                <a:solidFill>
                  <a:srgbClr val="434343"/>
                </a:solidFill>
                <a:latin typeface="Arial" panose="020B0604020202020204" pitchFamily="34" charset="0"/>
                <a:cs typeface="Arial" panose="020B0604020202020204" pitchFamily="34" charset="0"/>
              </a:rPr>
              <a:t>1.  Formulate the mode</a:t>
            </a:r>
            <a:endParaRPr lang="en-US" b="0" i="0" dirty="0">
              <a:solidFill>
                <a:srgbClr val="434343"/>
              </a:solidFill>
              <a:effectLst/>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r>
              <a:rPr lang="en-US" b="0" i="0" dirty="0">
                <a:solidFill>
                  <a:srgbClr val="434343"/>
                </a:solidFill>
                <a:effectLst/>
                <a:latin typeface="Arial" panose="020B0604020202020204" pitchFamily="34" charset="0"/>
                <a:cs typeface="Arial" panose="020B0604020202020204" pitchFamily="34" charset="0"/>
              </a:rPr>
              <a:t>The model we are going to solve looks as follows at Excel</a:t>
            </a:r>
          </a:p>
          <a:p>
            <a:pPr marL="457200" indent="-457200" algn="just">
              <a:buAutoNum type="arabicPeriod" startAt="2"/>
            </a:pPr>
            <a:endParaRPr lang="en-US" b="1" i="0" dirty="0">
              <a:solidFill>
                <a:srgbClr val="292929"/>
              </a:solidFill>
              <a:effectLst/>
              <a:latin typeface="Arial" panose="020B0604020202020204" pitchFamily="34" charset="0"/>
              <a:cs typeface="Arial" panose="020B0604020202020204" pitchFamily="34" charset="0"/>
            </a:endParaRPr>
          </a:p>
          <a:p>
            <a:pPr algn="l"/>
            <a:endParaRPr lang="en-US" b="1" i="0" dirty="0">
              <a:solidFill>
                <a:srgbClr val="292929"/>
              </a:solidFill>
              <a:effectLst/>
              <a:latin typeface="sohne"/>
            </a:endParaRPr>
          </a:p>
          <a:p>
            <a:pPr algn="just"/>
            <a:r>
              <a:rPr lang="en-US" b="0" i="0" dirty="0">
                <a:solidFill>
                  <a:srgbClr val="000000"/>
                </a:solidFill>
                <a:effectLst/>
                <a:latin typeface="Arial" panose="020B0604020202020204" pitchFamily="34" charset="0"/>
              </a:rPr>
              <a:t>	</a:t>
            </a:r>
            <a:endParaRPr lang="en-US" b="0" i="0" dirty="0">
              <a:solidFill>
                <a:srgbClr val="292929"/>
              </a:solidFill>
              <a:effectLst/>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l" fontAlgn="base"/>
            <a:endParaRPr lang="en-US" b="0" i="0" dirty="0">
              <a:solidFill>
                <a:srgbClr val="434343"/>
              </a:solidFill>
              <a:effectLst/>
              <a:latin typeface="Arial" panose="020B0604020202020204" pitchFamily="34" charset="0"/>
              <a:cs typeface="Arial" panose="020B0604020202020204" pitchFamily="34" charset="0"/>
            </a:endParaRPr>
          </a:p>
          <a:p>
            <a:pPr algn="l" fontAlgn="base"/>
            <a:endParaRPr lang="en-US" dirty="0">
              <a:solidFill>
                <a:srgbClr val="434343"/>
              </a:solidFill>
              <a:latin typeface="Arial" panose="020B0604020202020204" pitchFamily="34" charset="0"/>
              <a:cs typeface="Arial" panose="020B0604020202020204" pitchFamily="34" charset="0"/>
            </a:endParaRPr>
          </a:p>
          <a:p>
            <a:pPr algn="just"/>
            <a:endParaRPr lang="en-US" dirty="0">
              <a:solidFill>
                <a:srgbClr val="292929"/>
              </a:solidFill>
              <a:latin typeface="Arial" panose="020B0604020202020204" pitchFamily="34" charset="0"/>
              <a:cs typeface="Arial" panose="020B0604020202020204" pitchFamily="34" charset="0"/>
            </a:endParaRPr>
          </a:p>
          <a:p>
            <a:pPr algn="just"/>
            <a:endParaRPr lang="en-US" sz="2000" b="0" i="0" dirty="0">
              <a:solidFill>
                <a:srgbClr val="292929"/>
              </a:solidFill>
              <a:effectLs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3738727-911B-4471-B618-CE0C5ABDA0F3}"/>
              </a:ext>
            </a:extLst>
          </p:cNvPr>
          <p:cNvPicPr>
            <a:picLocks noChangeAspect="1"/>
          </p:cNvPicPr>
          <p:nvPr/>
        </p:nvPicPr>
        <p:blipFill rotWithShape="1">
          <a:blip r:embed="rId2"/>
          <a:srcRect t="28322" r="44687" b="23112"/>
          <a:stretch/>
        </p:blipFill>
        <p:spPr>
          <a:xfrm>
            <a:off x="247427" y="2328862"/>
            <a:ext cx="11464064" cy="4421565"/>
          </a:xfrm>
          <a:prstGeom prst="rect">
            <a:avLst/>
          </a:prstGeom>
        </p:spPr>
      </p:pic>
    </p:spTree>
    <p:extLst>
      <p:ext uri="{BB962C8B-B14F-4D97-AF65-F5344CB8AC3E}">
        <p14:creationId xmlns:p14="http://schemas.microsoft.com/office/powerpoint/2010/main" val="322091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247426" y="135476"/>
            <a:ext cx="11464065" cy="5663089"/>
          </a:xfrm>
          <a:prstGeom prst="rect">
            <a:avLst/>
          </a:prstGeom>
          <a:noFill/>
        </p:spPr>
        <p:txBody>
          <a:bodyPr wrap="square">
            <a:spAutoFit/>
          </a:bodyPr>
          <a:lstStyle/>
          <a:p>
            <a:pPr algn="just" fontAlgn="base"/>
            <a:r>
              <a:rPr lang="en-US" sz="2000" dirty="0">
                <a:solidFill>
                  <a:srgbClr val="434343"/>
                </a:solidFill>
                <a:latin typeface="Arial" panose="020B0604020202020204" pitchFamily="34" charset="0"/>
                <a:cs typeface="Arial" panose="020B0604020202020204" pitchFamily="34" charset="0"/>
              </a:rPr>
              <a:t>2</a:t>
            </a:r>
            <a:r>
              <a:rPr lang="en-US" dirty="0">
                <a:solidFill>
                  <a:srgbClr val="434343"/>
                </a:solidFill>
                <a:latin typeface="Arial" panose="020B0604020202020204" pitchFamily="34" charset="0"/>
                <a:cs typeface="Arial" panose="020B0604020202020204" pitchFamily="34" charset="0"/>
              </a:rPr>
              <a:t>.  Insert the following functions:     </a:t>
            </a: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r>
              <a:rPr lang="en-US" dirty="0">
                <a:solidFill>
                  <a:srgbClr val="434343"/>
                </a:solidFill>
                <a:latin typeface="Arial" panose="020B0604020202020204" pitchFamily="34" charset="0"/>
                <a:cs typeface="Arial" panose="020B0604020202020204" pitchFamily="34" charset="0"/>
              </a:rPr>
              <a:t> </a:t>
            </a:r>
            <a:endParaRPr lang="en-US" sz="2000" b="0" i="0" dirty="0">
              <a:solidFill>
                <a:srgbClr val="292929"/>
              </a:solidFill>
              <a:effectLs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0ED405B-C527-496E-A2C7-1FDF4FBA6096}"/>
              </a:ext>
            </a:extLst>
          </p:cNvPr>
          <p:cNvPicPr>
            <a:picLocks noChangeAspect="1"/>
          </p:cNvPicPr>
          <p:nvPr/>
        </p:nvPicPr>
        <p:blipFill rotWithShape="1">
          <a:blip r:embed="rId2"/>
          <a:srcRect t="28323" r="27578" b="23320"/>
          <a:stretch/>
        </p:blipFill>
        <p:spPr>
          <a:xfrm>
            <a:off x="363966" y="671513"/>
            <a:ext cx="11464065" cy="5843587"/>
          </a:xfrm>
          <a:prstGeom prst="rect">
            <a:avLst/>
          </a:prstGeom>
        </p:spPr>
      </p:pic>
    </p:spTree>
    <p:extLst>
      <p:ext uri="{BB962C8B-B14F-4D97-AF65-F5344CB8AC3E}">
        <p14:creationId xmlns:p14="http://schemas.microsoft.com/office/powerpoint/2010/main" val="3084900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0" y="0"/>
            <a:ext cx="11464065" cy="5663089"/>
          </a:xfrm>
          <a:prstGeom prst="rect">
            <a:avLst/>
          </a:prstGeom>
          <a:noFill/>
        </p:spPr>
        <p:txBody>
          <a:bodyPr wrap="square">
            <a:spAutoFit/>
          </a:bodyPr>
          <a:lstStyle/>
          <a:p>
            <a:pPr algn="just" fontAlgn="base"/>
            <a:r>
              <a:rPr lang="en-US" sz="2000" dirty="0">
                <a:solidFill>
                  <a:srgbClr val="434343"/>
                </a:solidFill>
                <a:latin typeface="Arial" panose="020B0604020202020204" pitchFamily="34" charset="0"/>
                <a:cs typeface="Arial" panose="020B0604020202020204" pitchFamily="34" charset="0"/>
              </a:rPr>
              <a:t>3.  Solve the model:</a:t>
            </a:r>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endParaRPr lang="en-US" dirty="0">
              <a:solidFill>
                <a:srgbClr val="434343"/>
              </a:solidFill>
              <a:latin typeface="Arial" panose="020B0604020202020204" pitchFamily="34" charset="0"/>
              <a:cs typeface="Arial" panose="020B0604020202020204" pitchFamily="34" charset="0"/>
            </a:endParaRPr>
          </a:p>
          <a:p>
            <a:pPr algn="just" fontAlgn="base"/>
            <a:r>
              <a:rPr lang="en-US" dirty="0">
                <a:solidFill>
                  <a:srgbClr val="434343"/>
                </a:solidFill>
                <a:latin typeface="Arial" panose="020B0604020202020204" pitchFamily="34" charset="0"/>
                <a:cs typeface="Arial" panose="020B0604020202020204" pitchFamily="34" charset="0"/>
              </a:rPr>
              <a:t> </a:t>
            </a:r>
            <a:endParaRPr lang="en-US" sz="2000" b="0" i="0" dirty="0">
              <a:solidFill>
                <a:srgbClr val="292929"/>
              </a:solidFill>
              <a:effectLs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4693AC9-683D-4DFA-B6D4-4E47659E94A2}"/>
              </a:ext>
            </a:extLst>
          </p:cNvPr>
          <p:cNvPicPr>
            <a:picLocks noChangeAspect="1"/>
          </p:cNvPicPr>
          <p:nvPr/>
        </p:nvPicPr>
        <p:blipFill rotWithShape="1">
          <a:blip r:embed="rId2"/>
          <a:srcRect b="13940"/>
          <a:stretch/>
        </p:blipFill>
        <p:spPr>
          <a:xfrm>
            <a:off x="0" y="806824"/>
            <a:ext cx="12192000" cy="6500812"/>
          </a:xfrm>
          <a:prstGeom prst="rect">
            <a:avLst/>
          </a:prstGeom>
        </p:spPr>
      </p:pic>
    </p:spTree>
    <p:extLst>
      <p:ext uri="{BB962C8B-B14F-4D97-AF65-F5344CB8AC3E}">
        <p14:creationId xmlns:p14="http://schemas.microsoft.com/office/powerpoint/2010/main" val="2902665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480508" y="806824"/>
            <a:ext cx="11230983" cy="5529431"/>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0" y="242887"/>
            <a:ext cx="11464065" cy="6555641"/>
          </a:xfrm>
          <a:prstGeom prst="rect">
            <a:avLst/>
          </a:prstGeom>
          <a:noFill/>
        </p:spPr>
        <p:txBody>
          <a:bodyPr wrap="square">
            <a:spAutoFit/>
          </a:bodyPr>
          <a:lstStyle/>
          <a:p>
            <a:pPr marL="457200" indent="-457200" algn="l" fontAlgn="base">
              <a:buAutoNum type="arabicPeriod" startAt="3"/>
            </a:pPr>
            <a:r>
              <a:rPr lang="en-US" sz="2000" b="0" i="0" dirty="0">
                <a:solidFill>
                  <a:srgbClr val="3E3530"/>
                </a:solidFill>
                <a:effectLst/>
                <a:latin typeface="BlinkMacSystemFont"/>
              </a:rPr>
              <a:t>Assignment Problem</a:t>
            </a:r>
          </a:p>
          <a:p>
            <a:pPr algn="just" fontAlgn="base"/>
            <a:r>
              <a:rPr lang="en-US" sz="2000" b="0" i="0" dirty="0">
                <a:solidFill>
                  <a:srgbClr val="000000"/>
                </a:solidFill>
                <a:effectLst/>
                <a:latin typeface="BlinkMacSystemFont"/>
              </a:rPr>
              <a:t>	Use the solver in </a:t>
            </a:r>
            <a:r>
              <a:rPr lang="en-US" sz="2000" b="0" i="0" dirty="0">
                <a:solidFill>
                  <a:srgbClr val="000000"/>
                </a:solidFill>
                <a:effectLst/>
                <a:latin typeface="inherit"/>
              </a:rPr>
              <a:t>Excel</a:t>
            </a:r>
            <a:r>
              <a:rPr lang="en-US" sz="2000" b="0" i="0" dirty="0">
                <a:solidFill>
                  <a:srgbClr val="000000"/>
                </a:solidFill>
                <a:effectLst/>
                <a:latin typeface="BlinkMacSystemFont"/>
              </a:rPr>
              <a:t> to find the assignment of persons to tasks that minimizes the total cost.</a:t>
            </a:r>
          </a:p>
          <a:p>
            <a:pPr algn="just" fontAlgn="base"/>
            <a:r>
              <a:rPr lang="en-US" sz="2000" b="0" i="0" dirty="0">
                <a:solidFill>
                  <a:srgbClr val="3E3530"/>
                </a:solidFill>
                <a:effectLst/>
                <a:latin typeface="BlinkMacSystemFont"/>
              </a:rPr>
              <a:t>Formulate the Model</a:t>
            </a:r>
          </a:p>
          <a:p>
            <a:pPr algn="just" fontAlgn="base"/>
            <a:r>
              <a:rPr lang="en-US" sz="2000" dirty="0">
                <a:solidFill>
                  <a:srgbClr val="000000"/>
                </a:solidFill>
                <a:latin typeface="BlinkMacSystemFont"/>
              </a:rPr>
              <a:t>	</a:t>
            </a:r>
            <a:r>
              <a:rPr lang="en-US" sz="2000" b="0" i="0" dirty="0">
                <a:solidFill>
                  <a:srgbClr val="000000"/>
                </a:solidFill>
                <a:effectLst/>
                <a:latin typeface="BlinkMacSystemFont"/>
              </a:rPr>
              <a:t>The model we are going to solve looks as follows in Excel.</a:t>
            </a:r>
          </a:p>
          <a:p>
            <a:br>
              <a:rPr lang="en-US" sz="2000" dirty="0"/>
            </a:br>
            <a:endParaRPr lang="en-US" sz="2000" b="0" i="0" dirty="0">
              <a:solidFill>
                <a:srgbClr val="3E3530"/>
              </a:solidFill>
              <a:effectLst/>
              <a:latin typeface="BlinkMacSystemFont"/>
            </a:endParaRPr>
          </a:p>
          <a:p>
            <a:pPr marL="457200" indent="-457200" algn="l" fontAlgn="base">
              <a:buAutoNum type="arabicPeriod" startAt="3"/>
            </a:pPr>
            <a:endParaRPr lang="en-US" sz="2000" dirty="0">
              <a:solidFill>
                <a:srgbClr val="3E3530"/>
              </a:solidFill>
              <a:latin typeface="BlinkMacSystemFont"/>
            </a:endParaRPr>
          </a:p>
          <a:p>
            <a:pPr marL="457200" indent="-457200" algn="l" fontAlgn="base">
              <a:buAutoNum type="arabicPeriod" startAt="3"/>
            </a:pPr>
            <a:endParaRPr lang="en-US" sz="2000" b="0" i="0" dirty="0">
              <a:solidFill>
                <a:srgbClr val="3E3530"/>
              </a:solidFill>
              <a:effectLst/>
              <a:latin typeface="BlinkMacSystemFont"/>
            </a:endParaRPr>
          </a:p>
          <a:p>
            <a:pPr marL="457200" indent="-457200" algn="l" fontAlgn="base">
              <a:buAutoNum type="arabicPeriod" startAt="3"/>
            </a:pPr>
            <a:endParaRPr lang="en-US" sz="2000" dirty="0">
              <a:solidFill>
                <a:srgbClr val="3E3530"/>
              </a:solidFill>
              <a:latin typeface="BlinkMacSystemFont"/>
            </a:endParaRPr>
          </a:p>
          <a:p>
            <a:pPr algn="l" fontAlgn="base"/>
            <a:endParaRPr lang="en-US" sz="2000" dirty="0">
              <a:solidFill>
                <a:srgbClr val="3E3530"/>
              </a:solidFill>
              <a:latin typeface="BlinkMacSystemFont"/>
            </a:endParaRPr>
          </a:p>
          <a:p>
            <a:pPr algn="l" fontAlgn="base"/>
            <a:endParaRPr lang="en-US" sz="2000" b="0" i="0" dirty="0">
              <a:solidFill>
                <a:srgbClr val="3E3530"/>
              </a:solidFill>
              <a:effectLst/>
              <a:latin typeface="BlinkMacSystemFont"/>
            </a:endParaRPr>
          </a:p>
          <a:p>
            <a:pPr algn="l" fontAlgn="base"/>
            <a:endParaRPr lang="en-US" sz="2000" dirty="0">
              <a:solidFill>
                <a:srgbClr val="3E3530"/>
              </a:solidFill>
              <a:latin typeface="BlinkMacSystemFont"/>
            </a:endParaRPr>
          </a:p>
          <a:p>
            <a:pPr algn="l" fontAlgn="base"/>
            <a:endParaRPr lang="en-US" sz="2000" b="0" i="0" dirty="0">
              <a:solidFill>
                <a:srgbClr val="3E3530"/>
              </a:solidFill>
              <a:effectLst/>
              <a:latin typeface="BlinkMacSystemFont"/>
            </a:endParaRPr>
          </a:p>
          <a:p>
            <a:pPr algn="l" fontAlgn="base"/>
            <a:endParaRPr lang="en-US" sz="2000" dirty="0">
              <a:solidFill>
                <a:srgbClr val="3E3530"/>
              </a:solidFill>
              <a:latin typeface="BlinkMacSystemFont"/>
            </a:endParaRPr>
          </a:p>
          <a:p>
            <a:pPr algn="l" fontAlgn="base"/>
            <a:endParaRPr lang="en-US" sz="2000" b="0" i="0" dirty="0">
              <a:solidFill>
                <a:srgbClr val="3E3530"/>
              </a:solidFill>
              <a:effectLst/>
              <a:latin typeface="BlinkMacSystemFont"/>
            </a:endParaRPr>
          </a:p>
          <a:p>
            <a:pPr algn="l" fontAlgn="base"/>
            <a:endParaRPr lang="en-US" sz="2000" dirty="0">
              <a:solidFill>
                <a:srgbClr val="3E3530"/>
              </a:solidFill>
              <a:latin typeface="BlinkMacSystemFont"/>
            </a:endParaRPr>
          </a:p>
          <a:p>
            <a:pPr algn="l" fontAlgn="base"/>
            <a:endParaRPr lang="en-US" sz="2000" b="0" i="0" dirty="0">
              <a:solidFill>
                <a:srgbClr val="3E3530"/>
              </a:solidFill>
              <a:effectLst/>
              <a:latin typeface="BlinkMacSystemFont"/>
            </a:endParaRPr>
          </a:p>
          <a:p>
            <a:pPr algn="l" fontAlgn="base"/>
            <a:endParaRPr lang="en-US" sz="2000" dirty="0">
              <a:solidFill>
                <a:srgbClr val="3E3530"/>
              </a:solidFill>
              <a:latin typeface="BlinkMacSystemFont"/>
            </a:endParaRPr>
          </a:p>
          <a:p>
            <a:pPr algn="l" fontAlgn="base"/>
            <a:endParaRPr lang="en-US" sz="2000" b="0" i="0" dirty="0">
              <a:solidFill>
                <a:srgbClr val="3E3530"/>
              </a:solidFill>
              <a:effectLst/>
              <a:latin typeface="BlinkMacSystemFont"/>
            </a:endParaRPr>
          </a:p>
          <a:p>
            <a:pPr algn="l" fontAlgn="base"/>
            <a:endParaRPr lang="en-US" sz="2000" b="0" i="0" dirty="0">
              <a:solidFill>
                <a:srgbClr val="3E3530"/>
              </a:solidFill>
              <a:effectLst/>
              <a:latin typeface="BlinkMacSystemFont"/>
            </a:endParaRPr>
          </a:p>
          <a:p>
            <a:pPr algn="l" fontAlgn="base"/>
            <a:r>
              <a:rPr lang="en-US" sz="2000" b="0" i="0" dirty="0">
                <a:solidFill>
                  <a:srgbClr val="000000"/>
                </a:solidFill>
                <a:effectLst/>
                <a:latin typeface="BlinkMacSystemFont"/>
              </a:rPr>
              <a:t> </a:t>
            </a:r>
          </a:p>
        </p:txBody>
      </p:sp>
      <p:pic>
        <p:nvPicPr>
          <p:cNvPr id="4" name="Picture 3">
            <a:extLst>
              <a:ext uri="{FF2B5EF4-FFF2-40B4-BE49-F238E27FC236}">
                <a16:creationId xmlns:a16="http://schemas.microsoft.com/office/drawing/2014/main" id="{200AC769-437D-4756-9C0C-A6749CB164B9}"/>
              </a:ext>
            </a:extLst>
          </p:cNvPr>
          <p:cNvPicPr>
            <a:picLocks noChangeAspect="1"/>
          </p:cNvPicPr>
          <p:nvPr/>
        </p:nvPicPr>
        <p:blipFill rotWithShape="1">
          <a:blip r:embed="rId2"/>
          <a:srcRect t="28531" r="53711" b="24988"/>
          <a:stretch/>
        </p:blipFill>
        <p:spPr>
          <a:xfrm>
            <a:off x="247426" y="1657350"/>
            <a:ext cx="11682637" cy="4914900"/>
          </a:xfrm>
          <a:prstGeom prst="rect">
            <a:avLst/>
          </a:prstGeom>
        </p:spPr>
      </p:pic>
    </p:spTree>
    <p:extLst>
      <p:ext uri="{BB962C8B-B14F-4D97-AF65-F5344CB8AC3E}">
        <p14:creationId xmlns:p14="http://schemas.microsoft.com/office/powerpoint/2010/main" val="728698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247426" y="392651"/>
            <a:ext cx="11464065" cy="6341635"/>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439C969A-3743-413B-8CE9-F638085F15EA}"/>
              </a:ext>
            </a:extLst>
          </p:cNvPr>
          <p:cNvSpPr txBox="1"/>
          <p:nvPr/>
        </p:nvSpPr>
        <p:spPr>
          <a:xfrm>
            <a:off x="247426" y="392651"/>
            <a:ext cx="11464065" cy="4093428"/>
          </a:xfrm>
          <a:prstGeom prst="rect">
            <a:avLst/>
          </a:prstGeom>
          <a:noFill/>
        </p:spPr>
        <p:txBody>
          <a:bodyPr wrap="square">
            <a:spAutoFit/>
          </a:bodyPr>
          <a:lstStyle/>
          <a:p>
            <a:pPr marL="457200" indent="-457200" algn="just" fontAlgn="base">
              <a:buAutoNum type="arabicPeriod"/>
            </a:pPr>
            <a:r>
              <a:rPr lang="en-US" sz="2000" b="0" i="0" dirty="0">
                <a:solidFill>
                  <a:srgbClr val="000000"/>
                </a:solidFill>
                <a:effectLst/>
                <a:latin typeface="BlinkMacSystemFont"/>
              </a:rPr>
              <a:t>To formulate this </a:t>
            </a:r>
            <a:r>
              <a:rPr lang="en-US" sz="2000" b="0" i="0" dirty="0">
                <a:solidFill>
                  <a:srgbClr val="000000"/>
                </a:solidFill>
                <a:effectLst/>
                <a:latin typeface="inherit"/>
              </a:rPr>
              <a:t>assignment problem</a:t>
            </a:r>
            <a:r>
              <a:rPr lang="en-US" sz="2000" b="0" i="0" dirty="0">
                <a:solidFill>
                  <a:srgbClr val="000000"/>
                </a:solidFill>
                <a:effectLst/>
                <a:latin typeface="BlinkMacSystemFont"/>
              </a:rPr>
              <a:t>, answer the following three questions.</a:t>
            </a:r>
          </a:p>
          <a:p>
            <a:pPr algn="just" fontAlgn="base"/>
            <a:endParaRPr lang="en-US" sz="2000" b="0" i="0" dirty="0">
              <a:solidFill>
                <a:srgbClr val="000000"/>
              </a:solidFill>
              <a:effectLst/>
              <a:latin typeface="BlinkMacSystemFont"/>
            </a:endParaRPr>
          </a:p>
          <a:p>
            <a:pPr algn="just" fontAlgn="base"/>
            <a:r>
              <a:rPr lang="en-US" sz="2000" b="0" i="0" dirty="0">
                <a:solidFill>
                  <a:srgbClr val="000000"/>
                </a:solidFill>
                <a:effectLst/>
                <a:latin typeface="BlinkMacSystemFont"/>
              </a:rPr>
              <a:t>a. What are the decisions to be made? For this problem, we need Excel to find out which person to assign to which task (Yes=1, No=0). For example, if we assign Person 1 to Task 1, cell C10 equals 1. If not, cell C10 equals 0.</a:t>
            </a:r>
          </a:p>
          <a:p>
            <a:pPr algn="just" fontAlgn="base"/>
            <a:endParaRPr lang="en-US" sz="2000" b="0" i="0" dirty="0">
              <a:solidFill>
                <a:srgbClr val="000000"/>
              </a:solidFill>
              <a:effectLst/>
              <a:latin typeface="BlinkMacSystemFont"/>
            </a:endParaRPr>
          </a:p>
          <a:p>
            <a:pPr algn="just" fontAlgn="base"/>
            <a:r>
              <a:rPr lang="en-US" sz="2000" b="0" i="0" dirty="0">
                <a:solidFill>
                  <a:srgbClr val="000000"/>
                </a:solidFill>
                <a:effectLst/>
                <a:latin typeface="BlinkMacSystemFont"/>
              </a:rPr>
              <a:t>b. What are the constraints on these decisions? Each person can only do one task (Supply=1). Each task only needs one person (Demand=1).</a:t>
            </a:r>
          </a:p>
          <a:p>
            <a:pPr algn="just" fontAlgn="base"/>
            <a:endParaRPr lang="en-US" sz="2000" b="0" i="0" dirty="0">
              <a:solidFill>
                <a:srgbClr val="000000"/>
              </a:solidFill>
              <a:effectLst/>
              <a:latin typeface="BlinkMacSystemFont"/>
            </a:endParaRPr>
          </a:p>
          <a:p>
            <a:pPr algn="just" fontAlgn="base"/>
            <a:r>
              <a:rPr lang="en-US" sz="2000" b="0" i="0" dirty="0">
                <a:solidFill>
                  <a:srgbClr val="000000"/>
                </a:solidFill>
                <a:effectLst/>
                <a:latin typeface="BlinkMacSystemFont"/>
              </a:rPr>
              <a:t>c. What is the overall measure of performance for these decisions? The overall measure of performance is the total cost of the assignment, so the objective is to minimize this quantity.</a:t>
            </a:r>
          </a:p>
          <a:p>
            <a:pPr algn="just" fontAlgn="base"/>
            <a:endParaRPr lang="en-US" sz="2000" b="0" i="0" dirty="0">
              <a:solidFill>
                <a:srgbClr val="000000"/>
              </a:solidFill>
              <a:effectLst/>
              <a:latin typeface="BlinkMacSystemFont"/>
            </a:endParaRPr>
          </a:p>
          <a:p>
            <a:pPr algn="just" fontAlgn="base"/>
            <a:r>
              <a:rPr lang="en-US" sz="2000" b="0" i="0" dirty="0">
                <a:solidFill>
                  <a:srgbClr val="000000"/>
                </a:solidFill>
                <a:effectLst/>
                <a:latin typeface="BlinkMacSystemFont"/>
              </a:rPr>
              <a:t>2. To make the model easier to understand, create the following named ranges.</a:t>
            </a:r>
          </a:p>
        </p:txBody>
      </p:sp>
      <p:pic>
        <p:nvPicPr>
          <p:cNvPr id="4" name="Picture 3">
            <a:extLst>
              <a:ext uri="{FF2B5EF4-FFF2-40B4-BE49-F238E27FC236}">
                <a16:creationId xmlns:a16="http://schemas.microsoft.com/office/drawing/2014/main" id="{E78AE820-DFE3-41C2-AED7-E784DFCFCD7A}"/>
              </a:ext>
            </a:extLst>
          </p:cNvPr>
          <p:cNvPicPr>
            <a:picLocks noChangeAspect="1"/>
          </p:cNvPicPr>
          <p:nvPr/>
        </p:nvPicPr>
        <p:blipFill rotWithShape="1">
          <a:blip r:embed="rId2"/>
          <a:srcRect l="15719" t="50000" r="61536" b="27922"/>
          <a:stretch/>
        </p:blipFill>
        <p:spPr>
          <a:xfrm>
            <a:off x="1570616" y="4486079"/>
            <a:ext cx="5798372" cy="2146010"/>
          </a:xfrm>
          <a:prstGeom prst="rect">
            <a:avLst/>
          </a:prstGeom>
        </p:spPr>
      </p:pic>
    </p:spTree>
    <p:extLst>
      <p:ext uri="{BB962C8B-B14F-4D97-AF65-F5344CB8AC3E}">
        <p14:creationId xmlns:p14="http://schemas.microsoft.com/office/powerpoint/2010/main" val="2977224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247426" y="392651"/>
            <a:ext cx="11464065" cy="6341635"/>
          </a:xfrm>
        </p:spPr>
        <p:txBody>
          <a:bodyPr>
            <a:normAutofit/>
          </a:bodyPr>
          <a:lstStyle/>
          <a:p>
            <a:pPr marL="0" indent="0" algn="just">
              <a:buNone/>
            </a:pPr>
            <a:endParaRPr lang="en-US" sz="2400" dirty="0">
              <a:latin typeface="Arial" panose="020B0604020202020204" pitchFamily="34" charset="0"/>
              <a:cs typeface="Arial" panose="020B0604020202020204" pitchFamily="34" charset="0"/>
            </a:endParaRPr>
          </a:p>
          <a:p>
            <a:pPr marL="0" indent="0" algn="just">
              <a:buNone/>
            </a:pPr>
            <a:r>
              <a:rPr lang="en-US" sz="2400" dirty="0">
                <a:latin typeface="Arial" panose="020B0604020202020204" pitchFamily="34" charset="0"/>
                <a:cs typeface="Arial" panose="020B0604020202020204" pitchFamily="34" charset="0"/>
              </a:rPr>
              <a:t> </a:t>
            </a:r>
          </a:p>
        </p:txBody>
      </p:sp>
      <p:sp>
        <p:nvSpPr>
          <p:cNvPr id="6" name="TextBox 5">
            <a:extLst>
              <a:ext uri="{FF2B5EF4-FFF2-40B4-BE49-F238E27FC236}">
                <a16:creationId xmlns:a16="http://schemas.microsoft.com/office/drawing/2014/main" id="{0D3FEF0E-EDD4-4BF7-8ED3-A97E98598EB4}"/>
              </a:ext>
            </a:extLst>
          </p:cNvPr>
          <p:cNvSpPr txBox="1"/>
          <p:nvPr/>
        </p:nvSpPr>
        <p:spPr>
          <a:xfrm>
            <a:off x="247425" y="207985"/>
            <a:ext cx="11370833" cy="6186309"/>
          </a:xfrm>
          <a:prstGeom prst="rect">
            <a:avLst/>
          </a:prstGeom>
          <a:noFill/>
        </p:spPr>
        <p:txBody>
          <a:bodyPr wrap="square">
            <a:spAutoFit/>
          </a:bodyPr>
          <a:lstStyle/>
          <a:p>
            <a:r>
              <a:rPr lang="en-US" b="0" i="0" dirty="0">
                <a:solidFill>
                  <a:srgbClr val="000000"/>
                </a:solidFill>
                <a:effectLst/>
                <a:latin typeface="BlinkMacSystemFont"/>
              </a:rPr>
              <a:t>3. Insert the following functions.</a:t>
            </a: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solidFill>
                <a:srgbClr val="000000"/>
              </a:solidFill>
              <a:latin typeface="BlinkMacSystemFont"/>
            </a:endParaRPr>
          </a:p>
          <a:p>
            <a:endParaRPr lang="en-US" dirty="0"/>
          </a:p>
        </p:txBody>
      </p:sp>
      <p:pic>
        <p:nvPicPr>
          <p:cNvPr id="4" name="Picture 3">
            <a:extLst>
              <a:ext uri="{FF2B5EF4-FFF2-40B4-BE49-F238E27FC236}">
                <a16:creationId xmlns:a16="http://schemas.microsoft.com/office/drawing/2014/main" id="{407F545C-5B02-4E66-A019-47E6FD958FD0}"/>
              </a:ext>
            </a:extLst>
          </p:cNvPr>
          <p:cNvPicPr>
            <a:picLocks noChangeAspect="1"/>
          </p:cNvPicPr>
          <p:nvPr/>
        </p:nvPicPr>
        <p:blipFill rotWithShape="1">
          <a:blip r:embed="rId2"/>
          <a:srcRect t="28323" r="35078" b="22278"/>
          <a:stretch/>
        </p:blipFill>
        <p:spPr>
          <a:xfrm>
            <a:off x="247425" y="642939"/>
            <a:ext cx="11697149" cy="5822410"/>
          </a:xfrm>
          <a:prstGeom prst="rect">
            <a:avLst/>
          </a:prstGeom>
        </p:spPr>
      </p:pic>
    </p:spTree>
    <p:extLst>
      <p:ext uri="{BB962C8B-B14F-4D97-AF65-F5344CB8AC3E}">
        <p14:creationId xmlns:p14="http://schemas.microsoft.com/office/powerpoint/2010/main" val="4191132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0" y="100175"/>
            <a:ext cx="11464065" cy="6341635"/>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The Optimal Solution</a:t>
            </a:r>
          </a:p>
        </p:txBody>
      </p:sp>
      <p:sp>
        <p:nvSpPr>
          <p:cNvPr id="6" name="TextBox 5">
            <a:extLst>
              <a:ext uri="{FF2B5EF4-FFF2-40B4-BE49-F238E27FC236}">
                <a16:creationId xmlns:a16="http://schemas.microsoft.com/office/drawing/2014/main" id="{0D3FEF0E-EDD4-4BF7-8ED3-A97E98598EB4}"/>
              </a:ext>
            </a:extLst>
          </p:cNvPr>
          <p:cNvSpPr txBox="1"/>
          <p:nvPr/>
        </p:nvSpPr>
        <p:spPr>
          <a:xfrm>
            <a:off x="93232" y="6053334"/>
            <a:ext cx="11370833" cy="923330"/>
          </a:xfrm>
          <a:prstGeom prst="rect">
            <a:avLst/>
          </a:prstGeom>
          <a:noFill/>
        </p:spPr>
        <p:txBody>
          <a:bodyPr wrap="square">
            <a:spAutoFit/>
          </a:bodyPr>
          <a:lstStyle/>
          <a:p>
            <a:r>
              <a:rPr lang="en-US" b="0" i="0" dirty="0">
                <a:solidFill>
                  <a:srgbClr val="000000"/>
                </a:solidFill>
                <a:effectLst/>
                <a:latin typeface="BlinkMacSystemFont"/>
              </a:rPr>
              <a:t>Conclusion: it is optimal to assign Person 1 to task 2, Person 2 to Task 3 and Person 3 to Task 1. This solution gives the minimum cost of 129. All constraints are satisfied.</a:t>
            </a:r>
          </a:p>
          <a:p>
            <a:endParaRPr lang="en-US" dirty="0"/>
          </a:p>
        </p:txBody>
      </p:sp>
      <p:pic>
        <p:nvPicPr>
          <p:cNvPr id="5" name="Picture 4">
            <a:extLst>
              <a:ext uri="{FF2B5EF4-FFF2-40B4-BE49-F238E27FC236}">
                <a16:creationId xmlns:a16="http://schemas.microsoft.com/office/drawing/2014/main" id="{11372FD4-E655-4A95-A2D8-8710F933B671}"/>
              </a:ext>
            </a:extLst>
          </p:cNvPr>
          <p:cNvPicPr>
            <a:picLocks noChangeAspect="1"/>
          </p:cNvPicPr>
          <p:nvPr/>
        </p:nvPicPr>
        <p:blipFill rotWithShape="1">
          <a:blip r:embed="rId2"/>
          <a:srcRect t="5703" r="13984" b="13941"/>
          <a:stretch/>
        </p:blipFill>
        <p:spPr>
          <a:xfrm>
            <a:off x="93232" y="1157187"/>
            <a:ext cx="12098768" cy="5357812"/>
          </a:xfrm>
          <a:prstGeom prst="rect">
            <a:avLst/>
          </a:prstGeom>
        </p:spPr>
      </p:pic>
    </p:spTree>
    <p:extLst>
      <p:ext uri="{BB962C8B-B14F-4D97-AF65-F5344CB8AC3E}">
        <p14:creationId xmlns:p14="http://schemas.microsoft.com/office/powerpoint/2010/main" val="1884533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363967" y="258182"/>
            <a:ext cx="11464065" cy="6341635"/>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Exercises</a:t>
            </a:r>
            <a:endParaRPr lang="en-US" sz="1800" dirty="0">
              <a:latin typeface="Arial" panose="020B0604020202020204" pitchFamily="34" charset="0"/>
              <a:cs typeface="Arial" panose="020B0604020202020204" pitchFamily="34" charset="0"/>
            </a:endParaRPr>
          </a:p>
          <a:p>
            <a:pPr marL="342900" indent="-342900" algn="just">
              <a:buAutoNum type="arabicPeriod"/>
            </a:pPr>
            <a:r>
              <a:rPr lang="en-US" sz="1800" b="0" i="0" dirty="0">
                <a:solidFill>
                  <a:srgbClr val="374151"/>
                </a:solidFill>
                <a:effectLst/>
                <a:latin typeface="Arial" panose="020B0604020202020204" pitchFamily="34" charset="0"/>
                <a:cs typeface="Arial" panose="020B0604020202020204" pitchFamily="34" charset="0"/>
              </a:rPr>
              <a:t>A company has three factories (F1, F2, F3) and three distribution centers (D1, D2, D3). The transportation costs per unit and the supply/demand quantities are given as follows:</a:t>
            </a:r>
          </a:p>
          <a:p>
            <a:pPr marL="342900" indent="-342900" algn="just">
              <a:buAutoNum type="arabicPeriod"/>
            </a:pPr>
            <a:endParaRPr lang="en-US" sz="1800" dirty="0">
              <a:solidFill>
                <a:srgbClr val="374151"/>
              </a:solidFill>
              <a:latin typeface="Arial" panose="020B0604020202020204" pitchFamily="34" charset="0"/>
              <a:cs typeface="Arial" panose="020B0604020202020204" pitchFamily="34" charset="0"/>
            </a:endParaRPr>
          </a:p>
          <a:p>
            <a:pPr marL="342900" indent="-342900" algn="just">
              <a:buAutoNum type="arabicPeriod"/>
            </a:pPr>
            <a:endParaRPr lang="en-US" sz="1800" b="0" i="0" dirty="0">
              <a:solidFill>
                <a:srgbClr val="374151"/>
              </a:solidFill>
              <a:effectLst/>
              <a:latin typeface="Arial" panose="020B0604020202020204" pitchFamily="34" charset="0"/>
              <a:cs typeface="Arial" panose="020B0604020202020204" pitchFamily="34" charset="0"/>
            </a:endParaRPr>
          </a:p>
          <a:p>
            <a:pPr marL="342900" indent="-342900" algn="just">
              <a:buAutoNum type="arabicPeriod"/>
            </a:pPr>
            <a:endParaRPr lang="en-US" sz="1800" dirty="0">
              <a:solidFill>
                <a:srgbClr val="374151"/>
              </a:solidFill>
              <a:latin typeface="Arial" panose="020B0604020202020204" pitchFamily="34" charset="0"/>
              <a:cs typeface="Arial" panose="020B0604020202020204" pitchFamily="34" charset="0"/>
            </a:endParaRPr>
          </a:p>
          <a:p>
            <a:pPr marL="342900" indent="-342900" algn="just">
              <a:buAutoNum type="arabicPeriod"/>
            </a:pPr>
            <a:endParaRPr lang="en-US" sz="1800" b="0"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2000" b="0" i="0" dirty="0">
              <a:solidFill>
                <a:srgbClr val="374151"/>
              </a:solidFill>
              <a:effectLst/>
              <a:latin typeface="Arial" panose="020B0604020202020204" pitchFamily="34" charset="0"/>
              <a:cs typeface="Arial" panose="020B0604020202020204" pitchFamily="34" charset="0"/>
            </a:endParaRP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Supply from F1: 70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Supply from F2: 80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Supply from F3: 90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Demand at D1: 80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Demand at D2: 80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Demand at D3: 80 units</a:t>
            </a:r>
            <a:endParaRPr lang="en-US" sz="2000" dirty="0">
              <a:solidFill>
                <a:srgbClr val="374151"/>
              </a:solidFill>
              <a:latin typeface="Arial" panose="020B0604020202020204" pitchFamily="34" charset="0"/>
              <a:cs typeface="Arial" panose="020B0604020202020204" pitchFamily="34" charset="0"/>
            </a:endParaRPr>
          </a:p>
          <a:p>
            <a:pPr marL="0" indent="0" algn="just">
              <a:buNone/>
            </a:pPr>
            <a:endParaRPr lang="en-US" sz="1800" b="0"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1800"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4060D98D-DC49-40C5-B3EE-B79C073E4F8D}"/>
              </a:ext>
            </a:extLst>
          </p:cNvPr>
          <p:cNvGraphicFramePr>
            <a:graphicFrameLocks noGrp="1"/>
          </p:cNvGraphicFramePr>
          <p:nvPr>
            <p:extLst>
              <p:ext uri="{D42A27DB-BD31-4B8C-83A1-F6EECF244321}">
                <p14:modId xmlns:p14="http://schemas.microsoft.com/office/powerpoint/2010/main" val="526864099"/>
              </p:ext>
            </p:extLst>
          </p:nvPr>
        </p:nvGraphicFramePr>
        <p:xfrm>
          <a:off x="3403675" y="1404553"/>
          <a:ext cx="5483152" cy="1652972"/>
        </p:xfrm>
        <a:graphic>
          <a:graphicData uri="http://schemas.openxmlformats.org/drawingml/2006/table">
            <a:tbl>
              <a:tblPr/>
              <a:tblGrid>
                <a:gridCol w="1370788">
                  <a:extLst>
                    <a:ext uri="{9D8B030D-6E8A-4147-A177-3AD203B41FA5}">
                      <a16:colId xmlns:a16="http://schemas.microsoft.com/office/drawing/2014/main" val="3633626338"/>
                    </a:ext>
                  </a:extLst>
                </a:gridCol>
                <a:gridCol w="1370788">
                  <a:extLst>
                    <a:ext uri="{9D8B030D-6E8A-4147-A177-3AD203B41FA5}">
                      <a16:colId xmlns:a16="http://schemas.microsoft.com/office/drawing/2014/main" val="1853387928"/>
                    </a:ext>
                  </a:extLst>
                </a:gridCol>
                <a:gridCol w="1370788">
                  <a:extLst>
                    <a:ext uri="{9D8B030D-6E8A-4147-A177-3AD203B41FA5}">
                      <a16:colId xmlns:a16="http://schemas.microsoft.com/office/drawing/2014/main" val="878790584"/>
                    </a:ext>
                  </a:extLst>
                </a:gridCol>
                <a:gridCol w="1370788">
                  <a:extLst>
                    <a:ext uri="{9D8B030D-6E8A-4147-A177-3AD203B41FA5}">
                      <a16:colId xmlns:a16="http://schemas.microsoft.com/office/drawing/2014/main" val="3922499057"/>
                    </a:ext>
                  </a:extLst>
                </a:gridCol>
              </a:tblGrid>
              <a:tr h="413243">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Unit Cost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9860608"/>
                  </a:ext>
                </a:extLst>
              </a:tr>
              <a:tr h="413243">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F1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2319159"/>
                  </a:ext>
                </a:extLst>
              </a:tr>
              <a:tr h="413243">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F2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532226"/>
                  </a:ext>
                </a:extLst>
              </a:tr>
              <a:tr h="413243">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F3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02111"/>
                  </a:ext>
                </a:extLst>
              </a:tr>
            </a:tbl>
          </a:graphicData>
        </a:graphic>
      </p:graphicFrame>
    </p:spTree>
    <p:extLst>
      <p:ext uri="{BB962C8B-B14F-4D97-AF65-F5344CB8AC3E}">
        <p14:creationId xmlns:p14="http://schemas.microsoft.com/office/powerpoint/2010/main" val="2642054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363967" y="258182"/>
            <a:ext cx="11464065" cy="6341635"/>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Exercises</a:t>
            </a:r>
          </a:p>
          <a:p>
            <a:pPr marL="0" indent="0" algn="just">
              <a:buNone/>
            </a:pPr>
            <a:r>
              <a:rPr lang="en-US" sz="2400" dirty="0">
                <a:latin typeface="Arial" panose="020B0604020202020204" pitchFamily="34" charset="0"/>
                <a:cs typeface="Arial" panose="020B0604020202020204" pitchFamily="34" charset="0"/>
              </a:rPr>
              <a:t>2. </a:t>
            </a:r>
            <a:r>
              <a:rPr lang="en-US" sz="2000" b="0" i="0" dirty="0">
                <a:solidFill>
                  <a:srgbClr val="374151"/>
                </a:solidFill>
                <a:effectLst/>
                <a:latin typeface="Arial" panose="020B0604020202020204" pitchFamily="34" charset="0"/>
                <a:cs typeface="Arial" panose="020B0604020202020204" pitchFamily="34" charset="0"/>
              </a:rPr>
              <a:t>A company has four warehouses (W1, W2, W3, W4) and four customers (C1, C2, C3, C4). The profit per unit of goods shipped and the supply/demand quantities are given as follows:</a:t>
            </a:r>
          </a:p>
          <a:p>
            <a:pPr marL="0" indent="0" algn="just">
              <a:buNone/>
            </a:pPr>
            <a:endParaRPr lang="en-US" sz="2000" dirty="0">
              <a:solidFill>
                <a:srgbClr val="374151"/>
              </a:solidFill>
              <a:latin typeface="Arial" panose="020B0604020202020204" pitchFamily="34" charset="0"/>
              <a:cs typeface="Arial" panose="020B0604020202020204" pitchFamily="34" charset="0"/>
            </a:endParaRPr>
          </a:p>
          <a:p>
            <a:pPr marL="0" indent="0" algn="just">
              <a:buNone/>
            </a:pPr>
            <a:endParaRPr lang="en-US" sz="2000" dirty="0">
              <a:latin typeface="Arial" panose="020B0604020202020204" pitchFamily="34" charset="0"/>
              <a:cs typeface="Arial" panose="020B0604020202020204" pitchFamily="34" charset="0"/>
            </a:endParaRPr>
          </a:p>
          <a:p>
            <a:pPr marL="0" indent="0" algn="just">
              <a:buNone/>
            </a:pPr>
            <a:endParaRPr lang="en-US" sz="1800"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040E0257-0F36-4EBE-96EC-9DDBF981F78E}"/>
              </a:ext>
            </a:extLst>
          </p:cNvPr>
          <p:cNvGraphicFramePr>
            <a:graphicFrameLocks noGrp="1"/>
          </p:cNvGraphicFramePr>
          <p:nvPr>
            <p:extLst>
              <p:ext uri="{D42A27DB-BD31-4B8C-83A1-F6EECF244321}">
                <p14:modId xmlns:p14="http://schemas.microsoft.com/office/powerpoint/2010/main" val="3949181305"/>
              </p:ext>
            </p:extLst>
          </p:nvPr>
        </p:nvGraphicFramePr>
        <p:xfrm>
          <a:off x="3424629" y="1609724"/>
          <a:ext cx="3915785" cy="1571625"/>
        </p:xfrm>
        <a:graphic>
          <a:graphicData uri="http://schemas.openxmlformats.org/drawingml/2006/table">
            <a:tbl>
              <a:tblPr/>
              <a:tblGrid>
                <a:gridCol w="783157">
                  <a:extLst>
                    <a:ext uri="{9D8B030D-6E8A-4147-A177-3AD203B41FA5}">
                      <a16:colId xmlns:a16="http://schemas.microsoft.com/office/drawing/2014/main" val="1403207332"/>
                    </a:ext>
                  </a:extLst>
                </a:gridCol>
                <a:gridCol w="783157">
                  <a:extLst>
                    <a:ext uri="{9D8B030D-6E8A-4147-A177-3AD203B41FA5}">
                      <a16:colId xmlns:a16="http://schemas.microsoft.com/office/drawing/2014/main" val="1278441955"/>
                    </a:ext>
                  </a:extLst>
                </a:gridCol>
                <a:gridCol w="783157">
                  <a:extLst>
                    <a:ext uri="{9D8B030D-6E8A-4147-A177-3AD203B41FA5}">
                      <a16:colId xmlns:a16="http://schemas.microsoft.com/office/drawing/2014/main" val="1440925976"/>
                    </a:ext>
                  </a:extLst>
                </a:gridCol>
                <a:gridCol w="783157">
                  <a:extLst>
                    <a:ext uri="{9D8B030D-6E8A-4147-A177-3AD203B41FA5}">
                      <a16:colId xmlns:a16="http://schemas.microsoft.com/office/drawing/2014/main" val="792699548"/>
                    </a:ext>
                  </a:extLst>
                </a:gridCol>
                <a:gridCol w="783157">
                  <a:extLst>
                    <a:ext uri="{9D8B030D-6E8A-4147-A177-3AD203B41FA5}">
                      <a16:colId xmlns:a16="http://schemas.microsoft.com/office/drawing/2014/main" val="3971252501"/>
                    </a:ext>
                  </a:extLst>
                </a:gridCol>
              </a:tblGrid>
              <a:tr h="254573">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C1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C2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C3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C4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5318681"/>
                  </a:ext>
                </a:extLst>
              </a:tr>
              <a:tr h="254573">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3843248"/>
                  </a:ext>
                </a:extLst>
              </a:tr>
              <a:tr h="254573">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464585"/>
                  </a:ext>
                </a:extLst>
              </a:tr>
              <a:tr h="254573">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4958616"/>
                  </a:ext>
                </a:extLst>
              </a:tr>
              <a:tr h="254573">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577160"/>
                  </a:ext>
                </a:extLst>
              </a:tr>
            </a:tbl>
          </a:graphicData>
        </a:graphic>
      </p:graphicFrame>
      <p:sp>
        <p:nvSpPr>
          <p:cNvPr id="6" name="TextBox 5">
            <a:extLst>
              <a:ext uri="{FF2B5EF4-FFF2-40B4-BE49-F238E27FC236}">
                <a16:creationId xmlns:a16="http://schemas.microsoft.com/office/drawing/2014/main" id="{F0C1DA4D-ACEA-40D6-BAB3-B341CEC562A0}"/>
              </a:ext>
            </a:extLst>
          </p:cNvPr>
          <p:cNvSpPr txBox="1"/>
          <p:nvPr/>
        </p:nvSpPr>
        <p:spPr>
          <a:xfrm>
            <a:off x="1298145" y="3428999"/>
            <a:ext cx="4252968" cy="2554545"/>
          </a:xfrm>
          <a:prstGeom prst="rect">
            <a:avLst/>
          </a:prstGeom>
          <a:noFill/>
        </p:spPr>
        <p:txBody>
          <a:bodyPr wrap="square">
            <a:spAutoFit/>
          </a:bodyPr>
          <a:lstStyle/>
          <a:p>
            <a:r>
              <a:rPr lang="en-US" sz="2000" b="0" i="0" dirty="0">
                <a:solidFill>
                  <a:srgbClr val="374151"/>
                </a:solidFill>
                <a:effectLst/>
                <a:latin typeface="Arial" panose="020B0604020202020204" pitchFamily="34" charset="0"/>
                <a:cs typeface="Arial" panose="020B0604020202020204" pitchFamily="34" charset="0"/>
              </a:rPr>
              <a:t>Supply from W1: 60 units </a:t>
            </a:r>
          </a:p>
          <a:p>
            <a:r>
              <a:rPr lang="en-US" sz="2000" b="0" i="0" dirty="0">
                <a:solidFill>
                  <a:srgbClr val="374151"/>
                </a:solidFill>
                <a:effectLst/>
                <a:latin typeface="Arial" panose="020B0604020202020204" pitchFamily="34" charset="0"/>
                <a:cs typeface="Arial" panose="020B0604020202020204" pitchFamily="34" charset="0"/>
              </a:rPr>
              <a:t>Supply from W2: 70 units </a:t>
            </a:r>
          </a:p>
          <a:p>
            <a:r>
              <a:rPr lang="en-US" sz="2000" b="0" i="0" dirty="0">
                <a:solidFill>
                  <a:srgbClr val="374151"/>
                </a:solidFill>
                <a:effectLst/>
                <a:latin typeface="Arial" panose="020B0604020202020204" pitchFamily="34" charset="0"/>
                <a:cs typeface="Arial" panose="020B0604020202020204" pitchFamily="34" charset="0"/>
              </a:rPr>
              <a:t>Supply from W3: 80 units </a:t>
            </a:r>
          </a:p>
          <a:p>
            <a:r>
              <a:rPr lang="en-US" sz="2000" b="0" i="0" dirty="0">
                <a:solidFill>
                  <a:srgbClr val="374151"/>
                </a:solidFill>
                <a:effectLst/>
                <a:latin typeface="Arial" panose="020B0604020202020204" pitchFamily="34" charset="0"/>
                <a:cs typeface="Arial" panose="020B0604020202020204" pitchFamily="34" charset="0"/>
              </a:rPr>
              <a:t>Supply from W4: 60 units</a:t>
            </a:r>
          </a:p>
          <a:p>
            <a:r>
              <a:rPr lang="en-US" sz="2000" b="0" i="0" dirty="0">
                <a:solidFill>
                  <a:srgbClr val="374151"/>
                </a:solidFill>
                <a:effectLst/>
                <a:latin typeface="Arial" panose="020B0604020202020204" pitchFamily="34" charset="0"/>
                <a:cs typeface="Arial" panose="020B0604020202020204" pitchFamily="34" charset="0"/>
              </a:rPr>
              <a:t>Demand at C1: 60 units </a:t>
            </a:r>
          </a:p>
          <a:p>
            <a:r>
              <a:rPr lang="en-US" sz="2000" b="0" i="0" dirty="0">
                <a:solidFill>
                  <a:srgbClr val="374151"/>
                </a:solidFill>
                <a:effectLst/>
                <a:latin typeface="Arial" panose="020B0604020202020204" pitchFamily="34" charset="0"/>
                <a:cs typeface="Arial" panose="020B0604020202020204" pitchFamily="34" charset="0"/>
              </a:rPr>
              <a:t>Demand at C2: 70 units </a:t>
            </a:r>
          </a:p>
          <a:p>
            <a:r>
              <a:rPr lang="en-US" sz="2000" b="0" i="0" dirty="0">
                <a:solidFill>
                  <a:srgbClr val="374151"/>
                </a:solidFill>
                <a:effectLst/>
                <a:latin typeface="Arial" panose="020B0604020202020204" pitchFamily="34" charset="0"/>
                <a:cs typeface="Arial" panose="020B0604020202020204" pitchFamily="34" charset="0"/>
              </a:rPr>
              <a:t>Demand at C3: 80 units </a:t>
            </a:r>
          </a:p>
          <a:p>
            <a:r>
              <a:rPr lang="en-US" sz="2000" b="0" i="0" dirty="0">
                <a:solidFill>
                  <a:srgbClr val="374151"/>
                </a:solidFill>
                <a:effectLst/>
                <a:latin typeface="Arial" panose="020B0604020202020204" pitchFamily="34" charset="0"/>
                <a:cs typeface="Arial" panose="020B0604020202020204" pitchFamily="34" charset="0"/>
              </a:rPr>
              <a:t>Demand at C4: 60 units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2000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1709D-CD13-4C85-B9FA-E06B4B51B859}"/>
              </a:ext>
            </a:extLst>
          </p:cNvPr>
          <p:cNvSpPr>
            <a:spLocks noGrp="1"/>
          </p:cNvSpPr>
          <p:nvPr>
            <p:ph idx="1"/>
          </p:nvPr>
        </p:nvSpPr>
        <p:spPr>
          <a:xfrm>
            <a:off x="363967" y="258182"/>
            <a:ext cx="11464065" cy="6341635"/>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Exercises</a:t>
            </a:r>
          </a:p>
          <a:p>
            <a:pPr marL="0" indent="0" algn="just">
              <a:buNone/>
            </a:pPr>
            <a:r>
              <a:rPr lang="en-US" sz="2400" dirty="0">
                <a:latin typeface="Arial" panose="020B0604020202020204" pitchFamily="34" charset="0"/>
                <a:cs typeface="Arial" panose="020B0604020202020204" pitchFamily="34" charset="0"/>
              </a:rPr>
              <a:t>3. </a:t>
            </a:r>
            <a:r>
              <a:rPr lang="en-US" sz="2000" b="0" i="0" dirty="0">
                <a:solidFill>
                  <a:srgbClr val="374151"/>
                </a:solidFill>
                <a:effectLst/>
                <a:latin typeface="Arial" panose="020B0604020202020204" pitchFamily="34" charset="0"/>
                <a:cs typeface="Arial" panose="020B0604020202020204" pitchFamily="34" charset="0"/>
              </a:rPr>
              <a:t>A company has five employees (E1, E2, E3, E4, E5) and five tasks (T1, T2, T3, T4, T5). The efficiency of each employee in performing each task is given as follows:</a:t>
            </a:r>
            <a:endParaRPr lang="en-US" sz="2000" dirty="0">
              <a:latin typeface="Arial" panose="020B0604020202020204" pitchFamily="34" charset="0"/>
              <a:cs typeface="Arial" panose="020B0604020202020204" pitchFamily="34" charset="0"/>
            </a:endParaRPr>
          </a:p>
          <a:p>
            <a:pPr marL="0" indent="0" algn="just">
              <a:buNone/>
            </a:pPr>
            <a:endParaRPr lang="en-US" sz="1800" dirty="0">
              <a:latin typeface="Arial" panose="020B0604020202020204" pitchFamily="34" charset="0"/>
              <a:cs typeface="Arial" panose="020B0604020202020204" pitchFamily="34" charset="0"/>
            </a:endParaRPr>
          </a:p>
        </p:txBody>
      </p:sp>
      <p:graphicFrame>
        <p:nvGraphicFramePr>
          <p:cNvPr id="4" name="Table 4">
            <a:extLst>
              <a:ext uri="{FF2B5EF4-FFF2-40B4-BE49-F238E27FC236}">
                <a16:creationId xmlns:a16="http://schemas.microsoft.com/office/drawing/2014/main" id="{D90A1C5D-1ECD-4D4D-90D8-562B32F68249}"/>
              </a:ext>
            </a:extLst>
          </p:cNvPr>
          <p:cNvGraphicFramePr>
            <a:graphicFrameLocks noGrp="1"/>
          </p:cNvGraphicFramePr>
          <p:nvPr>
            <p:extLst>
              <p:ext uri="{D42A27DB-BD31-4B8C-83A1-F6EECF244321}">
                <p14:modId xmlns:p14="http://schemas.microsoft.com/office/powerpoint/2010/main" val="1146232738"/>
              </p:ext>
            </p:extLst>
          </p:nvPr>
        </p:nvGraphicFramePr>
        <p:xfrm>
          <a:off x="3591110" y="1601792"/>
          <a:ext cx="3452629" cy="2225040"/>
        </p:xfrm>
        <a:graphic>
          <a:graphicData uri="http://schemas.openxmlformats.org/drawingml/2006/table">
            <a:tbl>
              <a:tblPr firstRow="1" bandRow="1">
                <a:tableStyleId>{5C22544A-7EE6-4342-B048-85BDC9FD1C3A}</a:tableStyleId>
              </a:tblPr>
              <a:tblGrid>
                <a:gridCol w="582028">
                  <a:extLst>
                    <a:ext uri="{9D8B030D-6E8A-4147-A177-3AD203B41FA5}">
                      <a16:colId xmlns:a16="http://schemas.microsoft.com/office/drawing/2014/main" val="2237087802"/>
                    </a:ext>
                  </a:extLst>
                </a:gridCol>
                <a:gridCol w="614233">
                  <a:extLst>
                    <a:ext uri="{9D8B030D-6E8A-4147-A177-3AD203B41FA5}">
                      <a16:colId xmlns:a16="http://schemas.microsoft.com/office/drawing/2014/main" val="991009067"/>
                    </a:ext>
                  </a:extLst>
                </a:gridCol>
                <a:gridCol w="513951">
                  <a:extLst>
                    <a:ext uri="{9D8B030D-6E8A-4147-A177-3AD203B41FA5}">
                      <a16:colId xmlns:a16="http://schemas.microsoft.com/office/drawing/2014/main" val="895155044"/>
                    </a:ext>
                  </a:extLst>
                </a:gridCol>
                <a:gridCol w="576628">
                  <a:extLst>
                    <a:ext uri="{9D8B030D-6E8A-4147-A177-3AD203B41FA5}">
                      <a16:colId xmlns:a16="http://schemas.microsoft.com/office/drawing/2014/main" val="1331671294"/>
                    </a:ext>
                  </a:extLst>
                </a:gridCol>
                <a:gridCol w="526486">
                  <a:extLst>
                    <a:ext uri="{9D8B030D-6E8A-4147-A177-3AD203B41FA5}">
                      <a16:colId xmlns:a16="http://schemas.microsoft.com/office/drawing/2014/main" val="362815015"/>
                    </a:ext>
                  </a:extLst>
                </a:gridCol>
                <a:gridCol w="639303">
                  <a:extLst>
                    <a:ext uri="{9D8B030D-6E8A-4147-A177-3AD203B41FA5}">
                      <a16:colId xmlns:a16="http://schemas.microsoft.com/office/drawing/2014/main" val="3035591823"/>
                    </a:ext>
                  </a:extLst>
                </a:gridCol>
              </a:tblGrid>
              <a:tr h="370840">
                <a:tc>
                  <a:txBody>
                    <a:bodyPr/>
                    <a:lstStyle/>
                    <a:p>
                      <a:pPr algn="ctr"/>
                      <a:endParaRPr lang="en-US"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9984493"/>
                  </a:ext>
                </a:extLst>
              </a:tr>
              <a:tr h="370840">
                <a:tc>
                  <a:txBody>
                    <a:bodyPr/>
                    <a:lstStyle/>
                    <a:p>
                      <a:pPr algn="ctr"/>
                      <a:r>
                        <a:rPr lang="en-US" dirty="0">
                          <a:latin typeface="Arial" panose="020B0604020202020204" pitchFamily="34" charset="0"/>
                          <a:cs typeface="Arial" panose="020B0604020202020204" pitchFamily="34" charset="0"/>
                        </a:rPr>
                        <a:t>E1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9428427"/>
                  </a:ext>
                </a:extLst>
              </a:tr>
              <a:tr h="370840">
                <a:tc>
                  <a:txBody>
                    <a:bodyPr/>
                    <a:lstStyle/>
                    <a:p>
                      <a:pPr algn="ctr"/>
                      <a:r>
                        <a:rPr lang="en-US" dirty="0">
                          <a:latin typeface="Arial" panose="020B0604020202020204" pitchFamily="34" charset="0"/>
                          <a:cs typeface="Arial" panose="020B0604020202020204" pitchFamily="34" charset="0"/>
                        </a:rPr>
                        <a:t>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2565985"/>
                  </a:ext>
                </a:extLst>
              </a:tr>
              <a:tr h="370840">
                <a:tc>
                  <a:txBody>
                    <a:bodyPr/>
                    <a:lstStyle/>
                    <a:p>
                      <a:pPr algn="ctr"/>
                      <a:r>
                        <a:rPr lang="en-US" dirty="0">
                          <a:latin typeface="Arial" panose="020B0604020202020204" pitchFamily="34" charset="0"/>
                          <a:cs typeface="Arial" panose="020B0604020202020204" pitchFamily="34" charset="0"/>
                        </a:rPr>
                        <a:t>E3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1579647"/>
                  </a:ext>
                </a:extLst>
              </a:tr>
              <a:tr h="370840">
                <a:tc>
                  <a:txBody>
                    <a:bodyPr/>
                    <a:lstStyle/>
                    <a:p>
                      <a:pPr algn="ctr"/>
                      <a:r>
                        <a:rPr lang="en-US" dirty="0">
                          <a:latin typeface="Arial" panose="020B0604020202020204" pitchFamily="34" charset="0"/>
                          <a:cs typeface="Arial" panose="020B0604020202020204" pitchFamily="34" charset="0"/>
                        </a:rPr>
                        <a:t>E4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5159378"/>
                  </a:ext>
                </a:extLst>
              </a:tr>
              <a:tr h="370840">
                <a:tc>
                  <a:txBody>
                    <a:bodyPr/>
                    <a:lstStyle/>
                    <a:p>
                      <a:pPr algn="ctr"/>
                      <a:r>
                        <a:rPr lang="en-US" dirty="0">
                          <a:latin typeface="Arial" panose="020B0604020202020204" pitchFamily="34" charset="0"/>
                          <a:cs typeface="Arial" panose="020B0604020202020204" pitchFamily="34" charset="0"/>
                        </a:rPr>
                        <a:t>E5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9682663"/>
                  </a:ext>
                </a:extLst>
              </a:tr>
            </a:tbl>
          </a:graphicData>
        </a:graphic>
      </p:graphicFrame>
      <p:sp>
        <p:nvSpPr>
          <p:cNvPr id="7" name="TextBox 6">
            <a:extLst>
              <a:ext uri="{FF2B5EF4-FFF2-40B4-BE49-F238E27FC236}">
                <a16:creationId xmlns:a16="http://schemas.microsoft.com/office/drawing/2014/main" id="{6160EC22-69D7-49EA-8253-7E5458EFF810}"/>
              </a:ext>
            </a:extLst>
          </p:cNvPr>
          <p:cNvSpPr txBox="1"/>
          <p:nvPr/>
        </p:nvSpPr>
        <p:spPr>
          <a:xfrm>
            <a:off x="569630" y="4369524"/>
            <a:ext cx="11052737" cy="369332"/>
          </a:xfrm>
          <a:prstGeom prst="rect">
            <a:avLst/>
          </a:prstGeom>
          <a:noFill/>
        </p:spPr>
        <p:txBody>
          <a:bodyPr wrap="square">
            <a:spAutoFit/>
          </a:bodyPr>
          <a:lstStyle/>
          <a:p>
            <a:r>
              <a:rPr lang="en-US" b="0" i="0" dirty="0">
                <a:solidFill>
                  <a:srgbClr val="374151"/>
                </a:solidFill>
                <a:effectLst/>
                <a:latin typeface="Arial" panose="020B0604020202020204" pitchFamily="34" charset="0"/>
                <a:cs typeface="Arial" panose="020B0604020202020204" pitchFamily="34" charset="0"/>
              </a:rPr>
              <a:t>The goal is to assign each employee to a task in a way that maximizes the total efficiency.</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8423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8245184-8829-4FAF-A8D3-96F8C3731238}"/>
              </a:ext>
            </a:extLst>
          </p:cNvPr>
          <p:cNvSpPr>
            <a:spLocks noGrp="1"/>
          </p:cNvSpPr>
          <p:nvPr>
            <p:ph idx="1"/>
          </p:nvPr>
        </p:nvSpPr>
        <p:spPr>
          <a:xfrm>
            <a:off x="363967" y="258182"/>
            <a:ext cx="11464065" cy="6341635"/>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Exercises</a:t>
            </a:r>
            <a:endParaRPr lang="en-US" sz="1800" dirty="0">
              <a:latin typeface="Arial" panose="020B0604020202020204" pitchFamily="34" charset="0"/>
              <a:cs typeface="Arial" panose="020B0604020202020204" pitchFamily="34" charset="0"/>
            </a:endParaRPr>
          </a:p>
          <a:p>
            <a:pPr marL="342900" indent="-342900" algn="just">
              <a:buAutoNum type="arabicPeriod"/>
            </a:pPr>
            <a:r>
              <a:rPr lang="en-US" sz="1800" b="0" i="0" dirty="0">
                <a:solidFill>
                  <a:srgbClr val="374151"/>
                </a:solidFill>
                <a:effectLst/>
                <a:latin typeface="Arial" panose="020B0604020202020204" pitchFamily="34" charset="0"/>
                <a:cs typeface="Arial" panose="020B0604020202020204" pitchFamily="34" charset="0"/>
              </a:rPr>
              <a:t>A company has three factories (F1, F2, F3) and three distribution centers (D1, D2, D3). The transportation costs per unit and the supply/demand quantities are given as follows:</a:t>
            </a:r>
          </a:p>
          <a:p>
            <a:pPr marL="0" indent="0" algn="just">
              <a:buNone/>
            </a:pPr>
            <a:endParaRPr lang="en-US" sz="1800" dirty="0">
              <a:solidFill>
                <a:srgbClr val="374151"/>
              </a:solidFill>
              <a:latin typeface="Arial" panose="020B0604020202020204" pitchFamily="34" charset="0"/>
              <a:cs typeface="Arial" panose="020B0604020202020204" pitchFamily="34" charset="0"/>
            </a:endParaRPr>
          </a:p>
          <a:p>
            <a:pPr marL="0" indent="0" algn="just">
              <a:buNone/>
            </a:pPr>
            <a:endParaRPr lang="en-US" sz="1800" b="0" i="0" dirty="0">
              <a:solidFill>
                <a:srgbClr val="374151"/>
              </a:solidFill>
              <a:effectLst/>
              <a:latin typeface="Arial" panose="020B0604020202020204" pitchFamily="34" charset="0"/>
              <a:cs typeface="Arial" panose="020B0604020202020204" pitchFamily="34" charset="0"/>
            </a:endParaRPr>
          </a:p>
          <a:p>
            <a:pPr marL="342900" indent="-342900" algn="just">
              <a:buAutoNum type="arabicPeriod"/>
            </a:pPr>
            <a:endParaRPr lang="en-US" sz="1800" dirty="0">
              <a:solidFill>
                <a:srgbClr val="374151"/>
              </a:solidFill>
              <a:latin typeface="Arial" panose="020B0604020202020204" pitchFamily="34" charset="0"/>
              <a:cs typeface="Arial" panose="020B0604020202020204" pitchFamily="34" charset="0"/>
            </a:endParaRPr>
          </a:p>
          <a:p>
            <a:pPr marL="342900" indent="-342900" algn="just">
              <a:buAutoNum type="arabicPeriod"/>
            </a:pPr>
            <a:endParaRPr lang="en-US" sz="1800" b="0"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2000" b="0"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2000" b="0" i="0" dirty="0">
              <a:solidFill>
                <a:srgbClr val="374151"/>
              </a:solidFill>
              <a:effectLst/>
              <a:latin typeface="Arial" panose="020B0604020202020204" pitchFamily="34" charset="0"/>
              <a:cs typeface="Arial" panose="020B0604020202020204" pitchFamily="34" charset="0"/>
            </a:endParaRP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Supply from F1: 70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Supply from F2: 80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Supply from F3: 90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Demand at D1: 80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Demand at D2: 80 units </a:t>
            </a:r>
          </a:p>
          <a:p>
            <a:pPr marL="0" indent="0" algn="just">
              <a:buNone/>
            </a:pPr>
            <a:r>
              <a:rPr lang="en-US" sz="2000" b="0" i="0" dirty="0">
                <a:solidFill>
                  <a:srgbClr val="374151"/>
                </a:solidFill>
                <a:effectLst/>
                <a:latin typeface="Arial" panose="020B0604020202020204" pitchFamily="34" charset="0"/>
                <a:cs typeface="Arial" panose="020B0604020202020204" pitchFamily="34" charset="0"/>
              </a:rPr>
              <a:t>Demand at D3: 80 units</a:t>
            </a:r>
            <a:endParaRPr lang="en-US" sz="2000" dirty="0">
              <a:solidFill>
                <a:srgbClr val="374151"/>
              </a:solidFill>
              <a:latin typeface="Arial" panose="020B0604020202020204" pitchFamily="34" charset="0"/>
              <a:cs typeface="Arial" panose="020B0604020202020204" pitchFamily="34" charset="0"/>
            </a:endParaRPr>
          </a:p>
          <a:p>
            <a:pPr marL="0" indent="0" algn="just">
              <a:buNone/>
            </a:pPr>
            <a:endParaRPr lang="en-US" sz="1800" b="0" i="0" dirty="0">
              <a:solidFill>
                <a:srgbClr val="374151"/>
              </a:solidFill>
              <a:effectLst/>
              <a:latin typeface="Arial" panose="020B0604020202020204" pitchFamily="34" charset="0"/>
              <a:cs typeface="Arial" panose="020B0604020202020204" pitchFamily="34" charset="0"/>
            </a:endParaRPr>
          </a:p>
          <a:p>
            <a:pPr marL="0" indent="0" algn="just">
              <a:buNone/>
            </a:pPr>
            <a:endParaRPr lang="en-US" sz="1800" dirty="0">
              <a:latin typeface="Arial" panose="020B0604020202020204" pitchFamily="34" charset="0"/>
              <a:cs typeface="Arial" panose="020B0604020202020204" pitchFamily="34" charset="0"/>
            </a:endParaRPr>
          </a:p>
        </p:txBody>
      </p:sp>
      <p:graphicFrame>
        <p:nvGraphicFramePr>
          <p:cNvPr id="10" name="Table 10">
            <a:extLst>
              <a:ext uri="{FF2B5EF4-FFF2-40B4-BE49-F238E27FC236}">
                <a16:creationId xmlns:a16="http://schemas.microsoft.com/office/drawing/2014/main" id="{3FFA089A-49A0-4482-9B50-2940213F66EE}"/>
              </a:ext>
            </a:extLst>
          </p:cNvPr>
          <p:cNvGraphicFramePr>
            <a:graphicFrameLocks noGrp="1"/>
          </p:cNvGraphicFramePr>
          <p:nvPr>
            <p:extLst>
              <p:ext uri="{D42A27DB-BD31-4B8C-83A1-F6EECF244321}">
                <p14:modId xmlns:p14="http://schemas.microsoft.com/office/powerpoint/2010/main" val="2839165901"/>
              </p:ext>
            </p:extLst>
          </p:nvPr>
        </p:nvGraphicFramePr>
        <p:xfrm>
          <a:off x="2031999" y="1464068"/>
          <a:ext cx="8128000" cy="148336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3198402860"/>
                    </a:ext>
                  </a:extLst>
                </a:gridCol>
                <a:gridCol w="2032000">
                  <a:extLst>
                    <a:ext uri="{9D8B030D-6E8A-4147-A177-3AD203B41FA5}">
                      <a16:colId xmlns:a16="http://schemas.microsoft.com/office/drawing/2014/main" val="3914093003"/>
                    </a:ext>
                  </a:extLst>
                </a:gridCol>
                <a:gridCol w="2032000">
                  <a:extLst>
                    <a:ext uri="{9D8B030D-6E8A-4147-A177-3AD203B41FA5}">
                      <a16:colId xmlns:a16="http://schemas.microsoft.com/office/drawing/2014/main" val="1073216939"/>
                    </a:ext>
                  </a:extLst>
                </a:gridCol>
                <a:gridCol w="2032000">
                  <a:extLst>
                    <a:ext uri="{9D8B030D-6E8A-4147-A177-3AD203B41FA5}">
                      <a16:colId xmlns:a16="http://schemas.microsoft.com/office/drawing/2014/main" val="2059579789"/>
                    </a:ext>
                  </a:extLst>
                </a:gridCol>
              </a:tblGrid>
              <a:tr h="370840">
                <a:tc>
                  <a:txBody>
                    <a:bodyPr/>
                    <a:lstStyle/>
                    <a:p>
                      <a:pPr algn="ctr"/>
                      <a:r>
                        <a:rPr lang="en-US" dirty="0"/>
                        <a:t>Unit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53779"/>
                  </a:ext>
                </a:extLst>
              </a:tr>
              <a:tr h="370840">
                <a:tc>
                  <a:txBody>
                    <a:bodyPr/>
                    <a:lstStyle/>
                    <a:p>
                      <a:pPr algn="ctr"/>
                      <a:r>
                        <a:rPr lang="en-US" dirty="0"/>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517793"/>
                  </a:ext>
                </a:extLst>
              </a:tr>
              <a:tr h="370840">
                <a:tc>
                  <a:txBody>
                    <a:bodyPr/>
                    <a:lstStyle/>
                    <a:p>
                      <a:pPr algn="ctr"/>
                      <a:r>
                        <a:rPr lang="en-US" dirty="0"/>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3471545"/>
                  </a:ext>
                </a:extLst>
              </a:tr>
              <a:tr h="370840">
                <a:tc>
                  <a:txBody>
                    <a:bodyPr/>
                    <a:lstStyle/>
                    <a:p>
                      <a:pPr algn="ctr"/>
                      <a:r>
                        <a:rPr lang="en-US" dirty="0"/>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51090"/>
                  </a:ext>
                </a:extLst>
              </a:tr>
            </a:tbl>
          </a:graphicData>
        </a:graphic>
      </p:graphicFrame>
    </p:spTree>
    <p:extLst>
      <p:ext uri="{BB962C8B-B14F-4D97-AF65-F5344CB8AC3E}">
        <p14:creationId xmlns:p14="http://schemas.microsoft.com/office/powerpoint/2010/main" val="282337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16C23F2B-6796-4A6C-82AC-D1512B979949}"/>
              </a:ext>
            </a:extLst>
          </p:cNvPr>
          <p:cNvSpPr>
            <a:spLocks noGrp="1"/>
          </p:cNvSpPr>
          <p:nvPr>
            <p:ph idx="1"/>
          </p:nvPr>
        </p:nvSpPr>
        <p:spPr>
          <a:xfrm>
            <a:off x="363967" y="258182"/>
            <a:ext cx="11464065" cy="6341635"/>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Exercises</a:t>
            </a:r>
          </a:p>
          <a:p>
            <a:pPr marL="0" indent="0" algn="just">
              <a:buNone/>
            </a:pPr>
            <a:r>
              <a:rPr lang="en-US" sz="2400" dirty="0">
                <a:latin typeface="Arial" panose="020B0604020202020204" pitchFamily="34" charset="0"/>
                <a:cs typeface="Arial" panose="020B0604020202020204" pitchFamily="34" charset="0"/>
              </a:rPr>
              <a:t>2. </a:t>
            </a:r>
            <a:r>
              <a:rPr lang="en-US" sz="2000" b="0" i="0" dirty="0">
                <a:solidFill>
                  <a:srgbClr val="374151"/>
                </a:solidFill>
                <a:effectLst/>
                <a:latin typeface="Arial" panose="020B0604020202020204" pitchFamily="34" charset="0"/>
                <a:cs typeface="Arial" panose="020B0604020202020204" pitchFamily="34" charset="0"/>
              </a:rPr>
              <a:t>A company has four warehouses (W1, W2, W3, W4) and four customers (C1, C2, C3, C4). The profit per unit of goods shipped and the supply/demand quantities are given as follows:</a:t>
            </a:r>
          </a:p>
          <a:p>
            <a:pPr marL="0" indent="0" algn="just">
              <a:buNone/>
            </a:pPr>
            <a:endParaRPr lang="en-US" sz="2000" dirty="0">
              <a:solidFill>
                <a:srgbClr val="374151"/>
              </a:solidFill>
              <a:latin typeface="Arial" panose="020B0604020202020204" pitchFamily="34" charset="0"/>
              <a:cs typeface="Arial" panose="020B0604020202020204" pitchFamily="34" charset="0"/>
            </a:endParaRPr>
          </a:p>
          <a:p>
            <a:pPr marL="0" indent="0" algn="just">
              <a:buNone/>
            </a:pPr>
            <a:endParaRPr lang="en-US" sz="2000" dirty="0">
              <a:latin typeface="Arial" panose="020B0604020202020204" pitchFamily="34" charset="0"/>
              <a:cs typeface="Arial" panose="020B0604020202020204" pitchFamily="34" charset="0"/>
            </a:endParaRPr>
          </a:p>
          <a:p>
            <a:pPr marL="0" indent="0" algn="just">
              <a:buNone/>
            </a:pPr>
            <a:endParaRPr lang="en-US" sz="1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CD4E698-070C-473C-95CB-6CCAD29233FA}"/>
              </a:ext>
            </a:extLst>
          </p:cNvPr>
          <p:cNvSpPr txBox="1"/>
          <p:nvPr/>
        </p:nvSpPr>
        <p:spPr>
          <a:xfrm>
            <a:off x="726645" y="3629024"/>
            <a:ext cx="4252968" cy="2554545"/>
          </a:xfrm>
          <a:prstGeom prst="rect">
            <a:avLst/>
          </a:prstGeom>
          <a:noFill/>
        </p:spPr>
        <p:txBody>
          <a:bodyPr wrap="square">
            <a:spAutoFit/>
          </a:bodyPr>
          <a:lstStyle/>
          <a:p>
            <a:r>
              <a:rPr lang="en-US" sz="2000" b="0" i="0" dirty="0">
                <a:solidFill>
                  <a:srgbClr val="374151"/>
                </a:solidFill>
                <a:effectLst/>
                <a:latin typeface="Arial" panose="020B0604020202020204" pitchFamily="34" charset="0"/>
                <a:cs typeface="Arial" panose="020B0604020202020204" pitchFamily="34" charset="0"/>
              </a:rPr>
              <a:t>Supply from W1: 60 units </a:t>
            </a:r>
          </a:p>
          <a:p>
            <a:r>
              <a:rPr lang="en-US" sz="2000" b="0" i="0" dirty="0">
                <a:solidFill>
                  <a:srgbClr val="374151"/>
                </a:solidFill>
                <a:effectLst/>
                <a:latin typeface="Arial" panose="020B0604020202020204" pitchFamily="34" charset="0"/>
                <a:cs typeface="Arial" panose="020B0604020202020204" pitchFamily="34" charset="0"/>
              </a:rPr>
              <a:t>Supply from W2: 70 units </a:t>
            </a:r>
          </a:p>
          <a:p>
            <a:r>
              <a:rPr lang="en-US" sz="2000" b="0" i="0" dirty="0">
                <a:solidFill>
                  <a:srgbClr val="374151"/>
                </a:solidFill>
                <a:effectLst/>
                <a:latin typeface="Arial" panose="020B0604020202020204" pitchFamily="34" charset="0"/>
                <a:cs typeface="Arial" panose="020B0604020202020204" pitchFamily="34" charset="0"/>
              </a:rPr>
              <a:t>Supply from W3: 80 units </a:t>
            </a:r>
          </a:p>
          <a:p>
            <a:r>
              <a:rPr lang="en-US" sz="2000" b="0" i="0" dirty="0">
                <a:solidFill>
                  <a:srgbClr val="374151"/>
                </a:solidFill>
                <a:effectLst/>
                <a:latin typeface="Arial" panose="020B0604020202020204" pitchFamily="34" charset="0"/>
                <a:cs typeface="Arial" panose="020B0604020202020204" pitchFamily="34" charset="0"/>
              </a:rPr>
              <a:t>Supply from W4: 60 units</a:t>
            </a:r>
          </a:p>
          <a:p>
            <a:r>
              <a:rPr lang="en-US" sz="2000" b="0" i="0" dirty="0">
                <a:solidFill>
                  <a:srgbClr val="374151"/>
                </a:solidFill>
                <a:effectLst/>
                <a:latin typeface="Arial" panose="020B0604020202020204" pitchFamily="34" charset="0"/>
                <a:cs typeface="Arial" panose="020B0604020202020204" pitchFamily="34" charset="0"/>
              </a:rPr>
              <a:t>Demand at C1: 60 units </a:t>
            </a:r>
          </a:p>
          <a:p>
            <a:r>
              <a:rPr lang="en-US" sz="2000" b="0" i="0" dirty="0">
                <a:solidFill>
                  <a:srgbClr val="374151"/>
                </a:solidFill>
                <a:effectLst/>
                <a:latin typeface="Arial" panose="020B0604020202020204" pitchFamily="34" charset="0"/>
                <a:cs typeface="Arial" panose="020B0604020202020204" pitchFamily="34" charset="0"/>
              </a:rPr>
              <a:t>Demand at C2: 70 units </a:t>
            </a:r>
          </a:p>
          <a:p>
            <a:r>
              <a:rPr lang="en-US" sz="2000" b="0" i="0" dirty="0">
                <a:solidFill>
                  <a:srgbClr val="374151"/>
                </a:solidFill>
                <a:effectLst/>
                <a:latin typeface="Arial" panose="020B0604020202020204" pitchFamily="34" charset="0"/>
                <a:cs typeface="Arial" panose="020B0604020202020204" pitchFamily="34" charset="0"/>
              </a:rPr>
              <a:t>Demand at C3: 80 units </a:t>
            </a:r>
          </a:p>
          <a:p>
            <a:r>
              <a:rPr lang="en-US" sz="2000" b="0" i="0" dirty="0">
                <a:solidFill>
                  <a:srgbClr val="374151"/>
                </a:solidFill>
                <a:effectLst/>
                <a:latin typeface="Arial" panose="020B0604020202020204" pitchFamily="34" charset="0"/>
                <a:cs typeface="Arial" panose="020B0604020202020204" pitchFamily="34" charset="0"/>
              </a:rPr>
              <a:t>Demand at C4: 60 units</a:t>
            </a:r>
            <a:endParaRPr lang="en-US" sz="2000"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CFFBFF3F-FAD3-4CBF-9D9F-D8C948F92634}"/>
              </a:ext>
            </a:extLst>
          </p:cNvPr>
          <p:cNvGraphicFramePr>
            <a:graphicFrameLocks noGrp="1"/>
          </p:cNvGraphicFramePr>
          <p:nvPr>
            <p:extLst>
              <p:ext uri="{D42A27DB-BD31-4B8C-83A1-F6EECF244321}">
                <p14:modId xmlns:p14="http://schemas.microsoft.com/office/powerpoint/2010/main" val="888165585"/>
              </p:ext>
            </p:extLst>
          </p:nvPr>
        </p:nvGraphicFramePr>
        <p:xfrm>
          <a:off x="3071813" y="1609724"/>
          <a:ext cx="5529260" cy="1728789"/>
        </p:xfrm>
        <a:graphic>
          <a:graphicData uri="http://schemas.openxmlformats.org/drawingml/2006/table">
            <a:tbl>
              <a:tblPr/>
              <a:tblGrid>
                <a:gridCol w="1105852">
                  <a:extLst>
                    <a:ext uri="{9D8B030D-6E8A-4147-A177-3AD203B41FA5}">
                      <a16:colId xmlns:a16="http://schemas.microsoft.com/office/drawing/2014/main" val="1403207332"/>
                    </a:ext>
                  </a:extLst>
                </a:gridCol>
                <a:gridCol w="1105852">
                  <a:extLst>
                    <a:ext uri="{9D8B030D-6E8A-4147-A177-3AD203B41FA5}">
                      <a16:colId xmlns:a16="http://schemas.microsoft.com/office/drawing/2014/main" val="1278441955"/>
                    </a:ext>
                  </a:extLst>
                </a:gridCol>
                <a:gridCol w="1105852">
                  <a:extLst>
                    <a:ext uri="{9D8B030D-6E8A-4147-A177-3AD203B41FA5}">
                      <a16:colId xmlns:a16="http://schemas.microsoft.com/office/drawing/2014/main" val="1440925976"/>
                    </a:ext>
                  </a:extLst>
                </a:gridCol>
                <a:gridCol w="1105852">
                  <a:extLst>
                    <a:ext uri="{9D8B030D-6E8A-4147-A177-3AD203B41FA5}">
                      <a16:colId xmlns:a16="http://schemas.microsoft.com/office/drawing/2014/main" val="792699548"/>
                    </a:ext>
                  </a:extLst>
                </a:gridCol>
                <a:gridCol w="1105852">
                  <a:extLst>
                    <a:ext uri="{9D8B030D-6E8A-4147-A177-3AD203B41FA5}">
                      <a16:colId xmlns:a16="http://schemas.microsoft.com/office/drawing/2014/main" val="3971252501"/>
                    </a:ext>
                  </a:extLst>
                </a:gridCol>
              </a:tblGrid>
              <a:tr h="433389">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C1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C2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C3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C4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5318681"/>
                  </a:ext>
                </a:extLst>
              </a:tr>
              <a:tr h="323850">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3843248"/>
                  </a:ext>
                </a:extLst>
              </a:tr>
              <a:tr h="323850">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464585"/>
                  </a:ext>
                </a:extLst>
              </a:tr>
              <a:tr h="323850">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4958616"/>
                  </a:ext>
                </a:extLst>
              </a:tr>
              <a:tr h="323850">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W4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577160"/>
                  </a:ext>
                </a:extLst>
              </a:tr>
            </a:tbl>
          </a:graphicData>
        </a:graphic>
      </p:graphicFrame>
    </p:spTree>
    <p:extLst>
      <p:ext uri="{BB962C8B-B14F-4D97-AF65-F5344CB8AC3E}">
        <p14:creationId xmlns:p14="http://schemas.microsoft.com/office/powerpoint/2010/main" val="3690222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ECFAA9AC-9A34-4828-8A46-0AF1CB0E0012}"/>
              </a:ext>
            </a:extLst>
          </p:cNvPr>
          <p:cNvSpPr>
            <a:spLocks noGrp="1"/>
          </p:cNvSpPr>
          <p:nvPr>
            <p:ph idx="1"/>
          </p:nvPr>
        </p:nvSpPr>
        <p:spPr>
          <a:xfrm>
            <a:off x="363967" y="258182"/>
            <a:ext cx="11464065" cy="6341635"/>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Exercises</a:t>
            </a:r>
          </a:p>
          <a:p>
            <a:pPr marL="0" indent="0" algn="just">
              <a:buNone/>
            </a:pPr>
            <a:r>
              <a:rPr lang="en-US" sz="2400" dirty="0">
                <a:latin typeface="Arial" panose="020B0604020202020204" pitchFamily="34" charset="0"/>
                <a:cs typeface="Arial" panose="020B0604020202020204" pitchFamily="34" charset="0"/>
              </a:rPr>
              <a:t>3. </a:t>
            </a:r>
            <a:r>
              <a:rPr lang="en-US" sz="2000" b="0" i="0" dirty="0">
                <a:solidFill>
                  <a:srgbClr val="374151"/>
                </a:solidFill>
                <a:effectLst/>
                <a:latin typeface="Arial" panose="020B0604020202020204" pitchFamily="34" charset="0"/>
                <a:cs typeface="Arial" panose="020B0604020202020204" pitchFamily="34" charset="0"/>
              </a:rPr>
              <a:t>A company has five employees (E1, E2, E3, E4, E5) and five tasks (T1, T2, T3, T4, T5). The efficiency of each employee in performing each task is given as follows:</a:t>
            </a:r>
            <a:endParaRPr lang="en-US" sz="2000" dirty="0">
              <a:latin typeface="Arial" panose="020B0604020202020204" pitchFamily="34" charset="0"/>
              <a:cs typeface="Arial" panose="020B0604020202020204" pitchFamily="34" charset="0"/>
            </a:endParaRPr>
          </a:p>
          <a:p>
            <a:pPr marL="0" indent="0" algn="just">
              <a:buNone/>
            </a:pPr>
            <a:endParaRPr lang="en-US" sz="18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B279790-ECFA-4D0F-9FBC-00DE1FBCFAC9}"/>
              </a:ext>
            </a:extLst>
          </p:cNvPr>
          <p:cNvSpPr txBox="1"/>
          <p:nvPr/>
        </p:nvSpPr>
        <p:spPr>
          <a:xfrm>
            <a:off x="569630" y="4583842"/>
            <a:ext cx="11052737" cy="369332"/>
          </a:xfrm>
          <a:prstGeom prst="rect">
            <a:avLst/>
          </a:prstGeom>
          <a:noFill/>
        </p:spPr>
        <p:txBody>
          <a:bodyPr wrap="square">
            <a:spAutoFit/>
          </a:bodyPr>
          <a:lstStyle/>
          <a:p>
            <a:r>
              <a:rPr lang="en-US" b="0" i="0" dirty="0">
                <a:solidFill>
                  <a:srgbClr val="374151"/>
                </a:solidFill>
                <a:effectLst/>
                <a:latin typeface="Arial" panose="020B0604020202020204" pitchFamily="34" charset="0"/>
                <a:cs typeface="Arial" panose="020B0604020202020204" pitchFamily="34" charset="0"/>
              </a:rPr>
              <a:t>The goal is to assign each employee to a task in a way that maximizes the total efficiency.</a:t>
            </a:r>
            <a:endParaRPr lang="en-US" dirty="0">
              <a:latin typeface="Arial" panose="020B0604020202020204" pitchFamily="34" charset="0"/>
              <a:cs typeface="Arial" panose="020B0604020202020204" pitchFamily="34" charset="0"/>
            </a:endParaRPr>
          </a:p>
        </p:txBody>
      </p:sp>
      <p:graphicFrame>
        <p:nvGraphicFramePr>
          <p:cNvPr id="11" name="Table 4">
            <a:extLst>
              <a:ext uri="{FF2B5EF4-FFF2-40B4-BE49-F238E27FC236}">
                <a16:creationId xmlns:a16="http://schemas.microsoft.com/office/drawing/2014/main" id="{43564B9A-CBAD-481C-AC1A-C1682988E339}"/>
              </a:ext>
            </a:extLst>
          </p:cNvPr>
          <p:cNvGraphicFramePr>
            <a:graphicFrameLocks noGrp="1"/>
          </p:cNvGraphicFramePr>
          <p:nvPr>
            <p:extLst>
              <p:ext uri="{D42A27DB-BD31-4B8C-83A1-F6EECF244321}">
                <p14:modId xmlns:p14="http://schemas.microsoft.com/office/powerpoint/2010/main" val="82453742"/>
              </p:ext>
            </p:extLst>
          </p:nvPr>
        </p:nvGraphicFramePr>
        <p:xfrm>
          <a:off x="2314576" y="1601792"/>
          <a:ext cx="5800726" cy="2513010"/>
        </p:xfrm>
        <a:graphic>
          <a:graphicData uri="http://schemas.openxmlformats.org/drawingml/2006/table">
            <a:tbl>
              <a:tblPr firstRow="1" bandRow="1">
                <a:tableStyleId>{5C22544A-7EE6-4342-B048-85BDC9FD1C3A}</a:tableStyleId>
              </a:tblPr>
              <a:tblGrid>
                <a:gridCol w="977859">
                  <a:extLst>
                    <a:ext uri="{9D8B030D-6E8A-4147-A177-3AD203B41FA5}">
                      <a16:colId xmlns:a16="http://schemas.microsoft.com/office/drawing/2014/main" val="2237087802"/>
                    </a:ext>
                  </a:extLst>
                </a:gridCol>
                <a:gridCol w="1031966">
                  <a:extLst>
                    <a:ext uri="{9D8B030D-6E8A-4147-A177-3AD203B41FA5}">
                      <a16:colId xmlns:a16="http://schemas.microsoft.com/office/drawing/2014/main" val="991009067"/>
                    </a:ext>
                  </a:extLst>
                </a:gridCol>
                <a:gridCol w="863483">
                  <a:extLst>
                    <a:ext uri="{9D8B030D-6E8A-4147-A177-3AD203B41FA5}">
                      <a16:colId xmlns:a16="http://schemas.microsoft.com/office/drawing/2014/main" val="895155044"/>
                    </a:ext>
                  </a:extLst>
                </a:gridCol>
                <a:gridCol w="968787">
                  <a:extLst>
                    <a:ext uri="{9D8B030D-6E8A-4147-A177-3AD203B41FA5}">
                      <a16:colId xmlns:a16="http://schemas.microsoft.com/office/drawing/2014/main" val="1331671294"/>
                    </a:ext>
                  </a:extLst>
                </a:gridCol>
                <a:gridCol w="884544">
                  <a:extLst>
                    <a:ext uri="{9D8B030D-6E8A-4147-A177-3AD203B41FA5}">
                      <a16:colId xmlns:a16="http://schemas.microsoft.com/office/drawing/2014/main" val="362815015"/>
                    </a:ext>
                  </a:extLst>
                </a:gridCol>
                <a:gridCol w="1074087">
                  <a:extLst>
                    <a:ext uri="{9D8B030D-6E8A-4147-A177-3AD203B41FA5}">
                      <a16:colId xmlns:a16="http://schemas.microsoft.com/office/drawing/2014/main" val="3035591823"/>
                    </a:ext>
                  </a:extLst>
                </a:gridCol>
              </a:tblGrid>
              <a:tr h="418835">
                <a:tc>
                  <a:txBody>
                    <a:bodyPr/>
                    <a:lstStyle/>
                    <a:p>
                      <a:pPr algn="ctr"/>
                      <a:endParaRPr lang="en-US"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Arial" panose="020B0604020202020204" pitchFamily="34" charset="0"/>
                          <a:cs typeface="Arial" panose="020B0604020202020204" pitchFamily="34" charset="0"/>
                        </a:rPr>
                        <a:t>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9984493"/>
                  </a:ext>
                </a:extLst>
              </a:tr>
              <a:tr h="418835">
                <a:tc>
                  <a:txBody>
                    <a:bodyPr/>
                    <a:lstStyle/>
                    <a:p>
                      <a:pPr algn="ctr"/>
                      <a:r>
                        <a:rPr lang="en-US" dirty="0">
                          <a:latin typeface="Arial" panose="020B0604020202020204" pitchFamily="34" charset="0"/>
                          <a:cs typeface="Arial" panose="020B0604020202020204" pitchFamily="34" charset="0"/>
                        </a:rPr>
                        <a:t>E1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9428427"/>
                  </a:ext>
                </a:extLst>
              </a:tr>
              <a:tr h="418835">
                <a:tc>
                  <a:txBody>
                    <a:bodyPr/>
                    <a:lstStyle/>
                    <a:p>
                      <a:pPr algn="ctr"/>
                      <a:r>
                        <a:rPr lang="en-US" dirty="0">
                          <a:latin typeface="Arial" panose="020B0604020202020204" pitchFamily="34" charset="0"/>
                          <a:cs typeface="Arial" panose="020B0604020202020204" pitchFamily="34" charset="0"/>
                        </a:rPr>
                        <a:t>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2565985"/>
                  </a:ext>
                </a:extLst>
              </a:tr>
              <a:tr h="418835">
                <a:tc>
                  <a:txBody>
                    <a:bodyPr/>
                    <a:lstStyle/>
                    <a:p>
                      <a:pPr algn="ctr"/>
                      <a:r>
                        <a:rPr lang="en-US" dirty="0">
                          <a:latin typeface="Arial" panose="020B0604020202020204" pitchFamily="34" charset="0"/>
                          <a:cs typeface="Arial" panose="020B0604020202020204" pitchFamily="34" charset="0"/>
                        </a:rPr>
                        <a:t>E3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1579647"/>
                  </a:ext>
                </a:extLst>
              </a:tr>
              <a:tr h="418835">
                <a:tc>
                  <a:txBody>
                    <a:bodyPr/>
                    <a:lstStyle/>
                    <a:p>
                      <a:pPr algn="ctr"/>
                      <a:r>
                        <a:rPr lang="en-US" dirty="0">
                          <a:latin typeface="Arial" panose="020B0604020202020204" pitchFamily="34" charset="0"/>
                          <a:cs typeface="Arial" panose="020B0604020202020204" pitchFamily="34" charset="0"/>
                        </a:rPr>
                        <a:t>E4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5159378"/>
                  </a:ext>
                </a:extLst>
              </a:tr>
              <a:tr h="418835">
                <a:tc>
                  <a:txBody>
                    <a:bodyPr/>
                    <a:lstStyle/>
                    <a:p>
                      <a:pPr algn="ctr"/>
                      <a:r>
                        <a:rPr lang="en-US" dirty="0">
                          <a:latin typeface="Arial" panose="020B0604020202020204" pitchFamily="34" charset="0"/>
                          <a:cs typeface="Arial" panose="020B0604020202020204" pitchFamily="34" charset="0"/>
                        </a:rPr>
                        <a:t>E5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9682663"/>
                  </a:ext>
                </a:extLst>
              </a:tr>
            </a:tbl>
          </a:graphicData>
        </a:graphic>
      </p:graphicFrame>
    </p:spTree>
    <p:extLst>
      <p:ext uri="{BB962C8B-B14F-4D97-AF65-F5344CB8AC3E}">
        <p14:creationId xmlns:p14="http://schemas.microsoft.com/office/powerpoint/2010/main" val="1107342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9203</TotalTime>
  <Words>2322</Words>
  <Application>Microsoft Office PowerPoint</Application>
  <PresentationFormat>Widescreen</PresentationFormat>
  <Paragraphs>539</Paragraphs>
  <Slides>27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Amasis MT Pro</vt:lpstr>
      <vt:lpstr>Aptos</vt:lpstr>
      <vt:lpstr>Arial</vt:lpstr>
      <vt:lpstr>BlinkMacSystemFont</vt:lpstr>
      <vt:lpstr>Calibri</vt:lpstr>
      <vt:lpstr>Calibri Light</vt:lpstr>
      <vt:lpstr>inherit</vt:lpstr>
      <vt:lpstr>sohne</vt:lpstr>
      <vt:lpstr>Söhne</vt:lpstr>
      <vt:lpstr>Office Theme</vt:lpstr>
      <vt:lpstr>TRANSPORTATION PROBLEM</vt:lpstr>
      <vt:lpstr>Transportation problem </vt:lpstr>
      <vt:lpstr>Key Components of Transportation Problems</vt:lpstr>
      <vt:lpstr>Common Techniques to Solve Transportation Problems</vt:lpstr>
      <vt:lpstr>Common Techniques to Solve Transportation Problems</vt:lpstr>
      <vt:lpstr>Advantages of using Excel for Transportation Problems</vt:lpstr>
      <vt:lpstr> Example 1: Transportation Problem with Minimization Objective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TRANSPORTATION PROBLEM</dc:title>
  <dc:creator>Registrar Head</dc:creator>
  <cp:lastModifiedBy>Registrar Head</cp:lastModifiedBy>
  <cp:revision>37</cp:revision>
  <dcterms:created xsi:type="dcterms:W3CDTF">2023-05-22T23:54:34Z</dcterms:created>
  <dcterms:modified xsi:type="dcterms:W3CDTF">2026-05-11T08:35:11Z</dcterms:modified>
</cp:coreProperties>
</file>
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65"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1C50C1-6D0D-4CBA-B8EE-A738B11ABC7C}"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67A36F7F-4C1E-45EC-A471-1268A2E2F630}">
      <dgm:prSet/>
      <dgm:spPr/>
      <dgm:t>
        <a:bodyPr/>
        <a:lstStyle/>
        <a:p>
          <a:r>
            <a:rPr lang="en-US" b="0" i="0"/>
            <a:t>He married Isidora Alvarez, a pretty lass from Bambang, favored by his parents. Their children are the following:</a:t>
          </a:r>
          <a:endParaRPr lang="en-US"/>
        </a:p>
      </dgm:t>
    </dgm:pt>
    <dgm:pt modelId="{B0D7CC68-1AF4-4A88-B64F-BBCB4384507B}" type="parTrans" cxnId="{DE6D4B5C-172D-444A-951B-0560B764F8D8}">
      <dgm:prSet/>
      <dgm:spPr/>
      <dgm:t>
        <a:bodyPr/>
        <a:lstStyle/>
        <a:p>
          <a:endParaRPr lang="en-US"/>
        </a:p>
      </dgm:t>
    </dgm:pt>
    <dgm:pt modelId="{47F3A0A8-26A1-424B-B222-8B4078B3A10D}" type="sibTrans" cxnId="{DE6D4B5C-172D-444A-951B-0560B764F8D8}">
      <dgm:prSet/>
      <dgm:spPr/>
      <dgm:t>
        <a:bodyPr/>
        <a:lstStyle/>
        <a:p>
          <a:endParaRPr lang="en-US"/>
        </a:p>
      </dgm:t>
    </dgm:pt>
    <dgm:pt modelId="{C2CC28BA-9FC9-4D5A-A904-14318D492458}">
      <dgm:prSet/>
      <dgm:spPr/>
      <dgm:t>
        <a:bodyPr/>
        <a:lstStyle/>
        <a:p>
          <a:r>
            <a:rPr lang="en-US" b="1" i="0"/>
            <a:t>Manuel </a:t>
          </a:r>
          <a:r>
            <a:rPr lang="en-US" b="0" i="0"/>
            <a:t>(†) the handsome who become a lawyer, married Demetria Santos of Malinao. Children: Francisca (†) married Bienvenido Jose and she worked in treasurer’s office of the Pasig City Hall; civil engineer Augusto (†) married Julita Velasquez of Bulacan and who worked as a Meralco executive; the brilliant Alicia who retired as assistant vice president of Insular Life.</a:t>
          </a:r>
          <a:endParaRPr lang="en-US"/>
        </a:p>
      </dgm:t>
    </dgm:pt>
    <dgm:pt modelId="{517677FA-4044-494B-8CAC-39A2AC93D301}" type="parTrans" cxnId="{2A4B70ED-54B8-4818-BBC8-FC6EE2B9DB91}">
      <dgm:prSet/>
      <dgm:spPr/>
      <dgm:t>
        <a:bodyPr/>
        <a:lstStyle/>
        <a:p>
          <a:endParaRPr lang="en-US"/>
        </a:p>
      </dgm:t>
    </dgm:pt>
    <dgm:pt modelId="{3744B3CA-1F42-4766-A8C5-2D790A74C95F}" type="sibTrans" cxnId="{2A4B70ED-54B8-4818-BBC8-FC6EE2B9DB91}">
      <dgm:prSet/>
      <dgm:spPr/>
      <dgm:t>
        <a:bodyPr/>
        <a:lstStyle/>
        <a:p>
          <a:endParaRPr lang="en-US"/>
        </a:p>
      </dgm:t>
    </dgm:pt>
    <dgm:pt modelId="{F7BC7E57-AAAC-4A3D-88B8-F0FEF66AF1C7}">
      <dgm:prSet/>
      <dgm:spPr/>
      <dgm:t>
        <a:bodyPr/>
        <a:lstStyle/>
        <a:p>
          <a:r>
            <a:rPr lang="en-US" b="1" i="0"/>
            <a:t>Cristina </a:t>
          </a:r>
          <a:r>
            <a:rPr lang="en-US" b="0" i="0"/>
            <a:t>(†) married army officer Tirso Villa. One daughter later named Cristina.</a:t>
          </a:r>
          <a:endParaRPr lang="en-US"/>
        </a:p>
      </dgm:t>
    </dgm:pt>
    <dgm:pt modelId="{4EE30D2F-C9BB-44E9-92E7-4801CC66D6BB}" type="parTrans" cxnId="{991CFD0B-620C-4E00-9E3C-63A49B5C1AD6}">
      <dgm:prSet/>
      <dgm:spPr/>
      <dgm:t>
        <a:bodyPr/>
        <a:lstStyle/>
        <a:p>
          <a:endParaRPr lang="en-US"/>
        </a:p>
      </dgm:t>
    </dgm:pt>
    <dgm:pt modelId="{68053F79-9767-4988-8AE0-BF2DEF1D8C3E}" type="sibTrans" cxnId="{991CFD0B-620C-4E00-9E3C-63A49B5C1AD6}">
      <dgm:prSet/>
      <dgm:spPr/>
      <dgm:t>
        <a:bodyPr/>
        <a:lstStyle/>
        <a:p>
          <a:endParaRPr lang="en-US"/>
        </a:p>
      </dgm:t>
    </dgm:pt>
    <dgm:pt modelId="{AF5EAE6C-6E42-4E95-874E-0C5959699BFE}">
      <dgm:prSet/>
      <dgm:spPr/>
      <dgm:t>
        <a:bodyPr/>
        <a:lstStyle/>
        <a:p>
          <a:r>
            <a:rPr lang="en-US" b="1" i="0"/>
            <a:t>Maria</a:t>
          </a:r>
          <a:r>
            <a:rPr lang="en-US" b="0" i="0"/>
            <a:t> (†) married Isidro Salvador. Children: Sampaguita Beunaflor (†), Romeo (†), Jaime, Mario, and Aurora. All become teachers except agriculturist Florante and architect Mario, daughter Aurora is presently an officer of Pasig Convention Center. Maria was so active in social and civic functions that she was dubbed, “Everybody’s Grandma.” [See story on Maria’s family, this issue].</a:t>
          </a:r>
          <a:endParaRPr lang="en-US"/>
        </a:p>
      </dgm:t>
    </dgm:pt>
    <dgm:pt modelId="{F681CE2F-C274-45F6-87ED-7FDC62AFE5DA}" type="parTrans" cxnId="{A1E71476-2826-403A-ACFB-3A887BC854B1}">
      <dgm:prSet/>
      <dgm:spPr/>
      <dgm:t>
        <a:bodyPr/>
        <a:lstStyle/>
        <a:p>
          <a:endParaRPr lang="en-US"/>
        </a:p>
      </dgm:t>
    </dgm:pt>
    <dgm:pt modelId="{D8CBAC55-AE80-4DF5-A182-896F3A0DFB89}" type="sibTrans" cxnId="{A1E71476-2826-403A-ACFB-3A887BC854B1}">
      <dgm:prSet/>
      <dgm:spPr/>
      <dgm:t>
        <a:bodyPr/>
        <a:lstStyle/>
        <a:p>
          <a:endParaRPr lang="en-US"/>
        </a:p>
      </dgm:t>
    </dgm:pt>
    <dgm:pt modelId="{0482BA3B-10CC-41D1-A250-10E8AAD7D972}" type="pres">
      <dgm:prSet presAssocID="{031C50C1-6D0D-4CBA-B8EE-A738B11ABC7C}" presName="linear" presStyleCnt="0">
        <dgm:presLayoutVars>
          <dgm:animLvl val="lvl"/>
          <dgm:resizeHandles val="exact"/>
        </dgm:presLayoutVars>
      </dgm:prSet>
      <dgm:spPr/>
    </dgm:pt>
    <dgm:pt modelId="{0636AB02-6FFC-42D2-A12D-ABB55C768456}" type="pres">
      <dgm:prSet presAssocID="{67A36F7F-4C1E-45EC-A471-1268A2E2F630}" presName="parentText" presStyleLbl="node1" presStyleIdx="0" presStyleCnt="4">
        <dgm:presLayoutVars>
          <dgm:chMax val="0"/>
          <dgm:bulletEnabled val="1"/>
        </dgm:presLayoutVars>
      </dgm:prSet>
      <dgm:spPr/>
    </dgm:pt>
    <dgm:pt modelId="{A6593928-0074-4CEC-A1AA-242D8973F866}" type="pres">
      <dgm:prSet presAssocID="{47F3A0A8-26A1-424B-B222-8B4078B3A10D}" presName="spacer" presStyleCnt="0"/>
      <dgm:spPr/>
    </dgm:pt>
    <dgm:pt modelId="{044DA429-EC37-4C9F-B341-434162AE3F7B}" type="pres">
      <dgm:prSet presAssocID="{C2CC28BA-9FC9-4D5A-A904-14318D492458}" presName="parentText" presStyleLbl="node1" presStyleIdx="1" presStyleCnt="4">
        <dgm:presLayoutVars>
          <dgm:chMax val="0"/>
          <dgm:bulletEnabled val="1"/>
        </dgm:presLayoutVars>
      </dgm:prSet>
      <dgm:spPr/>
    </dgm:pt>
    <dgm:pt modelId="{26963FFA-14AC-4703-814B-9590CCAB6D4B}" type="pres">
      <dgm:prSet presAssocID="{3744B3CA-1F42-4766-A8C5-2D790A74C95F}" presName="spacer" presStyleCnt="0"/>
      <dgm:spPr/>
    </dgm:pt>
    <dgm:pt modelId="{EF2134AF-1E10-490F-887F-1698844D9E22}" type="pres">
      <dgm:prSet presAssocID="{F7BC7E57-AAAC-4A3D-88B8-F0FEF66AF1C7}" presName="parentText" presStyleLbl="node1" presStyleIdx="2" presStyleCnt="4">
        <dgm:presLayoutVars>
          <dgm:chMax val="0"/>
          <dgm:bulletEnabled val="1"/>
        </dgm:presLayoutVars>
      </dgm:prSet>
      <dgm:spPr/>
    </dgm:pt>
    <dgm:pt modelId="{61969E4E-4C38-42FB-A5EE-2109B5075402}" type="pres">
      <dgm:prSet presAssocID="{68053F79-9767-4988-8AE0-BF2DEF1D8C3E}" presName="spacer" presStyleCnt="0"/>
      <dgm:spPr/>
    </dgm:pt>
    <dgm:pt modelId="{CAA54D10-2D77-47B7-9265-5C116E25457A}" type="pres">
      <dgm:prSet presAssocID="{AF5EAE6C-6E42-4E95-874E-0C5959699BFE}" presName="parentText" presStyleLbl="node1" presStyleIdx="3" presStyleCnt="4">
        <dgm:presLayoutVars>
          <dgm:chMax val="0"/>
          <dgm:bulletEnabled val="1"/>
        </dgm:presLayoutVars>
      </dgm:prSet>
      <dgm:spPr/>
    </dgm:pt>
  </dgm:ptLst>
  <dgm:cxnLst>
    <dgm:cxn modelId="{4723B103-6D69-46D0-B419-C9B1444F9C28}" type="presOf" srcId="{67A36F7F-4C1E-45EC-A471-1268A2E2F630}" destId="{0636AB02-6FFC-42D2-A12D-ABB55C768456}" srcOrd="0" destOrd="0" presId="urn:microsoft.com/office/officeart/2005/8/layout/vList2"/>
    <dgm:cxn modelId="{991CFD0B-620C-4E00-9E3C-63A49B5C1AD6}" srcId="{031C50C1-6D0D-4CBA-B8EE-A738B11ABC7C}" destId="{F7BC7E57-AAAC-4A3D-88B8-F0FEF66AF1C7}" srcOrd="2" destOrd="0" parTransId="{4EE30D2F-C9BB-44E9-92E7-4801CC66D6BB}" sibTransId="{68053F79-9767-4988-8AE0-BF2DEF1D8C3E}"/>
    <dgm:cxn modelId="{C4949D28-B341-4DA9-83AA-A2D6FD108071}" type="presOf" srcId="{AF5EAE6C-6E42-4E95-874E-0C5959699BFE}" destId="{CAA54D10-2D77-47B7-9265-5C116E25457A}" srcOrd="0" destOrd="0" presId="urn:microsoft.com/office/officeart/2005/8/layout/vList2"/>
    <dgm:cxn modelId="{DE6D4B5C-172D-444A-951B-0560B764F8D8}" srcId="{031C50C1-6D0D-4CBA-B8EE-A738B11ABC7C}" destId="{67A36F7F-4C1E-45EC-A471-1268A2E2F630}" srcOrd="0" destOrd="0" parTransId="{B0D7CC68-1AF4-4A88-B64F-BBCB4384507B}" sibTransId="{47F3A0A8-26A1-424B-B222-8B4078B3A10D}"/>
    <dgm:cxn modelId="{55A82A46-E594-4655-B1E3-BED9DC753B77}" type="presOf" srcId="{C2CC28BA-9FC9-4D5A-A904-14318D492458}" destId="{044DA429-EC37-4C9F-B341-434162AE3F7B}" srcOrd="0" destOrd="0" presId="urn:microsoft.com/office/officeart/2005/8/layout/vList2"/>
    <dgm:cxn modelId="{A1E71476-2826-403A-ACFB-3A887BC854B1}" srcId="{031C50C1-6D0D-4CBA-B8EE-A738B11ABC7C}" destId="{AF5EAE6C-6E42-4E95-874E-0C5959699BFE}" srcOrd="3" destOrd="0" parTransId="{F681CE2F-C274-45F6-87ED-7FDC62AFE5DA}" sibTransId="{D8CBAC55-AE80-4DF5-A182-896F3A0DFB89}"/>
    <dgm:cxn modelId="{4C6D1BB8-7526-4624-A072-2C45E8637E79}" type="presOf" srcId="{031C50C1-6D0D-4CBA-B8EE-A738B11ABC7C}" destId="{0482BA3B-10CC-41D1-A250-10E8AAD7D972}" srcOrd="0" destOrd="0" presId="urn:microsoft.com/office/officeart/2005/8/layout/vList2"/>
    <dgm:cxn modelId="{2A4B70ED-54B8-4818-BBC8-FC6EE2B9DB91}" srcId="{031C50C1-6D0D-4CBA-B8EE-A738B11ABC7C}" destId="{C2CC28BA-9FC9-4D5A-A904-14318D492458}" srcOrd="1" destOrd="0" parTransId="{517677FA-4044-494B-8CAC-39A2AC93D301}" sibTransId="{3744B3CA-1F42-4766-A8C5-2D790A74C95F}"/>
    <dgm:cxn modelId="{7195B7F5-D381-4A5B-AE8B-3B5F3EE4B334}" type="presOf" srcId="{F7BC7E57-AAAC-4A3D-88B8-F0FEF66AF1C7}" destId="{EF2134AF-1E10-490F-887F-1698844D9E22}" srcOrd="0" destOrd="0" presId="urn:microsoft.com/office/officeart/2005/8/layout/vList2"/>
    <dgm:cxn modelId="{839A2EDB-9B62-4A61-832C-51AB177B6DBA}" type="presParOf" srcId="{0482BA3B-10CC-41D1-A250-10E8AAD7D972}" destId="{0636AB02-6FFC-42D2-A12D-ABB55C768456}" srcOrd="0" destOrd="0" presId="urn:microsoft.com/office/officeart/2005/8/layout/vList2"/>
    <dgm:cxn modelId="{5953A634-1E4C-4AF4-AE73-D373DB30BC8B}" type="presParOf" srcId="{0482BA3B-10CC-41D1-A250-10E8AAD7D972}" destId="{A6593928-0074-4CEC-A1AA-242D8973F866}" srcOrd="1" destOrd="0" presId="urn:microsoft.com/office/officeart/2005/8/layout/vList2"/>
    <dgm:cxn modelId="{26F85BE8-35C8-4F21-A75C-DCC324F2A72B}" type="presParOf" srcId="{0482BA3B-10CC-41D1-A250-10E8AAD7D972}" destId="{044DA429-EC37-4C9F-B341-434162AE3F7B}" srcOrd="2" destOrd="0" presId="urn:microsoft.com/office/officeart/2005/8/layout/vList2"/>
    <dgm:cxn modelId="{68570C09-38D6-44AB-BB50-83EBB3F085B7}" type="presParOf" srcId="{0482BA3B-10CC-41D1-A250-10E8AAD7D972}" destId="{26963FFA-14AC-4703-814B-9590CCAB6D4B}" srcOrd="3" destOrd="0" presId="urn:microsoft.com/office/officeart/2005/8/layout/vList2"/>
    <dgm:cxn modelId="{EE2719ED-EDE7-44C1-84D3-41A22F980F22}" type="presParOf" srcId="{0482BA3B-10CC-41D1-A250-10E8AAD7D972}" destId="{EF2134AF-1E10-490F-887F-1698844D9E22}" srcOrd="4" destOrd="0" presId="urn:microsoft.com/office/officeart/2005/8/layout/vList2"/>
    <dgm:cxn modelId="{E6A8DCA6-32B8-4F6C-80BA-96D8D3D3E56D}" type="presParOf" srcId="{0482BA3B-10CC-41D1-A250-10E8AAD7D972}" destId="{61969E4E-4C38-42FB-A5EE-2109B5075402}" srcOrd="5" destOrd="0" presId="urn:microsoft.com/office/officeart/2005/8/layout/vList2"/>
    <dgm:cxn modelId="{EB6365DD-C2B1-431D-917E-6DD9608D09AC}" type="presParOf" srcId="{0482BA3B-10CC-41D1-A250-10E8AAD7D972}" destId="{CAA54D10-2D77-47B7-9265-5C116E25457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5A1764-D033-4A82-A129-EEED90446C9C}"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8D6C6AF8-C274-4FCB-92BA-E489B6F68C5F}">
      <dgm:prSet/>
      <dgm:spPr/>
      <dgm:t>
        <a:bodyPr/>
        <a:lstStyle/>
        <a:p>
          <a:r>
            <a:rPr lang="en-US" b="1" i="0"/>
            <a:t>Buenaventura </a:t>
          </a:r>
          <a:r>
            <a:rPr lang="en-US" b="0" i="0"/>
            <a:t>(†) married Julita Lati. Children: Analita Orber and Robert who presently works in the audit section of the Pasig City Hall.</a:t>
          </a:r>
          <a:endParaRPr lang="en-US"/>
        </a:p>
      </dgm:t>
    </dgm:pt>
    <dgm:pt modelId="{1C5B3E32-0B87-4B8A-A028-4FFD41D31522}" type="parTrans" cxnId="{C9BE908D-DA99-458E-8AE7-576937188807}">
      <dgm:prSet/>
      <dgm:spPr/>
      <dgm:t>
        <a:bodyPr/>
        <a:lstStyle/>
        <a:p>
          <a:endParaRPr lang="en-US"/>
        </a:p>
      </dgm:t>
    </dgm:pt>
    <dgm:pt modelId="{E827D073-7684-4160-980B-2EDA6FDCB507}" type="sibTrans" cxnId="{C9BE908D-DA99-458E-8AE7-576937188807}">
      <dgm:prSet/>
      <dgm:spPr/>
      <dgm:t>
        <a:bodyPr/>
        <a:lstStyle/>
        <a:p>
          <a:endParaRPr lang="en-US"/>
        </a:p>
      </dgm:t>
    </dgm:pt>
    <dgm:pt modelId="{E8CB4FC5-3175-4167-A0A8-07F7B03481AD}">
      <dgm:prSet/>
      <dgm:spPr/>
      <dgm:t>
        <a:bodyPr/>
        <a:lstStyle/>
        <a:p>
          <a:r>
            <a:rPr lang="en-US" b="1" i="0"/>
            <a:t>Catalina, </a:t>
          </a:r>
          <a:r>
            <a:rPr lang="en-US" b="0" i="0"/>
            <a:t>married Jose Estacio and lives in California</a:t>
          </a:r>
          <a:endParaRPr lang="en-US"/>
        </a:p>
      </dgm:t>
    </dgm:pt>
    <dgm:pt modelId="{21B01EA7-2C2F-48AC-A850-7427891BEEC4}" type="parTrans" cxnId="{5532FB30-7BBC-445A-8334-EF5D0C897C0B}">
      <dgm:prSet/>
      <dgm:spPr/>
      <dgm:t>
        <a:bodyPr/>
        <a:lstStyle/>
        <a:p>
          <a:endParaRPr lang="en-US"/>
        </a:p>
      </dgm:t>
    </dgm:pt>
    <dgm:pt modelId="{C05B82D8-1D81-466A-AF99-F11DA2C72B3D}" type="sibTrans" cxnId="{5532FB30-7BBC-445A-8334-EF5D0C897C0B}">
      <dgm:prSet/>
      <dgm:spPr/>
      <dgm:t>
        <a:bodyPr/>
        <a:lstStyle/>
        <a:p>
          <a:endParaRPr lang="en-US"/>
        </a:p>
      </dgm:t>
    </dgm:pt>
    <dgm:pt modelId="{75EA0098-8956-42C9-BF05-7BB7D3DF5F33}">
      <dgm:prSet/>
      <dgm:spPr/>
      <dgm:t>
        <a:bodyPr/>
        <a:lstStyle/>
        <a:p>
          <a:r>
            <a:rPr lang="en-US" b="0" i="0"/>
            <a:t>The son Manuel and pharmacist wife had a flourishing trade of various medicines and pomade with several store branches. But she died early</a:t>
          </a:r>
          <a:endParaRPr lang="en-US"/>
        </a:p>
      </dgm:t>
    </dgm:pt>
    <dgm:pt modelId="{036436B8-7ADB-43EE-B246-1AF702B3E76E}" type="parTrans" cxnId="{9D53446A-F8AE-43E4-9281-FA073906F43C}">
      <dgm:prSet/>
      <dgm:spPr/>
      <dgm:t>
        <a:bodyPr/>
        <a:lstStyle/>
        <a:p>
          <a:endParaRPr lang="en-US"/>
        </a:p>
      </dgm:t>
    </dgm:pt>
    <dgm:pt modelId="{76209B0C-C6D4-41D9-82C8-632376DBAB18}" type="sibTrans" cxnId="{9D53446A-F8AE-43E4-9281-FA073906F43C}">
      <dgm:prSet/>
      <dgm:spPr/>
      <dgm:t>
        <a:bodyPr/>
        <a:lstStyle/>
        <a:p>
          <a:endParaRPr lang="en-US"/>
        </a:p>
      </dgm:t>
    </dgm:pt>
    <dgm:pt modelId="{4AFCC9AD-F1C9-49FD-B7FB-4DBE20BEB78F}" type="pres">
      <dgm:prSet presAssocID="{1C5A1764-D033-4A82-A129-EEED90446C9C}" presName="linear" presStyleCnt="0">
        <dgm:presLayoutVars>
          <dgm:animLvl val="lvl"/>
          <dgm:resizeHandles val="exact"/>
        </dgm:presLayoutVars>
      </dgm:prSet>
      <dgm:spPr/>
    </dgm:pt>
    <dgm:pt modelId="{968BAC62-3DA3-4E6C-8CB0-0DC9DA4F763B}" type="pres">
      <dgm:prSet presAssocID="{8D6C6AF8-C274-4FCB-92BA-E489B6F68C5F}" presName="parentText" presStyleLbl="node1" presStyleIdx="0" presStyleCnt="3">
        <dgm:presLayoutVars>
          <dgm:chMax val="0"/>
          <dgm:bulletEnabled val="1"/>
        </dgm:presLayoutVars>
      </dgm:prSet>
      <dgm:spPr/>
    </dgm:pt>
    <dgm:pt modelId="{E45C7076-5170-4E05-B9FE-36123E87134F}" type="pres">
      <dgm:prSet presAssocID="{E827D073-7684-4160-980B-2EDA6FDCB507}" presName="spacer" presStyleCnt="0"/>
      <dgm:spPr/>
    </dgm:pt>
    <dgm:pt modelId="{32FDDCDC-07C9-4A7F-883C-799992A8E075}" type="pres">
      <dgm:prSet presAssocID="{E8CB4FC5-3175-4167-A0A8-07F7B03481AD}" presName="parentText" presStyleLbl="node1" presStyleIdx="1" presStyleCnt="3">
        <dgm:presLayoutVars>
          <dgm:chMax val="0"/>
          <dgm:bulletEnabled val="1"/>
        </dgm:presLayoutVars>
      </dgm:prSet>
      <dgm:spPr/>
    </dgm:pt>
    <dgm:pt modelId="{0F615041-C2A8-4905-B300-2A27ACF333DE}" type="pres">
      <dgm:prSet presAssocID="{C05B82D8-1D81-466A-AF99-F11DA2C72B3D}" presName="spacer" presStyleCnt="0"/>
      <dgm:spPr/>
    </dgm:pt>
    <dgm:pt modelId="{C097C217-1ADB-4686-AC69-AAD7840BA9E6}" type="pres">
      <dgm:prSet presAssocID="{75EA0098-8956-42C9-BF05-7BB7D3DF5F33}" presName="parentText" presStyleLbl="node1" presStyleIdx="2" presStyleCnt="3">
        <dgm:presLayoutVars>
          <dgm:chMax val="0"/>
          <dgm:bulletEnabled val="1"/>
        </dgm:presLayoutVars>
      </dgm:prSet>
      <dgm:spPr/>
    </dgm:pt>
  </dgm:ptLst>
  <dgm:cxnLst>
    <dgm:cxn modelId="{B049A31F-1946-4F55-9460-F5F382782E57}" type="presOf" srcId="{E8CB4FC5-3175-4167-A0A8-07F7B03481AD}" destId="{32FDDCDC-07C9-4A7F-883C-799992A8E075}" srcOrd="0" destOrd="0" presId="urn:microsoft.com/office/officeart/2005/8/layout/vList2"/>
    <dgm:cxn modelId="{5532FB30-7BBC-445A-8334-EF5D0C897C0B}" srcId="{1C5A1764-D033-4A82-A129-EEED90446C9C}" destId="{E8CB4FC5-3175-4167-A0A8-07F7B03481AD}" srcOrd="1" destOrd="0" parTransId="{21B01EA7-2C2F-48AC-A850-7427891BEEC4}" sibTransId="{C05B82D8-1D81-466A-AF99-F11DA2C72B3D}"/>
    <dgm:cxn modelId="{9D53446A-F8AE-43E4-9281-FA073906F43C}" srcId="{1C5A1764-D033-4A82-A129-EEED90446C9C}" destId="{75EA0098-8956-42C9-BF05-7BB7D3DF5F33}" srcOrd="2" destOrd="0" parTransId="{036436B8-7ADB-43EE-B246-1AF702B3E76E}" sibTransId="{76209B0C-C6D4-41D9-82C8-632376DBAB18}"/>
    <dgm:cxn modelId="{5BAA2C8C-1258-4189-9BB8-9EE9B9F901B9}" type="presOf" srcId="{75EA0098-8956-42C9-BF05-7BB7D3DF5F33}" destId="{C097C217-1ADB-4686-AC69-AAD7840BA9E6}" srcOrd="0" destOrd="0" presId="urn:microsoft.com/office/officeart/2005/8/layout/vList2"/>
    <dgm:cxn modelId="{C9BE908D-DA99-458E-8AE7-576937188807}" srcId="{1C5A1764-D033-4A82-A129-EEED90446C9C}" destId="{8D6C6AF8-C274-4FCB-92BA-E489B6F68C5F}" srcOrd="0" destOrd="0" parTransId="{1C5B3E32-0B87-4B8A-A028-4FFD41D31522}" sibTransId="{E827D073-7684-4160-980B-2EDA6FDCB507}"/>
    <dgm:cxn modelId="{F87756A3-59BA-409F-A1C2-B26E104353FF}" type="presOf" srcId="{8D6C6AF8-C274-4FCB-92BA-E489B6F68C5F}" destId="{968BAC62-3DA3-4E6C-8CB0-0DC9DA4F763B}" srcOrd="0" destOrd="0" presId="urn:microsoft.com/office/officeart/2005/8/layout/vList2"/>
    <dgm:cxn modelId="{CF2789F9-D815-4901-BF40-26A5546EB115}" type="presOf" srcId="{1C5A1764-D033-4A82-A129-EEED90446C9C}" destId="{4AFCC9AD-F1C9-49FD-B7FB-4DBE20BEB78F}" srcOrd="0" destOrd="0" presId="urn:microsoft.com/office/officeart/2005/8/layout/vList2"/>
    <dgm:cxn modelId="{2CF95DF3-890D-497F-8C70-28777BE892B4}" type="presParOf" srcId="{4AFCC9AD-F1C9-49FD-B7FB-4DBE20BEB78F}" destId="{968BAC62-3DA3-4E6C-8CB0-0DC9DA4F763B}" srcOrd="0" destOrd="0" presId="urn:microsoft.com/office/officeart/2005/8/layout/vList2"/>
    <dgm:cxn modelId="{DD1A21B9-62A7-479B-8C2B-DCB46761D69D}" type="presParOf" srcId="{4AFCC9AD-F1C9-49FD-B7FB-4DBE20BEB78F}" destId="{E45C7076-5170-4E05-B9FE-36123E87134F}" srcOrd="1" destOrd="0" presId="urn:microsoft.com/office/officeart/2005/8/layout/vList2"/>
    <dgm:cxn modelId="{4DF2C486-C7C9-4566-9C29-0D38B5D2FCA5}" type="presParOf" srcId="{4AFCC9AD-F1C9-49FD-B7FB-4DBE20BEB78F}" destId="{32FDDCDC-07C9-4A7F-883C-799992A8E075}" srcOrd="2" destOrd="0" presId="urn:microsoft.com/office/officeart/2005/8/layout/vList2"/>
    <dgm:cxn modelId="{CC54AD8A-BFC5-41CA-B46A-0C4D0EF8B874}" type="presParOf" srcId="{4AFCC9AD-F1C9-49FD-B7FB-4DBE20BEB78F}" destId="{0F615041-C2A8-4905-B300-2A27ACF333DE}" srcOrd="3" destOrd="0" presId="urn:microsoft.com/office/officeart/2005/8/layout/vList2"/>
    <dgm:cxn modelId="{57586C62-C1D7-4C9D-884C-DDEE63222426}" type="presParOf" srcId="{4AFCC9AD-F1C9-49FD-B7FB-4DBE20BEB78F}" destId="{C097C217-1ADB-4686-AC69-AAD7840BA9E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36AB02-6FFC-42D2-A12D-ABB55C768456}">
      <dsp:nvSpPr>
        <dsp:cNvPr id="0" name=""/>
        <dsp:cNvSpPr/>
      </dsp:nvSpPr>
      <dsp:spPr>
        <a:xfrm>
          <a:off x="0" y="51597"/>
          <a:ext cx="6666833" cy="1305281"/>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0" i="0" kern="1200"/>
            <a:t>He married Isidora Alvarez, a pretty lass from Bambang, favored by his parents. Their children are the following:</a:t>
          </a:r>
          <a:endParaRPr lang="en-US" sz="1500" kern="1200"/>
        </a:p>
      </dsp:txBody>
      <dsp:txXfrm>
        <a:off x="63719" y="115316"/>
        <a:ext cx="6539395" cy="1177843"/>
      </dsp:txXfrm>
    </dsp:sp>
    <dsp:sp modelId="{044DA429-EC37-4C9F-B341-434162AE3F7B}">
      <dsp:nvSpPr>
        <dsp:cNvPr id="0" name=""/>
        <dsp:cNvSpPr/>
      </dsp:nvSpPr>
      <dsp:spPr>
        <a:xfrm>
          <a:off x="0" y="1400078"/>
          <a:ext cx="6666833" cy="1305281"/>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Manuel </a:t>
          </a:r>
          <a:r>
            <a:rPr lang="en-US" sz="1500" b="0" i="0" kern="1200"/>
            <a:t>(†) the handsome who become a lawyer, married Demetria Santos of Malinao. Children: Francisca (†) married Bienvenido Jose and she worked in treasurer’s office of the Pasig City Hall; civil engineer Augusto (†) married Julita Velasquez of Bulacan and who worked as a Meralco executive; the brilliant Alicia who retired as assistant vice president of Insular Life.</a:t>
          </a:r>
          <a:endParaRPr lang="en-US" sz="1500" kern="1200"/>
        </a:p>
      </dsp:txBody>
      <dsp:txXfrm>
        <a:off x="63719" y="1463797"/>
        <a:ext cx="6539395" cy="1177843"/>
      </dsp:txXfrm>
    </dsp:sp>
    <dsp:sp modelId="{EF2134AF-1E10-490F-887F-1698844D9E22}">
      <dsp:nvSpPr>
        <dsp:cNvPr id="0" name=""/>
        <dsp:cNvSpPr/>
      </dsp:nvSpPr>
      <dsp:spPr>
        <a:xfrm>
          <a:off x="0" y="2748559"/>
          <a:ext cx="6666833" cy="1305281"/>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Cristina </a:t>
          </a:r>
          <a:r>
            <a:rPr lang="en-US" sz="1500" b="0" i="0" kern="1200"/>
            <a:t>(†) married army officer Tirso Villa. One daughter later named Cristina.</a:t>
          </a:r>
          <a:endParaRPr lang="en-US" sz="1500" kern="1200"/>
        </a:p>
      </dsp:txBody>
      <dsp:txXfrm>
        <a:off x="63719" y="2812278"/>
        <a:ext cx="6539395" cy="1177843"/>
      </dsp:txXfrm>
    </dsp:sp>
    <dsp:sp modelId="{CAA54D10-2D77-47B7-9265-5C116E25457A}">
      <dsp:nvSpPr>
        <dsp:cNvPr id="0" name=""/>
        <dsp:cNvSpPr/>
      </dsp:nvSpPr>
      <dsp:spPr>
        <a:xfrm>
          <a:off x="0" y="4097041"/>
          <a:ext cx="6666833" cy="1305281"/>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Maria</a:t>
          </a:r>
          <a:r>
            <a:rPr lang="en-US" sz="1500" b="0" i="0" kern="1200"/>
            <a:t> (†) married Isidro Salvador. Children: Sampaguita Beunaflor (†), Romeo (†), Jaime, Mario, and Aurora. All become teachers except agriculturist Florante and architect Mario, daughter Aurora is presently an officer of Pasig Convention Center. Maria was so active in social and civic functions that she was dubbed, “Everybody’s Grandma.” [See story on Maria’s family, this issue].</a:t>
          </a:r>
          <a:endParaRPr lang="en-US" sz="1500" kern="1200"/>
        </a:p>
      </dsp:txBody>
      <dsp:txXfrm>
        <a:off x="63719" y="4160760"/>
        <a:ext cx="6539395" cy="1177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BAC62-3DA3-4E6C-8CB0-0DC9DA4F763B}">
      <dsp:nvSpPr>
        <dsp:cNvPr id="0" name=""/>
        <dsp:cNvSpPr/>
      </dsp:nvSpPr>
      <dsp:spPr>
        <a:xfrm>
          <a:off x="0" y="12862"/>
          <a:ext cx="6666833" cy="176139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a:t>Buenaventura </a:t>
          </a:r>
          <a:r>
            <a:rPr lang="en-US" sz="2500" b="0" i="0" kern="1200"/>
            <a:t>(†) married Julita Lati. Children: Analita Orber and Robert who presently works in the audit section of the Pasig City Hall.</a:t>
          </a:r>
          <a:endParaRPr lang="en-US" sz="2500" kern="1200"/>
        </a:p>
      </dsp:txBody>
      <dsp:txXfrm>
        <a:off x="85984" y="98846"/>
        <a:ext cx="6494865" cy="1589430"/>
      </dsp:txXfrm>
    </dsp:sp>
    <dsp:sp modelId="{32FDDCDC-07C9-4A7F-883C-799992A8E075}">
      <dsp:nvSpPr>
        <dsp:cNvPr id="0" name=""/>
        <dsp:cNvSpPr/>
      </dsp:nvSpPr>
      <dsp:spPr>
        <a:xfrm>
          <a:off x="0" y="1846260"/>
          <a:ext cx="6666833" cy="1761398"/>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a:t>Catalina, </a:t>
          </a:r>
          <a:r>
            <a:rPr lang="en-US" sz="2500" b="0" i="0" kern="1200"/>
            <a:t>married Jose Estacio and lives in California</a:t>
          </a:r>
          <a:endParaRPr lang="en-US" sz="2500" kern="1200"/>
        </a:p>
      </dsp:txBody>
      <dsp:txXfrm>
        <a:off x="85984" y="1932244"/>
        <a:ext cx="6494865" cy="1589430"/>
      </dsp:txXfrm>
    </dsp:sp>
    <dsp:sp modelId="{C097C217-1ADB-4686-AC69-AAD7840BA9E6}">
      <dsp:nvSpPr>
        <dsp:cNvPr id="0" name=""/>
        <dsp:cNvSpPr/>
      </dsp:nvSpPr>
      <dsp:spPr>
        <a:xfrm>
          <a:off x="0" y="3679659"/>
          <a:ext cx="6666833" cy="1761398"/>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a:t>The son Manuel and pharmacist wife had a flourishing trade of various medicines and pomade with several store branches. But she died early</a:t>
          </a:r>
          <a:endParaRPr lang="en-US" sz="2500" kern="1200"/>
        </a:p>
      </dsp:txBody>
      <dsp:txXfrm>
        <a:off x="85984" y="3765643"/>
        <a:ext cx="6494865" cy="15894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CCE7F-ACBA-9C1A-1D4B-6769E8505A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9D89E2-6961-0CE1-3280-2A9B77001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3F75C3-0524-DD8F-4AB2-7886BBA9BA7E}"/>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46BB74EB-7EDB-1D31-0423-D8FA3A608A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84035-2C7C-BDCC-E116-CB0A1E7B89CD}"/>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2935039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CE69-9D9A-D5B4-F75D-16AA19909A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E5A462-3E48-5E9A-6251-83DE4B1A8F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25D5AA-6DAA-AAB3-519B-7116425D206E}"/>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7CE78525-5C5A-6961-0D81-4DD633619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22869-4235-2DA9-34F0-7540894362BF}"/>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351433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C4FEA-9D08-D9E0-7964-0725DA5EC6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520B1F-9EAB-65A1-2E7A-853EA85C0D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FB77C4-B5F6-AC54-3CC1-97BF492F41AB}"/>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AD88FA20-30B4-58BE-AE06-7E710B261E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92A3C1-B908-1758-91A1-4EAEA511B0DD}"/>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4945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2D75-1DBC-FB05-B4E4-61FA4D24A3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2E022E-651A-31D6-E2E3-11492ECB3D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494D97-3B76-BB9F-085F-E77D682B20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3CBE4C-958B-7367-887A-F71336C18C18}"/>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6" name="Footer Placeholder 5">
            <a:extLst>
              <a:ext uri="{FF2B5EF4-FFF2-40B4-BE49-F238E27FC236}">
                <a16:creationId xmlns:a16="http://schemas.microsoft.com/office/drawing/2014/main" id="{B135450D-731B-9F88-66A1-93EC30CCFB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5036E-1840-9395-494D-9EC660221B09}"/>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385126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FF7A-478E-2D4B-83AC-5693DFB86A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46769B-EE32-D448-992A-2A2FB685E2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5A64B0-44A6-239B-C274-950A84F58D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A13174-C864-6C50-52C4-242F2E528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C38930-9075-3097-C898-1DB27785A8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F7D95E-F0F1-D2FB-E031-8A2B81E42C0F}"/>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8" name="Footer Placeholder 7">
            <a:extLst>
              <a:ext uri="{FF2B5EF4-FFF2-40B4-BE49-F238E27FC236}">
                <a16:creationId xmlns:a16="http://schemas.microsoft.com/office/drawing/2014/main" id="{DD5CFF82-86B4-6F51-7494-EB4D4537C6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3ACCB8-23E6-C193-5A41-A3F2D6E20DA2}"/>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1538846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36735-E745-190B-7F2E-6EC75F4D20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CFA80F-99FF-7A7C-9B57-3929B50D54EF}"/>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4" name="Footer Placeholder 3">
            <a:extLst>
              <a:ext uri="{FF2B5EF4-FFF2-40B4-BE49-F238E27FC236}">
                <a16:creationId xmlns:a16="http://schemas.microsoft.com/office/drawing/2014/main" id="{8203A954-B4AB-D583-CF3A-9EB3E67316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383D9B-C3DE-734A-B602-6A0C7F5FEE0A}"/>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946259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55F628-14E9-0E3E-B14F-14D212E6EAD0}"/>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3" name="Footer Placeholder 2">
            <a:extLst>
              <a:ext uri="{FF2B5EF4-FFF2-40B4-BE49-F238E27FC236}">
                <a16:creationId xmlns:a16="http://schemas.microsoft.com/office/drawing/2014/main" id="{C34A9C19-8CEC-8ECA-114D-C6C5F5485E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2DE478-994C-7640-AEBA-A0521A4E75A1}"/>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3061229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B629-EEA0-D411-9773-C7EF825C94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43C7EE-6EB2-7C4C-BA75-7B91431F2D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9CA6BF-E069-40F8-0EB1-1D49EFD7E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7F65C9-5624-314D-2928-F6E520F77FB1}"/>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6" name="Footer Placeholder 5">
            <a:extLst>
              <a:ext uri="{FF2B5EF4-FFF2-40B4-BE49-F238E27FC236}">
                <a16:creationId xmlns:a16="http://schemas.microsoft.com/office/drawing/2014/main" id="{4D62B9B1-18C9-55AC-A5A0-FDA4B5B5A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63E3C-F2AA-5C33-B7E4-BD895B7EA2FD}"/>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121793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9FA6-C6FF-3EA6-1082-CB1C25823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DB4326-A7BC-A1D3-C6B3-EC1410E11C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A6DEFB-D94B-66F5-D63F-74EC0E908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1B7028-6CC5-6E05-199B-41F57A7ACE58}"/>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6" name="Footer Placeholder 5">
            <a:extLst>
              <a:ext uri="{FF2B5EF4-FFF2-40B4-BE49-F238E27FC236}">
                <a16:creationId xmlns:a16="http://schemas.microsoft.com/office/drawing/2014/main" id="{E308AA73-209D-A9A0-7039-5F673A2E7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571E78-06E6-E530-0D5D-54EC9E0F9660}"/>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269807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0659A-71CD-7F10-F402-3D75A00755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3B21FF-BDEB-44F6-3DDF-5107F81CEB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90B0A-8BC6-C122-5A93-79A8262C19EF}"/>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714A4002-2364-DD3D-B2A6-9F037FEA1D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DE56C-3912-B8B0-F993-D6308144BC18}"/>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277534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EE20B-1FAF-F9B1-93FE-6E4A4C0B62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A4673F-1513-A6CD-6A23-A864D98C8E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19653-B7B6-4EF5-914C-684AB07285DF}"/>
              </a:ext>
            </a:extLst>
          </p:cNvPr>
          <p:cNvSpPr>
            <a:spLocks noGrp="1"/>
          </p:cNvSpPr>
          <p:nvPr>
            <p:ph type="dt" sz="half" idx="10"/>
          </p:nvPr>
        </p:nvSpPr>
        <p:spPr/>
        <p:txBody>
          <a:body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034CD0FC-022B-B8CA-6DF4-F5E5698344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FE40B-6D38-FE4A-241D-0FA6ED4EB9AC}"/>
              </a:ext>
            </a:extLst>
          </p:cNvPr>
          <p:cNvSpPr>
            <a:spLocks noGrp="1"/>
          </p:cNvSpPr>
          <p:nvPr>
            <p:ph type="sldNum" sz="quarter" idx="12"/>
          </p:nvPr>
        </p:nvSpPr>
        <p:spPr/>
        <p:txBody>
          <a:bodyPr/>
          <a:lstStyle/>
          <a:p>
            <a:fld id="{566516AE-22CF-4F57-A9A3-0D07476034F0}" type="slidenum">
              <a:rPr lang="en-US" smtClean="0"/>
              <a:t>‹#›</a:t>
            </a:fld>
            <a:endParaRPr lang="en-US"/>
          </a:p>
        </p:txBody>
      </p:sp>
    </p:spTree>
    <p:extLst>
      <p:ext uri="{BB962C8B-B14F-4D97-AF65-F5344CB8AC3E}">
        <p14:creationId xmlns:p14="http://schemas.microsoft.com/office/powerpoint/2010/main" val="2024662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727DE-97C7-C045-8321-677BFCCAB4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87261C-75C2-A202-FF4F-2869806252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EB26EE-E4CC-E899-538F-F02358231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A09328-354C-4029-AE38-36C8A9C1D6BB}" type="datetimeFigureOut">
              <a:rPr lang="en-US" smtClean="0"/>
              <a:t>5/8/2025</a:t>
            </a:fld>
            <a:endParaRPr lang="en-US"/>
          </a:p>
        </p:txBody>
      </p:sp>
      <p:sp>
        <p:nvSpPr>
          <p:cNvPr id="5" name="Footer Placeholder 4">
            <a:extLst>
              <a:ext uri="{FF2B5EF4-FFF2-40B4-BE49-F238E27FC236}">
                <a16:creationId xmlns:a16="http://schemas.microsoft.com/office/drawing/2014/main" id="{99F96FF3-BCD5-B43C-55F8-118EC5E73D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05C20A-1628-998E-6D4D-3E9CA3C3D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6516AE-22CF-4F57-A9A3-0D07476034F0}" type="slidenum">
              <a:rPr lang="en-US" smtClean="0"/>
              <a:t>‹#›</a:t>
            </a:fld>
            <a:endParaRPr lang="en-US"/>
          </a:p>
        </p:txBody>
      </p:sp>
    </p:spTree>
    <p:extLst>
      <p:ext uri="{BB962C8B-B14F-4D97-AF65-F5344CB8AC3E}">
        <p14:creationId xmlns:p14="http://schemas.microsoft.com/office/powerpoint/2010/main" val="390670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0" name="Rectangle 104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E7FB6-27A0-9631-EEF7-A20804ACB03E}"/>
              </a:ext>
            </a:extLst>
          </p:cNvPr>
          <p:cNvSpPr>
            <a:spLocks noGrp="1"/>
          </p:cNvSpPr>
          <p:nvPr>
            <p:ph type="ctrTitle"/>
          </p:nvPr>
        </p:nvSpPr>
        <p:spPr>
          <a:xfrm>
            <a:off x="640080" y="320040"/>
            <a:ext cx="6692827" cy="3892669"/>
          </a:xfrm>
        </p:spPr>
        <p:txBody>
          <a:bodyPr>
            <a:normAutofit/>
          </a:bodyPr>
          <a:lstStyle/>
          <a:p>
            <a:pPr algn="l"/>
            <a:r>
              <a:rPr lang="en-US" sz="5100" b="1" i="0">
                <a:effectLst/>
                <a:latin typeface="PT Sans" panose="020F0502020204030204" pitchFamily="34" charset="0"/>
              </a:rPr>
              <a:t>Valentin A. Cruz (Revolutionary Hero of Pasig; 1870 – 1967</a:t>
            </a:r>
            <a:br>
              <a:rPr lang="en-US" sz="5100" b="1" i="0">
                <a:effectLst/>
                <a:latin typeface="PT Sans" panose="020F0502020204030204" pitchFamily="34" charset="0"/>
              </a:rPr>
            </a:br>
            <a:endParaRPr lang="en-US" sz="5100"/>
          </a:p>
        </p:txBody>
      </p:sp>
      <p:sp>
        <p:nvSpPr>
          <p:cNvPr id="105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283DE49A-8D6E-679A-7E43-9ADF224620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13985" y="320040"/>
            <a:ext cx="2422485" cy="5981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991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19E67-30C0-3702-EDF1-52C59706882D}"/>
              </a:ext>
            </a:extLst>
          </p:cNvPr>
          <p:cNvSpPr>
            <a:spLocks noGrp="1"/>
          </p:cNvSpPr>
          <p:nvPr>
            <p:ph idx="1"/>
          </p:nvPr>
        </p:nvSpPr>
        <p:spPr>
          <a:xfrm>
            <a:off x="331595" y="391886"/>
            <a:ext cx="11525459" cy="6169688"/>
          </a:xfrm>
        </p:spPr>
        <p:txBody>
          <a:bodyPr>
            <a:normAutofit lnSpcReduction="10000"/>
          </a:bodyPr>
          <a:lstStyle/>
          <a:p>
            <a:pPr algn="l">
              <a:spcAft>
                <a:spcPts val="2400"/>
              </a:spcAft>
              <a:buNone/>
            </a:pPr>
            <a:r>
              <a:rPr lang="en-US" sz="3600" b="1" i="0" dirty="0">
                <a:solidFill>
                  <a:srgbClr val="303030"/>
                </a:solidFill>
                <a:effectLst/>
                <a:latin typeface="PT Sans" panose="020B0503020203020204" pitchFamily="34" charset="0"/>
              </a:rPr>
              <a:t>Valentin A. Cruz</a:t>
            </a:r>
            <a:r>
              <a:rPr lang="en-US" sz="3600" b="0" i="0" dirty="0">
                <a:solidFill>
                  <a:srgbClr val="303030"/>
                </a:solidFill>
                <a:effectLst/>
                <a:latin typeface="PT Sans" panose="020B0503020203020204" pitchFamily="34" charset="0"/>
              </a:rPr>
              <a:t> – son of Pasig in whose house in </a:t>
            </a:r>
            <a:r>
              <a:rPr lang="en-US" sz="3600" b="0" i="1" dirty="0">
                <a:solidFill>
                  <a:srgbClr val="303030"/>
                </a:solidFill>
                <a:effectLst/>
                <a:latin typeface="PT Sans" panose="020B0503020203020204" pitchFamily="34" charset="0"/>
              </a:rPr>
              <a:t>barrio</a:t>
            </a:r>
            <a:r>
              <a:rPr lang="en-US" sz="3600" b="0" i="0" dirty="0">
                <a:solidFill>
                  <a:srgbClr val="303030"/>
                </a:solidFill>
                <a:effectLst/>
                <a:latin typeface="PT Sans" panose="020B0503020203020204" pitchFamily="34" charset="0"/>
              </a:rPr>
              <a:t> </a:t>
            </a:r>
            <a:r>
              <a:rPr lang="en-US" sz="3600" b="0" i="1" dirty="0">
                <a:solidFill>
                  <a:srgbClr val="303030"/>
                </a:solidFill>
                <a:effectLst/>
                <a:latin typeface="PT Sans" panose="020B0503020203020204" pitchFamily="34" charset="0"/>
              </a:rPr>
              <a:t>San Nicolas </a:t>
            </a:r>
            <a:r>
              <a:rPr lang="en-US" sz="3600" b="0" i="0" dirty="0">
                <a:solidFill>
                  <a:srgbClr val="303030"/>
                </a:solidFill>
                <a:effectLst/>
                <a:latin typeface="PT Sans" panose="020B0503020203020204" pitchFamily="34" charset="0"/>
              </a:rPr>
              <a:t>Gat Andres Bonifacio headed a meeting in May 1896 that solidified the movement against Spain. This led to the very first, and successful attack that signaled the start of the Philippine revolution, an event on August 19 of that year now called </a:t>
            </a:r>
            <a:r>
              <a:rPr lang="en-US" sz="3600" b="0" i="0" dirty="0" err="1">
                <a:solidFill>
                  <a:schemeClr val="accent2">
                    <a:lumMod val="75000"/>
                  </a:schemeClr>
                </a:solidFill>
                <a:effectLst/>
                <a:latin typeface="PT Sans" panose="020B0503020203020204" pitchFamily="34" charset="0"/>
              </a:rPr>
              <a:t>Nagsabado</a:t>
            </a:r>
            <a:r>
              <a:rPr lang="en-US" sz="3600" b="0" i="0" dirty="0">
                <a:solidFill>
                  <a:schemeClr val="accent2">
                    <a:lumMod val="75000"/>
                  </a:schemeClr>
                </a:solidFill>
                <a:effectLst/>
                <a:latin typeface="PT Sans" panose="020B0503020203020204" pitchFamily="34" charset="0"/>
              </a:rPr>
              <a:t> Sa </a:t>
            </a:r>
            <a:r>
              <a:rPr lang="en-US" sz="3600" b="0" i="0" dirty="0">
                <a:solidFill>
                  <a:srgbClr val="C00000"/>
                </a:solidFill>
                <a:effectLst/>
                <a:latin typeface="PT Sans" panose="020B0503020203020204" pitchFamily="34" charset="0"/>
              </a:rPr>
              <a:t>Pasig.</a:t>
            </a:r>
          </a:p>
          <a:p>
            <a:pPr algn="just">
              <a:spcBef>
                <a:spcPts val="2400"/>
              </a:spcBef>
              <a:spcAft>
                <a:spcPts val="2400"/>
              </a:spcAft>
            </a:pPr>
            <a:r>
              <a:rPr lang="en-US" sz="3600" b="1" i="0" dirty="0">
                <a:solidFill>
                  <a:srgbClr val="303030"/>
                </a:solidFill>
                <a:effectLst/>
                <a:latin typeface="PT Sans" panose="020B0503020203020204" pitchFamily="34" charset="0"/>
              </a:rPr>
              <a:t>Valentine A. Cruz</a:t>
            </a:r>
            <a:r>
              <a:rPr lang="en-US" sz="3600" b="0" i="0" dirty="0">
                <a:solidFill>
                  <a:srgbClr val="303030"/>
                </a:solidFill>
                <a:effectLst/>
                <a:latin typeface="PT Sans" panose="020B0503020203020204" pitchFamily="34" charset="0"/>
              </a:rPr>
              <a:t> – Brigadier General of Bonifacio, leader of </a:t>
            </a:r>
            <a:r>
              <a:rPr lang="en-US" sz="3600" b="0" i="0" dirty="0" err="1">
                <a:solidFill>
                  <a:srgbClr val="303030"/>
                </a:solidFill>
                <a:effectLst/>
                <a:latin typeface="PT Sans" panose="020B0503020203020204" pitchFamily="34" charset="0"/>
              </a:rPr>
              <a:t>Nagsabado</a:t>
            </a:r>
            <a:r>
              <a:rPr lang="en-US" sz="3600" b="0" i="0" dirty="0">
                <a:solidFill>
                  <a:srgbClr val="303030"/>
                </a:solidFill>
                <a:effectLst/>
                <a:latin typeface="PT Sans" panose="020B0503020203020204" pitchFamily="34" charset="0"/>
              </a:rPr>
              <a:t>, unremembered but by a few, in whose honor no monument has been erected nor a street named after.</a:t>
            </a:r>
          </a:p>
          <a:p>
            <a:endParaRPr lang="en-US" dirty="0"/>
          </a:p>
        </p:txBody>
      </p:sp>
    </p:spTree>
    <p:extLst>
      <p:ext uri="{BB962C8B-B14F-4D97-AF65-F5344CB8AC3E}">
        <p14:creationId xmlns:p14="http://schemas.microsoft.com/office/powerpoint/2010/main" val="185988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FF4C89-B24E-98C0-3E1E-74501A3B397D}"/>
              </a:ext>
            </a:extLst>
          </p:cNvPr>
          <p:cNvSpPr>
            <a:spLocks noGrp="1"/>
          </p:cNvSpPr>
          <p:nvPr>
            <p:ph idx="1"/>
          </p:nvPr>
        </p:nvSpPr>
        <p:spPr>
          <a:xfrm>
            <a:off x="838200" y="593388"/>
            <a:ext cx="6298324" cy="5029099"/>
          </a:xfrm>
        </p:spPr>
        <p:txBody>
          <a:bodyPr>
            <a:normAutofit/>
          </a:bodyPr>
          <a:lstStyle/>
          <a:p>
            <a:r>
              <a:rPr lang="en-US" sz="4000" b="1" i="0" dirty="0">
                <a:solidFill>
                  <a:srgbClr val="303030"/>
                </a:solidFill>
                <a:effectLst/>
                <a:latin typeface="PT Sans" panose="020B0503020203020204" pitchFamily="34" charset="0"/>
              </a:rPr>
              <a:t>Valentine A. Cruz</a:t>
            </a:r>
            <a:r>
              <a:rPr lang="en-US" sz="4000" b="0" i="0" dirty="0">
                <a:solidFill>
                  <a:srgbClr val="303030"/>
                </a:solidFill>
                <a:effectLst/>
                <a:latin typeface="PT Sans" panose="020B0503020203020204" pitchFamily="34" charset="0"/>
              </a:rPr>
              <a:t> – whose role in the Revolution the Pasig Historical Society has been attempting to give a shine to, in the writing down of our country’s history.</a:t>
            </a:r>
            <a:endParaRPr lang="en-US" sz="4000" dirty="0"/>
          </a:p>
        </p:txBody>
      </p:sp>
      <p:pic>
        <p:nvPicPr>
          <p:cNvPr id="2050" name="Picture 2">
            <a:extLst>
              <a:ext uri="{FF2B5EF4-FFF2-40B4-BE49-F238E27FC236}">
                <a16:creationId xmlns:a16="http://schemas.microsoft.com/office/drawing/2014/main" id="{472A72EA-7882-38DA-DE2A-B79C6DC53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5103" y="471488"/>
            <a:ext cx="3888826" cy="591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70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3CD25C-9907-24B8-E481-A7866B2670AF}"/>
              </a:ext>
            </a:extLst>
          </p:cNvPr>
          <p:cNvSpPr>
            <a:spLocks noGrp="1"/>
          </p:cNvSpPr>
          <p:nvPr>
            <p:ph idx="1"/>
          </p:nvPr>
        </p:nvSpPr>
        <p:spPr>
          <a:xfrm>
            <a:off x="838200" y="432079"/>
            <a:ext cx="6078166" cy="5744884"/>
          </a:xfrm>
        </p:spPr>
        <p:txBody>
          <a:bodyPr/>
          <a:lstStyle/>
          <a:p>
            <a:r>
              <a:rPr lang="en-US" b="0" i="0" dirty="0">
                <a:solidFill>
                  <a:srgbClr val="303030"/>
                </a:solidFill>
                <a:effectLst/>
                <a:latin typeface="PT Sans" panose="020B0503020203020204" pitchFamily="34" charset="0"/>
              </a:rPr>
              <a:t>Valentin was accepted into the Katipunan movement in 1895 after passing the trials given by the screening panel headed by Emillio Jacinto. Later he headed the Sangguniang Bayan ng Pasig under the </a:t>
            </a:r>
            <a:r>
              <a:rPr lang="en-US" b="0" i="1" dirty="0">
                <a:solidFill>
                  <a:srgbClr val="303030"/>
                </a:solidFill>
                <a:effectLst/>
                <a:latin typeface="PT Sans" panose="020B0503020203020204" pitchFamily="34" charset="0"/>
              </a:rPr>
              <a:t>nom de guerre </a:t>
            </a:r>
            <a:r>
              <a:rPr lang="en-US" b="0" i="0" dirty="0">
                <a:solidFill>
                  <a:srgbClr val="303030"/>
                </a:solidFill>
                <a:effectLst/>
                <a:latin typeface="PT Sans" panose="020B0503020203020204" pitchFamily="34" charset="0"/>
              </a:rPr>
              <a:t>“Gugol.” Account of the </a:t>
            </a:r>
            <a:r>
              <a:rPr lang="en-US" b="0" i="0" dirty="0" err="1">
                <a:solidFill>
                  <a:srgbClr val="303030"/>
                </a:solidFill>
                <a:effectLst/>
                <a:latin typeface="PT Sans" panose="020B0503020203020204" pitchFamily="34" charset="0"/>
              </a:rPr>
              <a:t>Nagsabado</a:t>
            </a:r>
            <a:r>
              <a:rPr lang="en-US" b="0" i="0" dirty="0">
                <a:solidFill>
                  <a:srgbClr val="303030"/>
                </a:solidFill>
                <a:effectLst/>
                <a:latin typeface="PT Sans" panose="020B0503020203020204" pitchFamily="34" charset="0"/>
              </a:rPr>
              <a:t> which he led was first brought to light by Pasig historian Carlos Tech (†) and caught in writings by Dr. Luciano Santiago and Jose Velasquez, both of Pasig. [See previous Pasig Day souvenir publications].</a:t>
            </a:r>
            <a:endParaRPr lang="en-US" dirty="0"/>
          </a:p>
        </p:txBody>
      </p:sp>
      <p:pic>
        <p:nvPicPr>
          <p:cNvPr id="3074" name="Picture 2" descr="IN PHOTOS: PAGDIRIWANG NG NAGSABADO SA PASIG | Pasig City">
            <a:extLst>
              <a:ext uri="{FF2B5EF4-FFF2-40B4-BE49-F238E27FC236}">
                <a16:creationId xmlns:a16="http://schemas.microsoft.com/office/drawing/2014/main" id="{52B0C0A2-F388-1998-B383-805CBE779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4233" y="432078"/>
            <a:ext cx="4672484" cy="5858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48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370667-06A8-8E4D-AE2B-C96D99B7B8E9}"/>
              </a:ext>
            </a:extLst>
          </p:cNvPr>
          <p:cNvSpPr>
            <a:spLocks noGrp="1"/>
          </p:cNvSpPr>
          <p:nvPr>
            <p:ph idx="1"/>
          </p:nvPr>
        </p:nvSpPr>
        <p:spPr>
          <a:xfrm>
            <a:off x="496111" y="359923"/>
            <a:ext cx="11342451" cy="5817040"/>
          </a:xfrm>
        </p:spPr>
        <p:txBody>
          <a:bodyPr/>
          <a:lstStyle/>
          <a:p>
            <a:r>
              <a:rPr lang="en-US" b="0" i="0" dirty="0">
                <a:solidFill>
                  <a:srgbClr val="303030"/>
                </a:solidFill>
                <a:effectLst/>
                <a:latin typeface="PT Sans" panose="020B0503020203020204" pitchFamily="34" charset="0"/>
              </a:rPr>
              <a:t>The following months after </a:t>
            </a:r>
            <a:r>
              <a:rPr lang="en-US" b="0" i="0" dirty="0" err="1">
                <a:solidFill>
                  <a:srgbClr val="303030"/>
                </a:solidFill>
                <a:effectLst/>
                <a:latin typeface="PT Sans" panose="020B0503020203020204" pitchFamily="34" charset="0"/>
              </a:rPr>
              <a:t>Nagsabado</a:t>
            </a:r>
            <a:r>
              <a:rPr lang="en-US" b="0" i="0" dirty="0">
                <a:solidFill>
                  <a:srgbClr val="303030"/>
                </a:solidFill>
                <a:effectLst/>
                <a:latin typeface="PT Sans" panose="020B0503020203020204" pitchFamily="34" charset="0"/>
              </a:rPr>
              <a:t>, the Spanish regime, in retaliation, rounded up suspects. On November 5, Valentin Cruz was captured, sent to Bilibid prison, and sentenced to banishment in the Marianas. With the signing of Biak </a:t>
            </a:r>
            <a:r>
              <a:rPr lang="en-US" b="0" i="0" dirty="0" err="1">
                <a:solidFill>
                  <a:srgbClr val="303030"/>
                </a:solidFill>
                <a:effectLst/>
                <a:latin typeface="PT Sans" panose="020B0503020203020204" pitchFamily="34" charset="0"/>
              </a:rPr>
              <a:t>na</a:t>
            </a:r>
            <a:r>
              <a:rPr lang="en-US" b="0" i="0" dirty="0">
                <a:solidFill>
                  <a:srgbClr val="303030"/>
                </a:solidFill>
                <a:effectLst/>
                <a:latin typeface="PT Sans" panose="020B0503020203020204" pitchFamily="34" charset="0"/>
              </a:rPr>
              <a:t> Bato pact in December 1897 the </a:t>
            </a:r>
            <a:r>
              <a:rPr lang="en-US" b="0" i="0" dirty="0" err="1">
                <a:solidFill>
                  <a:srgbClr val="303030"/>
                </a:solidFill>
                <a:effectLst/>
                <a:latin typeface="PT Sans" panose="020B0503020203020204" pitchFamily="34" charset="0"/>
              </a:rPr>
              <a:t>revolutioneros</a:t>
            </a:r>
            <a:r>
              <a:rPr lang="en-US" b="0" i="0" dirty="0">
                <a:solidFill>
                  <a:srgbClr val="303030"/>
                </a:solidFill>
                <a:effectLst/>
                <a:latin typeface="PT Sans" panose="020B0503020203020204" pitchFamily="34" charset="0"/>
              </a:rPr>
              <a:t> laid down arms. </a:t>
            </a:r>
          </a:p>
          <a:p>
            <a:r>
              <a:rPr lang="en-US" b="0" i="0" dirty="0">
                <a:solidFill>
                  <a:srgbClr val="303030"/>
                </a:solidFill>
                <a:effectLst/>
                <a:latin typeface="PT Sans" panose="020B0503020203020204" pitchFamily="34" charset="0"/>
              </a:rPr>
              <a:t>Amnesty was granted by the Spanish governor general setting free all political prisoners in the Marianas after 16 months of exile. Historian Dr. Santiago continues, “Completely unrepentant, they would fight again the next year in the second phase of the revolution; and later against the American colonizers who initially pretended to be allies.” This is that part of our history referred to by the Americans as “Pacification Campaign of the Philippine Islands” and “Philippine Insurrection,” not even dignifying the conflict as a true-blue war for independence. </a:t>
            </a:r>
            <a:endParaRPr lang="en-US" dirty="0"/>
          </a:p>
        </p:txBody>
      </p:sp>
    </p:spTree>
    <p:extLst>
      <p:ext uri="{BB962C8B-B14F-4D97-AF65-F5344CB8AC3E}">
        <p14:creationId xmlns:p14="http://schemas.microsoft.com/office/powerpoint/2010/main" val="365100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10A86B-3DA5-90A2-C4C5-B6C3D9420942}"/>
              </a:ext>
            </a:extLst>
          </p:cNvPr>
          <p:cNvSpPr>
            <a:spLocks noGrp="1"/>
          </p:cNvSpPr>
          <p:nvPr>
            <p:ph idx="1"/>
          </p:nvPr>
        </p:nvSpPr>
        <p:spPr>
          <a:xfrm>
            <a:off x="389106" y="408562"/>
            <a:ext cx="10964694" cy="5768401"/>
          </a:xfrm>
        </p:spPr>
        <p:txBody>
          <a:bodyPr/>
          <a:lstStyle/>
          <a:p>
            <a:pPr algn="just">
              <a:spcBef>
                <a:spcPts val="2400"/>
              </a:spcBef>
              <a:spcAft>
                <a:spcPts val="2400"/>
              </a:spcAft>
              <a:buNone/>
            </a:pPr>
            <a:r>
              <a:rPr lang="en-US" b="0" i="0" dirty="0">
                <a:solidFill>
                  <a:srgbClr val="303030"/>
                </a:solidFill>
                <a:effectLst/>
                <a:latin typeface="PT Sans" panose="020B0503020203020204" pitchFamily="34" charset="0"/>
              </a:rPr>
              <a:t>Simply this was a struggle between lopsided forces, and on the whole, a David-Goliath affair with Goliath as the winner.</a:t>
            </a:r>
          </a:p>
          <a:p>
            <a:pPr algn="just">
              <a:spcBef>
                <a:spcPts val="2400"/>
              </a:spcBef>
              <a:spcAft>
                <a:spcPts val="2400"/>
              </a:spcAft>
            </a:pPr>
            <a:r>
              <a:rPr lang="en-US" b="0" i="0" dirty="0">
                <a:solidFill>
                  <a:srgbClr val="303030"/>
                </a:solidFill>
                <a:effectLst/>
                <a:latin typeface="PT Sans" panose="020B0503020203020204" pitchFamily="34" charset="0"/>
              </a:rPr>
              <a:t>How was Valentin Cruz then? Did he have gaping wounds of the spirit on account of the sad Outcome of the struggles that no independence was won? Did he have marked agonies over the human life expenditure and over the hope which when Closest to victory was thwarted by cruel turns? Did he have nightmares over the blood and gore in the hand-to-hand combats he led? Did the vast loneliness of exile on that desolate island in the Marianas leave him lasting melancholy?</a:t>
            </a:r>
          </a:p>
          <a:p>
            <a:endParaRPr lang="en-US" dirty="0"/>
          </a:p>
        </p:txBody>
      </p:sp>
    </p:spTree>
    <p:extLst>
      <p:ext uri="{BB962C8B-B14F-4D97-AF65-F5344CB8AC3E}">
        <p14:creationId xmlns:p14="http://schemas.microsoft.com/office/powerpoint/2010/main" val="207438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8D459-9CFB-D5B1-1368-44E4B3208262}"/>
              </a:ext>
            </a:extLst>
          </p:cNvPr>
          <p:cNvSpPr>
            <a:spLocks noGrp="1"/>
          </p:cNvSpPr>
          <p:nvPr>
            <p:ph idx="1"/>
          </p:nvPr>
        </p:nvSpPr>
        <p:spPr>
          <a:xfrm>
            <a:off x="428017" y="447472"/>
            <a:ext cx="11507821" cy="5729491"/>
          </a:xfrm>
        </p:spPr>
        <p:txBody>
          <a:bodyPr/>
          <a:lstStyle/>
          <a:p>
            <a:pPr algn="just">
              <a:spcBef>
                <a:spcPts val="2400"/>
              </a:spcBef>
              <a:spcAft>
                <a:spcPts val="2400"/>
              </a:spcAft>
              <a:buNone/>
            </a:pPr>
            <a:r>
              <a:rPr lang="en-US" b="0" i="0" dirty="0">
                <a:solidFill>
                  <a:srgbClr val="303030"/>
                </a:solidFill>
                <a:effectLst/>
                <a:latin typeface="PT Sans" panose="020B0503020203020204" pitchFamily="34" charset="0"/>
              </a:rPr>
              <a:t>even Apolinario Mabini, brain of the Katipunan, likewise exiled there, groveled over that loneliness. And to while away his time, Mabini wrote minutest instructions over mere trifles to his brother.</a:t>
            </a:r>
          </a:p>
          <a:p>
            <a:pPr algn="just">
              <a:spcBef>
                <a:spcPts val="2400"/>
              </a:spcBef>
              <a:spcAft>
                <a:spcPts val="2400"/>
              </a:spcAft>
            </a:pPr>
            <a:r>
              <a:rPr lang="en-US" b="0" i="0" dirty="0">
                <a:solidFill>
                  <a:srgbClr val="303030"/>
                </a:solidFill>
                <a:effectLst/>
                <a:latin typeface="PT Sans" panose="020B0503020203020204" pitchFamily="34" charset="0"/>
              </a:rPr>
              <a:t>Living relatives of Valentin remember him well but grew up not knowing what he had gone through. He spoke nothing about the struggle, donned no revolutionary uniform out of nostalgia, nor mentioned anything about the revolutionary heroes he was abreast with who are now revered by our history books and our celebrations: Andres Bonifacio, Emilio Jacinto, Pio Valenzuela, etc.</a:t>
            </a:r>
          </a:p>
          <a:p>
            <a:endParaRPr lang="en-US" dirty="0"/>
          </a:p>
        </p:txBody>
      </p:sp>
    </p:spTree>
    <p:extLst>
      <p:ext uri="{BB962C8B-B14F-4D97-AF65-F5344CB8AC3E}">
        <p14:creationId xmlns:p14="http://schemas.microsoft.com/office/powerpoint/2010/main" val="208835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A6FA7E04-8159-F22F-175C-59FAED2F0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236"/>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9B0DCE9-E1D8-DDB3-1B21-6BFCB8635C0C}"/>
              </a:ext>
            </a:extLst>
          </p:cNvPr>
          <p:cNvSpPr>
            <a:spLocks noGrp="1"/>
          </p:cNvSpPr>
          <p:nvPr>
            <p:ph idx="1"/>
          </p:nvPr>
        </p:nvSpPr>
        <p:spPr>
          <a:xfrm>
            <a:off x="7531610" y="2434201"/>
            <a:ext cx="3822189" cy="3742762"/>
          </a:xfrm>
        </p:spPr>
        <p:txBody>
          <a:bodyPr>
            <a:normAutofit/>
          </a:bodyPr>
          <a:lstStyle/>
          <a:p>
            <a:r>
              <a:rPr lang="en-US" sz="2000" b="0" i="0" dirty="0">
                <a:effectLst/>
                <a:latin typeface="PT Sans" panose="020B0503020203020204" pitchFamily="34" charset="0"/>
              </a:rPr>
              <a:t>To his young kins he was an ordinary man who displayed none of the combat skills which fed his experiences. What remained of him — or was it really his personality? — was a man taciturn and distant. “At meals you did not talk to him, you waited till he spoke to you”, said one granddaughter.</a:t>
            </a:r>
            <a:endParaRPr lang="en-US" sz="2000" dirty="0"/>
          </a:p>
        </p:txBody>
      </p:sp>
    </p:spTree>
    <p:extLst>
      <p:ext uri="{BB962C8B-B14F-4D97-AF65-F5344CB8AC3E}">
        <p14:creationId xmlns:p14="http://schemas.microsoft.com/office/powerpoint/2010/main" val="1417554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A622E4-0F25-AE7F-F9E7-8862E300615B}"/>
              </a:ext>
            </a:extLst>
          </p:cNvPr>
          <p:cNvSpPr>
            <a:spLocks noGrp="1"/>
          </p:cNvSpPr>
          <p:nvPr>
            <p:ph idx="1"/>
          </p:nvPr>
        </p:nvSpPr>
        <p:spPr>
          <a:xfrm>
            <a:off x="325822" y="178676"/>
            <a:ext cx="6232634" cy="6411310"/>
          </a:xfrm>
        </p:spPr>
        <p:txBody>
          <a:bodyPr>
            <a:normAutofit lnSpcReduction="10000"/>
          </a:bodyPr>
          <a:lstStyle/>
          <a:p>
            <a:pPr algn="l">
              <a:spcBef>
                <a:spcPts val="2400"/>
              </a:spcBef>
              <a:spcAft>
                <a:spcPts val="2400"/>
              </a:spcAft>
              <a:buNone/>
            </a:pPr>
            <a:r>
              <a:rPr lang="en-US" b="1" i="0" dirty="0">
                <a:solidFill>
                  <a:srgbClr val="303030"/>
                </a:solidFill>
                <a:effectLst/>
                <a:latin typeface="PT Sans" panose="020B0503020203020204" pitchFamily="34" charset="0"/>
              </a:rPr>
              <a:t>Who was Valentin Cruz?</a:t>
            </a:r>
            <a:endParaRPr lang="en-US" b="0" i="0" dirty="0">
              <a:solidFill>
                <a:srgbClr val="303030"/>
              </a:solidFill>
              <a:effectLst/>
              <a:latin typeface="PT Sans" panose="020B0503020203020204" pitchFamily="34" charset="0"/>
            </a:endParaRPr>
          </a:p>
          <a:p>
            <a:pPr algn="just">
              <a:spcBef>
                <a:spcPts val="2400"/>
              </a:spcBef>
              <a:spcAft>
                <a:spcPts val="2400"/>
              </a:spcAft>
            </a:pPr>
            <a:r>
              <a:rPr lang="en-US" b="0" i="0" dirty="0">
                <a:solidFill>
                  <a:srgbClr val="303030"/>
                </a:solidFill>
                <a:effectLst/>
                <a:latin typeface="PT Sans" panose="020B0503020203020204" pitchFamily="34" charset="0"/>
              </a:rPr>
              <a:t>He was the illegitimate son of a Raymundo, brother of the father of Cipriano Raymundo who would later become a mayor of Pasig. [See story of Cipriano Raymundo in this anniversary souvenir publication]. His mother was Catalina Antonio who later married a Cruz who adopted Valentin, making him a legal Cruz. Subsequently he inherited pieces of real estate property in Pasig because the couple produced no other heirs. He did not have to work for a living, so work he did not.</a:t>
            </a:r>
          </a:p>
          <a:p>
            <a:endParaRPr lang="en-US" dirty="0"/>
          </a:p>
        </p:txBody>
      </p:sp>
      <p:pic>
        <p:nvPicPr>
          <p:cNvPr id="5122" name="Picture 2" descr="PIA - ‘Asemblea Magna’ heritage marker, pinasinayaan sa Lungsod Pasig">
            <a:extLst>
              <a:ext uri="{FF2B5EF4-FFF2-40B4-BE49-F238E27FC236}">
                <a16:creationId xmlns:a16="http://schemas.microsoft.com/office/drawing/2014/main" id="{17BC7A61-151B-B06F-B8C6-601D3BD3D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1724" y="325820"/>
            <a:ext cx="4939863" cy="6264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239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066961A-5079-D21F-074F-43F525FAEAA8}"/>
              </a:ext>
            </a:extLst>
          </p:cNvPr>
          <p:cNvGraphicFramePr>
            <a:graphicFrameLocks noGrp="1"/>
          </p:cNvGraphicFramePr>
          <p:nvPr>
            <p:ph idx="1"/>
            <p:extLst>
              <p:ext uri="{D42A27DB-BD31-4B8C-83A1-F6EECF244321}">
                <p14:modId xmlns:p14="http://schemas.microsoft.com/office/powerpoint/2010/main" val="27737209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1301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ED5F51C-7864-3514-8889-43A3ED2AEFE7}"/>
              </a:ext>
            </a:extLst>
          </p:cNvPr>
          <p:cNvGraphicFramePr>
            <a:graphicFrameLocks noGrp="1"/>
          </p:cNvGraphicFramePr>
          <p:nvPr>
            <p:ph idx="1"/>
            <p:extLst>
              <p:ext uri="{D42A27DB-BD31-4B8C-83A1-F6EECF244321}">
                <p14:modId xmlns:p14="http://schemas.microsoft.com/office/powerpoint/2010/main" val="161133138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94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E25ED9-AE47-4621-2C3D-A480A854587E}"/>
              </a:ext>
            </a:extLst>
          </p:cNvPr>
          <p:cNvSpPr>
            <a:spLocks noGrp="1"/>
          </p:cNvSpPr>
          <p:nvPr>
            <p:ph idx="1"/>
          </p:nvPr>
        </p:nvSpPr>
        <p:spPr>
          <a:xfrm>
            <a:off x="599090" y="662152"/>
            <a:ext cx="10983310" cy="5580991"/>
          </a:xfrm>
        </p:spPr>
        <p:txBody>
          <a:bodyPr>
            <a:normAutofit/>
          </a:bodyPr>
          <a:lstStyle/>
          <a:p>
            <a:r>
              <a:rPr lang="en-US" b="0" i="0" dirty="0">
                <a:solidFill>
                  <a:schemeClr val="bg1"/>
                </a:solidFill>
                <a:effectLst/>
                <a:latin typeface="PT Sans" panose="020B0503020203020204" pitchFamily="34" charset="0"/>
              </a:rPr>
              <a:t>and he suffered a stroke not long after, so that the stores closed down and other businesses they had established, (principally the generator plant that supplied power to Binangonan, Cardona, Tanay and </a:t>
            </a:r>
            <a:r>
              <a:rPr lang="en-US" b="0" i="0" dirty="0" err="1">
                <a:solidFill>
                  <a:schemeClr val="bg1"/>
                </a:solidFill>
                <a:effectLst/>
                <a:latin typeface="PT Sans" panose="020B0503020203020204" pitchFamily="34" charset="0"/>
              </a:rPr>
              <a:t>Pililla</a:t>
            </a:r>
            <a:r>
              <a:rPr lang="en-US" b="0" i="0" dirty="0">
                <a:solidFill>
                  <a:schemeClr val="bg1"/>
                </a:solidFill>
                <a:effectLst/>
                <a:latin typeface="PT Sans" panose="020B0503020203020204" pitchFamily="34" charset="0"/>
              </a:rPr>
              <a:t>) had to be put under Valentin’s management. Out in the open landscape of these places, Valentin found kinship with what must have been his longed-for elements. </a:t>
            </a:r>
          </a:p>
          <a:p>
            <a:r>
              <a:rPr lang="en-US" b="0" i="0" dirty="0">
                <a:solidFill>
                  <a:schemeClr val="bg1"/>
                </a:solidFill>
                <a:effectLst/>
                <a:latin typeface="PT Sans" panose="020B0503020203020204" pitchFamily="34" charset="0"/>
              </a:rPr>
              <a:t>He took long walks in the hills and mountains and learned to hunt wild game. His family in Pasig would sometimes go aghast with his `naughtiness’ when he would take home meat from his hunts specially during Holy Weeks and Good Fridays when abstinence was observed. . . . for Valentin respected no holidays, and although he could discourse and debate on erudite subjects and religious matters, he maintained his hatred for the friars who had made him suffer.</a:t>
            </a:r>
            <a:endParaRPr lang="en-US"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97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A00EE0F-6702-5E9F-CC2E-64E6871333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2273" y="237999"/>
            <a:ext cx="11374733" cy="62308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12C30E-BB1E-D3C4-2CED-D273F24971E1}"/>
              </a:ext>
            </a:extLst>
          </p:cNvPr>
          <p:cNvSpPr txBox="1"/>
          <p:nvPr/>
        </p:nvSpPr>
        <p:spPr>
          <a:xfrm>
            <a:off x="5359939" y="4348264"/>
            <a:ext cx="6108971" cy="2062103"/>
          </a:xfrm>
          <a:prstGeom prst="rect">
            <a:avLst/>
          </a:prstGeom>
          <a:noFill/>
        </p:spPr>
        <p:txBody>
          <a:bodyPr wrap="square">
            <a:spAutoFit/>
          </a:bodyPr>
          <a:lstStyle/>
          <a:p>
            <a:r>
              <a:rPr lang="en-US" sz="3200" b="0" i="0" dirty="0">
                <a:solidFill>
                  <a:srgbClr val="FFFF00"/>
                </a:solidFill>
                <a:effectLst/>
                <a:latin typeface="PT Sans" panose="020B0503020203020204" pitchFamily="34" charset="0"/>
              </a:rPr>
              <a:t>Valentin Cruz descendants at a reunion in the residence of daughter Maria Salvador. December 1964</a:t>
            </a:r>
            <a:endParaRPr lang="en-US" sz="3200" dirty="0">
              <a:solidFill>
                <a:srgbClr val="FFFF00"/>
              </a:solidFill>
            </a:endParaRPr>
          </a:p>
        </p:txBody>
      </p:sp>
    </p:spTree>
    <p:extLst>
      <p:ext uri="{BB962C8B-B14F-4D97-AF65-F5344CB8AC3E}">
        <p14:creationId xmlns:p14="http://schemas.microsoft.com/office/powerpoint/2010/main" val="2578410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933952-6672-272B-33DD-0327D5740519}"/>
              </a:ext>
            </a:extLst>
          </p:cNvPr>
          <p:cNvSpPr>
            <a:spLocks noGrp="1"/>
          </p:cNvSpPr>
          <p:nvPr>
            <p:ph idx="1"/>
          </p:nvPr>
        </p:nvSpPr>
        <p:spPr>
          <a:xfrm>
            <a:off x="476655" y="359923"/>
            <a:ext cx="11303541" cy="5817040"/>
          </a:xfrm>
        </p:spPr>
        <p:txBody>
          <a:bodyPr>
            <a:normAutofit/>
          </a:bodyPr>
          <a:lstStyle/>
          <a:p>
            <a:r>
              <a:rPr lang="en-US" sz="3200" b="0" i="0" dirty="0">
                <a:solidFill>
                  <a:srgbClr val="303030"/>
                </a:solidFill>
                <a:effectLst/>
                <a:latin typeface="PT Sans" panose="020B0503020203020204" pitchFamily="34" charset="0"/>
              </a:rPr>
              <a:t>Upon the death of son Manuel in 1939, the power generator project was found to be bankrupt, having accumulated much in debt. Properties had to be sold. Furious, the relatives of Manuel’s deceased wife sued Valentin in court in behalf of the minor orphans Francisca, Augusto and Alicia, a move that gave occasion to the expression of rage by Valentin. </a:t>
            </a:r>
          </a:p>
          <a:p>
            <a:r>
              <a:rPr lang="en-US" sz="3200" b="0" i="0" dirty="0">
                <a:solidFill>
                  <a:srgbClr val="303030"/>
                </a:solidFill>
                <a:effectLst/>
                <a:latin typeface="PT Sans" panose="020B0503020203020204" pitchFamily="34" charset="0"/>
              </a:rPr>
              <a:t>He banished the family of his late son from his property on which their house stood. The bitterness that arose was partly lessened when Engineer/Businessman Francisco Santana of </a:t>
            </a:r>
            <a:r>
              <a:rPr lang="en-US" sz="3200" b="0" i="0" dirty="0" err="1">
                <a:solidFill>
                  <a:srgbClr val="303030"/>
                </a:solidFill>
                <a:effectLst/>
                <a:latin typeface="PT Sans" panose="020B0503020203020204" pitchFamily="34" charset="0"/>
              </a:rPr>
              <a:t>Pariancillo</a:t>
            </a:r>
            <a:r>
              <a:rPr lang="en-US" sz="3200" b="0" i="0" dirty="0">
                <a:solidFill>
                  <a:srgbClr val="303030"/>
                </a:solidFill>
                <a:effectLst/>
                <a:latin typeface="PT Sans" panose="020B0503020203020204" pitchFamily="34" charset="0"/>
              </a:rPr>
              <a:t> bought the power plant. Other debts were then paid off. Subsequently, Valentin lost in a swindle a big tract of land in the Rotonda area where now stands the Bliss Housing.</a:t>
            </a:r>
            <a:endParaRPr lang="en-US" sz="3200" dirty="0"/>
          </a:p>
        </p:txBody>
      </p:sp>
    </p:spTree>
    <p:extLst>
      <p:ext uri="{BB962C8B-B14F-4D97-AF65-F5344CB8AC3E}">
        <p14:creationId xmlns:p14="http://schemas.microsoft.com/office/powerpoint/2010/main" val="3589719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7527440-67BE-1F08-FF13-A587BC9C649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2805" y="422031"/>
            <a:ext cx="10942654" cy="58883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56644D-923C-03E9-D389-82240A7B3168}"/>
              </a:ext>
            </a:extLst>
          </p:cNvPr>
          <p:cNvSpPr txBox="1"/>
          <p:nvPr/>
        </p:nvSpPr>
        <p:spPr>
          <a:xfrm>
            <a:off x="4564678" y="4086282"/>
            <a:ext cx="6094324" cy="2062103"/>
          </a:xfrm>
          <a:prstGeom prst="rect">
            <a:avLst/>
          </a:prstGeom>
          <a:noFill/>
        </p:spPr>
        <p:txBody>
          <a:bodyPr wrap="square">
            <a:spAutoFit/>
          </a:bodyPr>
          <a:lstStyle/>
          <a:p>
            <a:r>
              <a:rPr lang="en-US" sz="3200" b="0" i="0" dirty="0">
                <a:solidFill>
                  <a:srgbClr val="FFC000"/>
                </a:solidFill>
                <a:effectLst/>
                <a:latin typeface="PT Sans" panose="020B0503020203020204" pitchFamily="34" charset="0"/>
              </a:rPr>
              <a:t>Granddaughter Alicia, one of the orphans of Manuel and Demetria, who became Assistant Vice President of Insular Life</a:t>
            </a:r>
            <a:endParaRPr lang="en-US" sz="3200" dirty="0">
              <a:solidFill>
                <a:srgbClr val="FFC000"/>
              </a:solidFill>
            </a:endParaRPr>
          </a:p>
        </p:txBody>
      </p:sp>
    </p:spTree>
    <p:extLst>
      <p:ext uri="{BB962C8B-B14F-4D97-AF65-F5344CB8AC3E}">
        <p14:creationId xmlns:p14="http://schemas.microsoft.com/office/powerpoint/2010/main" val="2211240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A0D2E-1A59-7C87-1FFA-61E04E5ABADE}"/>
              </a:ext>
            </a:extLst>
          </p:cNvPr>
          <p:cNvSpPr>
            <a:spLocks noGrp="1"/>
          </p:cNvSpPr>
          <p:nvPr>
            <p:ph idx="1"/>
          </p:nvPr>
        </p:nvSpPr>
        <p:spPr>
          <a:xfrm>
            <a:off x="525293" y="457200"/>
            <a:ext cx="11167353" cy="5719763"/>
          </a:xfrm>
        </p:spPr>
        <p:txBody>
          <a:bodyPr>
            <a:normAutofit/>
          </a:bodyPr>
          <a:lstStyle/>
          <a:p>
            <a:r>
              <a:rPr lang="en-US" sz="3200" b="0" i="0" dirty="0">
                <a:solidFill>
                  <a:srgbClr val="303030"/>
                </a:solidFill>
                <a:effectLst/>
                <a:latin typeface="PT Sans" panose="020B0503020203020204" pitchFamily="34" charset="0"/>
              </a:rPr>
              <a:t>Valentin’s wife Isidora was an excellent housewife with great kitchen skills. She however became afflicted with a neurosis on account of the errant and wondering eyes of Valentin. The grandchildren, for example, if they wanted approval for some request from grandma, would count the days and would time their asking when they predicted grandma would be in a good and positive state. </a:t>
            </a:r>
          </a:p>
          <a:p>
            <a:r>
              <a:rPr lang="en-US" sz="3200" b="0" i="0" dirty="0">
                <a:solidFill>
                  <a:srgbClr val="303030"/>
                </a:solidFill>
                <a:effectLst/>
                <a:latin typeface="PT Sans" panose="020B0503020203020204" pitchFamily="34" charset="0"/>
              </a:rPr>
              <a:t>But she was a kindly woman. She took care as her own and raised an illegitimate daughter brought home by her husband. Valentin also left two sons with his common-law wife. Both sons, whom Valentin had baptized into the Aglipayan sects, still live.</a:t>
            </a:r>
            <a:endParaRPr lang="en-US" sz="3200" dirty="0"/>
          </a:p>
        </p:txBody>
      </p:sp>
    </p:spTree>
    <p:extLst>
      <p:ext uri="{BB962C8B-B14F-4D97-AF65-F5344CB8AC3E}">
        <p14:creationId xmlns:p14="http://schemas.microsoft.com/office/powerpoint/2010/main" val="4220250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Open window">
            <a:extLst>
              <a:ext uri="{FF2B5EF4-FFF2-40B4-BE49-F238E27FC236}">
                <a16:creationId xmlns:a16="http://schemas.microsoft.com/office/drawing/2014/main" id="{184AFAC0-5F61-D2FA-C58D-B802A1B844C1}"/>
              </a:ext>
            </a:extLst>
          </p:cNvPr>
          <p:cNvPicPr>
            <a:picLocks noChangeAspect="1"/>
          </p:cNvPicPr>
          <p:nvPr/>
        </p:nvPicPr>
        <p:blipFill>
          <a:blip r:embed="rId2">
            <a:alphaModFix amt="60000"/>
          </a:blip>
          <a:srcRect t="7865" b="7865"/>
          <a:stretch/>
        </p:blipFill>
        <p:spPr>
          <a:xfrm>
            <a:off x="-1" y="10"/>
            <a:ext cx="12192001" cy="6857990"/>
          </a:xfrm>
          <a:prstGeom prst="rect">
            <a:avLst/>
          </a:prstGeom>
        </p:spPr>
      </p:pic>
      <p:sp>
        <p:nvSpPr>
          <p:cNvPr id="3" name="Content Placeholder 2">
            <a:extLst>
              <a:ext uri="{FF2B5EF4-FFF2-40B4-BE49-F238E27FC236}">
                <a16:creationId xmlns:a16="http://schemas.microsoft.com/office/drawing/2014/main" id="{1DE6A32A-790A-E119-92A0-E417FC060666}"/>
              </a:ext>
            </a:extLst>
          </p:cNvPr>
          <p:cNvSpPr>
            <a:spLocks noGrp="1"/>
          </p:cNvSpPr>
          <p:nvPr>
            <p:ph idx="1"/>
          </p:nvPr>
        </p:nvSpPr>
        <p:spPr>
          <a:xfrm>
            <a:off x="4225160" y="252248"/>
            <a:ext cx="7131688" cy="6253655"/>
          </a:xfrm>
        </p:spPr>
        <p:txBody>
          <a:bodyPr>
            <a:normAutofit/>
          </a:bodyPr>
          <a:lstStyle/>
          <a:p>
            <a:pPr>
              <a:spcBef>
                <a:spcPts val="2400"/>
              </a:spcBef>
              <a:spcAft>
                <a:spcPts val="2400"/>
              </a:spcAft>
              <a:buNone/>
            </a:pPr>
            <a:r>
              <a:rPr lang="en-US" b="0" i="0" dirty="0">
                <a:solidFill>
                  <a:srgbClr val="FFFFFF"/>
                </a:solidFill>
                <a:effectLst/>
                <a:latin typeface="PT Sans" panose="020B0503020203020204" pitchFamily="34" charset="0"/>
              </a:rPr>
              <a:t>The spirit of freedom experienced in the hills and mountains remained in Valentin all his life. Back in Pasig, the aging Valentin would regularly drink carabao milk early in the morning and would walk long and far around the town, especially in the undisturbed parts like </a:t>
            </a:r>
            <a:r>
              <a:rPr lang="en-US" b="0" i="0" dirty="0" err="1">
                <a:solidFill>
                  <a:srgbClr val="FFFFFF"/>
                </a:solidFill>
                <a:effectLst/>
                <a:latin typeface="PT Sans" panose="020B0503020203020204" pitchFamily="34" charset="0"/>
              </a:rPr>
              <a:t>Ugong</a:t>
            </a:r>
            <a:r>
              <a:rPr lang="en-US" b="0" i="0" dirty="0">
                <a:solidFill>
                  <a:srgbClr val="FFFFFF"/>
                </a:solidFill>
                <a:effectLst/>
                <a:latin typeface="PT Sans" panose="020B0503020203020204" pitchFamily="34" charset="0"/>
              </a:rPr>
              <a:t> and Pineda. He died at age 97.</a:t>
            </a:r>
          </a:p>
          <a:p>
            <a:pPr>
              <a:spcBef>
                <a:spcPts val="2400"/>
              </a:spcBef>
              <a:spcAft>
                <a:spcPts val="2400"/>
              </a:spcAft>
            </a:pPr>
            <a:r>
              <a:rPr lang="en-US" b="1" i="0" dirty="0">
                <a:solidFill>
                  <a:srgbClr val="FFFFFF"/>
                </a:solidFill>
                <a:effectLst/>
                <a:latin typeface="PT Sans" panose="020B0503020203020204" pitchFamily="34" charset="0"/>
              </a:rPr>
              <a:t>Valentin A. Cruz</a:t>
            </a:r>
            <a:r>
              <a:rPr lang="en-US" b="0" i="0" dirty="0">
                <a:solidFill>
                  <a:srgbClr val="FFFFFF"/>
                </a:solidFill>
                <a:effectLst/>
                <a:latin typeface="PT Sans" panose="020B0503020203020204" pitchFamily="34" charset="0"/>
              </a:rPr>
              <a:t> — a man who at the proper tide rose to the dictate of his star, and lived his humanity as placidly and as violently as the waves.</a:t>
            </a:r>
          </a:p>
          <a:p>
            <a:endParaRPr lang="en-US" sz="1900" dirty="0">
              <a:solidFill>
                <a:srgbClr val="FFFFFF"/>
              </a:solidFill>
            </a:endParaRPr>
          </a:p>
        </p:txBody>
      </p:sp>
    </p:spTree>
    <p:extLst>
      <p:ext uri="{BB962C8B-B14F-4D97-AF65-F5344CB8AC3E}">
        <p14:creationId xmlns:p14="http://schemas.microsoft.com/office/powerpoint/2010/main" val="659587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AD73F-ED61-E1E9-86D0-56588BF2C5C4}"/>
              </a:ext>
            </a:extLst>
          </p:cNvPr>
          <p:cNvSpPr>
            <a:spLocks noGrp="1"/>
          </p:cNvSpPr>
          <p:nvPr>
            <p:ph idx="1"/>
          </p:nvPr>
        </p:nvSpPr>
        <p:spPr>
          <a:xfrm>
            <a:off x="838200" y="447472"/>
            <a:ext cx="6282447" cy="5729491"/>
          </a:xfrm>
        </p:spPr>
        <p:txBody>
          <a:bodyPr/>
          <a:lstStyle/>
          <a:p>
            <a:r>
              <a:rPr lang="en-US" b="0" i="0" dirty="0">
                <a:solidFill>
                  <a:srgbClr val="303030"/>
                </a:solidFill>
                <a:effectLst/>
                <a:latin typeface="PT Sans" panose="020B0503020203020204" pitchFamily="34" charset="0"/>
              </a:rPr>
              <a:t>When Mayor Cipriano Raymundo, his biological nephew came to him, “Ti </a:t>
            </a:r>
            <a:r>
              <a:rPr lang="en-US" b="0" i="0" dirty="0" err="1">
                <a:solidFill>
                  <a:srgbClr val="303030"/>
                </a:solidFill>
                <a:effectLst/>
                <a:latin typeface="PT Sans" panose="020B0503020203020204" pitchFamily="34" charset="0"/>
              </a:rPr>
              <a:t>Intin</a:t>
            </a:r>
            <a:r>
              <a:rPr lang="en-US" b="0" i="0" dirty="0">
                <a:solidFill>
                  <a:srgbClr val="303030"/>
                </a:solidFill>
                <a:effectLst/>
                <a:latin typeface="PT Sans" panose="020B0503020203020204" pitchFamily="34" charset="0"/>
              </a:rPr>
              <a:t>,” he said, “</a:t>
            </a:r>
            <a:r>
              <a:rPr lang="en-US" b="0" i="0" dirty="0" err="1">
                <a:solidFill>
                  <a:srgbClr val="303030"/>
                </a:solidFill>
                <a:effectLst/>
                <a:latin typeface="PT Sans" panose="020B0503020203020204" pitchFamily="34" charset="0"/>
              </a:rPr>
              <a:t>kailangan</a:t>
            </a:r>
            <a:r>
              <a:rPr lang="en-US" b="0" i="0" dirty="0">
                <a:solidFill>
                  <a:srgbClr val="303030"/>
                </a:solidFill>
                <a:effectLst/>
                <a:latin typeface="PT Sans" panose="020B0503020203020204" pitchFamily="34" charset="0"/>
              </a:rPr>
              <a:t> ng Pasig Central School ang mas </a:t>
            </a:r>
            <a:r>
              <a:rPr lang="en-US" b="0" i="0" dirty="0" err="1">
                <a:solidFill>
                  <a:srgbClr val="303030"/>
                </a:solidFill>
                <a:effectLst/>
                <a:latin typeface="PT Sans" panose="020B0503020203020204" pitchFamily="34" charset="0"/>
              </a:rPr>
              <a:t>malaking</a:t>
            </a:r>
            <a:r>
              <a:rPr lang="en-US" b="0" i="0" dirty="0">
                <a:solidFill>
                  <a:srgbClr val="303030"/>
                </a:solidFill>
                <a:effectLst/>
                <a:latin typeface="PT Sans" panose="020B0503020203020204" pitchFamily="34" charset="0"/>
              </a:rPr>
              <a:t> </a:t>
            </a:r>
            <a:r>
              <a:rPr lang="en-US" b="0" i="0" dirty="0" err="1">
                <a:solidFill>
                  <a:srgbClr val="303030"/>
                </a:solidFill>
                <a:effectLst/>
                <a:latin typeface="PT Sans" panose="020B0503020203020204" pitchFamily="34" charset="0"/>
              </a:rPr>
              <a:t>lupa</a:t>
            </a:r>
            <a:r>
              <a:rPr lang="en-US" b="0" i="0" dirty="0">
                <a:solidFill>
                  <a:srgbClr val="303030"/>
                </a:solidFill>
                <a:effectLst/>
                <a:latin typeface="PT Sans" panose="020B0503020203020204" pitchFamily="34" charset="0"/>
              </a:rPr>
              <a:t>.” Without fuss, Valentin granted for the use of the school (now named Pasig Elementary) that piece of land adjoining his property in San Nicolas. Whether money was transferred was not clear but the kins of Valentin tended to believe there was none.</a:t>
            </a:r>
            <a:endParaRPr lang="en-US" dirty="0"/>
          </a:p>
        </p:txBody>
      </p:sp>
      <p:pic>
        <p:nvPicPr>
          <p:cNvPr id="6146" name="Picture 2" descr="&quot;NAGSABADO SA PASIG&quot; 1896">
            <a:extLst>
              <a:ext uri="{FF2B5EF4-FFF2-40B4-BE49-F238E27FC236}">
                <a16:creationId xmlns:a16="http://schemas.microsoft.com/office/drawing/2014/main" id="{16C95233-3386-7766-D776-50818DB6F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5421" y="351117"/>
            <a:ext cx="4752975" cy="5825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624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331FC-573A-B5E4-4AFB-FA50D292889D}"/>
              </a:ext>
            </a:extLst>
          </p:cNvPr>
          <p:cNvSpPr>
            <a:spLocks noGrp="1"/>
          </p:cNvSpPr>
          <p:nvPr>
            <p:ph idx="1"/>
          </p:nvPr>
        </p:nvSpPr>
        <p:spPr>
          <a:xfrm>
            <a:off x="483475" y="462455"/>
            <a:ext cx="11309131" cy="5714508"/>
          </a:xfrm>
        </p:spPr>
        <p:txBody>
          <a:bodyPr/>
          <a:lstStyle/>
          <a:p>
            <a:pPr marL="0" indent="0">
              <a:buNone/>
            </a:pPr>
            <a:r>
              <a:rPr lang="en-US" dirty="0"/>
              <a:t>Essay: at least 100 words for each question:</a:t>
            </a:r>
          </a:p>
          <a:p>
            <a:pPr marL="0" indent="0">
              <a:buNone/>
            </a:pPr>
            <a:endParaRPr lang="en-US" dirty="0"/>
          </a:p>
          <a:p>
            <a:pPr marL="514350" indent="-514350">
              <a:buAutoNum type="arabicPeriod"/>
            </a:pPr>
            <a:r>
              <a:rPr lang="en-US" dirty="0"/>
              <a:t>Give 3 reasons why Valentin Cruz should be honored by the City Government as the Best Local Hero in Pasig?</a:t>
            </a:r>
          </a:p>
          <a:p>
            <a:pPr marL="514350" indent="-514350">
              <a:buAutoNum type="arabicPeriod"/>
            </a:pPr>
            <a:r>
              <a:rPr lang="en-US" dirty="0"/>
              <a:t>What are the things that we can do as </a:t>
            </a:r>
            <a:r>
              <a:rPr lang="en-US" dirty="0" err="1"/>
              <a:t>Pasiguenos</a:t>
            </a:r>
            <a:r>
              <a:rPr lang="en-US" dirty="0"/>
              <a:t> to commemorate the contributions of Valentin Cruz?</a:t>
            </a:r>
          </a:p>
          <a:p>
            <a:pPr marL="514350" indent="-514350">
              <a:buAutoNum type="arabicPeriod"/>
            </a:pPr>
            <a:r>
              <a:rPr lang="en-US" dirty="0"/>
              <a:t>What is the lesson that we can learn from the story of Valentin Cruz?</a:t>
            </a:r>
          </a:p>
          <a:p>
            <a:pPr marL="514350" indent="-514350">
              <a:buAutoNum type="arabicPeriod"/>
            </a:pPr>
            <a:endParaRPr lang="en-US" dirty="0"/>
          </a:p>
          <a:p>
            <a:pPr marL="514350" indent="-514350">
              <a:buAutoNum type="arabicPeriod"/>
            </a:pPr>
            <a:r>
              <a:rPr lang="en-US" dirty="0"/>
              <a:t>Send your finish work in our Google Class</a:t>
            </a:r>
          </a:p>
          <a:p>
            <a:pPr marL="514350" indent="-514350">
              <a:buAutoNum type="arabicPeriod"/>
            </a:pPr>
            <a:r>
              <a:rPr lang="en-US" dirty="0"/>
              <a:t>Aerial , Font 12, with Margins on both sides, portrait</a:t>
            </a:r>
          </a:p>
          <a:p>
            <a:pPr marL="514350" indent="-514350">
              <a:buAutoNum type="arabicPeriod"/>
            </a:pPr>
            <a:r>
              <a:rPr lang="en-US"/>
              <a:t>Deadline ;Until 10 pm</a:t>
            </a:r>
            <a:endParaRPr lang="en-US" dirty="0"/>
          </a:p>
        </p:txBody>
      </p:sp>
    </p:spTree>
    <p:extLst>
      <p:ext uri="{BB962C8B-B14F-4D97-AF65-F5344CB8AC3E}">
        <p14:creationId xmlns:p14="http://schemas.microsoft.com/office/powerpoint/2010/main" val="3584934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1680</Words>
  <Application>Microsoft Office PowerPoint</Application>
  <PresentationFormat>Widescreen</PresentationFormat>
  <Paragraphs>41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Calibri</vt:lpstr>
      <vt:lpstr>PT Sans</vt:lpstr>
      <vt:lpstr>Office Theme</vt:lpstr>
      <vt:lpstr>Valentin A. Cruz (Revolutionary Hero of Pasig; 1870 – 1967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FACULTY</dc:creator>
  <cp:lastModifiedBy>FACULTY</cp:lastModifiedBy>
  <cp:revision>3</cp:revision>
  <dcterms:created xsi:type="dcterms:W3CDTF">2025-04-07T05:24:01Z</dcterms:created>
  <dcterms:modified xsi:type="dcterms:W3CDTF">2025-05-08T09:02:31Z</dcterms:modified>
</cp:coreProperties>
</file>
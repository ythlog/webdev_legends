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sldIdLst>
    <p:sldId id="256" r:id="rId2"/>
    <p:sldId id="377" r:id="rId3"/>
    <p:sldId id="321" r:id="rId4"/>
    <p:sldId id="273" r:id="rId5"/>
    <p:sldId id="378" r:id="rId6"/>
    <p:sldId id="322" r:id="rId7"/>
    <p:sldId id="379" r:id="rId8"/>
    <p:sldId id="324" r:id="rId9"/>
    <p:sldId id="336" r:id="rId10"/>
    <p:sldId id="325" r:id="rId11"/>
    <p:sldId id="410" r:id="rId12"/>
    <p:sldId id="409" r:id="rId13"/>
    <p:sldId id="326" r:id="rId14"/>
    <p:sldId id="327" r:id="rId15"/>
    <p:sldId id="330" r:id="rId16"/>
    <p:sldId id="331" r:id="rId17"/>
    <p:sldId id="332" r:id="rId18"/>
    <p:sldId id="333" r:id="rId19"/>
    <p:sldId id="411" r:id="rId20"/>
    <p:sldId id="413" r:id="rId21"/>
    <p:sldId id="397" r:id="rId22"/>
    <p:sldId id="334" r:id="rId23"/>
    <p:sldId id="337" r:id="rId24"/>
    <p:sldId id="394" r:id="rId25"/>
    <p:sldId id="338" r:id="rId26"/>
    <p:sldId id="400" r:id="rId27"/>
    <p:sldId id="380" r:id="rId28"/>
    <p:sldId id="381" r:id="rId29"/>
    <p:sldId id="382" r:id="rId30"/>
    <p:sldId id="383" r:id="rId31"/>
    <p:sldId id="395" r:id="rId32"/>
    <p:sldId id="339" r:id="rId33"/>
    <p:sldId id="340" r:id="rId34"/>
    <p:sldId id="341" r:id="rId35"/>
    <p:sldId id="276" r:id="rId36"/>
    <p:sldId id="279" r:id="rId37"/>
    <p:sldId id="303" r:id="rId38"/>
    <p:sldId id="385" r:id="rId39"/>
    <p:sldId id="342" r:id="rId40"/>
    <p:sldId id="344" r:id="rId41"/>
    <p:sldId id="345" r:id="rId42"/>
    <p:sldId id="346" r:id="rId43"/>
    <p:sldId id="408" r:id="rId44"/>
    <p:sldId id="348" r:id="rId45"/>
    <p:sldId id="282" r:id="rId46"/>
    <p:sldId id="349" r:id="rId47"/>
    <p:sldId id="350" r:id="rId48"/>
    <p:sldId id="351" r:id="rId49"/>
    <p:sldId id="352" r:id="rId50"/>
    <p:sldId id="353" r:id="rId51"/>
    <p:sldId id="370" r:id="rId52"/>
    <p:sldId id="402" r:id="rId53"/>
    <p:sldId id="390" r:id="rId54"/>
    <p:sldId id="398" r:id="rId55"/>
    <p:sldId id="391" r:id="rId56"/>
    <p:sldId id="392" r:id="rId57"/>
    <p:sldId id="393" r:id="rId58"/>
    <p:sldId id="399" r:id="rId59"/>
    <p:sldId id="386" r:id="rId60"/>
    <p:sldId id="396" r:id="rId61"/>
    <p:sldId id="387" r:id="rId62"/>
    <p:sldId id="388" r:id="rId63"/>
    <p:sldId id="364" r:id="rId64"/>
    <p:sldId id="357" r:id="rId65"/>
    <p:sldId id="407" r:id="rId66"/>
    <p:sldId id="359" r:id="rId67"/>
    <p:sldId id="358" r:id="rId68"/>
    <p:sldId id="360" r:id="rId69"/>
    <p:sldId id="361" r:id="rId70"/>
    <p:sldId id="401" r:id="rId71"/>
    <p:sldId id="362" r:id="rId72"/>
    <p:sldId id="403" r:id="rId73"/>
    <p:sldId id="405" r:id="rId74"/>
    <p:sldId id="406" r:id="rId75"/>
    <p:sldId id="404" r:id="rId76"/>
    <p:sldId id="366" r:id="rId77"/>
    <p:sldId id="272" r:id="rId78"/>
    <p:sldId id="389"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p:cViewPr varScale="1">
        <p:scale>
          <a:sx n="72" d="100"/>
          <a:sy n="72" d="100"/>
        </p:scale>
        <p:origin x="42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0D626B-4944-40F4-9036-20D72ACA4AD0}" type="datetimeFigureOut">
              <a:rPr lang="en-PH" smtClean="0"/>
              <a:t>04/16/2026</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25DFC9-8EB3-45D8-BC25-2741FE033622}" type="slidenum">
              <a:rPr lang="en-PH" smtClean="0"/>
              <a:t>‹#›</a:t>
            </a:fld>
            <a:endParaRPr lang="en-PH"/>
          </a:p>
        </p:txBody>
      </p:sp>
    </p:spTree>
    <p:extLst>
      <p:ext uri="{BB962C8B-B14F-4D97-AF65-F5344CB8AC3E}">
        <p14:creationId xmlns:p14="http://schemas.microsoft.com/office/powerpoint/2010/main" val="76400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5DFC9-8EB3-45D8-BC25-2741FE033622}" type="slidenum">
              <a:rPr lang="en-PH" smtClean="0"/>
              <a:t>12</a:t>
            </a:fld>
            <a:endParaRPr lang="en-PH"/>
          </a:p>
        </p:txBody>
      </p:sp>
    </p:spTree>
    <p:extLst>
      <p:ext uri="{BB962C8B-B14F-4D97-AF65-F5344CB8AC3E}">
        <p14:creationId xmlns:p14="http://schemas.microsoft.com/office/powerpoint/2010/main" val="16229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5DFC9-8EB3-45D8-BC25-2741FE033622}" type="slidenum">
              <a:rPr lang="en-PH" smtClean="0"/>
              <a:t>18</a:t>
            </a:fld>
            <a:endParaRPr lang="en-PH"/>
          </a:p>
        </p:txBody>
      </p:sp>
    </p:spTree>
    <p:extLst>
      <p:ext uri="{BB962C8B-B14F-4D97-AF65-F5344CB8AC3E}">
        <p14:creationId xmlns:p14="http://schemas.microsoft.com/office/powerpoint/2010/main" val="1850941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5DFC9-8EB3-45D8-BC25-2741FE033622}" type="slidenum">
              <a:rPr lang="en-PH" smtClean="0"/>
              <a:t>30</a:t>
            </a:fld>
            <a:endParaRPr lang="en-PH"/>
          </a:p>
        </p:txBody>
      </p:sp>
    </p:spTree>
    <p:extLst>
      <p:ext uri="{BB962C8B-B14F-4D97-AF65-F5344CB8AC3E}">
        <p14:creationId xmlns:p14="http://schemas.microsoft.com/office/powerpoint/2010/main" val="1114080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5DFC9-8EB3-45D8-BC25-2741FE033622}" type="slidenum">
              <a:rPr lang="en-PH" smtClean="0"/>
              <a:t>31</a:t>
            </a:fld>
            <a:endParaRPr lang="en-PH"/>
          </a:p>
        </p:txBody>
      </p:sp>
    </p:spTree>
    <p:extLst>
      <p:ext uri="{BB962C8B-B14F-4D97-AF65-F5344CB8AC3E}">
        <p14:creationId xmlns:p14="http://schemas.microsoft.com/office/powerpoint/2010/main" val="3072775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25DFC9-8EB3-45D8-BC25-2741FE033622}" type="slidenum">
              <a:rPr lang="en-PH" smtClean="0"/>
              <a:t>36</a:t>
            </a:fld>
            <a:endParaRPr lang="en-PH"/>
          </a:p>
        </p:txBody>
      </p:sp>
    </p:spTree>
    <p:extLst>
      <p:ext uri="{BB962C8B-B14F-4D97-AF65-F5344CB8AC3E}">
        <p14:creationId xmlns:p14="http://schemas.microsoft.com/office/powerpoint/2010/main" val="2714751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A18FAF-AA9C-4856-B8D5-13D26D292304}" type="datetimeFigureOut">
              <a:rPr lang="en-PH" smtClean="0"/>
              <a:t>04/16/2026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F7DA1A5-9B81-4DAE-A1F5-FA7B27A89622}" type="slidenum">
              <a:rPr lang="en-PH" smtClean="0"/>
              <a:t>‹#›</a:t>
            </a:fld>
            <a:endParaRPr lang="en-PH"/>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A18FAF-AA9C-4856-B8D5-13D26D292304}" type="datetimeFigureOut">
              <a:rPr lang="en-PH" smtClean="0"/>
              <a:t>04/16/2026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A18FAF-AA9C-4856-B8D5-13D26D292304}" type="datetimeFigureOut">
              <a:rPr lang="en-PH" smtClean="0"/>
              <a:t>04/16/2026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F7DA1A5-9B81-4DAE-A1F5-FA7B27A89622}" type="slidenum">
              <a:rPr lang="en-PH" smtClean="0"/>
              <a:t>‹#›</a:t>
            </a:fld>
            <a:endParaRPr lang="en-PH"/>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A18FAF-AA9C-4856-B8D5-13D26D292304}" type="datetimeFigureOut">
              <a:rPr lang="en-PH" smtClean="0"/>
              <a:t>04/16/2026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A18FAF-AA9C-4856-B8D5-13D26D292304}" type="datetimeFigureOut">
              <a:rPr lang="en-PH" smtClean="0"/>
              <a:t>04/16/2026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6F7DA1A5-9B81-4DAE-A1F5-FA7B27A89622}" type="slidenum">
              <a:rPr lang="en-PH" smtClean="0"/>
              <a:t>‹#›</a:t>
            </a:fld>
            <a:endParaRPr lang="en-PH"/>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A18FAF-AA9C-4856-B8D5-13D26D292304}" type="datetimeFigureOut">
              <a:rPr lang="en-PH" smtClean="0"/>
              <a:t>04/16/2026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A18FAF-AA9C-4856-B8D5-13D26D292304}" type="datetimeFigureOut">
              <a:rPr lang="en-PH" smtClean="0"/>
              <a:t>04/16/2026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A18FAF-AA9C-4856-B8D5-13D26D292304}" type="datetimeFigureOut">
              <a:rPr lang="en-PH" smtClean="0"/>
              <a:t>04/16/2026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F7DA1A5-9B81-4DAE-A1F5-FA7B27A89622}" type="slidenum">
              <a:rPr lang="en-PH" smtClean="0"/>
              <a:t>‹#›</a:t>
            </a:fld>
            <a:endParaRPr lang="en-PH"/>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A18FAF-AA9C-4856-B8D5-13D26D292304}" type="datetimeFigureOut">
              <a:rPr lang="en-PH" smtClean="0"/>
              <a:t>04/16/2026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A18FAF-AA9C-4856-B8D5-13D26D292304}" type="datetimeFigureOut">
              <a:rPr lang="en-PH" smtClean="0"/>
              <a:t>04/16/2026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A18FAF-AA9C-4856-B8D5-13D26D292304}" type="datetimeFigureOut">
              <a:rPr lang="en-PH" smtClean="0"/>
              <a:t>04/16/2026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F7DA1A5-9B81-4DAE-A1F5-FA7B27A89622}"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90A18FAF-AA9C-4856-B8D5-13D26D292304}" type="datetimeFigureOut">
              <a:rPr lang="en-PH" smtClean="0"/>
              <a:t>04/16/2026</a:t>
            </a:fld>
            <a:endParaRPr lang="en-PH"/>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PH"/>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6F7DA1A5-9B81-4DAE-A1F5-FA7B27A89622}"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01.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0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60.png"/><Relationship Id="rId5" Type="http://schemas.openxmlformats.org/officeDocument/2006/relationships/image" Target="../media/image340.png"/><Relationship Id="rId4" Type="http://schemas.openxmlformats.org/officeDocument/2006/relationships/image" Target="../media/image330.png"/></Relationships>
</file>

<file path=ppt/slides/_rels/slide55.xml.rels><?xml version="1.0" encoding="UTF-8" standalone="yes"?>
<Relationships xmlns="http://schemas.openxmlformats.org/package/2006/relationships"><Relationship Id="rId2" Type="http://schemas.openxmlformats.org/officeDocument/2006/relationships/image" Target="../media/image3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2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s://www.youtube.com/watch?v=kNO9wQhLsEA" TargetMode="External"/><Relationship Id="rId2" Type="http://schemas.openxmlformats.org/officeDocument/2006/relationships/hyperlink" Target="https://www.youtube.com/watch?v=DXi-SkzMY3g" TargetMode="External"/><Relationship Id="rId1" Type="http://schemas.openxmlformats.org/officeDocument/2006/relationships/slideLayout" Target="../slideLayouts/slideLayout2.xml"/><Relationship Id="rId4" Type="http://schemas.openxmlformats.org/officeDocument/2006/relationships/hyperlink" Target="https://www.youtube.com/watch?v=PDjkL3_N2bM"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Real Vector Space</a:t>
            </a:r>
          </a:p>
        </p:txBody>
      </p:sp>
      <p:sp>
        <p:nvSpPr>
          <p:cNvPr id="3" name="Subtitle 2"/>
          <p:cNvSpPr>
            <a:spLocks noGrp="1"/>
          </p:cNvSpPr>
          <p:nvPr>
            <p:ph type="body" idx="1"/>
          </p:nvPr>
        </p:nvSpPr>
        <p:spPr/>
        <p:txBody>
          <a:bodyPr/>
          <a:lstStyle/>
          <a:p>
            <a:r>
              <a:rPr lang="en-PH" dirty="0"/>
              <a:t>Linear Algebra</a:t>
            </a:r>
          </a:p>
          <a:p>
            <a:r>
              <a:rPr lang="en-PH" dirty="0"/>
              <a:t>Module 5</a:t>
            </a:r>
          </a:p>
          <a:p>
            <a:endParaRPr lang="en-PH" dirty="0"/>
          </a:p>
        </p:txBody>
      </p:sp>
    </p:spTree>
    <p:extLst>
      <p:ext uri="{BB962C8B-B14F-4D97-AF65-F5344CB8AC3E}">
        <p14:creationId xmlns:p14="http://schemas.microsoft.com/office/powerpoint/2010/main" val="2674066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Overview</a:t>
            </a:r>
          </a:p>
        </p:txBody>
      </p:sp>
      <p:sp>
        <p:nvSpPr>
          <p:cNvPr id="3" name="Content Placeholder 2"/>
          <p:cNvSpPr>
            <a:spLocks noGrp="1"/>
          </p:cNvSpPr>
          <p:nvPr>
            <p:ph idx="1"/>
          </p:nvPr>
        </p:nvSpPr>
        <p:spPr/>
        <p:txBody>
          <a:bodyPr>
            <a:normAutofit/>
          </a:bodyPr>
          <a:lstStyle/>
          <a:p>
            <a:pPr marL="0" indent="0" algn="just">
              <a:buNone/>
            </a:pPr>
            <a:r>
              <a:rPr lang="en-PH" sz="2000" dirty="0"/>
              <a:t>	In various physical applications there appear certain quantities, such as temperature and speed, which possess only “magnitude”. These can be represented by real numbers and are called </a:t>
            </a:r>
            <a:r>
              <a:rPr lang="en-PH" sz="2000" i="1" dirty="0">
                <a:solidFill>
                  <a:srgbClr val="0070C0"/>
                </a:solidFill>
              </a:rPr>
              <a:t>scalars</a:t>
            </a:r>
            <a:r>
              <a:rPr lang="en-PH" sz="2000" dirty="0"/>
              <a:t>. </a:t>
            </a:r>
          </a:p>
          <a:p>
            <a:pPr marL="0" indent="0" algn="just">
              <a:buNone/>
            </a:pPr>
            <a:endParaRPr lang="en-PH" sz="2000" dirty="0"/>
          </a:p>
          <a:p>
            <a:pPr marL="0" indent="0" algn="just">
              <a:buNone/>
            </a:pPr>
            <a:r>
              <a:rPr lang="en-PH" sz="2000" dirty="0"/>
              <a:t>	Other physical quantities are not completely determined until both a magnitude and a direction are specified as such are velocity, force, and acceleration. These quantities are called </a:t>
            </a:r>
            <a:r>
              <a:rPr lang="en-PH" sz="2000" i="1" dirty="0">
                <a:solidFill>
                  <a:srgbClr val="0070C0"/>
                </a:solidFill>
              </a:rPr>
              <a:t>vectors</a:t>
            </a:r>
            <a:r>
              <a:rPr lang="en-PH" sz="2000" dirty="0"/>
              <a:t>. For example, the wind movement is usually described by giving the speed and direction, say 20 mph northeast.</a:t>
            </a:r>
          </a:p>
          <a:p>
            <a:pPr marL="0" indent="0" algn="just">
              <a:buNone/>
            </a:pPr>
            <a:r>
              <a:rPr lang="en-PH" sz="2000" dirty="0"/>
              <a:t>	</a:t>
            </a:r>
          </a:p>
          <a:p>
            <a:pPr marL="0" indent="0" algn="just">
              <a:buNone/>
            </a:pPr>
            <a:r>
              <a:rPr lang="en-PH" sz="2000" dirty="0"/>
              <a:t>	In this module we will discuss the notion of vectors, the  2-vectors or the plane and the 3-vectors or the space, along with their properties.  </a:t>
            </a:r>
          </a:p>
        </p:txBody>
      </p:sp>
    </p:spTree>
    <p:extLst>
      <p:ext uri="{BB962C8B-B14F-4D97-AF65-F5344CB8AC3E}">
        <p14:creationId xmlns:p14="http://schemas.microsoft.com/office/powerpoint/2010/main" val="171168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Topic Outline</a:t>
            </a:r>
          </a:p>
        </p:txBody>
      </p:sp>
      <p:sp>
        <p:nvSpPr>
          <p:cNvPr id="3" name="Content Placeholder 2"/>
          <p:cNvSpPr>
            <a:spLocks noGrp="1"/>
          </p:cNvSpPr>
          <p:nvPr>
            <p:ph idx="1"/>
          </p:nvPr>
        </p:nvSpPr>
        <p:spPr/>
        <p:txBody>
          <a:bodyPr>
            <a:normAutofit/>
          </a:bodyPr>
          <a:lstStyle/>
          <a:p>
            <a:pPr>
              <a:buFont typeface="Wingdings" pitchFamily="2" charset="2"/>
              <a:buChar char="v"/>
            </a:pPr>
            <a:r>
              <a:rPr lang="en-PH" sz="2000" dirty="0"/>
              <a:t>Vectors in Plane </a:t>
            </a:r>
          </a:p>
          <a:p>
            <a:pPr>
              <a:buFont typeface="Wingdings" pitchFamily="2" charset="2"/>
              <a:buChar char="v"/>
            </a:pPr>
            <a:r>
              <a:rPr lang="en-PH" sz="2000" dirty="0"/>
              <a:t>Vectors in Space</a:t>
            </a:r>
          </a:p>
          <a:p>
            <a:pPr>
              <a:buFont typeface="Wingdings" pitchFamily="2" charset="2"/>
              <a:buChar char="v"/>
            </a:pPr>
            <a:r>
              <a:rPr lang="en-PH" sz="2000" dirty="0"/>
              <a:t>Vector Space and Subspaces</a:t>
            </a:r>
          </a:p>
          <a:p>
            <a:pPr>
              <a:buFont typeface="Wingdings" pitchFamily="2" charset="2"/>
              <a:buChar char="v"/>
            </a:pPr>
            <a:r>
              <a:rPr lang="en-PH" sz="2000" dirty="0"/>
              <a:t>Spanning Sets</a:t>
            </a:r>
          </a:p>
          <a:p>
            <a:pPr>
              <a:buFont typeface="Wingdings" pitchFamily="2" charset="2"/>
              <a:buChar char="v"/>
            </a:pPr>
            <a:r>
              <a:rPr lang="en-PH" sz="2000" dirty="0"/>
              <a:t>Linear Independence</a:t>
            </a:r>
          </a:p>
          <a:p>
            <a:pPr marL="0" indent="0">
              <a:buNone/>
            </a:pPr>
            <a:r>
              <a:rPr lang="en-PH" sz="2000" dirty="0"/>
              <a:t> </a:t>
            </a:r>
          </a:p>
          <a:p>
            <a:pPr>
              <a:buFont typeface="Wingdings" pitchFamily="2" charset="2"/>
              <a:buChar char="v"/>
            </a:pPr>
            <a:endParaRPr lang="en-PH" sz="2000" dirty="0"/>
          </a:p>
        </p:txBody>
      </p:sp>
    </p:spTree>
    <p:extLst>
      <p:ext uri="{BB962C8B-B14F-4D97-AF65-F5344CB8AC3E}">
        <p14:creationId xmlns:p14="http://schemas.microsoft.com/office/powerpoint/2010/main" val="228528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Learning Objectives</a:t>
            </a:r>
          </a:p>
        </p:txBody>
      </p:sp>
      <p:sp>
        <p:nvSpPr>
          <p:cNvPr id="3" name="Content Placeholder 2"/>
          <p:cNvSpPr>
            <a:spLocks noGrp="1"/>
          </p:cNvSpPr>
          <p:nvPr>
            <p:ph idx="1"/>
          </p:nvPr>
        </p:nvSpPr>
        <p:spPr/>
        <p:txBody>
          <a:bodyPr>
            <a:normAutofit/>
          </a:bodyPr>
          <a:lstStyle/>
          <a:p>
            <a:r>
              <a:rPr lang="en-PH" sz="2000" dirty="0"/>
              <a:t>At the end of this module, the students will be able</a:t>
            </a:r>
          </a:p>
          <a:p>
            <a:pPr marL="0" indent="0">
              <a:buNone/>
            </a:pPr>
            <a:endParaRPr lang="en-PH" sz="2000" dirty="0"/>
          </a:p>
          <a:p>
            <a:pPr lvl="0">
              <a:buFont typeface="Wingdings" pitchFamily="2" charset="2"/>
              <a:buChar char="Ø"/>
            </a:pPr>
            <a:r>
              <a:rPr lang="en-US" sz="2000" dirty="0"/>
              <a:t>Explain vectors and its components;</a:t>
            </a:r>
            <a:endParaRPr lang="en-PH" sz="2000" dirty="0"/>
          </a:p>
          <a:p>
            <a:pPr lvl="0">
              <a:buFont typeface="Wingdings" pitchFamily="2" charset="2"/>
              <a:buChar char="Ø"/>
            </a:pPr>
            <a:r>
              <a:rPr lang="en-US" sz="2000" dirty="0"/>
              <a:t>Sketch a directed line segment in R</a:t>
            </a:r>
            <a:r>
              <a:rPr lang="en-US" sz="2000" baseline="30000" dirty="0"/>
              <a:t>2</a:t>
            </a:r>
            <a:r>
              <a:rPr lang="en-US" sz="2000" dirty="0"/>
              <a:t> and R</a:t>
            </a:r>
            <a:r>
              <a:rPr lang="en-US" sz="2000" baseline="30000" dirty="0"/>
              <a:t>3</a:t>
            </a:r>
            <a:r>
              <a:rPr lang="en-US" sz="2000" dirty="0"/>
              <a:t> representing a given vector;</a:t>
            </a:r>
            <a:endParaRPr lang="en-PH" sz="2000" dirty="0"/>
          </a:p>
          <a:p>
            <a:pPr>
              <a:buFont typeface="Wingdings" pitchFamily="2" charset="2"/>
              <a:buChar char="Ø"/>
            </a:pPr>
            <a:r>
              <a:rPr lang="en-US" sz="2000" dirty="0"/>
              <a:t>Identify whether a set of vectors belong to a given vector space and subspaces;</a:t>
            </a:r>
          </a:p>
          <a:p>
            <a:pPr>
              <a:buFont typeface="Wingdings" pitchFamily="2" charset="2"/>
              <a:buChar char="Ø"/>
            </a:pPr>
            <a:r>
              <a:rPr lang="en-US" sz="2000" dirty="0"/>
              <a:t>Find a vector which is a linear combination or span of the given vector; and </a:t>
            </a:r>
          </a:p>
          <a:p>
            <a:pPr>
              <a:buFont typeface="Wingdings" pitchFamily="2" charset="2"/>
              <a:buChar char="Ø"/>
            </a:pPr>
            <a:r>
              <a:rPr lang="en-US" sz="2000" dirty="0"/>
              <a:t>Determine whether a given vectors are linearly independent or linearly dependent.</a:t>
            </a:r>
          </a:p>
          <a:p>
            <a:pPr>
              <a:buFont typeface="Wingdings" pitchFamily="2" charset="2"/>
              <a:buChar char="Ø"/>
            </a:pPr>
            <a:endParaRPr lang="en-PH" sz="2000" dirty="0"/>
          </a:p>
        </p:txBody>
      </p:sp>
    </p:spTree>
    <p:extLst>
      <p:ext uri="{BB962C8B-B14F-4D97-AF65-F5344CB8AC3E}">
        <p14:creationId xmlns:p14="http://schemas.microsoft.com/office/powerpoint/2010/main" val="158428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in plane</a:t>
            </a:r>
          </a:p>
        </p:txBody>
      </p:sp>
      <p:sp>
        <p:nvSpPr>
          <p:cNvPr id="5" name="Text Placeholder 4"/>
          <p:cNvSpPr>
            <a:spLocks noGrp="1"/>
          </p:cNvSpPr>
          <p:nvPr>
            <p:ph type="body" idx="1"/>
          </p:nvPr>
        </p:nvSpPr>
        <p:spPr/>
        <p:txBody>
          <a:bodyPr/>
          <a:lstStyle/>
          <a:p>
            <a:r>
              <a:rPr lang="en-PH" dirty="0"/>
              <a:t>Lesson 1</a:t>
            </a:r>
          </a:p>
        </p:txBody>
      </p:sp>
    </p:spTree>
    <p:extLst>
      <p:ext uri="{BB962C8B-B14F-4D97-AF65-F5344CB8AC3E}">
        <p14:creationId xmlns:p14="http://schemas.microsoft.com/office/powerpoint/2010/main" val="798013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09600"/>
          </a:xfrm>
        </p:spPr>
        <p:txBody>
          <a:bodyPr>
            <a:normAutofit fontScale="90000"/>
          </a:bodyPr>
          <a:lstStyle/>
          <a:p>
            <a:r>
              <a:rPr lang="en-PH" dirty="0"/>
              <a:t>Vectors in the Plane and in 3-Space</a:t>
            </a:r>
          </a:p>
        </p:txBody>
      </p:sp>
      <p:sp>
        <p:nvSpPr>
          <p:cNvPr id="3" name="Content Placeholder 2"/>
          <p:cNvSpPr>
            <a:spLocks noGrp="1"/>
          </p:cNvSpPr>
          <p:nvPr>
            <p:ph idx="1"/>
          </p:nvPr>
        </p:nvSpPr>
        <p:spPr>
          <a:xfrm>
            <a:off x="457200" y="1371600"/>
            <a:ext cx="8229600" cy="4876800"/>
          </a:xfrm>
        </p:spPr>
        <p:txBody>
          <a:bodyPr>
            <a:normAutofit/>
          </a:bodyPr>
          <a:lstStyle/>
          <a:p>
            <a:pPr marL="0" indent="0" algn="just">
              <a:buNone/>
            </a:pPr>
            <a:r>
              <a:rPr lang="en-PH" sz="2000" dirty="0"/>
              <a:t>	Vectors can be represented geometrically as directed line segments or arrows. The direction of the arrow specifies the direction of the vector, and the length of the arrow describes its magnitude. </a:t>
            </a:r>
          </a:p>
          <a:p>
            <a:pPr marL="0" indent="0">
              <a:buNone/>
            </a:pPr>
            <a:r>
              <a:rPr lang="en-PH" sz="2000" dirty="0"/>
              <a:t>	The tail of the arrow is called the </a:t>
            </a:r>
            <a:r>
              <a:rPr lang="en-PH" sz="2000" i="1" dirty="0">
                <a:solidFill>
                  <a:srgbClr val="0070C0"/>
                </a:solidFill>
              </a:rPr>
              <a:t>initial point</a:t>
            </a:r>
            <a:r>
              <a:rPr lang="en-PH" sz="2000" dirty="0"/>
              <a:t> of the vector, and the tip or head of the arrow the </a:t>
            </a:r>
            <a:r>
              <a:rPr lang="en-PH" sz="2000" i="1" dirty="0">
                <a:solidFill>
                  <a:srgbClr val="0070C0"/>
                </a:solidFill>
              </a:rPr>
              <a:t>terminal point</a:t>
            </a:r>
            <a:r>
              <a:rPr lang="en-PH" sz="2000" dirty="0"/>
              <a:t>. </a:t>
            </a:r>
          </a:p>
          <a:p>
            <a:pPr marL="0" indent="0">
              <a:spcBef>
                <a:spcPts val="0"/>
              </a:spcBef>
              <a:buNone/>
            </a:pPr>
            <a:r>
              <a:rPr lang="en-PH" sz="2000" dirty="0"/>
              <a:t>   </a:t>
            </a:r>
          </a:p>
          <a:p>
            <a:pPr marL="0" indent="0">
              <a:spcBef>
                <a:spcPts val="0"/>
              </a:spcBef>
              <a:buNone/>
            </a:pPr>
            <a:r>
              <a:rPr lang="en-PH" sz="2000" dirty="0"/>
              <a:t>             </a:t>
            </a:r>
            <a:r>
              <a:rPr lang="en-PH" sz="2000" dirty="0">
                <a:solidFill>
                  <a:srgbClr val="005DA2"/>
                </a:solidFill>
              </a:rPr>
              <a:t>initial point				  terminal point</a:t>
            </a:r>
          </a:p>
          <a:p>
            <a:pPr marL="0" indent="0">
              <a:buNone/>
            </a:pPr>
            <a:r>
              <a:rPr lang="en-PH" sz="2000" dirty="0"/>
              <a:t>	 </a:t>
            </a:r>
          </a:p>
          <a:p>
            <a:pPr marL="0" indent="0">
              <a:buNone/>
            </a:pPr>
            <a:r>
              <a:rPr lang="en-PH" sz="2000" dirty="0"/>
              <a:t>                                        </a:t>
            </a:r>
            <a:r>
              <a:rPr lang="en-PH" sz="2000" dirty="0">
                <a:solidFill>
                  <a:srgbClr val="005DA2"/>
                </a:solidFill>
              </a:rPr>
              <a:t>length of the arrow</a:t>
            </a:r>
          </a:p>
          <a:p>
            <a:pPr marL="0" indent="0" algn="just">
              <a:buNone/>
            </a:pPr>
            <a:r>
              <a:rPr lang="en-PH" sz="2000" dirty="0"/>
              <a:t>	Symbolically, we shall denote vectors in lowercase boldface letters such as </a:t>
            </a:r>
            <a:r>
              <a:rPr lang="en-PH" sz="2000" b="1" dirty="0"/>
              <a:t>u, v, w, x, y</a:t>
            </a:r>
            <a:r>
              <a:rPr lang="en-PH" sz="2000" dirty="0"/>
              <a:t> and </a:t>
            </a:r>
            <a:r>
              <a:rPr lang="en-PH" sz="2000" b="1" dirty="0"/>
              <a:t>z</a:t>
            </a:r>
            <a:r>
              <a:rPr lang="en-PH" sz="2000" dirty="0"/>
              <a:t>. When discussing vectors, we shall refer to numbers as scalars. For now, all our scalars will be real numbers and will be denoted in lowercase italic letters such as </a:t>
            </a:r>
            <a:r>
              <a:rPr lang="en-PH" sz="2000" i="1" dirty="0"/>
              <a:t>c, d, r, s,</a:t>
            </a:r>
            <a:r>
              <a:rPr lang="en-PH" sz="2000" dirty="0"/>
              <a:t> and</a:t>
            </a:r>
            <a:r>
              <a:rPr lang="en-PH" sz="2000" i="1" dirty="0"/>
              <a:t> t</a:t>
            </a:r>
          </a:p>
        </p:txBody>
      </p:sp>
      <p:cxnSp>
        <p:nvCxnSpPr>
          <p:cNvPr id="9" name="Straight Arrow Connector 8">
            <a:extLst>
              <a:ext uri="{FF2B5EF4-FFF2-40B4-BE49-F238E27FC236}">
                <a16:creationId xmlns:a16="http://schemas.microsoft.com/office/drawing/2014/main" id="{5A5F600F-4127-4680-8BDD-9D537148C190}"/>
              </a:ext>
            </a:extLst>
          </p:cNvPr>
          <p:cNvCxnSpPr/>
          <p:nvPr/>
        </p:nvCxnSpPr>
        <p:spPr>
          <a:xfrm>
            <a:off x="3048000" y="3429000"/>
            <a:ext cx="25908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Left Brace 9">
            <a:extLst>
              <a:ext uri="{FF2B5EF4-FFF2-40B4-BE49-F238E27FC236}">
                <a16:creationId xmlns:a16="http://schemas.microsoft.com/office/drawing/2014/main" id="{55A1F542-AAD7-4B5F-9C49-EE5E7521F354}"/>
              </a:ext>
            </a:extLst>
          </p:cNvPr>
          <p:cNvSpPr/>
          <p:nvPr/>
        </p:nvSpPr>
        <p:spPr>
          <a:xfrm flipV="1">
            <a:off x="2752456" y="3251202"/>
            <a:ext cx="380998" cy="36829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BE8A1E88-F71B-4E4E-B01A-1F833FF8CCD4}"/>
              </a:ext>
            </a:extLst>
          </p:cNvPr>
          <p:cNvSpPr/>
          <p:nvPr/>
        </p:nvSpPr>
        <p:spPr>
          <a:xfrm rot="10800000" flipV="1">
            <a:off x="5669848" y="3244851"/>
            <a:ext cx="380998" cy="368298"/>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FB7FBA8B-C7F9-4EE4-9AA6-A98C751536F0}"/>
              </a:ext>
            </a:extLst>
          </p:cNvPr>
          <p:cNvSpPr/>
          <p:nvPr/>
        </p:nvSpPr>
        <p:spPr>
          <a:xfrm rot="16200000" flipV="1">
            <a:off x="4156076" y="2505073"/>
            <a:ext cx="374648" cy="2590800"/>
          </a:xfrm>
          <a:prstGeom prst="lef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96496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CBBCF8-7108-43E6-AD1D-557FE2618AD4}"/>
                  </a:ext>
                </a:extLst>
              </p:cNvPr>
              <p:cNvSpPr>
                <a:spLocks noGrp="1"/>
              </p:cNvSpPr>
              <p:nvPr>
                <p:ph idx="1"/>
              </p:nvPr>
            </p:nvSpPr>
            <p:spPr/>
            <p:txBody>
              <a:bodyPr/>
              <a:lstStyle/>
              <a:p>
                <a:pPr marL="0" indent="0">
                  <a:buNone/>
                </a:pPr>
                <a:r>
                  <a:rPr lang="en-US" dirty="0"/>
                  <a:t>Take for instance an initial point A(1,2) and a terminal point B(5,6). Let vector </a:t>
                </a:r>
                <a:r>
                  <a:rPr lang="en-US" b="1" i="1" dirty="0"/>
                  <a:t>v </a:t>
                </a:r>
                <a:r>
                  <a:rPr lang="en-US" dirty="0"/>
                  <a:t>a directed line segment from A to B or in symbol, </a:t>
                </a:r>
                <a14:m>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m:t>
                    </m:r>
                    <m:r>
                      <a:rPr lang="en-US" b="0" i="1" smtClean="0">
                        <a:latin typeface="Cambria Math" panose="02040503050406030204" pitchFamily="18" charset="0"/>
                      </a:rPr>
                      <m:t>𝐴𝐵</m:t>
                    </m:r>
                  </m:oMath>
                </a14:m>
                <a:r>
                  <a:rPr lang="en-US" dirty="0"/>
                  <a:t>. </a:t>
                </a:r>
              </a:p>
            </p:txBody>
          </p:sp>
        </mc:Choice>
        <mc:Fallback xmlns="">
          <p:sp>
            <p:nvSpPr>
              <p:cNvPr id="3" name="Content Placeholder 2">
                <a:extLst>
                  <a:ext uri="{FF2B5EF4-FFF2-40B4-BE49-F238E27FC236}">
                    <a16:creationId xmlns:a16="http://schemas.microsoft.com/office/drawing/2014/main" id="{96CBBCF8-7108-43E6-AD1D-557FE2618AD4}"/>
                  </a:ext>
                </a:extLst>
              </p:cNvPr>
              <p:cNvSpPr>
                <a:spLocks noGrp="1" noRot="1" noChangeAspect="1" noMove="1" noResize="1" noEditPoints="1" noAdjustHandles="1" noChangeArrowheads="1" noChangeShapeType="1" noTextEdit="1"/>
              </p:cNvSpPr>
              <p:nvPr>
                <p:ph idx="1"/>
              </p:nvPr>
            </p:nvSpPr>
            <p:spPr>
              <a:blipFill>
                <a:blip r:embed="rId2"/>
                <a:stretch>
                  <a:fillRect l="-1111" t="-875" r="-5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E615D780-3F0A-4169-A3E8-5F7C248BC6DA}"/>
                  </a:ext>
                </a:extLst>
              </p:cNvPr>
              <p:cNvSpPr>
                <a:spLocks noGrp="1"/>
              </p:cNvSpPr>
              <p:nvPr>
                <p:ph type="title"/>
              </p:nvPr>
            </p:nvSpPr>
            <p:spPr>
              <a:xfrm>
                <a:off x="457200" y="533400"/>
                <a:ext cx="8229600" cy="990600"/>
              </a:xfrm>
            </p:spPr>
            <p:txBody>
              <a:bodyPr>
                <a:normAutofit/>
              </a:bodyPr>
              <a:lstStyle/>
              <a:p>
                <a:r>
                  <a:rPr lang="en-PH" dirty="0"/>
                  <a:t>Vectors in the Plane or </a:t>
                </a:r>
                <a14:m>
                  <m:oMath xmlns:m="http://schemas.openxmlformats.org/officeDocument/2006/math">
                    <m:sSup>
                      <m:sSupPr>
                        <m:ctrlPr>
                          <a:rPr lang="en-PH"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2</m:t>
                        </m:r>
                      </m:sup>
                    </m:sSup>
                  </m:oMath>
                </a14:m>
                <a:endParaRPr lang="en-PH" dirty="0"/>
              </a:p>
            </p:txBody>
          </p:sp>
        </mc:Choice>
        <mc:Fallback xmlns="">
          <p:sp>
            <p:nvSpPr>
              <p:cNvPr id="4" name="Title 1">
                <a:extLst>
                  <a:ext uri="{FF2B5EF4-FFF2-40B4-BE49-F238E27FC236}">
                    <a16:creationId xmlns:a16="http://schemas.microsoft.com/office/drawing/2014/main" id="{E615D780-3F0A-4169-A3E8-5F7C248BC6DA}"/>
                  </a:ext>
                </a:extLst>
              </p:cNvPr>
              <p:cNvSpPr>
                <a:spLocks noGrp="1" noRot="1" noChangeAspect="1" noMove="1" noResize="1" noEditPoints="1" noAdjustHandles="1" noChangeArrowheads="1" noChangeShapeType="1" noTextEdit="1"/>
              </p:cNvSpPr>
              <p:nvPr>
                <p:ph type="title"/>
              </p:nvPr>
            </p:nvSpPr>
            <p:spPr>
              <a:xfrm>
                <a:off x="457200" y="533400"/>
                <a:ext cx="8229600" cy="990600"/>
              </a:xfrm>
              <a:blipFill>
                <a:blip r:embed="rId3"/>
                <a:stretch>
                  <a:fillRect l="-2593" b="-11728"/>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C5A7FFB9-6DAE-4DA2-8572-1E3FE81EB1A1}"/>
              </a:ext>
            </a:extLst>
          </p:cNvPr>
          <p:cNvCxnSpPr>
            <a:cxnSpLocks/>
          </p:cNvCxnSpPr>
          <p:nvPr/>
        </p:nvCxnSpPr>
        <p:spPr>
          <a:xfrm>
            <a:off x="2133600" y="3048000"/>
            <a:ext cx="0" cy="30480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257F6A3-0CDE-483F-96F7-8A016D3156DD}"/>
              </a:ext>
            </a:extLst>
          </p:cNvPr>
          <p:cNvCxnSpPr/>
          <p:nvPr/>
        </p:nvCxnSpPr>
        <p:spPr>
          <a:xfrm>
            <a:off x="838200" y="5410200"/>
            <a:ext cx="44196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8BFAFF-A6F4-4531-8035-2623C9C15901}"/>
              </a:ext>
            </a:extLst>
          </p:cNvPr>
          <p:cNvCxnSpPr>
            <a:cxnSpLocks/>
          </p:cNvCxnSpPr>
          <p:nvPr/>
        </p:nvCxnSpPr>
        <p:spPr>
          <a:xfrm flipV="1">
            <a:off x="1676400" y="5257800"/>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ED1C62-1304-4370-9F2B-C7EEF5C93B86}"/>
              </a:ext>
            </a:extLst>
          </p:cNvPr>
          <p:cNvCxnSpPr>
            <a:cxnSpLocks/>
          </p:cNvCxnSpPr>
          <p:nvPr/>
        </p:nvCxnSpPr>
        <p:spPr>
          <a:xfrm flipV="1">
            <a:off x="1219200" y="5269468"/>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ABC6417-8E15-412A-BBA5-20F5AF1FAE45}"/>
              </a:ext>
            </a:extLst>
          </p:cNvPr>
          <p:cNvCxnSpPr>
            <a:cxnSpLocks/>
          </p:cNvCxnSpPr>
          <p:nvPr/>
        </p:nvCxnSpPr>
        <p:spPr>
          <a:xfrm flipV="1">
            <a:off x="3048000" y="5257800"/>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8171883-7C58-4439-B4FF-0DA7AE30137A}"/>
              </a:ext>
            </a:extLst>
          </p:cNvPr>
          <p:cNvCxnSpPr>
            <a:cxnSpLocks/>
          </p:cNvCxnSpPr>
          <p:nvPr/>
        </p:nvCxnSpPr>
        <p:spPr>
          <a:xfrm flipV="1">
            <a:off x="2590800" y="5269468"/>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7736F70-F10A-46AA-958C-85293726B777}"/>
              </a:ext>
            </a:extLst>
          </p:cNvPr>
          <p:cNvCxnSpPr>
            <a:cxnSpLocks/>
          </p:cNvCxnSpPr>
          <p:nvPr/>
        </p:nvCxnSpPr>
        <p:spPr>
          <a:xfrm flipV="1">
            <a:off x="3962400" y="5257800"/>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62775D-1488-4E62-9D5E-74DA9826264D}"/>
              </a:ext>
            </a:extLst>
          </p:cNvPr>
          <p:cNvCxnSpPr>
            <a:cxnSpLocks/>
          </p:cNvCxnSpPr>
          <p:nvPr/>
        </p:nvCxnSpPr>
        <p:spPr>
          <a:xfrm flipV="1">
            <a:off x="3505200" y="5269468"/>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51E32AE-4293-40ED-A61E-719EE376F495}"/>
              </a:ext>
            </a:extLst>
          </p:cNvPr>
          <p:cNvCxnSpPr>
            <a:cxnSpLocks/>
          </p:cNvCxnSpPr>
          <p:nvPr/>
        </p:nvCxnSpPr>
        <p:spPr>
          <a:xfrm flipV="1">
            <a:off x="4876800" y="5257800"/>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29D1A3C-E3E6-4FB9-AE92-F3C9D287DA83}"/>
              </a:ext>
            </a:extLst>
          </p:cNvPr>
          <p:cNvCxnSpPr>
            <a:cxnSpLocks/>
          </p:cNvCxnSpPr>
          <p:nvPr/>
        </p:nvCxnSpPr>
        <p:spPr>
          <a:xfrm flipV="1">
            <a:off x="4419600" y="5269468"/>
            <a:ext cx="0" cy="293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699558A-3CFC-4480-A284-74695C78E787}"/>
              </a:ext>
            </a:extLst>
          </p:cNvPr>
          <p:cNvCxnSpPr>
            <a:cxnSpLocks/>
          </p:cNvCxnSpPr>
          <p:nvPr/>
        </p:nvCxnSpPr>
        <p:spPr>
          <a:xfrm flipH="1">
            <a:off x="2057400" y="5029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20EC23E-3661-4129-9B86-98028C4D5F81}"/>
              </a:ext>
            </a:extLst>
          </p:cNvPr>
          <p:cNvCxnSpPr>
            <a:cxnSpLocks/>
          </p:cNvCxnSpPr>
          <p:nvPr/>
        </p:nvCxnSpPr>
        <p:spPr>
          <a:xfrm flipH="1">
            <a:off x="2057400" y="4648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9BC50A2-33D9-4D48-BBAD-AB81212B9B80}"/>
              </a:ext>
            </a:extLst>
          </p:cNvPr>
          <p:cNvCxnSpPr>
            <a:cxnSpLocks/>
          </p:cNvCxnSpPr>
          <p:nvPr/>
        </p:nvCxnSpPr>
        <p:spPr>
          <a:xfrm flipH="1">
            <a:off x="2057400" y="4267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0F3E2F6-CD82-424A-97F0-775E432C1601}"/>
              </a:ext>
            </a:extLst>
          </p:cNvPr>
          <p:cNvCxnSpPr>
            <a:cxnSpLocks/>
          </p:cNvCxnSpPr>
          <p:nvPr/>
        </p:nvCxnSpPr>
        <p:spPr>
          <a:xfrm flipH="1">
            <a:off x="2057400" y="3886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4A805DA-10C1-4280-A44E-466DFCC95913}"/>
              </a:ext>
            </a:extLst>
          </p:cNvPr>
          <p:cNvCxnSpPr>
            <a:cxnSpLocks/>
          </p:cNvCxnSpPr>
          <p:nvPr/>
        </p:nvCxnSpPr>
        <p:spPr>
          <a:xfrm flipH="1">
            <a:off x="2057400" y="3505200"/>
            <a:ext cx="228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754C25A-A191-4505-9FD4-382ECFE1EF1C}"/>
              </a:ext>
            </a:extLst>
          </p:cNvPr>
          <p:cNvCxnSpPr>
            <a:cxnSpLocks/>
          </p:cNvCxnSpPr>
          <p:nvPr/>
        </p:nvCxnSpPr>
        <p:spPr>
          <a:xfrm flipH="1">
            <a:off x="2057400" y="3124200"/>
            <a:ext cx="228600" cy="0"/>
          </a:xfrm>
          <a:prstGeom prst="line">
            <a:avLst/>
          </a:prstGeom>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7C245B9B-02EA-4F3A-B008-7FEAA208A3E2}"/>
              </a:ext>
            </a:extLst>
          </p:cNvPr>
          <p:cNvSpPr/>
          <p:nvPr/>
        </p:nvSpPr>
        <p:spPr>
          <a:xfrm>
            <a:off x="2468882" y="46482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57EA1A1-0196-4388-BEEF-AF90A8324630}"/>
              </a:ext>
            </a:extLst>
          </p:cNvPr>
          <p:cNvSpPr txBox="1"/>
          <p:nvPr/>
        </p:nvSpPr>
        <p:spPr>
          <a:xfrm>
            <a:off x="2514600" y="4583668"/>
            <a:ext cx="914391" cy="369332"/>
          </a:xfrm>
          <a:prstGeom prst="rect">
            <a:avLst/>
          </a:prstGeom>
          <a:noFill/>
        </p:spPr>
        <p:txBody>
          <a:bodyPr wrap="square" rtlCol="0">
            <a:spAutoFit/>
          </a:bodyPr>
          <a:lstStyle/>
          <a:p>
            <a:r>
              <a:rPr lang="en-US" dirty="0"/>
              <a:t>A(1,2)</a:t>
            </a:r>
          </a:p>
        </p:txBody>
      </p:sp>
      <p:sp>
        <p:nvSpPr>
          <p:cNvPr id="40" name="Oval 39">
            <a:extLst>
              <a:ext uri="{FF2B5EF4-FFF2-40B4-BE49-F238E27FC236}">
                <a16:creationId xmlns:a16="http://schemas.microsoft.com/office/drawing/2014/main" id="{0B6A95FE-FFB1-4A7C-A56B-9FC04AEFE98A}"/>
              </a:ext>
            </a:extLst>
          </p:cNvPr>
          <p:cNvSpPr/>
          <p:nvPr/>
        </p:nvSpPr>
        <p:spPr>
          <a:xfrm>
            <a:off x="4419600" y="31242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E3E0AFFF-2E1C-4670-B944-CCE864571B02}"/>
              </a:ext>
            </a:extLst>
          </p:cNvPr>
          <p:cNvSpPr txBox="1"/>
          <p:nvPr/>
        </p:nvSpPr>
        <p:spPr>
          <a:xfrm>
            <a:off x="4465317" y="2743200"/>
            <a:ext cx="914391" cy="369332"/>
          </a:xfrm>
          <a:prstGeom prst="rect">
            <a:avLst/>
          </a:prstGeom>
          <a:noFill/>
        </p:spPr>
        <p:txBody>
          <a:bodyPr wrap="square" rtlCol="0">
            <a:spAutoFit/>
          </a:bodyPr>
          <a:lstStyle/>
          <a:p>
            <a:r>
              <a:rPr lang="en-US" dirty="0"/>
              <a:t>B(5,6)</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AB172CB-42E8-4247-A2C9-FCB8E761AED0}"/>
                  </a:ext>
                </a:extLst>
              </p:cNvPr>
              <p:cNvSpPr txBox="1"/>
              <p:nvPr/>
            </p:nvSpPr>
            <p:spPr>
              <a:xfrm>
                <a:off x="5943600" y="2895600"/>
                <a:ext cx="2666997" cy="17911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m:t>
                      </m:r>
                      <m:r>
                        <a:rPr lang="en-US" b="0" i="1" smtClean="0">
                          <a:latin typeface="Cambria Math" panose="02040503050406030204" pitchFamily="18" charset="0"/>
                        </a:rPr>
                        <m:t>𝐴𝐵</m:t>
                      </m:r>
                    </m:oMath>
                  </m:oMathPara>
                </a14:m>
                <a:endParaRPr lang="en-US" b="0" dirty="0"/>
              </a:p>
              <a:p>
                <a14:m>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oMath>
                </a14:m>
                <a:r>
                  <a:rPr lang="en-US" dirty="0"/>
                  <a:t>]</a:t>
                </a:r>
              </a:p>
              <a:p>
                <a14:m>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=[5−1, </m:t>
                    </m:r>
                    <m:r>
                      <a:rPr lang="en-US" i="1" smtClean="0">
                        <a:latin typeface="Cambria Math" panose="02040503050406030204" pitchFamily="18" charset="0"/>
                      </a:rPr>
                      <m:t>6</m:t>
                    </m:r>
                    <m:r>
                      <a:rPr lang="en-US" i="1">
                        <a:latin typeface="Cambria Math" panose="02040503050406030204" pitchFamily="18" charset="0"/>
                      </a:rPr>
                      <m:t>−</m:t>
                    </m:r>
                    <m:r>
                      <a:rPr lang="en-US" i="1" smtClean="0">
                        <a:latin typeface="Cambria Math" panose="02040503050406030204" pitchFamily="18" charset="0"/>
                      </a:rPr>
                      <m:t>2</m:t>
                    </m:r>
                  </m:oMath>
                </a14:m>
                <a:r>
                  <a:rPr lang="en-US" dirty="0"/>
                  <a:t>]</a:t>
                </a:r>
              </a:p>
              <a:p>
                <a14:m>
                  <m:oMath xmlns:m="http://schemas.openxmlformats.org/officeDocument/2006/math">
                    <m:acc>
                      <m:accPr>
                        <m:chr m:val="⃗"/>
                        <m:ctrlPr>
                          <a:rPr lang="en-US"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=[4,</m:t>
                    </m:r>
                    <m:r>
                      <a:rPr lang="en-US" i="1" smtClean="0">
                        <a:latin typeface="Cambria Math" panose="02040503050406030204" pitchFamily="18" charset="0"/>
                      </a:rPr>
                      <m:t>4</m:t>
                    </m:r>
                  </m:oMath>
                </a14:m>
                <a:r>
                  <a:rPr lang="en-US" dirty="0"/>
                  <a:t>]</a:t>
                </a:r>
              </a:p>
              <a:p>
                <a:endParaRPr lang="en-US" dirty="0"/>
              </a:p>
              <a:p>
                <a:endParaRPr lang="en-US" dirty="0"/>
              </a:p>
            </p:txBody>
          </p:sp>
        </mc:Choice>
        <mc:Fallback xmlns="">
          <p:sp>
            <p:nvSpPr>
              <p:cNvPr id="42" name="TextBox 41">
                <a:extLst>
                  <a:ext uri="{FF2B5EF4-FFF2-40B4-BE49-F238E27FC236}">
                    <a16:creationId xmlns:a16="http://schemas.microsoft.com/office/drawing/2014/main" id="{DAB172CB-42E8-4247-A2C9-FCB8E761AED0}"/>
                  </a:ext>
                </a:extLst>
              </p:cNvPr>
              <p:cNvSpPr txBox="1">
                <a:spLocks noRot="1" noChangeAspect="1" noMove="1" noResize="1" noEditPoints="1" noAdjustHandles="1" noChangeArrowheads="1" noChangeShapeType="1" noTextEdit="1"/>
              </p:cNvSpPr>
              <p:nvPr/>
            </p:nvSpPr>
            <p:spPr>
              <a:xfrm>
                <a:off x="5943600" y="2895600"/>
                <a:ext cx="2666997" cy="1791196"/>
              </a:xfrm>
              <a:prstGeom prst="rect">
                <a:avLst/>
              </a:prstGeom>
              <a:blipFill>
                <a:blip r:embed="rId4"/>
                <a:stretch>
                  <a:fillRect/>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CD2BDD49-D4C8-4689-A47B-E0A89CDC5473}"/>
              </a:ext>
            </a:extLst>
          </p:cNvPr>
          <p:cNvCxnSpPr>
            <a:stCxn id="38" idx="7"/>
          </p:cNvCxnSpPr>
          <p:nvPr/>
        </p:nvCxnSpPr>
        <p:spPr>
          <a:xfrm flipV="1">
            <a:off x="2507906" y="4636532"/>
            <a:ext cx="1957411" cy="18363"/>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1218F9E-34F7-4342-9E82-1EDE7F7A3CDA}"/>
              </a:ext>
            </a:extLst>
          </p:cNvPr>
          <p:cNvCxnSpPr>
            <a:stCxn id="40" idx="7"/>
          </p:cNvCxnSpPr>
          <p:nvPr/>
        </p:nvCxnSpPr>
        <p:spPr>
          <a:xfrm>
            <a:off x="4458624" y="3130895"/>
            <a:ext cx="6693" cy="150563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93EBF2E-695A-43EF-9949-26B7AAC4751A}"/>
              </a:ext>
            </a:extLst>
          </p:cNvPr>
          <p:cNvCxnSpPr>
            <a:stCxn id="38" idx="7"/>
          </p:cNvCxnSpPr>
          <p:nvPr/>
        </p:nvCxnSpPr>
        <p:spPr>
          <a:xfrm flipV="1">
            <a:off x="2507906" y="3124200"/>
            <a:ext cx="1957411" cy="1530695"/>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5F68C5-835F-46CE-B741-B4022566730C}"/>
                  </a:ext>
                </a:extLst>
              </p:cNvPr>
              <p:cNvSpPr txBox="1"/>
              <p:nvPr/>
            </p:nvSpPr>
            <p:spPr>
              <a:xfrm>
                <a:off x="5714998" y="4417832"/>
                <a:ext cx="3154679" cy="984244"/>
              </a:xfrm>
              <a:prstGeom prst="rect">
                <a:avLst/>
              </a:prstGeom>
              <a:noFill/>
            </p:spPr>
            <p:txBody>
              <a:bodyPr wrap="square" rtlCol="0">
                <a:spAutoFit/>
              </a:bodyPr>
              <a:lstStyle/>
              <a:p>
                <a:r>
                  <a:rPr lang="en-US" dirty="0"/>
                  <a:t>Magnitude of </a:t>
                </a:r>
                <a14:m>
                  <m:oMath xmlns:m="http://schemas.openxmlformats.org/officeDocument/2006/math">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𝒗</m:t>
                        </m:r>
                      </m:e>
                    </m:acc>
                  </m:oMath>
                </a14:m>
                <a:endParaRPr lang="en-US" dirty="0"/>
              </a:p>
              <a:p>
                <a14:m>
                  <m:oMath xmlns:m="http://schemas.openxmlformats.org/officeDocument/2006/math">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oMath>
                </a14:m>
                <a:r>
                  <a:rPr lang="en-US" dirty="0"/>
                  <a:t>  = </a:t>
                </a:r>
                <a14:m>
                  <m:oMath xmlns:m="http://schemas.openxmlformats.org/officeDocument/2006/math">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4</m:t>
                            </m:r>
                          </m:e>
                          <m:sup>
                            <m:r>
                              <a:rPr lang="en-US" b="0" i="1" smtClean="0">
                                <a:latin typeface="Cambria Math" panose="02040503050406030204" pitchFamily="18" charset="0"/>
                              </a:rPr>
                              <m:t>2</m:t>
                            </m:r>
                          </m:sup>
                        </m:sSup>
                      </m:e>
                    </m:rad>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16+16</m:t>
                        </m:r>
                      </m:e>
                    </m:rad>
                    <m:r>
                      <a:rPr lang="en-US" b="0" i="1" smtClean="0">
                        <a:latin typeface="Cambria Math" panose="02040503050406030204" pitchFamily="18" charset="0"/>
                      </a:rPr>
                      <m:t> </m:t>
                    </m:r>
                  </m:oMath>
                </a14:m>
                <a:endParaRPr lang="en-US" b="0" i="1" dirty="0">
                  <a:latin typeface="Cambria Math" panose="02040503050406030204" pitchFamily="18" charset="0"/>
                </a:endParaRPr>
              </a:p>
              <a:p>
                <a:r>
                  <a:rPr lang="en-US" b="0" dirty="0"/>
                  <a:t>    =</a:t>
                </a:r>
                <a14:m>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32</m:t>
                        </m:r>
                      </m:e>
                    </m:rad>
                    <m:r>
                      <a:rPr lang="en-US" b="0" i="1" smtClean="0">
                        <a:latin typeface="Cambria Math" panose="02040503050406030204" pitchFamily="18" charset="0"/>
                      </a:rPr>
                      <m:t>=4</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a14:m>
                <a:r>
                  <a:rPr lang="en-US" dirty="0"/>
                  <a:t> </a:t>
                </a:r>
              </a:p>
            </p:txBody>
          </p:sp>
        </mc:Choice>
        <mc:Fallback xmlns="">
          <p:sp>
            <p:nvSpPr>
              <p:cNvPr id="6" name="TextBox 5">
                <a:extLst>
                  <a:ext uri="{FF2B5EF4-FFF2-40B4-BE49-F238E27FC236}">
                    <a16:creationId xmlns:a16="http://schemas.microsoft.com/office/drawing/2014/main" id="{BC5F68C5-835F-46CE-B741-B4022566730C}"/>
                  </a:ext>
                </a:extLst>
              </p:cNvPr>
              <p:cNvSpPr txBox="1">
                <a:spLocks noRot="1" noChangeAspect="1" noMove="1" noResize="1" noEditPoints="1" noAdjustHandles="1" noChangeArrowheads="1" noChangeShapeType="1" noTextEdit="1"/>
              </p:cNvSpPr>
              <p:nvPr/>
            </p:nvSpPr>
            <p:spPr>
              <a:xfrm>
                <a:off x="5714998" y="4417832"/>
                <a:ext cx="3154679" cy="984244"/>
              </a:xfrm>
              <a:prstGeom prst="rect">
                <a:avLst/>
              </a:prstGeom>
              <a:blipFill>
                <a:blip r:embed="rId5"/>
                <a:stretch>
                  <a:fillRect l="-1544" t="-3727" b="-9317"/>
                </a:stretch>
              </a:blipFill>
            </p:spPr>
            <p:txBody>
              <a:bodyPr/>
              <a:lstStyle/>
              <a:p>
                <a:r>
                  <a:rPr lang="en-US">
                    <a:noFill/>
                  </a:rPr>
                  <a:t> </a:t>
                </a:r>
              </a:p>
            </p:txBody>
          </p:sp>
        </mc:Fallback>
      </mc:AlternateContent>
    </p:spTree>
    <p:extLst>
      <p:ext uri="{BB962C8B-B14F-4D97-AF65-F5344CB8AC3E}">
        <p14:creationId xmlns:p14="http://schemas.microsoft.com/office/powerpoint/2010/main" val="336374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0" indent="0">
                  <a:buNone/>
                </a:pPr>
                <a:r>
                  <a:rPr lang="en-PH" sz="2000" dirty="0"/>
                  <a:t>Definition:  </a:t>
                </a:r>
              </a:p>
              <a:p>
                <a:pPr marL="0" indent="0">
                  <a:buNone/>
                </a:pPr>
                <a:r>
                  <a:rPr lang="en-PH" sz="2000" i="1" dirty="0"/>
                  <a:t>	</a:t>
                </a:r>
                <a:r>
                  <a:rPr lang="en-PH" sz="2000" dirty="0"/>
                  <a:t>A </a:t>
                </a:r>
                <a:r>
                  <a:rPr lang="en-PH" sz="2000" b="1" dirty="0"/>
                  <a:t>vector in the plane</a:t>
                </a:r>
                <a:r>
                  <a:rPr lang="en-PH" sz="2000" dirty="0"/>
                  <a:t> is a </a:t>
                </a:r>
                <a14:m>
                  <m:oMath xmlns:m="http://schemas.openxmlformats.org/officeDocument/2006/math">
                    <m:r>
                      <a:rPr lang="en-PH" sz="2000" b="0" i="1" smtClean="0">
                        <a:latin typeface="Cambria Math"/>
                      </a:rPr>
                      <m:t>2</m:t>
                    </m:r>
                    <m:r>
                      <a:rPr lang="en-PH" sz="2000" b="0" i="1" smtClean="0">
                        <a:latin typeface="Cambria Math"/>
                      </a:rPr>
                      <m:t>𝑥</m:t>
                    </m:r>
                    <m:r>
                      <a:rPr lang="en-PH" sz="2000" b="0" i="1" smtClean="0">
                        <a:latin typeface="Cambria Math"/>
                      </a:rPr>
                      <m:t>1</m:t>
                    </m:r>
                  </m:oMath>
                </a14:m>
                <a:r>
                  <a:rPr lang="en-PH" sz="2000" dirty="0"/>
                  <a:t> matrix</a:t>
                </a:r>
              </a:p>
              <a:p>
                <a:pPr marL="0" indent="0">
                  <a:buNone/>
                </a:pPr>
                <a:endParaRPr lang="en-PH" sz="2000" dirty="0"/>
              </a:p>
              <a:p>
                <a:pPr marL="0" indent="0" algn="ctr">
                  <a:buNone/>
                </a:pPr>
                <a14:m>
                  <m:oMathPara xmlns:m="http://schemas.openxmlformats.org/officeDocument/2006/math">
                    <m:oMathParaPr>
                      <m:jc m:val="centerGroup"/>
                    </m:oMathParaPr>
                    <m:oMath xmlns:m="http://schemas.openxmlformats.org/officeDocument/2006/math">
                      <m:r>
                        <a:rPr lang="en-PH" sz="2000" b="1" i="0" smtClean="0">
                          <a:latin typeface="Cambria Math"/>
                        </a:rPr>
                        <m:t>𝐮</m:t>
                      </m:r>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𝑥</m:t>
                                </m:r>
                              </m:e>
                            </m:mr>
                            <m:mr>
                              <m:e>
                                <m:r>
                                  <a:rPr lang="en-PH" sz="2000" b="0" i="1" smtClean="0">
                                    <a:latin typeface="Cambria Math"/>
                                  </a:rPr>
                                  <m:t>𝑦</m:t>
                                </m:r>
                              </m:e>
                            </m:mr>
                          </m:m>
                        </m:e>
                      </m:d>
                    </m:oMath>
                  </m:oMathPara>
                </a14:m>
                <a:endParaRPr lang="en-PH" sz="2000" b="0" dirty="0"/>
              </a:p>
              <a:p>
                <a:pPr marL="0" indent="0">
                  <a:buNone/>
                </a:pPr>
                <a:endParaRPr lang="en-PH" sz="2000" dirty="0"/>
              </a:p>
              <a:p>
                <a:pPr marL="0" indent="0">
                  <a:buNone/>
                </a:pPr>
                <a:r>
                  <a:rPr lang="en-PH" sz="2000" dirty="0"/>
                  <a:t>   Where </a:t>
                </a:r>
                <a:r>
                  <a:rPr lang="en-PH" sz="2000" i="1" dirty="0"/>
                  <a:t>x</a:t>
                </a:r>
                <a:r>
                  <a:rPr lang="en-PH" sz="2000" dirty="0"/>
                  <a:t> and </a:t>
                </a:r>
                <a:r>
                  <a:rPr lang="en-PH" sz="2000" i="1" dirty="0"/>
                  <a:t>y </a:t>
                </a:r>
                <a:r>
                  <a:rPr lang="en-PH" sz="2000" dirty="0"/>
                  <a:t>are real numbers, called the </a:t>
                </a:r>
                <a:r>
                  <a:rPr lang="en-PH" sz="2000" b="1" dirty="0"/>
                  <a:t>components</a:t>
                </a:r>
                <a:r>
                  <a:rPr lang="en-PH" sz="2000" dirty="0"/>
                  <a:t> (or </a:t>
                </a:r>
                <a:r>
                  <a:rPr lang="en-PH" sz="2000" b="1" dirty="0"/>
                  <a:t>entries</a:t>
                </a:r>
                <a:r>
                  <a:rPr lang="en-PH" sz="2000" dirty="0"/>
                  <a:t>) of vector </a:t>
                </a:r>
                <a:r>
                  <a:rPr lang="en-PH" sz="2000" b="1" dirty="0"/>
                  <a:t>u</a:t>
                </a:r>
                <a:r>
                  <a:rPr lang="en-PH" sz="2000" dirty="0"/>
                  <a:t>.  We refer to a vector in the plane merely as a vector or as a             </a:t>
                </a:r>
                <a:r>
                  <a:rPr lang="en-PH" sz="2000" b="1" dirty="0"/>
                  <a:t>2-vector. </a:t>
                </a:r>
                <a:r>
                  <a:rPr lang="en-PH" sz="20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750" r="-2889"/>
                </a:stretch>
              </a:blipFill>
            </p:spPr>
            <p:txBody>
              <a:bodyPr/>
              <a:lstStyle/>
              <a:p>
                <a:r>
                  <a:rPr lang="en-US">
                    <a:noFill/>
                  </a:rPr>
                  <a:t> </a:t>
                </a:r>
              </a:p>
            </p:txBody>
          </p:sp>
        </mc:Fallback>
      </mc:AlternateContent>
    </p:spTree>
    <p:extLst>
      <p:ext uri="{BB962C8B-B14F-4D97-AF65-F5344CB8AC3E}">
        <p14:creationId xmlns:p14="http://schemas.microsoft.com/office/powerpoint/2010/main" val="38918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524000"/>
                <a:ext cx="8229600" cy="4953000"/>
              </a:xfrm>
            </p:spPr>
            <p:txBody>
              <a:bodyPr>
                <a:normAutofit/>
              </a:bodyPr>
              <a:lstStyle/>
              <a:p>
                <a:pPr marL="0" indent="0">
                  <a:buNone/>
                </a:pPr>
                <a:r>
                  <a:rPr lang="en-PH" sz="2000" dirty="0"/>
                  <a:t>	The vector </a:t>
                </a:r>
                <a:r>
                  <a:rPr lang="en-PH" sz="2000" b="1" dirty="0"/>
                  <a:t>u,  </a:t>
                </a:r>
                <a14:m>
                  <m:oMath xmlns:m="http://schemas.openxmlformats.org/officeDocument/2006/math">
                    <m:r>
                      <a:rPr lang="en-PH" sz="2000" b="1" i="0" smtClean="0">
                        <a:latin typeface="Cambria Math"/>
                      </a:rPr>
                      <m:t>𝐮</m:t>
                    </m:r>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𝑥</m:t>
                              </m:r>
                            </m:e>
                          </m:mr>
                          <m:mr>
                            <m:e>
                              <m:r>
                                <a:rPr lang="en-PH" sz="2000" b="0" i="1" smtClean="0">
                                  <a:latin typeface="Cambria Math"/>
                                </a:rPr>
                                <m:t>𝑦</m:t>
                              </m:r>
                            </m:e>
                          </m:mr>
                        </m:m>
                      </m:e>
                    </m:d>
                  </m:oMath>
                </a14:m>
                <a:r>
                  <a:rPr lang="en-PH" sz="2000" dirty="0"/>
                  <a:t>   where </a:t>
                </a:r>
                <a:r>
                  <a:rPr lang="en-PH" sz="2000" i="1" dirty="0"/>
                  <a:t>x</a:t>
                </a:r>
                <a:r>
                  <a:rPr lang="en-PH" sz="2000" dirty="0"/>
                  <a:t> and </a:t>
                </a:r>
                <a:r>
                  <a:rPr lang="en-PH" sz="2000" i="1" dirty="0"/>
                  <a:t>y </a:t>
                </a:r>
                <a:r>
                  <a:rPr lang="en-PH" sz="2000" dirty="0"/>
                  <a:t>are real numbers, represents a directed line segment from </a:t>
                </a:r>
                <a:r>
                  <a:rPr lang="en-PH" sz="2000" i="1" dirty="0"/>
                  <a:t>O</a:t>
                </a:r>
                <a:r>
                  <a:rPr lang="en-PH" sz="2000" dirty="0"/>
                  <a:t> to </a:t>
                </a:r>
                <a:r>
                  <a:rPr lang="en-PH" sz="2000" i="1" dirty="0"/>
                  <a:t>P , </a:t>
                </a:r>
                <a:r>
                  <a:rPr lang="en-PH" sz="2000" dirty="0"/>
                  <a:t>denoted by</a:t>
                </a:r>
                <a:r>
                  <a:rPr lang="en-PH" sz="2000" i="1" dirty="0"/>
                  <a:t> OP</a:t>
                </a:r>
                <a:r>
                  <a:rPr lang="en-PH" sz="2000" dirty="0"/>
                  <a:t> ; with </a:t>
                </a:r>
                <a:r>
                  <a:rPr lang="en-PH" sz="2000" i="1" dirty="0"/>
                  <a:t>O </a:t>
                </a:r>
                <a:r>
                  <a:rPr lang="en-PH" sz="2000" dirty="0"/>
                  <a:t>at the point of origin and </a:t>
                </a:r>
                <a:r>
                  <a:rPr lang="en-PH" sz="2000" i="1" dirty="0"/>
                  <a:t>P(x, y) </a:t>
                </a:r>
                <a:r>
                  <a:rPr lang="en-PH" sz="2000" dirty="0"/>
                  <a:t>as the terminal point. These vectors are called </a:t>
                </a:r>
                <a:r>
                  <a:rPr lang="en-PH" sz="2000" b="1" dirty="0"/>
                  <a:t>positional vectors</a:t>
                </a:r>
                <a:r>
                  <a:rPr lang="en-PH" sz="2000" dirty="0"/>
                  <a:t>.</a:t>
                </a:r>
              </a:p>
              <a:p>
                <a:pPr marL="0" indent="0">
                  <a:buNone/>
                </a:pPr>
                <a:endParaRPr lang="en-PH" sz="2000" dirty="0"/>
              </a:p>
              <a:p>
                <a:pPr marL="0" indent="0">
                  <a:buNone/>
                </a:pPr>
                <a:r>
                  <a:rPr lang="en-PH" sz="2000" dirty="0"/>
                  <a:t>Example: </a:t>
                </a:r>
              </a:p>
              <a:p>
                <a:pPr marL="0" indent="0">
                  <a:buNone/>
                </a:pPr>
                <a:r>
                  <a:rPr lang="en-PH" sz="2000" dirty="0"/>
                  <a:t>Plot the vectors: </a:t>
                </a:r>
                <a14:m>
                  <m:oMath xmlns:m="http://schemas.openxmlformats.org/officeDocument/2006/math">
                    <m:r>
                      <a:rPr lang="en-PH" sz="2000" b="1" i="0" smtClean="0">
                        <a:latin typeface="Cambria Math"/>
                      </a:rPr>
                      <m:t>𝐮</m:t>
                    </m:r>
                    <m:r>
                      <a:rPr lang="en-PH" sz="2000" b="0" i="0"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3</m:t>
                              </m:r>
                            </m:e>
                          </m:mr>
                          <m:mr>
                            <m:e>
                              <m:r>
                                <a:rPr lang="en-PH" sz="2000" b="0" i="1" smtClean="0">
                                  <a:latin typeface="Cambria Math"/>
                                </a:rPr>
                                <m:t>−1</m:t>
                              </m:r>
                            </m:e>
                          </m:mr>
                        </m:m>
                      </m:e>
                    </m:d>
                  </m:oMath>
                </a14:m>
                <a:r>
                  <a:rPr lang="en-PH" sz="2000" dirty="0"/>
                  <a:t> , </a:t>
                </a:r>
                <a14:m>
                  <m:oMath xmlns:m="http://schemas.openxmlformats.org/officeDocument/2006/math">
                    <m:r>
                      <a:rPr lang="en-PH" sz="2000" b="1" i="0" smtClean="0">
                        <a:latin typeface="Cambria Math"/>
                      </a:rPr>
                      <m:t>𝐯</m:t>
                    </m:r>
                    <m:r>
                      <a:rPr lang="en-PH" sz="2000">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m:rPr>
                                  <m:brk m:alnAt="7"/>
                                </m:rPr>
                                <a:rPr lang="en-PH" sz="2000" b="0" i="1" smtClean="0">
                                  <a:latin typeface="Cambria Math"/>
                                </a:rPr>
                                <m:t>−</m:t>
                              </m:r>
                              <m:r>
                                <a:rPr lang="en-PH" sz="2000" b="0" i="1" smtClean="0">
                                  <a:latin typeface="Cambria Math"/>
                                </a:rPr>
                                <m:t>2</m:t>
                              </m:r>
                            </m:e>
                          </m:mr>
                          <m:mr>
                            <m:e>
                              <m:r>
                                <a:rPr lang="en-PH" sz="2000" b="0" i="1" smtClean="0">
                                  <a:latin typeface="Cambria Math"/>
                                </a:rPr>
                                <m:t>4</m:t>
                              </m:r>
                            </m:e>
                          </m:mr>
                        </m:m>
                      </m:e>
                    </m:d>
                  </m:oMath>
                </a14:m>
                <a:r>
                  <a:rPr lang="en-PH" sz="2000" b="1" i="1" dirty="0"/>
                  <a:t>, </a:t>
                </a:r>
              </a:p>
              <a:p>
                <a:pPr marL="0" indent="0">
                  <a:buNone/>
                </a:pPr>
                <a:r>
                  <a:rPr lang="en-PH" sz="2000" dirty="0"/>
                  <a:t>and </a:t>
                </a:r>
                <a14:m>
                  <m:oMath xmlns:m="http://schemas.openxmlformats.org/officeDocument/2006/math">
                    <m:r>
                      <a:rPr lang="en-PH" sz="2000" b="1" i="0" smtClean="0">
                        <a:latin typeface="Cambria Math"/>
                      </a:rPr>
                      <m:t>𝐰</m:t>
                    </m:r>
                    <m:r>
                      <a:rPr lang="en-PH" sz="2000">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PH" sz="2000" b="0" i="1" smtClean="0">
                                  <a:latin typeface="Cambria Math"/>
                                </a:rPr>
                                <m:t>−4</m:t>
                              </m:r>
                            </m:e>
                          </m:mr>
                          <m:mr>
                            <m:e>
                              <m:r>
                                <a:rPr lang="en-PH" sz="2000" i="1">
                                  <a:latin typeface="Cambria Math"/>
                                </a:rPr>
                                <m:t>−</m:t>
                              </m:r>
                              <m:r>
                                <a:rPr lang="en-PH" sz="2000" b="0" i="1" smtClean="0">
                                  <a:latin typeface="Cambria Math"/>
                                </a:rPr>
                                <m:t>2</m:t>
                              </m:r>
                            </m:e>
                          </m:mr>
                        </m:m>
                      </m:e>
                    </m:d>
                  </m:oMath>
                </a14:m>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524000"/>
                <a:ext cx="8229600" cy="4953000"/>
              </a:xfrm>
              <a:blipFill>
                <a:blip r:embed="rId2"/>
                <a:stretch>
                  <a:fillRect l="-741"/>
                </a:stretch>
              </a:blipFill>
            </p:spPr>
            <p:txBody>
              <a:bodyPr/>
              <a:lstStyle/>
              <a:p>
                <a:r>
                  <a:rPr lang="en-US">
                    <a:noFill/>
                  </a:rPr>
                  <a:t> </a:t>
                </a:r>
              </a:p>
            </p:txBody>
          </p:sp>
        </mc:Fallback>
      </mc:AlternateContent>
      <p:cxnSp>
        <p:nvCxnSpPr>
          <p:cNvPr id="5" name="Straight Arrow Connector 4"/>
          <p:cNvCxnSpPr/>
          <p:nvPr/>
        </p:nvCxnSpPr>
        <p:spPr>
          <a:xfrm>
            <a:off x="7391400" y="2057400"/>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6858000" y="2743200"/>
            <a:ext cx="76200" cy="34290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4191000" y="4914900"/>
            <a:ext cx="4648200" cy="1905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858000" y="45720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858000" y="42672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858000" y="39624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858000" y="36576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858000" y="33528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858000" y="30480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858000" y="58674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58000" y="55626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858000" y="5257800"/>
            <a:ext cx="7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239000" y="48768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73152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76962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81534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86106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52578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57150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60960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65532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V="1">
            <a:off x="4419600" y="4876800"/>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V="1">
            <a:off x="4876800" y="4876800"/>
            <a:ext cx="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8153400" y="525780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5" name="Oval 44"/>
          <p:cNvSpPr/>
          <p:nvPr/>
        </p:nvSpPr>
        <p:spPr>
          <a:xfrm>
            <a:off x="6050281" y="368808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6" name="Oval 45"/>
          <p:cNvSpPr/>
          <p:nvPr/>
        </p:nvSpPr>
        <p:spPr>
          <a:xfrm>
            <a:off x="5257800" y="551688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48" name="Straight Arrow Connector 47"/>
          <p:cNvCxnSpPr>
            <a:endCxn id="45" idx="2"/>
          </p:cNvCxnSpPr>
          <p:nvPr/>
        </p:nvCxnSpPr>
        <p:spPr>
          <a:xfrm flipH="1" flipV="1">
            <a:off x="6050281" y="3710941"/>
            <a:ext cx="845819" cy="12039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endCxn id="44" idx="0"/>
          </p:cNvCxnSpPr>
          <p:nvPr/>
        </p:nvCxnSpPr>
        <p:spPr>
          <a:xfrm>
            <a:off x="6934200" y="4933950"/>
            <a:ext cx="1242060" cy="3238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46" idx="7"/>
          </p:cNvCxnSpPr>
          <p:nvPr/>
        </p:nvCxnSpPr>
        <p:spPr>
          <a:xfrm flipH="1">
            <a:off x="5296824" y="4914900"/>
            <a:ext cx="1599276" cy="6086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p:cNvSpPr txBox="1"/>
              <p:nvPr/>
            </p:nvSpPr>
            <p:spPr>
              <a:xfrm>
                <a:off x="5715000" y="3352800"/>
                <a:ext cx="18402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PH" b="1" i="0" smtClean="0">
                          <a:latin typeface="Cambria Math"/>
                        </a:rPr>
                        <m:t>𝐯</m:t>
                      </m:r>
                      <m:r>
                        <a:rPr lang="en-PH" b="0" i="0" smtClean="0">
                          <a:latin typeface="Cambria Math"/>
                        </a:rPr>
                        <m:t>=[−2,4]</m:t>
                      </m:r>
                    </m:oMath>
                  </m:oMathPara>
                </a14:m>
                <a:endParaRPr lang="en-PH" b="1" dirty="0"/>
              </a:p>
            </p:txBody>
          </p:sp>
        </mc:Choice>
        <mc:Fallback xmlns="">
          <p:sp>
            <p:nvSpPr>
              <p:cNvPr id="57" name="TextBox 56"/>
              <p:cNvSpPr txBox="1">
                <a:spLocks noRot="1" noChangeAspect="1" noMove="1" noResize="1" noEditPoints="1" noAdjustHandles="1" noChangeArrowheads="1" noChangeShapeType="1" noTextEdit="1"/>
              </p:cNvSpPr>
              <p:nvPr/>
            </p:nvSpPr>
            <p:spPr>
              <a:xfrm>
                <a:off x="5715000" y="3352800"/>
                <a:ext cx="1840230" cy="369332"/>
              </a:xfrm>
              <a:prstGeom prst="rect">
                <a:avLst/>
              </a:prstGeom>
              <a:blipFill rotWithShape="1">
                <a:blip r:embed="rId3"/>
                <a:stretch>
                  <a:fillRect b="-16393"/>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58" name="TextBox 57"/>
              <p:cNvSpPr txBox="1"/>
              <p:nvPr/>
            </p:nvSpPr>
            <p:spPr>
              <a:xfrm>
                <a:off x="6846570" y="5421868"/>
                <a:ext cx="18402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PH" b="1" i="0" smtClean="0">
                          <a:latin typeface="Cambria Math"/>
                        </a:rPr>
                        <m:t>𝐮</m:t>
                      </m:r>
                      <m:r>
                        <a:rPr lang="en-PH" b="0" i="0" smtClean="0">
                          <a:latin typeface="Cambria Math"/>
                        </a:rPr>
                        <m:t>=[3,−1]</m:t>
                      </m:r>
                    </m:oMath>
                  </m:oMathPara>
                </a14:m>
                <a:endParaRPr lang="en-PH" b="1" dirty="0"/>
              </a:p>
            </p:txBody>
          </p:sp>
        </mc:Choice>
        <mc:Fallback xmlns="">
          <p:sp>
            <p:nvSpPr>
              <p:cNvPr id="58" name="TextBox 57"/>
              <p:cNvSpPr txBox="1">
                <a:spLocks noRot="1" noChangeAspect="1" noMove="1" noResize="1" noEditPoints="1" noAdjustHandles="1" noChangeArrowheads="1" noChangeShapeType="1" noTextEdit="1"/>
              </p:cNvSpPr>
              <p:nvPr/>
            </p:nvSpPr>
            <p:spPr>
              <a:xfrm>
                <a:off x="6846570" y="5421868"/>
                <a:ext cx="1840230" cy="369332"/>
              </a:xfrm>
              <a:prstGeom prst="rect">
                <a:avLst/>
              </a:prstGeom>
              <a:blipFill rotWithShape="1">
                <a:blip r:embed="rId4"/>
                <a:stretch>
                  <a:fillRect b="-16393"/>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59" name="TextBox 58"/>
              <p:cNvSpPr txBox="1"/>
              <p:nvPr/>
            </p:nvSpPr>
            <p:spPr>
              <a:xfrm>
                <a:off x="4495800" y="5574268"/>
                <a:ext cx="18402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PH" b="1" i="0" smtClean="0">
                          <a:latin typeface="Cambria Math"/>
                        </a:rPr>
                        <m:t>𝐰</m:t>
                      </m:r>
                      <m:r>
                        <a:rPr lang="en-PH" b="0" i="0" smtClean="0">
                          <a:latin typeface="Cambria Math"/>
                        </a:rPr>
                        <m:t>=[−4,−2]</m:t>
                      </m:r>
                    </m:oMath>
                  </m:oMathPara>
                </a14:m>
                <a:endParaRPr lang="en-PH" b="1" dirty="0"/>
              </a:p>
            </p:txBody>
          </p:sp>
        </mc:Choice>
        <mc:Fallback xmlns="">
          <p:sp>
            <p:nvSpPr>
              <p:cNvPr id="59" name="TextBox 58"/>
              <p:cNvSpPr txBox="1">
                <a:spLocks noRot="1" noChangeAspect="1" noMove="1" noResize="1" noEditPoints="1" noAdjustHandles="1" noChangeArrowheads="1" noChangeShapeType="1" noTextEdit="1"/>
              </p:cNvSpPr>
              <p:nvPr/>
            </p:nvSpPr>
            <p:spPr>
              <a:xfrm>
                <a:off x="4495800" y="5574268"/>
                <a:ext cx="1840230" cy="369332"/>
              </a:xfrm>
              <a:prstGeom prst="rect">
                <a:avLst/>
              </a:prstGeom>
              <a:blipFill rotWithShape="1">
                <a:blip r:embed="rId5"/>
                <a:stretch>
                  <a:fillRect b="-16393"/>
                </a:stretch>
              </a:blipFill>
            </p:spPr>
            <p:txBody>
              <a:bodyPr/>
              <a:lstStyle/>
              <a:p>
                <a:r>
                  <a:rPr lang="en-PH">
                    <a:noFill/>
                  </a:rPr>
                  <a:t> </a:t>
                </a:r>
              </a:p>
            </p:txBody>
          </p:sp>
        </mc:Fallback>
      </mc:AlternateContent>
      <p:sp>
        <p:nvSpPr>
          <p:cNvPr id="60" name="TextBox 59"/>
          <p:cNvSpPr txBox="1"/>
          <p:nvPr/>
        </p:nvSpPr>
        <p:spPr>
          <a:xfrm>
            <a:off x="6858000" y="4659868"/>
            <a:ext cx="304800" cy="369332"/>
          </a:xfrm>
          <a:prstGeom prst="rect">
            <a:avLst/>
          </a:prstGeom>
          <a:noFill/>
          <a:ln>
            <a:noFill/>
          </a:ln>
        </p:spPr>
        <p:txBody>
          <a:bodyPr wrap="square" rtlCol="0">
            <a:spAutoFit/>
          </a:bodyPr>
          <a:lstStyle/>
          <a:p>
            <a:r>
              <a:rPr lang="en-PH" i="1" dirty="0"/>
              <a:t>O</a:t>
            </a:r>
          </a:p>
        </p:txBody>
      </p:sp>
    </p:spTree>
    <p:extLst>
      <p:ext uri="{BB962C8B-B14F-4D97-AF65-F5344CB8AC3E}">
        <p14:creationId xmlns:p14="http://schemas.microsoft.com/office/powerpoint/2010/main" val="2810095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4" grpId="0" animBg="1"/>
      <p:bldP spid="45" grpId="0" animBg="1"/>
      <p:bldP spid="46" grpId="0" animBg="1"/>
      <p:bldP spid="57" grpId="0"/>
      <p:bldP spid="58" grpId="0"/>
      <p:bldP spid="59" grpId="0"/>
      <p:bldP spid="6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8229600" cy="685800"/>
          </a:xfrm>
        </p:spPr>
        <p:txBody>
          <a:bodyPr>
            <a:normAutofit fontScale="90000"/>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866" y="1066800"/>
                <a:ext cx="8830733" cy="1981200"/>
              </a:xfrm>
            </p:spPr>
            <p:txBody>
              <a:bodyPr>
                <a:normAutofit/>
              </a:bodyPr>
              <a:lstStyle/>
              <a:p>
                <a:pPr marL="0" indent="0" algn="just">
                  <a:buNone/>
                </a:pPr>
                <a:r>
                  <a:rPr lang="en-PH" sz="2000" dirty="0"/>
                  <a:t>	Vectors with the same length and same direction, are called </a:t>
                </a:r>
                <a:r>
                  <a:rPr lang="en-PH" sz="2000" i="1" dirty="0">
                    <a:solidFill>
                      <a:srgbClr val="0070C0"/>
                    </a:solidFill>
                  </a:rPr>
                  <a:t>equivalent</a:t>
                </a:r>
                <a:r>
                  <a:rPr lang="en-PH" sz="2000" dirty="0"/>
                  <a:t>. Since we want a vector to be determined solely by its length and direction, equivalent vectors are regarded as equal even though they may be located in different positions. If </a:t>
                </a:r>
                <a:r>
                  <a:rPr lang="en-PH" sz="2000" b="1" dirty="0"/>
                  <a:t>u</a:t>
                </a:r>
                <a:r>
                  <a:rPr lang="en-PH" sz="2000" dirty="0"/>
                  <a:t> and </a:t>
                </a:r>
                <a:r>
                  <a:rPr lang="en-PH" sz="2000" b="1" dirty="0"/>
                  <a:t>v</a:t>
                </a:r>
                <a:r>
                  <a:rPr lang="en-PH" sz="2000" dirty="0"/>
                  <a:t> are equivalent, we write:  </a:t>
                </a:r>
              </a:p>
              <a:p>
                <a:pPr marL="0" indent="0" algn="ctr">
                  <a:buNone/>
                </a:pPr>
                <a14:m>
                  <m:oMathPara xmlns:m="http://schemas.openxmlformats.org/officeDocument/2006/math">
                    <m:oMathParaPr>
                      <m:jc m:val="centerGroup"/>
                    </m:oMathParaPr>
                    <m:oMath xmlns:m="http://schemas.openxmlformats.org/officeDocument/2006/math">
                      <m:r>
                        <a:rPr lang="en-PH" sz="2000" b="1" i="0" smtClean="0">
                          <a:latin typeface="Cambria Math"/>
                        </a:rPr>
                        <m:t>𝐮</m:t>
                      </m:r>
                      <m:r>
                        <a:rPr lang="en-PH" sz="2000" b="0" i="0" smtClean="0">
                          <a:latin typeface="Cambria Math"/>
                        </a:rPr>
                        <m:t>=</m:t>
                      </m:r>
                      <m:r>
                        <a:rPr lang="en-PH" sz="2000" b="1" i="0" smtClean="0">
                          <a:latin typeface="Cambria Math"/>
                        </a:rPr>
                        <m:t>𝐯</m:t>
                      </m:r>
                      <m:r>
                        <a:rPr lang="en-PH" sz="2000" b="0" i="0" smtClean="0">
                          <a:latin typeface="Cambria Math"/>
                        </a:rPr>
                        <m:t> </m:t>
                      </m:r>
                    </m:oMath>
                  </m:oMathPara>
                </a14:m>
                <a:endParaRPr lang="en-PH" sz="2000" dirty="0"/>
              </a:p>
              <a:p>
                <a:pPr marL="0" indent="0">
                  <a:buNone/>
                </a:pPr>
                <a:r>
                  <a:rPr lang="en-PH" sz="2000" dirty="0"/>
                  <a:t>Example#1: Comparing Vectors		</a:t>
                </a:r>
              </a:p>
              <a:p>
                <a:pPr marL="0" indent="0">
                  <a:buNone/>
                </a:pPr>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866" y="1066800"/>
                <a:ext cx="8830733" cy="1981200"/>
              </a:xfrm>
              <a:blipFill>
                <a:blip r:embed="rId2"/>
                <a:stretch>
                  <a:fillRect l="-690" t="-1231" r="-690" b="-5846"/>
                </a:stretch>
              </a:blipFill>
            </p:spPr>
            <p:txBody>
              <a:bodyPr/>
              <a:lstStyle/>
              <a:p>
                <a:r>
                  <a:rPr lang="en-US">
                    <a:noFill/>
                  </a:rPr>
                  <a:t> </a:t>
                </a:r>
              </a:p>
            </p:txBody>
          </p:sp>
        </mc:Fallback>
      </mc:AlternateContent>
      <p:sp>
        <p:nvSpPr>
          <p:cNvPr id="5" name="Rectangle 4"/>
          <p:cNvSpPr/>
          <p:nvPr/>
        </p:nvSpPr>
        <p:spPr>
          <a:xfrm>
            <a:off x="6629400" y="4648200"/>
            <a:ext cx="1600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9" name="Picture 8">
            <a:extLst>
              <a:ext uri="{FF2B5EF4-FFF2-40B4-BE49-F238E27FC236}">
                <a16:creationId xmlns:a16="http://schemas.microsoft.com/office/drawing/2014/main" id="{C9802D23-FF7F-4A5C-A8F0-8710F8026C70}"/>
              </a:ext>
            </a:extLst>
          </p:cNvPr>
          <p:cNvPicPr>
            <a:picLocks noChangeAspect="1"/>
          </p:cNvPicPr>
          <p:nvPr/>
        </p:nvPicPr>
        <p:blipFill rotWithShape="1">
          <a:blip r:embed="rId3"/>
          <a:srcRect l="5000" t="19333" r="62500" b="63334"/>
          <a:stretch/>
        </p:blipFill>
        <p:spPr>
          <a:xfrm>
            <a:off x="196144" y="3451578"/>
            <a:ext cx="2985911" cy="2067277"/>
          </a:xfrm>
          <a:prstGeom prst="rect">
            <a:avLst/>
          </a:prstGeom>
        </p:spPr>
      </p:pic>
      <p:pic>
        <p:nvPicPr>
          <p:cNvPr id="13" name="Picture 12">
            <a:extLst>
              <a:ext uri="{FF2B5EF4-FFF2-40B4-BE49-F238E27FC236}">
                <a16:creationId xmlns:a16="http://schemas.microsoft.com/office/drawing/2014/main" id="{24052CAE-F299-4FF1-B00A-D511A5F4B1D1}"/>
              </a:ext>
            </a:extLst>
          </p:cNvPr>
          <p:cNvPicPr>
            <a:picLocks noChangeAspect="1"/>
          </p:cNvPicPr>
          <p:nvPr/>
        </p:nvPicPr>
        <p:blipFill rotWithShape="1">
          <a:blip r:embed="rId4"/>
          <a:srcRect l="5495" t="22973" r="32839" b="67718"/>
          <a:stretch/>
        </p:blipFill>
        <p:spPr>
          <a:xfrm>
            <a:off x="3344334" y="3086098"/>
            <a:ext cx="5638800" cy="762002"/>
          </a:xfrm>
          <a:prstGeom prst="rect">
            <a:avLst/>
          </a:prstGeom>
        </p:spPr>
      </p:pic>
      <p:pic>
        <p:nvPicPr>
          <p:cNvPr id="14" name="Picture 13">
            <a:extLst>
              <a:ext uri="{FF2B5EF4-FFF2-40B4-BE49-F238E27FC236}">
                <a16:creationId xmlns:a16="http://schemas.microsoft.com/office/drawing/2014/main" id="{1087D208-A16D-4FC7-B615-3CA3CE2C5F19}"/>
              </a:ext>
            </a:extLst>
          </p:cNvPr>
          <p:cNvPicPr>
            <a:picLocks noChangeAspect="1"/>
          </p:cNvPicPr>
          <p:nvPr/>
        </p:nvPicPr>
        <p:blipFill rotWithShape="1">
          <a:blip r:embed="rId4"/>
          <a:srcRect l="29244" t="30906" r="34089" b="24999"/>
          <a:stretch/>
        </p:blipFill>
        <p:spPr>
          <a:xfrm>
            <a:off x="3848102" y="3962400"/>
            <a:ext cx="4343400" cy="2743200"/>
          </a:xfrm>
          <a:prstGeom prst="rect">
            <a:avLst/>
          </a:prstGeom>
        </p:spPr>
      </p:pic>
    </p:spTree>
    <p:extLst>
      <p:ext uri="{BB962C8B-B14F-4D97-AF65-F5344CB8AC3E}">
        <p14:creationId xmlns:p14="http://schemas.microsoft.com/office/powerpoint/2010/main" val="271526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8229600" cy="685800"/>
          </a:xfrm>
        </p:spPr>
        <p:txBody>
          <a:bodyPr>
            <a:normAutofit fontScale="90000"/>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0866" y="1066800"/>
                <a:ext cx="8830733" cy="1828800"/>
              </a:xfrm>
            </p:spPr>
            <p:txBody>
              <a:bodyPr>
                <a:normAutofit lnSpcReduction="10000"/>
              </a:bodyPr>
              <a:lstStyle/>
              <a:p>
                <a:pPr marL="0" indent="0" algn="just">
                  <a:buNone/>
                </a:pPr>
                <a:r>
                  <a:rPr lang="en-PH" sz="2000" dirty="0"/>
                  <a:t>	Vectors with the same length and same direction, are called </a:t>
                </a:r>
                <a:r>
                  <a:rPr lang="en-PH" sz="2000" i="1" dirty="0">
                    <a:solidFill>
                      <a:srgbClr val="0070C0"/>
                    </a:solidFill>
                  </a:rPr>
                  <a:t>equivalent</a:t>
                </a:r>
                <a:r>
                  <a:rPr lang="en-PH" sz="2000" dirty="0"/>
                  <a:t>. Since we want a vector to be determined solely by its length and direction, equivalent vectors are regarded as equal even though they may be located in different positions. If </a:t>
                </a:r>
                <a:r>
                  <a:rPr lang="en-PH" sz="2000" b="1" dirty="0"/>
                  <a:t>u</a:t>
                </a:r>
                <a:r>
                  <a:rPr lang="en-PH" sz="2000" dirty="0"/>
                  <a:t> and </a:t>
                </a:r>
                <a:r>
                  <a:rPr lang="en-PH" sz="2000" b="1" dirty="0"/>
                  <a:t>v</a:t>
                </a:r>
                <a:r>
                  <a:rPr lang="en-PH" sz="2000" dirty="0"/>
                  <a:t> are equivalent, we write:  </a:t>
                </a:r>
              </a:p>
              <a:p>
                <a:pPr marL="0" indent="0" algn="ctr">
                  <a:buNone/>
                </a:pPr>
                <a14:m>
                  <m:oMathPara xmlns:m="http://schemas.openxmlformats.org/officeDocument/2006/math">
                    <m:oMathParaPr>
                      <m:jc m:val="centerGroup"/>
                    </m:oMathParaPr>
                    <m:oMath xmlns:m="http://schemas.openxmlformats.org/officeDocument/2006/math">
                      <m:r>
                        <a:rPr lang="en-PH" sz="2000" b="1" i="0" smtClean="0">
                          <a:latin typeface="Cambria Math"/>
                        </a:rPr>
                        <m:t>𝐮</m:t>
                      </m:r>
                      <m:r>
                        <a:rPr lang="en-PH" sz="2000" b="0" i="0" smtClean="0">
                          <a:latin typeface="Cambria Math"/>
                        </a:rPr>
                        <m:t>=</m:t>
                      </m:r>
                      <m:r>
                        <a:rPr lang="en-PH" sz="2000" b="1" i="0" smtClean="0">
                          <a:latin typeface="Cambria Math"/>
                        </a:rPr>
                        <m:t>𝐯</m:t>
                      </m:r>
                      <m:r>
                        <a:rPr lang="en-PH" sz="2000" b="0" i="0" smtClean="0">
                          <a:latin typeface="Cambria Math"/>
                        </a:rPr>
                        <m:t> </m:t>
                      </m:r>
                    </m:oMath>
                  </m:oMathPara>
                </a14:m>
                <a:endParaRPr lang="en-PH" sz="2000" dirty="0"/>
              </a:p>
              <a:p>
                <a:pPr marL="0" indent="0">
                  <a:buNone/>
                </a:pPr>
                <a:r>
                  <a:rPr lang="en-PH" sz="2000" dirty="0"/>
                  <a:t>Example#2: Comparing Vectors		</a:t>
                </a:r>
              </a:p>
              <a:p>
                <a:pPr marL="0" indent="0">
                  <a:buNone/>
                </a:pPr>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0866" y="1066800"/>
                <a:ext cx="8830733" cy="1828800"/>
              </a:xfrm>
              <a:blipFill>
                <a:blip r:embed="rId2"/>
                <a:stretch>
                  <a:fillRect l="-690" t="-3000" r="-690" b="-6333"/>
                </a:stretch>
              </a:blipFill>
            </p:spPr>
            <p:txBody>
              <a:bodyPr/>
              <a:lstStyle/>
              <a:p>
                <a:r>
                  <a:rPr lang="en-PH">
                    <a:noFill/>
                  </a:rPr>
                  <a:t> </a:t>
                </a:r>
              </a:p>
            </p:txBody>
          </p:sp>
        </mc:Fallback>
      </mc:AlternateContent>
      <p:sp>
        <p:nvSpPr>
          <p:cNvPr id="5" name="Rectangle 4"/>
          <p:cNvSpPr/>
          <p:nvPr/>
        </p:nvSpPr>
        <p:spPr>
          <a:xfrm>
            <a:off x="6629400" y="4648200"/>
            <a:ext cx="1600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pic>
        <p:nvPicPr>
          <p:cNvPr id="6" name="Picture 5">
            <a:extLst>
              <a:ext uri="{FF2B5EF4-FFF2-40B4-BE49-F238E27FC236}">
                <a16:creationId xmlns:a16="http://schemas.microsoft.com/office/drawing/2014/main" id="{DB489303-8862-45E4-BD4B-4EAAA728B98D}"/>
              </a:ext>
            </a:extLst>
          </p:cNvPr>
          <p:cNvPicPr>
            <a:picLocks noChangeAspect="1"/>
          </p:cNvPicPr>
          <p:nvPr/>
        </p:nvPicPr>
        <p:blipFill rotWithShape="1">
          <a:blip r:embed="rId3"/>
          <a:srcRect l="5833" t="23333" r="62501" b="63334"/>
          <a:stretch/>
        </p:blipFill>
        <p:spPr>
          <a:xfrm>
            <a:off x="4076700" y="2667000"/>
            <a:ext cx="3352800" cy="1219200"/>
          </a:xfrm>
          <a:prstGeom prst="rect">
            <a:avLst/>
          </a:prstGeom>
        </p:spPr>
      </p:pic>
      <p:pic>
        <p:nvPicPr>
          <p:cNvPr id="8" name="Picture 7">
            <a:extLst>
              <a:ext uri="{FF2B5EF4-FFF2-40B4-BE49-F238E27FC236}">
                <a16:creationId xmlns:a16="http://schemas.microsoft.com/office/drawing/2014/main" id="{0D241847-7D83-4B1E-8987-1EF5E3BB1CC6}"/>
              </a:ext>
            </a:extLst>
          </p:cNvPr>
          <p:cNvPicPr>
            <a:picLocks noChangeAspect="1"/>
          </p:cNvPicPr>
          <p:nvPr/>
        </p:nvPicPr>
        <p:blipFill rotWithShape="1">
          <a:blip r:embed="rId4"/>
          <a:srcRect l="5832" t="26000" r="8334" b="34000"/>
          <a:stretch/>
        </p:blipFill>
        <p:spPr>
          <a:xfrm>
            <a:off x="304799" y="4038600"/>
            <a:ext cx="8686799" cy="2743200"/>
          </a:xfrm>
          <a:prstGeom prst="rect">
            <a:avLst/>
          </a:prstGeom>
        </p:spPr>
      </p:pic>
    </p:spTree>
    <p:extLst>
      <p:ext uri="{BB962C8B-B14F-4D97-AF65-F5344CB8AC3E}">
        <p14:creationId xmlns:p14="http://schemas.microsoft.com/office/powerpoint/2010/main" val="37198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57200"/>
            <a:ext cx="8229600" cy="609600"/>
          </a:xfrm>
        </p:spPr>
        <p:txBody>
          <a:bodyPr>
            <a:normAutofit fontScale="90000"/>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219200"/>
                <a:ext cx="8534400" cy="5105400"/>
              </a:xfrm>
            </p:spPr>
            <p:txBody>
              <a:bodyPr>
                <a:normAutofit fontScale="85000" lnSpcReduction="20000"/>
              </a:bodyPr>
              <a:lstStyle/>
              <a:p>
                <a:pPr marL="0" indent="0">
                  <a:buNone/>
                </a:pPr>
                <a:r>
                  <a:rPr lang="en-PH" sz="2000" dirty="0"/>
                  <a:t>Example#3: Let vectors </a:t>
                </a:r>
                <a14:m>
                  <m:oMath xmlns:m="http://schemas.openxmlformats.org/officeDocument/2006/math">
                    <m:r>
                      <a:rPr lang="en-PH" sz="2000" b="1" i="0" smtClean="0">
                        <a:latin typeface="Cambria Math"/>
                      </a:rPr>
                      <m:t>𝐮</m:t>
                    </m:r>
                    <m:r>
                      <a:rPr lang="en-PH" sz="2000" b="0" i="0" smtClean="0">
                        <a:latin typeface="Cambria Math"/>
                      </a:rPr>
                      <m:t>=</m:t>
                    </m:r>
                    <m:r>
                      <a:rPr lang="en-PH" sz="2000" b="1" i="0" smtClean="0">
                        <a:latin typeface="Cambria Math"/>
                      </a:rPr>
                      <m:t> </m:t>
                    </m:r>
                    <m:d>
                      <m:dPr>
                        <m:begChr m:val="["/>
                        <m:endChr m:val="]"/>
                        <m:ctrlPr>
                          <a:rPr lang="en-PH" sz="2000" b="1" i="1" smtClean="0">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m:rPr>
                                  <m:brk m:alnAt="7"/>
                                </m:rPr>
                                <a:rPr lang="en-PH" sz="2000" b="0" i="1" smtClean="0">
                                  <a:latin typeface="Cambria Math"/>
                                </a:rPr>
                                <m:t>𝑎</m:t>
                              </m:r>
                              <m:r>
                                <a:rPr lang="en-PH" sz="2000" b="0" i="1" smtClean="0">
                                  <a:latin typeface="Cambria Math"/>
                                </a:rPr>
                                <m:t>+</m:t>
                              </m:r>
                              <m:r>
                                <a:rPr lang="en-PH" sz="2000" b="0" i="1" smtClean="0">
                                  <a:latin typeface="Cambria Math"/>
                                </a:rPr>
                                <m:t>𝑏</m:t>
                              </m:r>
                            </m:e>
                          </m:mr>
                          <m:mr>
                            <m:e>
                              <m:r>
                                <a:rPr lang="en-PH" sz="2000" b="0" i="1" smtClean="0">
                                  <a:latin typeface="Cambria Math"/>
                                </a:rPr>
                                <m:t>2</m:t>
                              </m:r>
                            </m:e>
                          </m:mr>
                        </m:m>
                      </m:e>
                    </m:d>
                  </m:oMath>
                </a14:m>
                <a:r>
                  <a:rPr lang="en-PH" sz="2000" dirty="0"/>
                  <a:t>  and </a:t>
                </a:r>
                <a14:m>
                  <m:oMath xmlns:m="http://schemas.openxmlformats.org/officeDocument/2006/math">
                    <m:r>
                      <a:rPr lang="en-PH" sz="2000" b="1" i="0" smtClean="0">
                        <a:latin typeface="Cambria Math"/>
                      </a:rPr>
                      <m:t>𝐯</m:t>
                    </m:r>
                    <m:r>
                      <a:rPr lang="en-PH" sz="2000" b="1" i="0" smtClean="0">
                        <a:latin typeface="Cambria Math"/>
                      </a:rPr>
                      <m:t>=</m:t>
                    </m:r>
                    <m:d>
                      <m:dPr>
                        <m:begChr m:val="["/>
                        <m:endChr m:val="]"/>
                        <m:ctrlPr>
                          <a:rPr lang="en-PH" sz="2000" i="1" smtClean="0">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m:rPr>
                                  <m:brk m:alnAt="7"/>
                                </m:rPr>
                                <a:rPr lang="en-PH" sz="2000" b="0" i="1" smtClean="0">
                                  <a:latin typeface="Cambria Math"/>
                                </a:rPr>
                                <m:t>3</m:t>
                              </m:r>
                            </m:e>
                          </m:mr>
                          <m:mr>
                            <m:e>
                              <m:r>
                                <a:rPr lang="en-PH" sz="2000" b="0" i="1" smtClean="0">
                                  <a:latin typeface="Cambria Math"/>
                                </a:rPr>
                                <m:t>𝑎</m:t>
                              </m:r>
                              <m:r>
                                <a:rPr lang="en-PH" sz="2000" b="0" i="1" smtClean="0">
                                  <a:latin typeface="Cambria Math"/>
                                </a:rPr>
                                <m:t> −</m:t>
                              </m:r>
                              <m:r>
                                <a:rPr lang="en-PH" sz="2000" b="0" i="1" smtClean="0">
                                  <a:latin typeface="Cambria Math"/>
                                </a:rPr>
                                <m:t>𝑏</m:t>
                              </m:r>
                            </m:e>
                          </m:mr>
                        </m:m>
                      </m:e>
                    </m:d>
                    <m:r>
                      <a:rPr lang="en-PH" sz="2000" b="0" i="1" smtClean="0">
                        <a:latin typeface="Cambria Math"/>
                      </a:rPr>
                      <m:t>  </m:t>
                    </m:r>
                  </m:oMath>
                </a14:m>
                <a:r>
                  <a:rPr lang="en-PH" sz="2000" dirty="0"/>
                  <a:t>be equal, find the value of </a:t>
                </a:r>
                <a:r>
                  <a:rPr lang="en-PH" sz="2000" i="1" dirty="0"/>
                  <a:t>a</a:t>
                </a:r>
                <a:r>
                  <a:rPr lang="en-PH" sz="2000" dirty="0"/>
                  <a:t> and </a:t>
                </a:r>
                <a:r>
                  <a:rPr lang="en-PH" sz="2000" i="1" dirty="0"/>
                  <a:t>b.</a:t>
                </a:r>
              </a:p>
              <a:p>
                <a:pPr marL="0" indent="0">
                  <a:buNone/>
                </a:pPr>
                <a:endParaRPr lang="en-PH" sz="2000" i="1" dirty="0"/>
              </a:p>
              <a:p>
                <a:pPr marL="0" indent="0">
                  <a:buNone/>
                </a:pPr>
                <a:r>
                  <a:rPr lang="en-PH" sz="2000" i="1" dirty="0"/>
                  <a:t>Solution: If vectors </a:t>
                </a:r>
                <a14:m>
                  <m:oMath xmlns:m="http://schemas.openxmlformats.org/officeDocument/2006/math">
                    <m:r>
                      <a:rPr lang="en-PH" sz="2000" b="0" i="1" smtClean="0">
                        <a:latin typeface="Cambria Math"/>
                      </a:rPr>
                      <m:t>𝑢</m:t>
                    </m:r>
                    <m:r>
                      <a:rPr lang="en-PH" sz="2000" b="0" i="1" smtClean="0">
                        <a:latin typeface="Cambria Math"/>
                      </a:rPr>
                      <m:t>=</m:t>
                    </m:r>
                    <m:r>
                      <a:rPr lang="en-PH" sz="2000" b="0" i="1" smtClean="0">
                        <a:latin typeface="Cambria Math"/>
                      </a:rPr>
                      <m:t>𝑣</m:t>
                    </m:r>
                    <m:r>
                      <a:rPr lang="en-PH" sz="2000" b="0" i="1" smtClean="0">
                        <a:latin typeface="Cambria Math"/>
                      </a:rPr>
                      <m:t>,  </m:t>
                    </m:r>
                    <m:r>
                      <a:rPr lang="en-PH" sz="2000" b="0" i="1" smtClean="0">
                        <a:latin typeface="Cambria Math"/>
                      </a:rPr>
                      <m:t>𝑜𝑟</m:t>
                    </m:r>
                    <m:r>
                      <a:rPr lang="en-PH" sz="2000" b="0" i="1" smtClean="0">
                        <a:latin typeface="Cambria Math"/>
                      </a:rPr>
                      <m:t> </m:t>
                    </m:r>
                    <m:d>
                      <m:dPr>
                        <m:begChr m:val="["/>
                        <m:endChr m:val="]"/>
                        <m:ctrlPr>
                          <a:rPr lang="en-PH" sz="2000" b="1"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m:rPr>
                                  <m:brk m:alnAt="7"/>
                                </m:rPr>
                                <a:rPr lang="en-PH" sz="2000" i="1">
                                  <a:latin typeface="Cambria Math"/>
                                </a:rPr>
                                <m:t>𝑎</m:t>
                              </m:r>
                              <m:r>
                                <a:rPr lang="en-PH" sz="2000" i="1">
                                  <a:latin typeface="Cambria Math"/>
                                </a:rPr>
                                <m:t>+</m:t>
                              </m:r>
                              <m:r>
                                <a:rPr lang="en-PH" sz="2000" i="1">
                                  <a:latin typeface="Cambria Math"/>
                                </a:rPr>
                                <m:t>𝑏</m:t>
                              </m:r>
                            </m:e>
                          </m:mr>
                          <m:mr>
                            <m:e>
                              <m:r>
                                <a:rPr lang="en-PH" sz="2000" i="1">
                                  <a:latin typeface="Cambria Math"/>
                                </a:rPr>
                                <m:t>2</m:t>
                              </m:r>
                            </m:e>
                          </m:mr>
                        </m:m>
                      </m:e>
                    </m:d>
                    <m:r>
                      <a:rPr lang="en-PH" sz="2000" b="1" i="1" smtClean="0">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m:rPr>
                                  <m:brk m:alnAt="7"/>
                                </m:rPr>
                                <a:rPr lang="en-PH" sz="2000" i="1">
                                  <a:latin typeface="Cambria Math"/>
                                </a:rPr>
                                <m:t>3</m:t>
                              </m:r>
                            </m:e>
                          </m:mr>
                          <m:mr>
                            <m:e>
                              <m:r>
                                <a:rPr lang="en-PH" sz="2000" i="1">
                                  <a:latin typeface="Cambria Math"/>
                                </a:rPr>
                                <m:t>𝑎</m:t>
                              </m:r>
                              <m:r>
                                <a:rPr lang="en-PH" sz="2000" i="1">
                                  <a:latin typeface="Cambria Math"/>
                                </a:rPr>
                                <m:t> −</m:t>
                              </m:r>
                              <m:r>
                                <a:rPr lang="en-PH" sz="2000" i="1">
                                  <a:latin typeface="Cambria Math"/>
                                </a:rPr>
                                <m:t>𝑏</m:t>
                              </m:r>
                            </m:e>
                          </m:mr>
                        </m:m>
                      </m:e>
                    </m:d>
                  </m:oMath>
                </a14:m>
                <a:r>
                  <a:rPr lang="en-PH" sz="2000" b="1" dirty="0"/>
                  <a:t>, </a:t>
                </a:r>
                <a14:m>
                  <m:oMath xmlns:m="http://schemas.openxmlformats.org/officeDocument/2006/math">
                    <m:r>
                      <a:rPr lang="en-PH" sz="2000" b="1" i="0" smtClean="0">
                        <a:latin typeface="Cambria Math"/>
                      </a:rPr>
                      <m:t>  </m:t>
                    </m:r>
                    <m:r>
                      <a:rPr lang="en-PH" sz="2000" i="1">
                        <a:latin typeface="Cambria Math"/>
                      </a:rPr>
                      <m:t>𝑡h𝑒𝑛</m:t>
                    </m:r>
                  </m:oMath>
                </a14:m>
                <a:endParaRPr lang="en-PH" sz="2000" b="0" dirty="0"/>
              </a:p>
              <a:p>
                <a:pPr marL="0" indent="0">
                  <a:buNone/>
                </a:pPr>
                <a:r>
                  <a:rPr lang="en-PH" sz="2000" b="0" dirty="0"/>
                  <a:t> thus </a:t>
                </a:r>
                <a14:m>
                  <m:oMath xmlns:m="http://schemas.openxmlformats.org/officeDocument/2006/math">
                    <m:r>
                      <a:rPr lang="en-PH" sz="2000" b="0" i="1" smtClean="0">
                        <a:latin typeface="Cambria Math"/>
                      </a:rPr>
                      <m:t>𝑎</m:t>
                    </m:r>
                    <m:r>
                      <a:rPr lang="en-PH" sz="2000" b="0" i="1" smtClean="0">
                        <a:latin typeface="Cambria Math"/>
                      </a:rPr>
                      <m:t>=</m:t>
                    </m:r>
                    <m:f>
                      <m:fPr>
                        <m:ctrlPr>
                          <a:rPr lang="en-PH" sz="2000" b="0" i="1" smtClean="0">
                            <a:latin typeface="Cambria Math" panose="02040503050406030204" pitchFamily="18" charset="0"/>
                          </a:rPr>
                        </m:ctrlPr>
                      </m:fPr>
                      <m:num>
                        <m:r>
                          <a:rPr lang="en-PH" sz="2000" b="0" i="1" smtClean="0">
                            <a:latin typeface="Cambria Math"/>
                          </a:rPr>
                          <m:t>5</m:t>
                        </m:r>
                      </m:num>
                      <m:den>
                        <m:r>
                          <a:rPr lang="en-PH" sz="2000" b="0" i="1" smtClean="0">
                            <a:latin typeface="Cambria Math"/>
                          </a:rPr>
                          <m:t>2</m:t>
                        </m:r>
                      </m:den>
                    </m:f>
                    <m:r>
                      <a:rPr lang="en-PH" sz="2000" b="0" i="1" smtClean="0">
                        <a:latin typeface="Cambria Math"/>
                      </a:rPr>
                      <m:t>  </m:t>
                    </m:r>
                  </m:oMath>
                </a14:m>
                <a:r>
                  <a:rPr lang="en-PH" sz="2000" b="0" dirty="0"/>
                  <a:t> and </a:t>
                </a:r>
                <a14:m>
                  <m:oMath xmlns:m="http://schemas.openxmlformats.org/officeDocument/2006/math">
                    <m:r>
                      <a:rPr lang="en-PH" sz="2000" b="0" i="1" smtClean="0">
                        <a:latin typeface="Cambria Math"/>
                      </a:rPr>
                      <m:t>𝑏</m:t>
                    </m:r>
                    <m:r>
                      <a:rPr lang="en-PH" sz="2000" b="0" i="1" smtClean="0">
                        <a:latin typeface="Cambria Math"/>
                      </a:rPr>
                      <m:t>= </m:t>
                    </m:r>
                    <m:f>
                      <m:fPr>
                        <m:ctrlPr>
                          <a:rPr lang="en-PH" sz="2000" b="0" i="1" smtClean="0">
                            <a:latin typeface="Cambria Math" panose="02040503050406030204" pitchFamily="18" charset="0"/>
                          </a:rPr>
                        </m:ctrlPr>
                      </m:fPr>
                      <m:num>
                        <m:r>
                          <a:rPr lang="en-PH" sz="2000" b="0" i="1" smtClean="0">
                            <a:latin typeface="Cambria Math"/>
                          </a:rPr>
                          <m:t>1</m:t>
                        </m:r>
                      </m:num>
                      <m:den>
                        <m:r>
                          <a:rPr lang="en-PH" sz="2000" b="0" i="1" smtClean="0">
                            <a:latin typeface="Cambria Math"/>
                          </a:rPr>
                          <m:t>2</m:t>
                        </m:r>
                      </m:den>
                    </m:f>
                  </m:oMath>
                </a14:m>
                <a:r>
                  <a:rPr lang="en-PH" sz="2000" b="0" dirty="0"/>
                  <a:t>.		(1)   </a:t>
                </a:r>
                <a:r>
                  <a:rPr lang="en-PH" sz="2000" dirty="0"/>
                  <a:t>a + b = 3	   add:	a + b = 3</a:t>
                </a:r>
                <a:endParaRPr lang="en-PH" sz="2000" b="0" dirty="0"/>
              </a:p>
              <a:p>
                <a:pPr marL="0" indent="0">
                  <a:buNone/>
                </a:pPr>
                <a:r>
                  <a:rPr lang="en-PH" sz="2000" dirty="0"/>
                  <a:t>				(2)          2 = a – b                 -a + b = -2</a:t>
                </a:r>
              </a:p>
              <a:p>
                <a:pPr marL="0" indent="0">
                  <a:buNone/>
                </a:pPr>
                <a:r>
                  <a:rPr lang="en-PH" sz="2000" dirty="0"/>
                  <a:t>                                                                                                        __________</a:t>
                </a:r>
              </a:p>
              <a:p>
                <a:pPr marL="0" indent="0">
                  <a:buNone/>
                </a:pPr>
                <a14:m>
                  <m:oMath xmlns:m="http://schemas.openxmlformats.org/officeDocument/2006/math">
                    <m:r>
                      <a:rPr lang="en-PH" sz="2000" b="1" smtClean="0">
                        <a:latin typeface="Cambria Math"/>
                      </a:rPr>
                      <m:t>𝐮</m:t>
                    </m:r>
                    <m:r>
                      <a:rPr lang="en-PH" sz="2000">
                        <a:latin typeface="Cambria Math"/>
                      </a:rPr>
                      <m:t>=</m:t>
                    </m:r>
                    <m:r>
                      <a:rPr lang="en-PH" sz="2000" b="1">
                        <a:latin typeface="Cambria Math"/>
                      </a:rPr>
                      <m:t> </m:t>
                    </m:r>
                    <m:d>
                      <m:dPr>
                        <m:begChr m:val="["/>
                        <m:endChr m:val="]"/>
                        <m:ctrlPr>
                          <a:rPr lang="en-PH" sz="2000" b="1"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US" sz="2000" b="0" i="1" smtClean="0">
                                  <a:latin typeface="Cambria Math" panose="02040503050406030204" pitchFamily="18" charset="0"/>
                                </a:rPr>
                                <m:t>3</m:t>
                              </m:r>
                            </m:e>
                          </m:mr>
                          <m:mr>
                            <m:e>
                              <m:r>
                                <a:rPr lang="en-PH" sz="2000" i="1">
                                  <a:latin typeface="Cambria Math"/>
                                </a:rPr>
                                <m:t>2</m:t>
                              </m:r>
                            </m:e>
                          </m:mr>
                        </m:m>
                      </m:e>
                    </m:d>
                  </m:oMath>
                </a14:m>
                <a:r>
                  <a:rPr lang="en-PH" sz="2000" dirty="0"/>
                  <a:t>		</a:t>
                </a:r>
                <a:r>
                  <a:rPr lang="en-PH" sz="2000" b="1" dirty="0"/>
                  <a:t> </a:t>
                </a:r>
                <a14:m>
                  <m:oMath xmlns:m="http://schemas.openxmlformats.org/officeDocument/2006/math">
                    <m:r>
                      <a:rPr lang="en-US" sz="2000" b="1" i="0" smtClean="0">
                        <a:latin typeface="Cambria Math" panose="02040503050406030204" pitchFamily="18" charset="0"/>
                      </a:rPr>
                      <m:t>𝐯</m:t>
                    </m:r>
                    <m:r>
                      <a:rPr lang="en-PH" sz="2000">
                        <a:latin typeface="Cambria Math"/>
                      </a:rPr>
                      <m:t>=</m:t>
                    </m:r>
                    <m:r>
                      <a:rPr lang="en-PH" sz="2000" b="1">
                        <a:latin typeface="Cambria Math"/>
                      </a:rPr>
                      <m:t> </m:t>
                    </m:r>
                    <m:d>
                      <m:dPr>
                        <m:begChr m:val="["/>
                        <m:endChr m:val="]"/>
                        <m:ctrlPr>
                          <a:rPr lang="en-PH" sz="2000" b="1"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US" sz="2000" i="1">
                                  <a:latin typeface="Cambria Math" panose="02040503050406030204" pitchFamily="18" charset="0"/>
                                </a:rPr>
                                <m:t>3</m:t>
                              </m:r>
                            </m:e>
                          </m:mr>
                          <m:mr>
                            <m:e>
                              <m:r>
                                <a:rPr lang="en-PH" sz="2000" i="1">
                                  <a:latin typeface="Cambria Math"/>
                                </a:rPr>
                                <m:t>2</m:t>
                              </m:r>
                            </m:e>
                          </m:mr>
                        </m:m>
                      </m:e>
                    </m:d>
                  </m:oMath>
                </a14:m>
                <a:r>
                  <a:rPr lang="en-PH" sz="2000" dirty="0"/>
                  <a:t>                                                                       2b = 1</a:t>
                </a:r>
              </a:p>
              <a:p>
                <a:pPr marL="0" indent="0">
                  <a:buNone/>
                </a:pPr>
                <a:r>
                  <a:rPr lang="en-PH" sz="2000" dirty="0"/>
                  <a:t>                                                                                                   b = ½</a:t>
                </a:r>
              </a:p>
              <a:p>
                <a:pPr marL="0" indent="0">
                  <a:buNone/>
                </a:pPr>
                <a:r>
                  <a:rPr lang="en-PH" sz="2000" dirty="0"/>
                  <a:t>							a + ½ = 3</a:t>
                </a:r>
              </a:p>
              <a:p>
                <a:pPr marL="0" indent="0">
                  <a:buNone/>
                </a:pPr>
                <a:r>
                  <a:rPr lang="en-PH" sz="2000" dirty="0"/>
                  <a:t>							        a = 3 – ½</a:t>
                </a:r>
              </a:p>
              <a:p>
                <a:pPr marL="0" indent="0">
                  <a:buNone/>
                </a:pPr>
                <a:r>
                  <a:rPr lang="en-PH" sz="2000" dirty="0"/>
                  <a:t> 							        a = 5/2</a:t>
                </a:r>
              </a:p>
              <a:p>
                <a:pPr marL="0" indent="0">
                  <a:buNone/>
                </a:pPr>
                <a14:m>
                  <m:oMath xmlns:m="http://schemas.openxmlformats.org/officeDocument/2006/math">
                    <m:r>
                      <a:rPr lang="en-PH" sz="2000" b="1" i="0" smtClean="0">
                        <a:latin typeface="Cambria Math"/>
                      </a:rPr>
                      <m:t>𝐮</m:t>
                    </m:r>
                    <m:r>
                      <a:rPr lang="en-PH" sz="2000" b="0" i="0" smtClean="0">
                        <a:latin typeface="Cambria Math"/>
                      </a:rPr>
                      <m:t>=</m:t>
                    </m:r>
                    <m:r>
                      <a:rPr lang="en-PH" sz="2000" b="1" i="0" smtClean="0">
                        <a:latin typeface="Cambria Math"/>
                      </a:rPr>
                      <m:t> </m:t>
                    </m:r>
                    <m:d>
                      <m:dPr>
                        <m:begChr m:val="["/>
                        <m:endChr m:val="]"/>
                        <m:ctrlPr>
                          <a:rPr lang="en-PH" sz="2000" b="1" i="1" smtClean="0">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a:rPr lang="en-US" sz="2000" b="0" i="1" smtClean="0">
                                  <a:latin typeface="Cambria Math" panose="02040503050406030204" pitchFamily="18" charset="0"/>
                                </a:rPr>
                                <m:t>5/2</m:t>
                              </m:r>
                              <m:r>
                                <a:rPr lang="en-PH" sz="2000" b="0" i="1" smtClean="0">
                                  <a:latin typeface="Cambria Math"/>
                                </a:rPr>
                                <m:t>+</m:t>
                              </m:r>
                              <m:r>
                                <a:rPr lang="en-US" sz="2000" b="0" i="1" smtClean="0">
                                  <a:latin typeface="Cambria Math" panose="02040503050406030204" pitchFamily="18" charset="0"/>
                                </a:rPr>
                                <m:t>1/2</m:t>
                              </m:r>
                            </m:e>
                          </m:mr>
                          <m:mr>
                            <m:e>
                              <m:r>
                                <a:rPr lang="en-PH" sz="2000" b="0" i="1" smtClean="0">
                                  <a:latin typeface="Cambria Math"/>
                                </a:rPr>
                                <m:t>2</m:t>
                              </m:r>
                            </m:e>
                          </m:mr>
                        </m:m>
                      </m:e>
                    </m:d>
                  </m:oMath>
                </a14:m>
                <a:r>
                  <a:rPr lang="en-PH" sz="2000" dirty="0"/>
                  <a:t>  = </a:t>
                </a:r>
                <a14:m>
                  <m:oMath xmlns:m="http://schemas.openxmlformats.org/officeDocument/2006/math">
                    <m:d>
                      <m:dPr>
                        <m:begChr m:val="["/>
                        <m:endChr m:val="]"/>
                        <m:ctrlPr>
                          <a:rPr lang="en-PH" sz="2000" b="1"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US" sz="2000" i="1">
                                  <a:latin typeface="Cambria Math" panose="02040503050406030204" pitchFamily="18" charset="0"/>
                                </a:rPr>
                                <m:t>3</m:t>
                              </m:r>
                            </m:e>
                          </m:mr>
                          <m:mr>
                            <m:e>
                              <m:r>
                                <a:rPr lang="en-PH" sz="2000" i="1">
                                  <a:latin typeface="Cambria Math"/>
                                </a:rPr>
                                <m:t>2</m:t>
                              </m:r>
                            </m:e>
                          </m:mr>
                        </m:m>
                      </m:e>
                    </m:d>
                  </m:oMath>
                </a14:m>
                <a:endParaRPr lang="en-PH" sz="2000" dirty="0"/>
              </a:p>
              <a:p>
                <a:pPr marL="0" indent="0">
                  <a:buNone/>
                </a:pPr>
                <a:endParaRPr lang="en-PH" sz="2000" dirty="0"/>
              </a:p>
              <a:p>
                <a:pPr marL="0" indent="0">
                  <a:buNone/>
                </a:pPr>
                <a:r>
                  <a:rPr lang="en-PH" sz="2000" dirty="0"/>
                  <a:t> and </a:t>
                </a:r>
                <a14:m>
                  <m:oMath xmlns:m="http://schemas.openxmlformats.org/officeDocument/2006/math">
                    <m:r>
                      <a:rPr lang="en-PH" sz="2000" b="1" i="0" smtClean="0">
                        <a:latin typeface="Cambria Math"/>
                      </a:rPr>
                      <m:t>𝐯</m:t>
                    </m:r>
                    <m:r>
                      <a:rPr lang="en-PH" sz="2000" b="1" i="0" smtClean="0">
                        <a:latin typeface="Cambria Math"/>
                      </a:rPr>
                      <m:t>=</m:t>
                    </m:r>
                    <m:d>
                      <m:dPr>
                        <m:begChr m:val="["/>
                        <m:endChr m:val="]"/>
                        <m:ctrlPr>
                          <a:rPr lang="en-PH" sz="2000" i="1" smtClean="0">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m:rPr>
                                  <m:brk m:alnAt="7"/>
                                </m:rPr>
                                <a:rPr lang="en-PH" sz="2000" b="0" i="1" smtClean="0">
                                  <a:latin typeface="Cambria Math"/>
                                </a:rPr>
                                <m:t>3</m:t>
                              </m:r>
                            </m:e>
                          </m:mr>
                          <m:mr>
                            <m:e>
                              <m:r>
                                <a:rPr lang="en-US" sz="2000" b="0" i="1" smtClean="0">
                                  <a:latin typeface="Cambria Math" panose="02040503050406030204" pitchFamily="18" charset="0"/>
                                </a:rPr>
                                <m:t>5/2</m:t>
                              </m:r>
                              <m:r>
                                <a:rPr lang="en-PH" sz="2000" b="0" i="1" smtClean="0">
                                  <a:latin typeface="Cambria Math"/>
                                </a:rPr>
                                <m:t> −</m:t>
                              </m:r>
                              <m:r>
                                <a:rPr lang="en-US" sz="2000" b="0" i="1" smtClean="0">
                                  <a:latin typeface="Cambria Math" panose="02040503050406030204" pitchFamily="18" charset="0"/>
                                </a:rPr>
                                <m:t>1/2</m:t>
                              </m:r>
                            </m:e>
                          </m:mr>
                        </m:m>
                      </m:e>
                    </m:d>
                  </m:oMath>
                </a14:m>
                <a:r>
                  <a:rPr lang="en-PH" sz="2000" dirty="0"/>
                  <a:t> = </a:t>
                </a:r>
                <a14:m>
                  <m:oMath xmlns:m="http://schemas.openxmlformats.org/officeDocument/2006/math">
                    <m:d>
                      <m:dPr>
                        <m:begChr m:val="["/>
                        <m:endChr m:val="]"/>
                        <m:ctrlPr>
                          <a:rPr lang="en-PH" sz="2000" b="1"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US" sz="2000" i="1">
                                  <a:latin typeface="Cambria Math" panose="02040503050406030204" pitchFamily="18" charset="0"/>
                                </a:rPr>
                                <m:t>3</m:t>
                              </m:r>
                            </m:e>
                          </m:mr>
                          <m:mr>
                            <m:e>
                              <m:r>
                                <a:rPr lang="en-PH" sz="2000" i="1">
                                  <a:latin typeface="Cambria Math"/>
                                </a:rPr>
                                <m:t>2</m:t>
                              </m:r>
                            </m:e>
                          </m:mr>
                        </m:m>
                      </m:e>
                    </m:d>
                  </m:oMath>
                </a14:m>
                <a:endParaRPr lang="en-PH" sz="2000" dirty="0"/>
              </a:p>
              <a:p>
                <a:pPr marL="0" indent="0">
                  <a:buNone/>
                </a:pPr>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219200"/>
                <a:ext cx="8534400" cy="5105400"/>
              </a:xfrm>
              <a:blipFill>
                <a:blip r:embed="rId3"/>
                <a:stretch>
                  <a:fillRect l="-429" t="-597" r="-286"/>
                </a:stretch>
              </a:blipFill>
            </p:spPr>
            <p:txBody>
              <a:bodyPr/>
              <a:lstStyle/>
              <a:p>
                <a:r>
                  <a:rPr lang="en-PH">
                    <a:noFill/>
                  </a:rPr>
                  <a:t> </a:t>
                </a:r>
              </a:p>
            </p:txBody>
          </p:sp>
        </mc:Fallback>
      </mc:AlternateContent>
      <p:sp>
        <p:nvSpPr>
          <p:cNvPr id="5" name="Rectangle 4"/>
          <p:cNvSpPr/>
          <p:nvPr/>
        </p:nvSpPr>
        <p:spPr>
          <a:xfrm>
            <a:off x="6629400" y="4648200"/>
            <a:ext cx="1600200" cy="838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194959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r>
                  <a:rPr lang="en-PH" sz="1800" dirty="0"/>
                  <a:t>Definition 2:  </a:t>
                </a:r>
              </a:p>
              <a:p>
                <a:pPr marL="0" indent="0">
                  <a:buNone/>
                </a:pPr>
                <a:r>
                  <a:rPr lang="en-PH" sz="1800" i="1" dirty="0"/>
                  <a:t>	</a:t>
                </a:r>
                <a:r>
                  <a:rPr lang="en-PH" sz="1800" dirty="0"/>
                  <a:t>Let   </a:t>
                </a:r>
                <a14:m>
                  <m:oMath xmlns:m="http://schemas.openxmlformats.org/officeDocument/2006/math">
                    <m:r>
                      <a:rPr lang="en-PH" sz="1800" b="1" i="0" smtClean="0">
                        <a:latin typeface="Cambria Math"/>
                      </a:rPr>
                      <m:t>𝐮</m:t>
                    </m:r>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sSub>
                                <m:sSubPr>
                                  <m:ctrlPr>
                                    <a:rPr lang="en-PH" sz="1800" b="0" i="1" smtClean="0">
                                      <a:latin typeface="Cambria Math" panose="02040503050406030204" pitchFamily="18" charset="0"/>
                                    </a:rPr>
                                  </m:ctrlPr>
                                </m:sSubPr>
                                <m:e>
                                  <m:r>
                                    <a:rPr lang="en-PH" sz="1800" b="0" i="1" smtClean="0">
                                      <a:latin typeface="Cambria Math"/>
                                    </a:rPr>
                                    <m:t>𝑢</m:t>
                                  </m:r>
                                </m:e>
                                <m:sub>
                                  <m:r>
                                    <a:rPr lang="en-PH" sz="1800" b="0" i="1" smtClean="0">
                                      <a:latin typeface="Cambria Math"/>
                                    </a:rPr>
                                    <m:t>1</m:t>
                                  </m:r>
                                </m:sub>
                              </m:sSub>
                            </m:e>
                          </m:mr>
                          <m:mr>
                            <m:e>
                              <m:sSub>
                                <m:sSubPr>
                                  <m:ctrlPr>
                                    <a:rPr lang="en-PH" sz="1800" b="0" i="1" smtClean="0">
                                      <a:latin typeface="Cambria Math" panose="02040503050406030204" pitchFamily="18" charset="0"/>
                                    </a:rPr>
                                  </m:ctrlPr>
                                </m:sSubPr>
                                <m:e>
                                  <m:r>
                                    <a:rPr lang="en-PH" sz="1800" b="0" i="1" smtClean="0">
                                      <a:latin typeface="Cambria Math"/>
                                    </a:rPr>
                                    <m:t>𝑢</m:t>
                                  </m:r>
                                </m:e>
                                <m:sub>
                                  <m:r>
                                    <a:rPr lang="en-PH" sz="1800" b="0" i="1" smtClean="0">
                                      <a:latin typeface="Cambria Math"/>
                                    </a:rPr>
                                    <m:t>2</m:t>
                                  </m:r>
                                </m:sub>
                              </m:sSub>
                            </m:e>
                          </m:mr>
                        </m:m>
                      </m:e>
                    </m:d>
                  </m:oMath>
                </a14:m>
                <a:r>
                  <a:rPr lang="en-PH" sz="1800" b="0" dirty="0"/>
                  <a:t>   and </a:t>
                </a:r>
                <a14:m>
                  <m:oMath xmlns:m="http://schemas.openxmlformats.org/officeDocument/2006/math">
                    <m:r>
                      <a:rPr lang="en-PH" sz="1800" b="1" i="0" smtClean="0">
                        <a:latin typeface="Cambria Math"/>
                      </a:rPr>
                      <m:t>𝐯</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sSub>
                                <m:sSubPr>
                                  <m:ctrlPr>
                                    <a:rPr lang="en-PH" sz="1800" i="1">
                                      <a:latin typeface="Cambria Math" panose="02040503050406030204" pitchFamily="18" charset="0"/>
                                    </a:rPr>
                                  </m:ctrlPr>
                                </m:sSubPr>
                                <m:e>
                                  <m:r>
                                    <a:rPr lang="en-PH" sz="1800" b="0" i="1" smtClean="0">
                                      <a:latin typeface="Cambria Math"/>
                                    </a:rPr>
                                    <m:t>𝑣</m:t>
                                  </m:r>
                                </m:e>
                                <m:sub>
                                  <m:r>
                                    <a:rPr lang="en-PH" sz="1800" i="1">
                                      <a:latin typeface="Cambria Math"/>
                                    </a:rPr>
                                    <m:t>1</m:t>
                                  </m:r>
                                </m:sub>
                              </m:sSub>
                            </m:e>
                          </m:mr>
                          <m:mr>
                            <m:e>
                              <m:sSub>
                                <m:sSubPr>
                                  <m:ctrlPr>
                                    <a:rPr lang="en-PH" sz="1800" i="1">
                                      <a:latin typeface="Cambria Math" panose="02040503050406030204" pitchFamily="18" charset="0"/>
                                    </a:rPr>
                                  </m:ctrlPr>
                                </m:sSubPr>
                                <m:e>
                                  <m:r>
                                    <a:rPr lang="en-PH" sz="1800" b="0" i="1" smtClean="0">
                                      <a:latin typeface="Cambria Math"/>
                                    </a:rPr>
                                    <m:t>𝑣</m:t>
                                  </m:r>
                                </m:e>
                                <m:sub>
                                  <m:r>
                                    <a:rPr lang="en-PH" sz="1800" i="1">
                                      <a:latin typeface="Cambria Math"/>
                                    </a:rPr>
                                    <m:t>2</m:t>
                                  </m:r>
                                </m:sub>
                              </m:sSub>
                            </m:e>
                          </m:mr>
                        </m:m>
                      </m:e>
                    </m:d>
                    <m:r>
                      <a:rPr lang="en-PH" sz="1800" b="0" i="1" smtClean="0">
                        <a:latin typeface="Cambria Math"/>
                      </a:rPr>
                      <m:t> </m:t>
                    </m:r>
                  </m:oMath>
                </a14:m>
                <a:r>
                  <a:rPr lang="en-PH" sz="1800" b="0" dirty="0"/>
                  <a:t> be two vectors in the plane. The sum of the vectors </a:t>
                </a:r>
                <a14:m>
                  <m:oMath xmlns:m="http://schemas.openxmlformats.org/officeDocument/2006/math">
                    <m:r>
                      <a:rPr lang="en-PH" sz="1800" b="1">
                        <a:latin typeface="Cambria Math"/>
                      </a:rPr>
                      <m:t>𝐮</m:t>
                    </m:r>
                  </m:oMath>
                </a14:m>
                <a:r>
                  <a:rPr lang="en-PH" sz="1800" b="0" dirty="0"/>
                  <a:t> and </a:t>
                </a:r>
                <a14:m>
                  <m:oMath xmlns:m="http://schemas.openxmlformats.org/officeDocument/2006/math">
                    <m:r>
                      <a:rPr lang="en-PH" sz="1800" b="1" i="0" smtClean="0">
                        <a:latin typeface="Cambria Math"/>
                      </a:rPr>
                      <m:t>𝐯</m:t>
                    </m:r>
                  </m:oMath>
                </a14:m>
                <a:r>
                  <a:rPr lang="en-PH" sz="1800" b="0" dirty="0"/>
                  <a:t>  is the vector:</a:t>
                </a:r>
              </a:p>
              <a:p>
                <a:pPr marL="0" indent="0">
                  <a:buNone/>
                </a:pPr>
                <a:endParaRPr lang="en-PH" sz="1800" b="0" dirty="0"/>
              </a:p>
              <a:p>
                <a:pPr marL="0" indent="0" algn="ctr">
                  <a:buNone/>
                </a:pPr>
                <a14:m>
                  <m:oMathPara xmlns:m="http://schemas.openxmlformats.org/officeDocument/2006/math">
                    <m:oMathParaPr>
                      <m:jc m:val="centerGroup"/>
                    </m:oMathParaPr>
                    <m:oMath xmlns:m="http://schemas.openxmlformats.org/officeDocument/2006/math">
                      <m:r>
                        <a:rPr lang="en-PH" sz="1800" b="1" i="0" smtClean="0">
                          <a:latin typeface="Cambria Math"/>
                        </a:rPr>
                        <m:t>𝐮</m:t>
                      </m:r>
                      <m:r>
                        <a:rPr lang="en-PH" sz="1800" b="0" i="0" smtClean="0">
                          <a:latin typeface="Cambria Math"/>
                        </a:rPr>
                        <m:t>+</m:t>
                      </m:r>
                      <m:r>
                        <a:rPr lang="en-PH" sz="1800" b="1" i="0" smtClean="0">
                          <a:latin typeface="Cambria Math"/>
                        </a:rPr>
                        <m:t>𝐯</m:t>
                      </m:r>
                      <m:r>
                        <a:rPr lang="en-PH" sz="1800" b="1" i="0" smtClean="0">
                          <a:latin typeface="Cambria Math"/>
                        </a:rPr>
                        <m:t>= </m:t>
                      </m:r>
                      <m:d>
                        <m:dPr>
                          <m:begChr m:val="["/>
                          <m:endChr m:val="]"/>
                          <m:ctrlPr>
                            <a:rPr lang="en-PH" sz="1800"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sSub>
                                  <m:sSubPr>
                                    <m:ctrlPr>
                                      <a:rPr lang="en-PH" sz="1800" i="1" smtClean="0">
                                        <a:latin typeface="Cambria Math" panose="02040503050406030204" pitchFamily="18" charset="0"/>
                                      </a:rPr>
                                    </m:ctrlPr>
                                  </m:sSubPr>
                                  <m:e>
                                    <m:r>
                                      <a:rPr lang="en-PH" sz="1800" b="0" i="1" smtClean="0">
                                        <a:latin typeface="Cambria Math"/>
                                      </a:rPr>
                                      <m:t>𝑢</m:t>
                                    </m:r>
                                  </m:e>
                                  <m:sub>
                                    <m:r>
                                      <a:rPr lang="en-PH" sz="1800" b="0" i="1" smtClean="0">
                                        <a:latin typeface="Cambria Math"/>
                                      </a:rPr>
                                      <m:t>1</m:t>
                                    </m:r>
                                  </m:sub>
                                </m:sSub>
                                <m:r>
                                  <m:rPr>
                                    <m:brk m:alnAt="7"/>
                                  </m:rPr>
                                  <a:rPr lang="en-PH" sz="1800" b="0" i="1" smtClean="0">
                                    <a:latin typeface="Cambria Math"/>
                                  </a:rPr>
                                  <m:t>+</m:t>
                                </m:r>
                                <m:sSub>
                                  <m:sSubPr>
                                    <m:ctrlPr>
                                      <a:rPr lang="en-PH" sz="1800" i="1" smtClean="0">
                                        <a:latin typeface="Cambria Math" panose="02040503050406030204" pitchFamily="18" charset="0"/>
                                      </a:rPr>
                                    </m:ctrlPr>
                                  </m:sSubPr>
                                  <m:e>
                                    <m:r>
                                      <a:rPr lang="en-PH" sz="1800" b="0" i="1" smtClean="0">
                                        <a:latin typeface="Cambria Math"/>
                                      </a:rPr>
                                      <m:t>𝑣</m:t>
                                    </m:r>
                                  </m:e>
                                  <m:sub>
                                    <m:r>
                                      <a:rPr lang="en-PH" sz="1800" b="0" i="1" smtClean="0">
                                        <a:latin typeface="Cambria Math"/>
                                      </a:rPr>
                                      <m:t>1</m:t>
                                    </m:r>
                                  </m:sub>
                                </m:sSub>
                              </m:e>
                            </m:mr>
                            <m:mr>
                              <m:e>
                                <m:sSub>
                                  <m:sSubPr>
                                    <m:ctrlPr>
                                      <a:rPr lang="en-PH" sz="1800" i="1">
                                        <a:latin typeface="Cambria Math" panose="02040503050406030204" pitchFamily="18" charset="0"/>
                                      </a:rPr>
                                    </m:ctrlPr>
                                  </m:sSubPr>
                                  <m:e>
                                    <m:r>
                                      <a:rPr lang="en-PH" sz="1800" b="0" i="1" smtClean="0">
                                        <a:latin typeface="Cambria Math"/>
                                      </a:rPr>
                                      <m:t>𝑢</m:t>
                                    </m:r>
                                  </m:e>
                                  <m:sub>
                                    <m:r>
                                      <a:rPr lang="en-PH" sz="1800" b="0" i="1" smtClean="0">
                                        <a:latin typeface="Cambria Math"/>
                                      </a:rPr>
                                      <m:t>2</m:t>
                                    </m:r>
                                  </m:sub>
                                </m:sSub>
                                <m:r>
                                  <m:rPr>
                                    <m:brk m:alnAt="7"/>
                                  </m:rPr>
                                  <a:rPr lang="en-PH" sz="1800" b="0" i="1">
                                    <a:latin typeface="Cambria Math"/>
                                  </a:rPr>
                                  <m:t>+</m:t>
                                </m:r>
                                <m:sSub>
                                  <m:sSubPr>
                                    <m:ctrlPr>
                                      <a:rPr lang="en-PH" sz="1800" i="1">
                                        <a:latin typeface="Cambria Math" panose="02040503050406030204" pitchFamily="18" charset="0"/>
                                      </a:rPr>
                                    </m:ctrlPr>
                                  </m:sSubPr>
                                  <m:e>
                                    <m:r>
                                      <a:rPr lang="en-PH" sz="1800" b="0" i="1" smtClean="0">
                                        <a:latin typeface="Cambria Math"/>
                                      </a:rPr>
                                      <m:t>𝑣</m:t>
                                    </m:r>
                                  </m:e>
                                  <m:sub>
                                    <m:r>
                                      <a:rPr lang="en-PH" sz="1800" b="0" i="1" smtClean="0">
                                        <a:latin typeface="Cambria Math"/>
                                      </a:rPr>
                                      <m:t>2</m:t>
                                    </m:r>
                                  </m:sub>
                                </m:sSub>
                              </m:e>
                            </m:mr>
                          </m:m>
                        </m:e>
                      </m:d>
                    </m:oMath>
                  </m:oMathPara>
                </a14:m>
                <a:endParaRPr lang="en-PH" sz="1800" dirty="0"/>
              </a:p>
              <a:p>
                <a:pPr marL="0" indent="0" algn="ctr">
                  <a:buNone/>
                </a:pPr>
                <a:endParaRPr lang="en-PH" sz="1800" dirty="0"/>
              </a:p>
              <a:p>
                <a:pPr marL="0" indent="0">
                  <a:buNone/>
                </a:pPr>
                <a:r>
                  <a:rPr lang="en-PH" sz="1800" dirty="0"/>
                  <a:t>Note: Vector addition is a special case of matrix addition.</a:t>
                </a:r>
              </a:p>
              <a:p>
                <a:pPr marL="0" indent="0">
                  <a:buNone/>
                </a:pPr>
                <a:endParaRPr lang="en-PH" sz="1800" dirty="0"/>
              </a:p>
              <a:p>
                <a:pPr marL="0" indent="0">
                  <a:buNone/>
                </a:pPr>
                <a:endParaRPr lang="en-PH" sz="1800" dirty="0"/>
              </a:p>
              <a:p>
                <a:pPr marL="0" indent="0">
                  <a:buNone/>
                </a:pPr>
                <a:r>
                  <a:rPr lang="en-PH" sz="1800" dirty="0"/>
                  <a:t>Example #3</a:t>
                </a:r>
              </a:p>
              <a:p>
                <a:pPr marL="0" indent="0">
                  <a:buNone/>
                </a:pPr>
                <a:r>
                  <a:rPr lang="en-PH" sz="1800" dirty="0"/>
                  <a:t>	 Let   </a:t>
                </a:r>
                <a14:m>
                  <m:oMath xmlns:m="http://schemas.openxmlformats.org/officeDocument/2006/math">
                    <m:r>
                      <a:rPr lang="en-PH" sz="1800" b="1">
                        <a:latin typeface="Cambria Math"/>
                      </a:rPr>
                      <m:t>𝐮</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a:rPr lang="en-PH" sz="1800" b="0" i="1" smtClean="0">
                                  <a:latin typeface="Cambria Math"/>
                                </a:rPr>
                                <m:t>2</m:t>
                              </m:r>
                            </m:e>
                          </m:mr>
                          <m:mr>
                            <m:e>
                              <m:r>
                                <a:rPr lang="en-PH" sz="1800" b="0" i="1" smtClean="0">
                                  <a:latin typeface="Cambria Math"/>
                                </a:rPr>
                                <m:t>3</m:t>
                              </m:r>
                            </m:e>
                          </m:mr>
                        </m:m>
                      </m:e>
                    </m:d>
                  </m:oMath>
                </a14:m>
                <a:r>
                  <a:rPr lang="en-PH" sz="1800" dirty="0"/>
                  <a:t>   and </a:t>
                </a:r>
                <a14:m>
                  <m:oMath xmlns:m="http://schemas.openxmlformats.org/officeDocument/2006/math">
                    <m:r>
                      <a:rPr lang="en-PH" sz="1800" b="1">
                        <a:latin typeface="Cambria Math"/>
                      </a:rPr>
                      <m:t>𝐯</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a:rPr lang="en-PH" sz="1800" b="0" i="1" smtClean="0">
                                  <a:latin typeface="Cambria Math"/>
                                </a:rPr>
                                <m:t>4</m:t>
                              </m:r>
                            </m:e>
                          </m:mr>
                          <m:mr>
                            <m:e>
                              <m:r>
                                <a:rPr lang="en-PH" sz="1800" b="0" i="1" smtClean="0">
                                  <a:latin typeface="Cambria Math"/>
                                </a:rPr>
                                <m:t>1</m:t>
                              </m:r>
                            </m:e>
                          </m:mr>
                        </m:m>
                      </m:e>
                    </m:d>
                    <m:r>
                      <a:rPr lang="en-PH" sz="1800" i="1">
                        <a:latin typeface="Cambria Math"/>
                      </a:rPr>
                      <m:t> </m:t>
                    </m:r>
                  </m:oMath>
                </a14:m>
                <a:r>
                  <a:rPr lang="en-PH" sz="1800" dirty="0"/>
                  <a:t>, find </a:t>
                </a:r>
                <a14:m>
                  <m:oMath xmlns:m="http://schemas.openxmlformats.org/officeDocument/2006/math">
                    <m:r>
                      <a:rPr lang="en-PH" sz="1800" b="1">
                        <a:latin typeface="Cambria Math"/>
                      </a:rPr>
                      <m:t>𝐮</m:t>
                    </m:r>
                    <m:r>
                      <a:rPr lang="en-PH" sz="1800">
                        <a:latin typeface="Cambria Math"/>
                      </a:rPr>
                      <m:t>+</m:t>
                    </m:r>
                    <m:r>
                      <a:rPr lang="en-PH" sz="1800" b="1">
                        <a:latin typeface="Cambria Math"/>
                      </a:rPr>
                      <m:t>𝐯</m:t>
                    </m:r>
                  </m:oMath>
                </a14:m>
                <a:r>
                  <a:rPr lang="en-PH" sz="1800" dirty="0"/>
                  <a:t>.</a:t>
                </a:r>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93" t="-1250"/>
                </a:stretch>
              </a:blipFill>
            </p:spPr>
            <p:txBody>
              <a:bodyPr/>
              <a:lstStyle/>
              <a:p>
                <a:r>
                  <a:rPr lang="en-US">
                    <a:noFill/>
                  </a:rPr>
                  <a:t> </a:t>
                </a:r>
              </a:p>
            </p:txBody>
          </p:sp>
        </mc:Fallback>
      </mc:AlternateContent>
    </p:spTree>
    <p:extLst>
      <p:ext uri="{BB962C8B-B14F-4D97-AF65-F5344CB8AC3E}">
        <p14:creationId xmlns:p14="http://schemas.microsoft.com/office/powerpoint/2010/main" val="24144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1800" dirty="0"/>
                  <a:t>Solution:  </a:t>
                </a:r>
              </a:p>
              <a:p>
                <a:pPr marL="0" indent="0">
                  <a:buNone/>
                </a:pPr>
                <a:r>
                  <a:rPr lang="en-PH" sz="1800" i="1" dirty="0"/>
                  <a:t>	</a:t>
                </a:r>
                <a14:m>
                  <m:oMath xmlns:m="http://schemas.openxmlformats.org/officeDocument/2006/math">
                    <m:r>
                      <a:rPr lang="en-PH" sz="1800" b="1" i="0" smtClean="0">
                        <a:latin typeface="Cambria Math"/>
                      </a:rPr>
                      <m:t>𝐮</m:t>
                    </m:r>
                    <m:r>
                      <a:rPr lang="en-PH" sz="1800" b="0" i="0" smtClean="0">
                        <a:latin typeface="Cambria Math"/>
                      </a:rPr>
                      <m:t>+</m:t>
                    </m:r>
                    <m:r>
                      <a:rPr lang="en-PH" sz="1800" b="1" i="0" smtClean="0">
                        <a:latin typeface="Cambria Math"/>
                      </a:rPr>
                      <m:t>𝐯</m:t>
                    </m:r>
                    <m:r>
                      <a:rPr lang="en-PH" sz="1800" b="1" i="0" smtClean="0">
                        <a:latin typeface="Cambria Math"/>
                      </a:rPr>
                      <m:t>= </m:t>
                    </m:r>
                    <m:d>
                      <m:dPr>
                        <m:begChr m:val="["/>
                        <m:endChr m:val="]"/>
                        <m:ctrlPr>
                          <a:rPr lang="en-PH" sz="1800"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i="1" smtClean="0">
                                  <a:latin typeface="Cambria Math"/>
                                </a:rPr>
                                <m:t>2</m:t>
                              </m:r>
                              <m:r>
                                <a:rPr lang="en-PH" sz="1800" b="0" i="1" smtClean="0">
                                  <a:latin typeface="Cambria Math"/>
                                </a:rPr>
                                <m:t>+</m:t>
                              </m:r>
                              <m:r>
                                <a:rPr lang="en-PH" sz="1800" i="1" smtClean="0">
                                  <a:latin typeface="Cambria Math"/>
                                </a:rPr>
                                <m:t>4</m:t>
                              </m:r>
                            </m:e>
                          </m:mr>
                          <m:mr>
                            <m:e>
                              <m:r>
                                <m:rPr>
                                  <m:brk m:alnAt="7"/>
                                </m:rPr>
                                <a:rPr lang="en-PH" sz="1800" i="1" smtClean="0">
                                  <a:latin typeface="Cambria Math"/>
                                </a:rPr>
                                <m:t>3</m:t>
                              </m:r>
                              <m:r>
                                <a:rPr lang="en-PH" sz="1800" b="0" i="1">
                                  <a:latin typeface="Cambria Math"/>
                                </a:rPr>
                                <m:t>+</m:t>
                              </m:r>
                              <m:r>
                                <a:rPr lang="en-PH" sz="1800" i="1" smtClean="0">
                                  <a:latin typeface="Cambria Math"/>
                                </a:rPr>
                                <m:t>1</m:t>
                              </m:r>
                            </m:e>
                          </m:mr>
                        </m:m>
                      </m:e>
                    </m:d>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r>
                                <m:rPr>
                                  <m:brk m:alnAt="7"/>
                                </m:rPr>
                                <a:rPr lang="en-PH" sz="1800" b="0" i="1" smtClean="0">
                                  <a:latin typeface="Cambria Math"/>
                                </a:rPr>
                                <m:t>6</m:t>
                              </m:r>
                            </m:e>
                          </m:mr>
                          <m:mr>
                            <m:e>
                              <m:r>
                                <a:rPr lang="en-PH" sz="1800" b="0" i="1" smtClean="0">
                                  <a:latin typeface="Cambria Math"/>
                                </a:rPr>
                                <m:t>4</m:t>
                              </m:r>
                            </m:e>
                          </m:mr>
                        </m:m>
                      </m:e>
                    </m:d>
                  </m:oMath>
                </a14:m>
                <a:endParaRPr lang="en-PH" sz="1800" dirty="0"/>
              </a:p>
              <a:p>
                <a:pPr marL="0" indent="0" algn="ctr">
                  <a:buNone/>
                </a:pPr>
                <a:endParaRPr lang="en-PH" sz="1800" dirty="0"/>
              </a:p>
              <a:p>
                <a:pPr marL="0" indent="0">
                  <a:buNone/>
                </a:pPr>
                <a:r>
                  <a:rPr lang="en-PH" sz="1800" dirty="0"/>
                  <a:t>To illustrate:</a:t>
                </a:r>
              </a:p>
              <a:p>
                <a:pPr marL="0" indent="0">
                  <a:buNone/>
                </a:pPr>
                <a:endParaRPr lang="en-PH" sz="1800" dirty="0"/>
              </a:p>
              <a:p>
                <a:pPr marL="0" indent="0">
                  <a:buNone/>
                </a:pPr>
                <a:endParaRPr lang="en-PH" sz="1800" dirty="0"/>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625"/>
                </a:stretch>
              </a:blipFill>
            </p:spPr>
            <p:txBody>
              <a:bodyPr/>
              <a:lstStyle/>
              <a:p>
                <a:r>
                  <a:rPr lang="en-PH">
                    <a:noFill/>
                  </a:rPr>
                  <a:t> </a:t>
                </a:r>
              </a:p>
            </p:txBody>
          </p:sp>
        </mc:Fallback>
      </mc:AlternateContent>
      <p:cxnSp>
        <p:nvCxnSpPr>
          <p:cNvPr id="6" name="Straight Arrow Connector 5"/>
          <p:cNvCxnSpPr/>
          <p:nvPr/>
        </p:nvCxnSpPr>
        <p:spPr>
          <a:xfrm>
            <a:off x="3200400" y="2819400"/>
            <a:ext cx="0" cy="3352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43000" y="4724400"/>
            <a:ext cx="54102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36576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41910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46482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1816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6388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60960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16764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2098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743200" y="4648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3124200" y="4343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3124200" y="3962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124200" y="3581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3124200" y="3200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3124200" y="5943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3124200" y="5562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3124200" y="5181600"/>
            <a:ext cx="1524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4191000" y="35814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Oval 49"/>
          <p:cNvSpPr/>
          <p:nvPr/>
        </p:nvSpPr>
        <p:spPr>
          <a:xfrm>
            <a:off x="5135881" y="43434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52" name="Straight Arrow Connector 51"/>
          <p:cNvCxnSpPr/>
          <p:nvPr/>
        </p:nvCxnSpPr>
        <p:spPr>
          <a:xfrm flipV="1">
            <a:off x="3200400" y="3619500"/>
            <a:ext cx="990600" cy="1104900"/>
          </a:xfrm>
          <a:prstGeom prst="straightConnector1">
            <a:avLst/>
          </a:prstGeom>
          <a:ln w="28575">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endCxn id="50" idx="6"/>
          </p:cNvCxnSpPr>
          <p:nvPr/>
        </p:nvCxnSpPr>
        <p:spPr>
          <a:xfrm flipV="1">
            <a:off x="3200400" y="4381500"/>
            <a:ext cx="1981200" cy="342900"/>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49" idx="0"/>
          </p:cNvCxnSpPr>
          <p:nvPr/>
        </p:nvCxnSpPr>
        <p:spPr>
          <a:xfrm flipV="1">
            <a:off x="4213860" y="3200400"/>
            <a:ext cx="1882140" cy="381000"/>
          </a:xfrm>
          <a:prstGeom prst="straightConnector1">
            <a:avLst/>
          </a:prstGeom>
          <a:ln w="28575">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50" idx="7"/>
          </p:cNvCxnSpPr>
          <p:nvPr/>
        </p:nvCxnSpPr>
        <p:spPr>
          <a:xfrm flipV="1">
            <a:off x="5174905" y="3200400"/>
            <a:ext cx="921095" cy="1154159"/>
          </a:xfrm>
          <a:prstGeom prst="straightConnector1">
            <a:avLst/>
          </a:prstGeom>
          <a:ln w="28575">
            <a:solidFill>
              <a:srgbClr val="0070C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V="1">
            <a:off x="3200400" y="3200400"/>
            <a:ext cx="2895600" cy="1524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162300" y="3352800"/>
            <a:ext cx="952500" cy="369332"/>
          </a:xfrm>
          <a:prstGeom prst="rect">
            <a:avLst/>
          </a:prstGeom>
          <a:noFill/>
          <a:ln>
            <a:noFill/>
          </a:ln>
        </p:spPr>
        <p:txBody>
          <a:bodyPr wrap="square" rtlCol="0">
            <a:spAutoFit/>
          </a:bodyPr>
          <a:lstStyle/>
          <a:p>
            <a:r>
              <a:rPr lang="en-PH" b="1" dirty="0"/>
              <a:t>u</a:t>
            </a:r>
            <a:r>
              <a:rPr lang="en-PH" dirty="0"/>
              <a:t>=[2,3]</a:t>
            </a:r>
          </a:p>
        </p:txBody>
      </p:sp>
      <p:sp>
        <p:nvSpPr>
          <p:cNvPr id="66" name="TextBox 65"/>
          <p:cNvSpPr txBox="1"/>
          <p:nvPr/>
        </p:nvSpPr>
        <p:spPr>
          <a:xfrm>
            <a:off x="5219700" y="4267200"/>
            <a:ext cx="1104900" cy="369332"/>
          </a:xfrm>
          <a:prstGeom prst="rect">
            <a:avLst/>
          </a:prstGeom>
          <a:noFill/>
          <a:ln>
            <a:noFill/>
          </a:ln>
        </p:spPr>
        <p:txBody>
          <a:bodyPr wrap="square" rtlCol="0">
            <a:spAutoFit/>
          </a:bodyPr>
          <a:lstStyle/>
          <a:p>
            <a:r>
              <a:rPr lang="en-PH" b="1" dirty="0"/>
              <a:t>v </a:t>
            </a:r>
            <a:r>
              <a:rPr lang="en-PH" dirty="0"/>
              <a:t>=[4,1]</a:t>
            </a:r>
          </a:p>
        </p:txBody>
      </p:sp>
      <p:sp>
        <p:nvSpPr>
          <p:cNvPr id="67" name="TextBox 66"/>
          <p:cNvSpPr txBox="1"/>
          <p:nvPr/>
        </p:nvSpPr>
        <p:spPr>
          <a:xfrm>
            <a:off x="5410200" y="2819400"/>
            <a:ext cx="1866900" cy="369332"/>
          </a:xfrm>
          <a:prstGeom prst="rect">
            <a:avLst/>
          </a:prstGeom>
          <a:noFill/>
          <a:ln>
            <a:noFill/>
          </a:ln>
        </p:spPr>
        <p:txBody>
          <a:bodyPr wrap="square" rtlCol="0">
            <a:spAutoFit/>
          </a:bodyPr>
          <a:lstStyle/>
          <a:p>
            <a:r>
              <a:rPr lang="en-PH" b="1" dirty="0" err="1"/>
              <a:t>u+v</a:t>
            </a:r>
            <a:r>
              <a:rPr lang="en-PH" b="1" dirty="0"/>
              <a:t> </a:t>
            </a:r>
            <a:r>
              <a:rPr lang="en-PH" dirty="0"/>
              <a:t>= [6, 4]</a:t>
            </a:r>
          </a:p>
        </p:txBody>
      </p:sp>
      <p:sp>
        <p:nvSpPr>
          <p:cNvPr id="4" name="Freeform: Shape 3">
            <a:extLst>
              <a:ext uri="{FF2B5EF4-FFF2-40B4-BE49-F238E27FC236}">
                <a16:creationId xmlns:a16="http://schemas.microsoft.com/office/drawing/2014/main" id="{942801D5-07B7-47BF-B193-5594939417F9}"/>
              </a:ext>
            </a:extLst>
          </p:cNvPr>
          <p:cNvSpPr/>
          <p:nvPr/>
        </p:nvSpPr>
        <p:spPr>
          <a:xfrm>
            <a:off x="4989733" y="2971800"/>
            <a:ext cx="344267" cy="865239"/>
          </a:xfrm>
          <a:custGeom>
            <a:avLst/>
            <a:gdLst>
              <a:gd name="connsiteX0" fmla="*/ 0 w 344267"/>
              <a:gd name="connsiteY0" fmla="*/ 865239 h 865239"/>
              <a:gd name="connsiteX1" fmla="*/ 9832 w 344267"/>
              <a:gd name="connsiteY1" fmla="*/ 786580 h 865239"/>
              <a:gd name="connsiteX2" fmla="*/ 19664 w 344267"/>
              <a:gd name="connsiteY2" fmla="*/ 757084 h 865239"/>
              <a:gd name="connsiteX3" fmla="*/ 29497 w 344267"/>
              <a:gd name="connsiteY3" fmla="*/ 717755 h 865239"/>
              <a:gd name="connsiteX4" fmla="*/ 49161 w 344267"/>
              <a:gd name="connsiteY4" fmla="*/ 658761 h 865239"/>
              <a:gd name="connsiteX5" fmla="*/ 58993 w 344267"/>
              <a:gd name="connsiteY5" fmla="*/ 609600 h 865239"/>
              <a:gd name="connsiteX6" fmla="*/ 78658 w 344267"/>
              <a:gd name="connsiteY6" fmla="*/ 501445 h 865239"/>
              <a:gd name="connsiteX7" fmla="*/ 98322 w 344267"/>
              <a:gd name="connsiteY7" fmla="*/ 471948 h 865239"/>
              <a:gd name="connsiteX8" fmla="*/ 108155 w 344267"/>
              <a:gd name="connsiteY8" fmla="*/ 422787 h 865239"/>
              <a:gd name="connsiteX9" fmla="*/ 117987 w 344267"/>
              <a:gd name="connsiteY9" fmla="*/ 393290 h 865239"/>
              <a:gd name="connsiteX10" fmla="*/ 127819 w 344267"/>
              <a:gd name="connsiteY10" fmla="*/ 344129 h 865239"/>
              <a:gd name="connsiteX11" fmla="*/ 137652 w 344267"/>
              <a:gd name="connsiteY11" fmla="*/ 314632 h 865239"/>
              <a:gd name="connsiteX12" fmla="*/ 147484 w 344267"/>
              <a:gd name="connsiteY12" fmla="*/ 265471 h 865239"/>
              <a:gd name="connsiteX13" fmla="*/ 167148 w 344267"/>
              <a:gd name="connsiteY13" fmla="*/ 206477 h 865239"/>
              <a:gd name="connsiteX14" fmla="*/ 186813 w 344267"/>
              <a:gd name="connsiteY14" fmla="*/ 137651 h 865239"/>
              <a:gd name="connsiteX15" fmla="*/ 216310 w 344267"/>
              <a:gd name="connsiteY15" fmla="*/ 117987 h 865239"/>
              <a:gd name="connsiteX16" fmla="*/ 235974 w 344267"/>
              <a:gd name="connsiteY16" fmla="*/ 88490 h 865239"/>
              <a:gd name="connsiteX17" fmla="*/ 324464 w 344267"/>
              <a:gd name="connsiteY17" fmla="*/ 39329 h 865239"/>
              <a:gd name="connsiteX18" fmla="*/ 294968 w 344267"/>
              <a:gd name="connsiteY18" fmla="*/ 19664 h 865239"/>
              <a:gd name="connsiteX19" fmla="*/ 176981 w 344267"/>
              <a:gd name="connsiteY19" fmla="*/ 0 h 865239"/>
              <a:gd name="connsiteX20" fmla="*/ 245806 w 344267"/>
              <a:gd name="connsiteY20" fmla="*/ 88490 h 865239"/>
              <a:gd name="connsiteX21" fmla="*/ 314632 w 344267"/>
              <a:gd name="connsiteY21" fmla="*/ 157316 h 865239"/>
              <a:gd name="connsiteX22" fmla="*/ 334297 w 344267"/>
              <a:gd name="connsiteY22" fmla="*/ 88490 h 865239"/>
              <a:gd name="connsiteX23" fmla="*/ 344129 w 344267"/>
              <a:gd name="connsiteY23" fmla="*/ 39329 h 86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4267" h="865239">
                <a:moveTo>
                  <a:pt x="0" y="865239"/>
                </a:moveTo>
                <a:cubicBezTo>
                  <a:pt x="3277" y="839019"/>
                  <a:pt x="5105" y="812578"/>
                  <a:pt x="9832" y="786580"/>
                </a:cubicBezTo>
                <a:cubicBezTo>
                  <a:pt x="11686" y="776383"/>
                  <a:pt x="16817" y="767049"/>
                  <a:pt x="19664" y="757084"/>
                </a:cubicBezTo>
                <a:cubicBezTo>
                  <a:pt x="23376" y="744091"/>
                  <a:pt x="25614" y="730698"/>
                  <a:pt x="29497" y="717755"/>
                </a:cubicBezTo>
                <a:cubicBezTo>
                  <a:pt x="35453" y="697901"/>
                  <a:pt x="45096" y="679087"/>
                  <a:pt x="49161" y="658761"/>
                </a:cubicBezTo>
                <a:cubicBezTo>
                  <a:pt x="52438" y="642374"/>
                  <a:pt x="56246" y="626084"/>
                  <a:pt x="58993" y="609600"/>
                </a:cubicBezTo>
                <a:cubicBezTo>
                  <a:pt x="61892" y="592205"/>
                  <a:pt x="68363" y="525468"/>
                  <a:pt x="78658" y="501445"/>
                </a:cubicBezTo>
                <a:cubicBezTo>
                  <a:pt x="83313" y="490584"/>
                  <a:pt x="91767" y="481780"/>
                  <a:pt x="98322" y="471948"/>
                </a:cubicBezTo>
                <a:cubicBezTo>
                  <a:pt x="101600" y="455561"/>
                  <a:pt x="104102" y="439000"/>
                  <a:pt x="108155" y="422787"/>
                </a:cubicBezTo>
                <a:cubicBezTo>
                  <a:pt x="110669" y="412732"/>
                  <a:pt x="115473" y="403345"/>
                  <a:pt x="117987" y="393290"/>
                </a:cubicBezTo>
                <a:cubicBezTo>
                  <a:pt x="122040" y="377077"/>
                  <a:pt x="123766" y="360342"/>
                  <a:pt x="127819" y="344129"/>
                </a:cubicBezTo>
                <a:cubicBezTo>
                  <a:pt x="130333" y="334074"/>
                  <a:pt x="135138" y="324687"/>
                  <a:pt x="137652" y="314632"/>
                </a:cubicBezTo>
                <a:cubicBezTo>
                  <a:pt x="141705" y="298419"/>
                  <a:pt x="143087" y="281594"/>
                  <a:pt x="147484" y="265471"/>
                </a:cubicBezTo>
                <a:cubicBezTo>
                  <a:pt x="152938" y="245473"/>
                  <a:pt x="162120" y="226586"/>
                  <a:pt x="167148" y="206477"/>
                </a:cubicBezTo>
                <a:cubicBezTo>
                  <a:pt x="167790" y="203911"/>
                  <a:pt x="181685" y="144060"/>
                  <a:pt x="186813" y="137651"/>
                </a:cubicBezTo>
                <a:cubicBezTo>
                  <a:pt x="194195" y="128424"/>
                  <a:pt x="206478" y="124542"/>
                  <a:pt x="216310" y="117987"/>
                </a:cubicBezTo>
                <a:cubicBezTo>
                  <a:pt x="222865" y="108155"/>
                  <a:pt x="227081" y="96271"/>
                  <a:pt x="235974" y="88490"/>
                </a:cubicBezTo>
                <a:cubicBezTo>
                  <a:pt x="277584" y="52081"/>
                  <a:pt x="283952" y="52833"/>
                  <a:pt x="324464" y="39329"/>
                </a:cubicBezTo>
                <a:cubicBezTo>
                  <a:pt x="314632" y="32774"/>
                  <a:pt x="306032" y="23813"/>
                  <a:pt x="294968" y="19664"/>
                </a:cubicBezTo>
                <a:cubicBezTo>
                  <a:pt x="277275" y="13029"/>
                  <a:pt x="187199" y="1460"/>
                  <a:pt x="176981" y="0"/>
                </a:cubicBezTo>
                <a:cubicBezTo>
                  <a:pt x="203846" y="80596"/>
                  <a:pt x="157378" y="-44153"/>
                  <a:pt x="245806" y="88490"/>
                </a:cubicBezTo>
                <a:cubicBezTo>
                  <a:pt x="290884" y="156108"/>
                  <a:pt x="262714" y="140011"/>
                  <a:pt x="314632" y="157316"/>
                </a:cubicBezTo>
                <a:cubicBezTo>
                  <a:pt x="338206" y="86592"/>
                  <a:pt x="309605" y="174912"/>
                  <a:pt x="334297" y="88490"/>
                </a:cubicBezTo>
                <a:cubicBezTo>
                  <a:pt x="346202" y="46824"/>
                  <a:pt x="344129" y="73120"/>
                  <a:pt x="344129" y="39329"/>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8909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47800"/>
                <a:ext cx="8229600" cy="4876800"/>
              </a:xfrm>
            </p:spPr>
            <p:txBody>
              <a:bodyPr>
                <a:normAutofit/>
              </a:bodyPr>
              <a:lstStyle/>
              <a:p>
                <a:pPr marL="0" indent="0">
                  <a:buNone/>
                </a:pPr>
                <a:r>
                  <a:rPr lang="en-PH" sz="1800" dirty="0"/>
                  <a:t>Example 2:  </a:t>
                </a:r>
              </a:p>
              <a:p>
                <a:pPr marL="0" indent="0">
                  <a:buNone/>
                </a:pPr>
                <a:r>
                  <a:rPr lang="en-PH" sz="1800" i="1" dirty="0"/>
                  <a:t> Let </a:t>
                </a:r>
                <a14:m>
                  <m:oMath xmlns:m="http://schemas.openxmlformats.org/officeDocument/2006/math">
                    <m:r>
                      <a:rPr lang="en-PH" sz="1800" b="0" i="1" smtClean="0">
                        <a:latin typeface="Cambria Math"/>
                      </a:rPr>
                      <m:t>  </m:t>
                    </m:r>
                    <m:r>
                      <a:rPr lang="en-PH" sz="1800" b="1" i="0" smtClean="0">
                        <a:latin typeface="Cambria Math"/>
                      </a:rPr>
                      <m:t>𝐮</m:t>
                    </m:r>
                    <m:r>
                      <a:rPr lang="en-PH" sz="1800" b="1" i="0" smtClean="0">
                        <a:latin typeface="Cambria Math"/>
                      </a:rPr>
                      <m:t>=</m:t>
                    </m:r>
                    <m:d>
                      <m:dPr>
                        <m:begChr m:val="["/>
                        <m:endChr m:val="]"/>
                        <m:ctrlPr>
                          <a:rPr lang="en-PH" sz="1800" b="1"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b="0" i="0" smtClean="0">
                                  <a:latin typeface="Cambria Math"/>
                                </a:rPr>
                                <m:t>3</m:t>
                              </m:r>
                            </m:e>
                          </m:mr>
                          <m:mr>
                            <m:e>
                              <m:r>
                                <a:rPr lang="en-PH" sz="1800" b="0" i="0" smtClean="0">
                                  <a:latin typeface="Cambria Math"/>
                                </a:rPr>
                                <m:t> 1 </m:t>
                              </m:r>
                            </m:e>
                          </m:mr>
                        </m:m>
                      </m:e>
                    </m:d>
                    <m:r>
                      <a:rPr lang="en-PH" sz="1800" b="0" i="0" smtClean="0">
                        <a:latin typeface="Cambria Math"/>
                      </a:rPr>
                      <m:t> </m:t>
                    </m:r>
                    <m:r>
                      <m:rPr>
                        <m:sty m:val="p"/>
                      </m:rPr>
                      <a:rPr lang="en-PH" sz="1800" b="0" i="0" smtClean="0">
                        <a:latin typeface="Cambria Math"/>
                      </a:rPr>
                      <m:t>and</m:t>
                    </m:r>
                    <m:r>
                      <a:rPr lang="en-PH" sz="1800" b="0" i="0" smtClean="0">
                        <a:latin typeface="Cambria Math"/>
                      </a:rPr>
                      <m:t>  </m:t>
                    </m:r>
                    <m:r>
                      <a:rPr lang="en-PH" sz="1800" b="1" i="0" smtClean="0">
                        <a:latin typeface="Cambria Math"/>
                      </a:rPr>
                      <m:t>𝐯</m:t>
                    </m:r>
                    <m:r>
                      <a:rPr lang="en-PH" sz="1800" b="1" i="0" smtClean="0">
                        <a:latin typeface="Cambria Math"/>
                      </a:rPr>
                      <m:t>= </m:t>
                    </m:r>
                    <m:d>
                      <m:dPr>
                        <m:begChr m:val="["/>
                        <m:endChr m:val="]"/>
                        <m:ctrlPr>
                          <a:rPr lang="en-PH" sz="1800" b="1"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b="0" i="0" smtClean="0">
                                  <a:latin typeface="Cambria Math"/>
                                </a:rPr>
                                <m:t>4</m:t>
                              </m:r>
                            </m:e>
                          </m:mr>
                          <m:mr>
                            <m:e>
                              <m:r>
                                <a:rPr lang="en-PH" sz="1800" b="0" i="0" smtClean="0">
                                  <a:latin typeface="Cambria Math"/>
                                </a:rPr>
                                <m:t>−2</m:t>
                              </m:r>
                            </m:e>
                          </m:mr>
                        </m:m>
                      </m:e>
                    </m:d>
                    <m:r>
                      <a:rPr lang="en-PH" sz="1800" b="1" i="0" smtClean="0">
                        <a:latin typeface="Cambria Math"/>
                      </a:rPr>
                      <m:t>,</m:t>
                    </m:r>
                    <m:r>
                      <a:rPr lang="en-PH" sz="1800" b="0" i="0" smtClean="0">
                        <a:latin typeface="Cambria Math"/>
                      </a:rPr>
                      <m:t> </m:t>
                    </m:r>
                    <m:r>
                      <m:rPr>
                        <m:sty m:val="p"/>
                      </m:rPr>
                      <a:rPr lang="en-PH" sz="1800" b="0" i="0" smtClean="0">
                        <a:latin typeface="Cambria Math"/>
                      </a:rPr>
                      <m:t>then</m:t>
                    </m:r>
                    <m:r>
                      <a:rPr lang="en-PH" sz="1800" b="1" i="0" smtClean="0">
                        <a:latin typeface="Cambria Math"/>
                      </a:rPr>
                      <m:t> </m:t>
                    </m:r>
                    <m:r>
                      <a:rPr lang="en-PH" sz="1800" b="1" i="0" smtClean="0">
                        <a:latin typeface="Cambria Math"/>
                      </a:rPr>
                      <m:t>𝐮</m:t>
                    </m:r>
                    <m:r>
                      <a:rPr lang="en-PH" sz="1800" b="1" i="0" smtClean="0">
                        <a:latin typeface="Cambria Math"/>
                      </a:rPr>
                      <m:t>+</m:t>
                    </m:r>
                    <m:r>
                      <a:rPr lang="en-PH" sz="1800" b="1" i="0" smtClean="0">
                        <a:latin typeface="Cambria Math"/>
                      </a:rPr>
                      <m:t>𝐯</m:t>
                    </m:r>
                    <m:r>
                      <a:rPr lang="en-PH" sz="1800" b="1" i="0" smtClean="0">
                        <a:latin typeface="Cambria Math"/>
                      </a:rPr>
                      <m:t>= </m:t>
                    </m:r>
                    <m:d>
                      <m:dPr>
                        <m:begChr m:val="["/>
                        <m:endChr m:val="]"/>
                        <m:ctrlPr>
                          <a:rPr lang="en-PH" sz="1800"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b="0" i="1" smtClean="0">
                                  <a:latin typeface="Cambria Math"/>
                                </a:rPr>
                                <m:t>3</m:t>
                              </m:r>
                              <m:r>
                                <a:rPr lang="en-PH" sz="1800" b="0" i="1" smtClean="0">
                                  <a:latin typeface="Cambria Math"/>
                                </a:rPr>
                                <m:t>+</m:t>
                              </m:r>
                              <m:r>
                                <a:rPr lang="en-PH" sz="1800" i="1" smtClean="0">
                                  <a:latin typeface="Cambria Math"/>
                                </a:rPr>
                                <m:t>4</m:t>
                              </m:r>
                            </m:e>
                          </m:mr>
                          <m:mr>
                            <m:e>
                              <m:r>
                                <m:rPr>
                                  <m:brk m:alnAt="7"/>
                                </m:rPr>
                                <a:rPr lang="en-PH" sz="1800" b="0" i="1" smtClean="0">
                                  <a:latin typeface="Cambria Math"/>
                                </a:rPr>
                                <m:t>1</m:t>
                              </m:r>
                              <m:r>
                                <a:rPr lang="en-PH" sz="1800" b="0" i="1" smtClean="0">
                                  <a:latin typeface="Cambria Math"/>
                                </a:rPr>
                                <m:t>+(−2)</m:t>
                              </m:r>
                            </m:e>
                          </m:mr>
                        </m:m>
                      </m:e>
                    </m:d>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r>
                                <a:rPr lang="en-PH" sz="1800" b="0" i="1" smtClean="0">
                                  <a:latin typeface="Cambria Math"/>
                                </a:rPr>
                                <m:t>7</m:t>
                              </m:r>
                            </m:e>
                          </m:mr>
                          <m:mr>
                            <m:e>
                              <m:r>
                                <a:rPr lang="en-PH" sz="1800" b="0" i="1" smtClean="0">
                                  <a:latin typeface="Cambria Math"/>
                                </a:rPr>
                                <m:t>−1</m:t>
                              </m:r>
                            </m:e>
                          </m:mr>
                        </m:m>
                      </m:e>
                    </m:d>
                  </m:oMath>
                </a14:m>
                <a:endParaRPr lang="en-PH" sz="1800" dirty="0"/>
              </a:p>
              <a:p>
                <a:pPr marL="0" indent="0" algn="ctr">
                  <a:buNone/>
                </a:pPr>
                <a:endParaRPr lang="en-PH" sz="1800" dirty="0"/>
              </a:p>
              <a:p>
                <a:pPr marL="0" indent="0" algn="ctr">
                  <a:buNone/>
                </a:pPr>
                <a:endParaRPr lang="en-PH" sz="1800" dirty="0"/>
              </a:p>
              <a:p>
                <a:pPr marL="0" indent="0">
                  <a:buNone/>
                </a:pPr>
                <a:r>
                  <a:rPr lang="en-PH" sz="1800" dirty="0"/>
                  <a:t>To illustrate:</a:t>
                </a:r>
              </a:p>
              <a:p>
                <a:pPr marL="0" indent="0">
                  <a:buNone/>
                </a:pPr>
                <a:endParaRPr lang="en-PH" sz="1800" dirty="0"/>
              </a:p>
              <a:p>
                <a:pPr marL="0" indent="0">
                  <a:buNone/>
                </a:pPr>
                <a:endParaRPr lang="en-PH" sz="1800" dirty="0"/>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47800"/>
                <a:ext cx="8229600" cy="4876800"/>
              </a:xfrm>
              <a:blipFill rotWithShape="1">
                <a:blip r:embed="rId2"/>
                <a:stretch>
                  <a:fillRect l="-593" t="-625"/>
                </a:stretch>
              </a:blipFill>
            </p:spPr>
            <p:txBody>
              <a:bodyPr/>
              <a:lstStyle/>
              <a:p>
                <a:r>
                  <a:rPr lang="en-PH">
                    <a:noFill/>
                  </a:rPr>
                  <a:t> </a:t>
                </a:r>
              </a:p>
            </p:txBody>
          </p:sp>
        </mc:Fallback>
      </mc:AlternateContent>
      <p:cxnSp>
        <p:nvCxnSpPr>
          <p:cNvPr id="6" name="Straight Arrow Connector 5"/>
          <p:cNvCxnSpPr/>
          <p:nvPr/>
        </p:nvCxnSpPr>
        <p:spPr>
          <a:xfrm>
            <a:off x="3200400" y="3124200"/>
            <a:ext cx="0" cy="3352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43000" y="5029200"/>
            <a:ext cx="66294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36576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41910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46482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1816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6388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60960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16764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2098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7432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3124200" y="4648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3124200" y="4267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124200" y="3581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3124200" y="3886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3124200" y="6248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3124200" y="5867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3124200" y="5486400"/>
            <a:ext cx="1524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p:cNvSpPr/>
          <p:nvPr/>
        </p:nvSpPr>
        <p:spPr>
          <a:xfrm flipV="1">
            <a:off x="4598301" y="464819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Oval 49"/>
          <p:cNvSpPr/>
          <p:nvPr/>
        </p:nvSpPr>
        <p:spPr>
          <a:xfrm>
            <a:off x="5181600" y="57912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5" name="TextBox 64"/>
          <p:cNvSpPr txBox="1"/>
          <p:nvPr/>
        </p:nvSpPr>
        <p:spPr>
          <a:xfrm>
            <a:off x="4686300" y="4050268"/>
            <a:ext cx="952500" cy="369332"/>
          </a:xfrm>
          <a:prstGeom prst="rect">
            <a:avLst/>
          </a:prstGeom>
          <a:noFill/>
          <a:ln>
            <a:noFill/>
          </a:ln>
        </p:spPr>
        <p:txBody>
          <a:bodyPr wrap="square" rtlCol="0">
            <a:spAutoFit/>
          </a:bodyPr>
          <a:lstStyle/>
          <a:p>
            <a:r>
              <a:rPr lang="en-PH" b="1" dirty="0"/>
              <a:t>u</a:t>
            </a:r>
            <a:r>
              <a:rPr lang="en-PH" dirty="0"/>
              <a:t>=[3,1]</a:t>
            </a:r>
          </a:p>
        </p:txBody>
      </p:sp>
      <p:sp>
        <p:nvSpPr>
          <p:cNvPr id="38" name="TextBox 37"/>
          <p:cNvSpPr txBox="1"/>
          <p:nvPr/>
        </p:nvSpPr>
        <p:spPr>
          <a:xfrm>
            <a:off x="5372100" y="5498068"/>
            <a:ext cx="1409700" cy="369332"/>
          </a:xfrm>
          <a:prstGeom prst="rect">
            <a:avLst/>
          </a:prstGeom>
          <a:noFill/>
          <a:ln>
            <a:noFill/>
          </a:ln>
        </p:spPr>
        <p:txBody>
          <a:bodyPr wrap="square" rtlCol="0">
            <a:spAutoFit/>
          </a:bodyPr>
          <a:lstStyle/>
          <a:p>
            <a:r>
              <a:rPr lang="en-PH" b="1" dirty="0"/>
              <a:t>v</a:t>
            </a:r>
            <a:r>
              <a:rPr lang="en-PH" dirty="0"/>
              <a:t>=[4,-2]</a:t>
            </a:r>
          </a:p>
        </p:txBody>
      </p:sp>
      <p:cxnSp>
        <p:nvCxnSpPr>
          <p:cNvPr id="5" name="Straight Arrow Connector 4"/>
          <p:cNvCxnSpPr>
            <a:endCxn id="49" idx="5"/>
          </p:cNvCxnSpPr>
          <p:nvPr/>
        </p:nvCxnSpPr>
        <p:spPr>
          <a:xfrm flipV="1">
            <a:off x="3200400" y="4654894"/>
            <a:ext cx="1436925" cy="374306"/>
          </a:xfrm>
          <a:prstGeom prst="straightConnector1">
            <a:avLst/>
          </a:prstGeom>
          <a:ln w="28575">
            <a:solidFill>
              <a:srgbClr val="005DA2"/>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50" idx="6"/>
          </p:cNvCxnSpPr>
          <p:nvPr/>
        </p:nvCxnSpPr>
        <p:spPr>
          <a:xfrm>
            <a:off x="3195484" y="5029200"/>
            <a:ext cx="2031835" cy="800100"/>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65532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70104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7467600" y="49530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9" idx="6"/>
          </p:cNvCxnSpPr>
          <p:nvPr/>
        </p:nvCxnSpPr>
        <p:spPr>
          <a:xfrm>
            <a:off x="4644020" y="4671058"/>
            <a:ext cx="1909180" cy="662942"/>
          </a:xfrm>
          <a:prstGeom prst="straightConnector1">
            <a:avLst/>
          </a:prstGeom>
          <a:ln w="28575">
            <a:solidFill>
              <a:srgbClr val="7030A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50" idx="5"/>
          </p:cNvCxnSpPr>
          <p:nvPr/>
        </p:nvCxnSpPr>
        <p:spPr>
          <a:xfrm flipV="1">
            <a:off x="5220624" y="5334000"/>
            <a:ext cx="1256376" cy="522241"/>
          </a:xfrm>
          <a:prstGeom prst="straightConnector1">
            <a:avLst/>
          </a:prstGeom>
          <a:ln w="28575">
            <a:solidFill>
              <a:srgbClr val="005DA2"/>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276600" y="5002529"/>
            <a:ext cx="3200400" cy="331471"/>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667500" y="5181600"/>
            <a:ext cx="1409700" cy="369332"/>
          </a:xfrm>
          <a:prstGeom prst="rect">
            <a:avLst/>
          </a:prstGeom>
          <a:noFill/>
          <a:ln>
            <a:noFill/>
          </a:ln>
        </p:spPr>
        <p:txBody>
          <a:bodyPr wrap="square" rtlCol="0">
            <a:spAutoFit/>
          </a:bodyPr>
          <a:lstStyle/>
          <a:p>
            <a:r>
              <a:rPr lang="en-PH" b="1" dirty="0" err="1"/>
              <a:t>u+v</a:t>
            </a:r>
            <a:r>
              <a:rPr lang="en-PH" dirty="0"/>
              <a:t>=[7,-1]</a:t>
            </a:r>
          </a:p>
        </p:txBody>
      </p:sp>
      <p:sp>
        <p:nvSpPr>
          <p:cNvPr id="4" name="Freeform: Shape 3">
            <a:extLst>
              <a:ext uri="{FF2B5EF4-FFF2-40B4-BE49-F238E27FC236}">
                <a16:creationId xmlns:a16="http://schemas.microsoft.com/office/drawing/2014/main" id="{94250CE2-32DD-4DC9-A969-FF5921F1023D}"/>
              </a:ext>
            </a:extLst>
          </p:cNvPr>
          <p:cNvSpPr/>
          <p:nvPr/>
        </p:nvSpPr>
        <p:spPr>
          <a:xfrm>
            <a:off x="5555226" y="4827639"/>
            <a:ext cx="1376805" cy="412955"/>
          </a:xfrm>
          <a:custGeom>
            <a:avLst/>
            <a:gdLst>
              <a:gd name="connsiteX0" fmla="*/ 0 w 1376805"/>
              <a:gd name="connsiteY0" fmla="*/ 412955 h 412955"/>
              <a:gd name="connsiteX1" fmla="*/ 49161 w 1376805"/>
              <a:gd name="connsiteY1" fmla="*/ 334296 h 412955"/>
              <a:gd name="connsiteX2" fmla="*/ 68826 w 1376805"/>
              <a:gd name="connsiteY2" fmla="*/ 304800 h 412955"/>
              <a:gd name="connsiteX3" fmla="*/ 127819 w 1376805"/>
              <a:gd name="connsiteY3" fmla="*/ 255638 h 412955"/>
              <a:gd name="connsiteX4" fmla="*/ 186813 w 1376805"/>
              <a:gd name="connsiteY4" fmla="*/ 216309 h 412955"/>
              <a:gd name="connsiteX5" fmla="*/ 216309 w 1376805"/>
              <a:gd name="connsiteY5" fmla="*/ 186813 h 412955"/>
              <a:gd name="connsiteX6" fmla="*/ 245806 w 1376805"/>
              <a:gd name="connsiteY6" fmla="*/ 176980 h 412955"/>
              <a:gd name="connsiteX7" fmla="*/ 304800 w 1376805"/>
              <a:gd name="connsiteY7" fmla="*/ 137651 h 412955"/>
              <a:gd name="connsiteX8" fmla="*/ 334297 w 1376805"/>
              <a:gd name="connsiteY8" fmla="*/ 117987 h 412955"/>
              <a:gd name="connsiteX9" fmla="*/ 373626 w 1376805"/>
              <a:gd name="connsiteY9" fmla="*/ 108155 h 412955"/>
              <a:gd name="connsiteX10" fmla="*/ 403122 w 1376805"/>
              <a:gd name="connsiteY10" fmla="*/ 78658 h 412955"/>
              <a:gd name="connsiteX11" fmla="*/ 452284 w 1376805"/>
              <a:gd name="connsiteY11" fmla="*/ 68826 h 412955"/>
              <a:gd name="connsiteX12" fmla="*/ 521109 w 1376805"/>
              <a:gd name="connsiteY12" fmla="*/ 49161 h 412955"/>
              <a:gd name="connsiteX13" fmla="*/ 560439 w 1376805"/>
              <a:gd name="connsiteY13" fmla="*/ 39329 h 412955"/>
              <a:gd name="connsiteX14" fmla="*/ 589935 w 1376805"/>
              <a:gd name="connsiteY14" fmla="*/ 19664 h 412955"/>
              <a:gd name="connsiteX15" fmla="*/ 639097 w 1376805"/>
              <a:gd name="connsiteY15" fmla="*/ 9832 h 412955"/>
              <a:gd name="connsiteX16" fmla="*/ 678426 w 1376805"/>
              <a:gd name="connsiteY16" fmla="*/ 0 h 412955"/>
              <a:gd name="connsiteX17" fmla="*/ 875071 w 1376805"/>
              <a:gd name="connsiteY17" fmla="*/ 9832 h 412955"/>
              <a:gd name="connsiteX18" fmla="*/ 934064 w 1376805"/>
              <a:gd name="connsiteY18" fmla="*/ 29496 h 412955"/>
              <a:gd name="connsiteX19" fmla="*/ 1022555 w 1376805"/>
              <a:gd name="connsiteY19" fmla="*/ 78658 h 412955"/>
              <a:gd name="connsiteX20" fmla="*/ 1052051 w 1376805"/>
              <a:gd name="connsiteY20" fmla="*/ 98322 h 412955"/>
              <a:gd name="connsiteX21" fmla="*/ 1091380 w 1376805"/>
              <a:gd name="connsiteY21" fmla="*/ 117987 h 412955"/>
              <a:gd name="connsiteX22" fmla="*/ 1150374 w 1376805"/>
              <a:gd name="connsiteY22" fmla="*/ 157316 h 412955"/>
              <a:gd name="connsiteX23" fmla="*/ 1170039 w 1376805"/>
              <a:gd name="connsiteY23" fmla="*/ 186813 h 412955"/>
              <a:gd name="connsiteX24" fmla="*/ 1229032 w 1376805"/>
              <a:gd name="connsiteY24" fmla="*/ 226142 h 412955"/>
              <a:gd name="connsiteX25" fmla="*/ 1248697 w 1376805"/>
              <a:gd name="connsiteY25" fmla="*/ 255638 h 412955"/>
              <a:gd name="connsiteX26" fmla="*/ 1307690 w 1376805"/>
              <a:gd name="connsiteY26" fmla="*/ 304800 h 412955"/>
              <a:gd name="connsiteX27" fmla="*/ 1347019 w 1376805"/>
              <a:gd name="connsiteY27" fmla="*/ 363793 h 412955"/>
              <a:gd name="connsiteX28" fmla="*/ 1317522 w 1376805"/>
              <a:gd name="connsiteY28" fmla="*/ 334296 h 412955"/>
              <a:gd name="connsiteX29" fmla="*/ 1288026 w 1376805"/>
              <a:gd name="connsiteY29" fmla="*/ 324464 h 412955"/>
              <a:gd name="connsiteX30" fmla="*/ 1179871 w 1376805"/>
              <a:gd name="connsiteY30" fmla="*/ 314632 h 412955"/>
              <a:gd name="connsiteX31" fmla="*/ 1209368 w 1376805"/>
              <a:gd name="connsiteY31" fmla="*/ 294967 h 412955"/>
              <a:gd name="connsiteX32" fmla="*/ 1356851 w 1376805"/>
              <a:gd name="connsiteY32" fmla="*/ 275303 h 412955"/>
              <a:gd name="connsiteX33" fmla="*/ 1366684 w 1376805"/>
              <a:gd name="connsiteY33" fmla="*/ 334296 h 412955"/>
              <a:gd name="connsiteX34" fmla="*/ 1347019 w 1376805"/>
              <a:gd name="connsiteY34" fmla="*/ 363793 h 412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376805" h="412955">
                <a:moveTo>
                  <a:pt x="0" y="412955"/>
                </a:moveTo>
                <a:cubicBezTo>
                  <a:pt x="16387" y="386735"/>
                  <a:pt x="32561" y="360381"/>
                  <a:pt x="49161" y="334296"/>
                </a:cubicBezTo>
                <a:cubicBezTo>
                  <a:pt x="55505" y="324327"/>
                  <a:pt x="58994" y="311355"/>
                  <a:pt x="68826" y="304800"/>
                </a:cubicBezTo>
                <a:cubicBezTo>
                  <a:pt x="174250" y="234513"/>
                  <a:pt x="14234" y="343982"/>
                  <a:pt x="127819" y="255638"/>
                </a:cubicBezTo>
                <a:cubicBezTo>
                  <a:pt x="146475" y="241128"/>
                  <a:pt x="170101" y="233021"/>
                  <a:pt x="186813" y="216309"/>
                </a:cubicBezTo>
                <a:cubicBezTo>
                  <a:pt x="196645" y="206477"/>
                  <a:pt x="204740" y="194526"/>
                  <a:pt x="216309" y="186813"/>
                </a:cubicBezTo>
                <a:cubicBezTo>
                  <a:pt x="224933" y="181064"/>
                  <a:pt x="236746" y="182013"/>
                  <a:pt x="245806" y="176980"/>
                </a:cubicBezTo>
                <a:cubicBezTo>
                  <a:pt x="266466" y="165502"/>
                  <a:pt x="285135" y="150761"/>
                  <a:pt x="304800" y="137651"/>
                </a:cubicBezTo>
                <a:cubicBezTo>
                  <a:pt x="314632" y="131096"/>
                  <a:pt x="322833" y="120853"/>
                  <a:pt x="334297" y="117987"/>
                </a:cubicBezTo>
                <a:lnTo>
                  <a:pt x="373626" y="108155"/>
                </a:lnTo>
                <a:cubicBezTo>
                  <a:pt x="383458" y="98323"/>
                  <a:pt x="390685" y="84876"/>
                  <a:pt x="403122" y="78658"/>
                </a:cubicBezTo>
                <a:cubicBezTo>
                  <a:pt x="418070" y="71184"/>
                  <a:pt x="435970" y="72451"/>
                  <a:pt x="452284" y="68826"/>
                </a:cubicBezTo>
                <a:cubicBezTo>
                  <a:pt x="521442" y="53457"/>
                  <a:pt x="463627" y="65584"/>
                  <a:pt x="521109" y="49161"/>
                </a:cubicBezTo>
                <a:cubicBezTo>
                  <a:pt x="534103" y="45449"/>
                  <a:pt x="547329" y="42606"/>
                  <a:pt x="560439" y="39329"/>
                </a:cubicBezTo>
                <a:cubicBezTo>
                  <a:pt x="570271" y="32774"/>
                  <a:pt x="578871" y="23813"/>
                  <a:pt x="589935" y="19664"/>
                </a:cubicBezTo>
                <a:cubicBezTo>
                  <a:pt x="605583" y="13796"/>
                  <a:pt x="622783" y="13457"/>
                  <a:pt x="639097" y="9832"/>
                </a:cubicBezTo>
                <a:cubicBezTo>
                  <a:pt x="652288" y="6901"/>
                  <a:pt x="665316" y="3277"/>
                  <a:pt x="678426" y="0"/>
                </a:cubicBezTo>
                <a:cubicBezTo>
                  <a:pt x="743974" y="3277"/>
                  <a:pt x="809873" y="2309"/>
                  <a:pt x="875071" y="9832"/>
                </a:cubicBezTo>
                <a:cubicBezTo>
                  <a:pt x="895662" y="12208"/>
                  <a:pt x="934064" y="29496"/>
                  <a:pt x="934064" y="29496"/>
                </a:cubicBezTo>
                <a:cubicBezTo>
                  <a:pt x="1001681" y="74575"/>
                  <a:pt x="970637" y="61352"/>
                  <a:pt x="1022555" y="78658"/>
                </a:cubicBezTo>
                <a:cubicBezTo>
                  <a:pt x="1032387" y="85213"/>
                  <a:pt x="1041791" y="92459"/>
                  <a:pt x="1052051" y="98322"/>
                </a:cubicBezTo>
                <a:cubicBezTo>
                  <a:pt x="1064777" y="105594"/>
                  <a:pt x="1079453" y="109468"/>
                  <a:pt x="1091380" y="117987"/>
                </a:cubicBezTo>
                <a:cubicBezTo>
                  <a:pt x="1155823" y="164018"/>
                  <a:pt x="1087101" y="136226"/>
                  <a:pt x="1150374" y="157316"/>
                </a:cubicBezTo>
                <a:cubicBezTo>
                  <a:pt x="1156929" y="167148"/>
                  <a:pt x="1161146" y="179031"/>
                  <a:pt x="1170039" y="186813"/>
                </a:cubicBezTo>
                <a:cubicBezTo>
                  <a:pt x="1187825" y="202376"/>
                  <a:pt x="1229032" y="226142"/>
                  <a:pt x="1229032" y="226142"/>
                </a:cubicBezTo>
                <a:cubicBezTo>
                  <a:pt x="1235587" y="235974"/>
                  <a:pt x="1240341" y="247282"/>
                  <a:pt x="1248697" y="255638"/>
                </a:cubicBezTo>
                <a:cubicBezTo>
                  <a:pt x="1305501" y="312442"/>
                  <a:pt x="1251318" y="232322"/>
                  <a:pt x="1307690" y="304800"/>
                </a:cubicBezTo>
                <a:cubicBezTo>
                  <a:pt x="1322200" y="323455"/>
                  <a:pt x="1363731" y="380505"/>
                  <a:pt x="1347019" y="363793"/>
                </a:cubicBezTo>
                <a:cubicBezTo>
                  <a:pt x="1337187" y="353961"/>
                  <a:pt x="1329092" y="342009"/>
                  <a:pt x="1317522" y="334296"/>
                </a:cubicBezTo>
                <a:cubicBezTo>
                  <a:pt x="1308899" y="328547"/>
                  <a:pt x="1298286" y="325930"/>
                  <a:pt x="1288026" y="324464"/>
                </a:cubicBezTo>
                <a:cubicBezTo>
                  <a:pt x="1252189" y="319345"/>
                  <a:pt x="1215923" y="317909"/>
                  <a:pt x="1179871" y="314632"/>
                </a:cubicBezTo>
                <a:cubicBezTo>
                  <a:pt x="1189703" y="308077"/>
                  <a:pt x="1198049" y="298363"/>
                  <a:pt x="1209368" y="294967"/>
                </a:cubicBezTo>
                <a:cubicBezTo>
                  <a:pt x="1219060" y="292059"/>
                  <a:pt x="1352445" y="275854"/>
                  <a:pt x="1356851" y="275303"/>
                </a:cubicBezTo>
                <a:cubicBezTo>
                  <a:pt x="1377844" y="306792"/>
                  <a:pt x="1384130" y="299405"/>
                  <a:pt x="1366684" y="334296"/>
                </a:cubicBezTo>
                <a:cubicBezTo>
                  <a:pt x="1361399" y="344865"/>
                  <a:pt x="1347019" y="363793"/>
                  <a:pt x="1347019" y="363793"/>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284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1800" dirty="0"/>
                  <a:t>Definition 3:  </a:t>
                </a:r>
              </a:p>
              <a:p>
                <a:pPr marL="0" indent="0">
                  <a:buNone/>
                </a:pPr>
                <a:r>
                  <a:rPr lang="en-PH" sz="1800" i="1" dirty="0"/>
                  <a:t>	</a:t>
                </a:r>
                <a:r>
                  <a:rPr lang="en-PH" sz="1800" dirty="0"/>
                  <a:t>Let   </a:t>
                </a:r>
                <a14:m>
                  <m:oMath xmlns:m="http://schemas.openxmlformats.org/officeDocument/2006/math">
                    <m:r>
                      <a:rPr lang="en-PH" sz="1800" b="1" i="0" smtClean="0">
                        <a:latin typeface="Cambria Math"/>
                      </a:rPr>
                      <m:t>𝐮</m:t>
                    </m:r>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sSub>
                                <m:sSubPr>
                                  <m:ctrlPr>
                                    <a:rPr lang="en-PH" sz="1800" b="0" i="1" smtClean="0">
                                      <a:latin typeface="Cambria Math" panose="02040503050406030204" pitchFamily="18" charset="0"/>
                                    </a:rPr>
                                  </m:ctrlPr>
                                </m:sSubPr>
                                <m:e>
                                  <m:r>
                                    <a:rPr lang="en-PH" sz="1800" b="0" i="1" smtClean="0">
                                      <a:latin typeface="Cambria Math"/>
                                    </a:rPr>
                                    <m:t>𝑢</m:t>
                                  </m:r>
                                </m:e>
                                <m:sub>
                                  <m:r>
                                    <a:rPr lang="en-PH" sz="1800" b="0" i="1" smtClean="0">
                                      <a:latin typeface="Cambria Math"/>
                                    </a:rPr>
                                    <m:t>1</m:t>
                                  </m:r>
                                </m:sub>
                              </m:sSub>
                            </m:e>
                          </m:mr>
                          <m:mr>
                            <m:e>
                              <m:sSub>
                                <m:sSubPr>
                                  <m:ctrlPr>
                                    <a:rPr lang="en-PH" sz="1800" b="0" i="1" smtClean="0">
                                      <a:latin typeface="Cambria Math" panose="02040503050406030204" pitchFamily="18" charset="0"/>
                                    </a:rPr>
                                  </m:ctrlPr>
                                </m:sSubPr>
                                <m:e>
                                  <m:r>
                                    <a:rPr lang="en-PH" sz="1800" b="0" i="1" smtClean="0">
                                      <a:latin typeface="Cambria Math"/>
                                    </a:rPr>
                                    <m:t>𝑢</m:t>
                                  </m:r>
                                </m:e>
                                <m:sub>
                                  <m:r>
                                    <a:rPr lang="en-PH" sz="1800" b="0" i="1" smtClean="0">
                                      <a:latin typeface="Cambria Math"/>
                                    </a:rPr>
                                    <m:t>2</m:t>
                                  </m:r>
                                </m:sub>
                              </m:sSub>
                            </m:e>
                          </m:mr>
                        </m:m>
                      </m:e>
                    </m:d>
                  </m:oMath>
                </a14:m>
                <a:r>
                  <a:rPr lang="en-PH" sz="1800" b="0" dirty="0"/>
                  <a:t>  is a vector  and </a:t>
                </a:r>
                <a:r>
                  <a:rPr lang="en-PH" sz="1800" b="0" i="1" dirty="0"/>
                  <a:t>c </a:t>
                </a:r>
                <a:r>
                  <a:rPr lang="en-PH" sz="1800" b="0" dirty="0"/>
                  <a:t>is a scalar (a real number), then </a:t>
                </a:r>
              </a:p>
              <a:p>
                <a:pPr marL="0" indent="0">
                  <a:buNone/>
                </a:pPr>
                <a:r>
                  <a:rPr lang="en-PH" sz="1800" b="0" dirty="0"/>
                  <a:t>scalar  multiple  </a:t>
                </a:r>
                <a:r>
                  <a:rPr lang="en-PH" sz="1800" b="0" i="1" dirty="0"/>
                  <a:t>c</a:t>
                </a:r>
                <a:r>
                  <a:rPr lang="en-PH" sz="1800" b="1" dirty="0"/>
                  <a:t>u</a:t>
                </a:r>
                <a:r>
                  <a:rPr lang="en-PH" sz="1800" b="0" dirty="0"/>
                  <a:t>  of </a:t>
                </a:r>
                <a:r>
                  <a:rPr lang="en-PH" sz="1800" b="1" dirty="0"/>
                  <a:t>u </a:t>
                </a:r>
                <a:r>
                  <a:rPr lang="en-PH" sz="1800" dirty="0"/>
                  <a:t> by c is the vector </a:t>
                </a:r>
                <a14:m>
                  <m:oMath xmlns:m="http://schemas.openxmlformats.org/officeDocument/2006/math">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sSub>
                                <m:sSubPr>
                                  <m:ctrlPr>
                                    <a:rPr lang="en-PH" sz="1800" i="1">
                                      <a:latin typeface="Cambria Math" panose="02040503050406030204" pitchFamily="18" charset="0"/>
                                    </a:rPr>
                                  </m:ctrlPr>
                                </m:sSubPr>
                                <m:e>
                                  <m:r>
                                    <a:rPr lang="en-PH" sz="1800" b="0" i="1" smtClean="0">
                                      <a:latin typeface="Cambria Math"/>
                                    </a:rPr>
                                    <m:t>𝑐</m:t>
                                  </m:r>
                                  <m:r>
                                    <a:rPr lang="en-PH" sz="1800" i="1">
                                      <a:latin typeface="Cambria Math"/>
                                    </a:rPr>
                                    <m:t>𝑢</m:t>
                                  </m:r>
                                </m:e>
                                <m:sub>
                                  <m:r>
                                    <a:rPr lang="en-PH" sz="1800" i="1">
                                      <a:latin typeface="Cambria Math"/>
                                    </a:rPr>
                                    <m:t>1</m:t>
                                  </m:r>
                                </m:sub>
                              </m:sSub>
                            </m:e>
                          </m:mr>
                          <m:mr>
                            <m:e>
                              <m:sSub>
                                <m:sSubPr>
                                  <m:ctrlPr>
                                    <a:rPr lang="en-PH" sz="1800" i="1">
                                      <a:latin typeface="Cambria Math" panose="02040503050406030204" pitchFamily="18" charset="0"/>
                                    </a:rPr>
                                  </m:ctrlPr>
                                </m:sSubPr>
                                <m:e>
                                  <m:r>
                                    <a:rPr lang="en-PH" sz="1800" b="0" i="1" smtClean="0">
                                      <a:latin typeface="Cambria Math"/>
                                    </a:rPr>
                                    <m:t>𝑐</m:t>
                                  </m:r>
                                  <m:r>
                                    <a:rPr lang="en-PH" sz="1800" i="1">
                                      <a:latin typeface="Cambria Math"/>
                                    </a:rPr>
                                    <m:t>𝑢</m:t>
                                  </m:r>
                                </m:e>
                                <m:sub>
                                  <m:r>
                                    <a:rPr lang="en-PH" sz="1800" i="1">
                                      <a:latin typeface="Cambria Math"/>
                                    </a:rPr>
                                    <m:t>2</m:t>
                                  </m:r>
                                </m:sub>
                              </m:sSub>
                            </m:e>
                          </m:mr>
                        </m:m>
                      </m:e>
                    </m:d>
                    <m:r>
                      <a:rPr lang="en-PH" sz="1800" b="0" i="1" smtClean="0">
                        <a:latin typeface="Cambria Math"/>
                      </a:rPr>
                      <m:t>.</m:t>
                    </m:r>
                  </m:oMath>
                </a14:m>
                <a:r>
                  <a:rPr lang="en-PH" sz="1800" b="1" dirty="0"/>
                  <a:t> </a:t>
                </a:r>
                <a:r>
                  <a:rPr lang="en-PH" sz="1800" dirty="0"/>
                  <a:t>Thus, the scalar multiple </a:t>
                </a:r>
                <a:r>
                  <a:rPr lang="en-PH" sz="1800" i="1" dirty="0"/>
                  <a:t>c</a:t>
                </a:r>
                <a:r>
                  <a:rPr lang="en-PH" sz="1800" b="1" dirty="0"/>
                  <a:t>u </a:t>
                </a:r>
                <a:r>
                  <a:rPr lang="en-PH" sz="1800" dirty="0"/>
                  <a:t> is obtained by multiplying each component of </a:t>
                </a:r>
                <a:r>
                  <a:rPr lang="en-PH" sz="1800" b="1" dirty="0"/>
                  <a:t>u </a:t>
                </a:r>
                <a:r>
                  <a:rPr lang="en-PH" sz="1800" dirty="0"/>
                  <a:t>by </a:t>
                </a:r>
                <a:r>
                  <a:rPr lang="en-PH" sz="1800" i="1" dirty="0"/>
                  <a:t>c</a:t>
                </a:r>
                <a:r>
                  <a:rPr lang="en-PH" sz="1800" dirty="0"/>
                  <a:t>. If </a:t>
                </a:r>
                <a:r>
                  <a:rPr lang="en-PH" sz="1800" i="1" dirty="0"/>
                  <a:t>c</a:t>
                </a:r>
                <a:r>
                  <a:rPr lang="en-PH" sz="1800" dirty="0"/>
                  <a:t> &gt; 0, then </a:t>
                </a:r>
                <a:r>
                  <a:rPr lang="en-PH" sz="1800" i="1" dirty="0"/>
                  <a:t>c</a:t>
                </a:r>
                <a:r>
                  <a:rPr lang="en-PH" sz="1800" b="1" dirty="0"/>
                  <a:t>u </a:t>
                </a:r>
                <a:r>
                  <a:rPr lang="en-PH" sz="1800" dirty="0"/>
                  <a:t>is in the same direction as </a:t>
                </a:r>
                <a:r>
                  <a:rPr lang="en-PH" sz="1800" b="1" dirty="0"/>
                  <a:t>u</a:t>
                </a:r>
                <a:r>
                  <a:rPr lang="en-PH" sz="1800" dirty="0"/>
                  <a:t>, whereas if </a:t>
                </a:r>
                <a:r>
                  <a:rPr lang="en-PH" sz="1800" i="1" dirty="0"/>
                  <a:t>d</a:t>
                </a:r>
                <a:r>
                  <a:rPr lang="en-PH" sz="1800" dirty="0"/>
                  <a:t> &lt; 0, then </a:t>
                </a:r>
                <a:r>
                  <a:rPr lang="en-PH" sz="1800" i="1" dirty="0"/>
                  <a:t>d</a:t>
                </a:r>
                <a:r>
                  <a:rPr lang="en-PH" sz="1800" b="1" dirty="0"/>
                  <a:t>u</a:t>
                </a:r>
                <a:r>
                  <a:rPr lang="en-PH" sz="1800" dirty="0"/>
                  <a:t> is in the opposite direction. </a:t>
                </a:r>
                <a:endParaRPr lang="en-PH" sz="1800" b="1" dirty="0"/>
              </a:p>
              <a:p>
                <a:pPr marL="0" indent="0" algn="ctr">
                  <a:buNone/>
                </a:pPr>
                <a:r>
                  <a:rPr lang="en-PH" sz="1800" dirty="0"/>
                  <a:t> </a:t>
                </a:r>
              </a:p>
              <a:p>
                <a:pPr marL="0" indent="0" algn="ctr">
                  <a:buNone/>
                </a:pPr>
                <a:endParaRPr lang="en-PH" sz="1800" dirty="0"/>
              </a:p>
              <a:p>
                <a:pPr marL="0" indent="0">
                  <a:buNone/>
                </a:pPr>
                <a:r>
                  <a:rPr lang="en-PH" sz="1800" dirty="0"/>
                  <a:t>Example 3: </a:t>
                </a:r>
              </a:p>
              <a:p>
                <a:pPr marL="0" indent="0">
                  <a:buNone/>
                </a:pPr>
                <a:r>
                  <a:rPr lang="en-PH" sz="1800" dirty="0"/>
                  <a:t>	 Let  </a:t>
                </a:r>
                <a14:m>
                  <m:oMath xmlns:m="http://schemas.openxmlformats.org/officeDocument/2006/math">
                    <m:r>
                      <a:rPr lang="en-PH" sz="2200" b="0" i="1" smtClean="0">
                        <a:latin typeface="Cambria Math"/>
                      </a:rPr>
                      <m:t>𝑐</m:t>
                    </m:r>
                    <m:r>
                      <a:rPr lang="en-PH" sz="2200" b="0" i="1" smtClean="0">
                        <a:latin typeface="Cambria Math"/>
                      </a:rPr>
                      <m:t>=2</m:t>
                    </m:r>
                  </m:oMath>
                </a14:m>
                <a:r>
                  <a:rPr lang="en-PH" sz="1800" dirty="0"/>
                  <a:t> and </a:t>
                </a:r>
                <a14:m>
                  <m:oMath xmlns:m="http://schemas.openxmlformats.org/officeDocument/2006/math">
                    <m:r>
                      <a:rPr lang="en-US" sz="2200" b="0" i="1" smtClean="0">
                        <a:latin typeface="Cambria Math" panose="02040503050406030204" pitchFamily="18" charset="0"/>
                      </a:rPr>
                      <m:t>𝑑</m:t>
                    </m:r>
                    <m:r>
                      <a:rPr lang="en-PH" sz="2200" i="1">
                        <a:latin typeface="Cambria Math"/>
                      </a:rPr>
                      <m:t>=−3</m:t>
                    </m:r>
                  </m:oMath>
                </a14:m>
                <a:r>
                  <a:rPr lang="en-PH" sz="1800" dirty="0"/>
                  <a:t> , and </a:t>
                </a:r>
                <a14:m>
                  <m:oMath xmlns:m="http://schemas.openxmlformats.org/officeDocument/2006/math">
                    <m:r>
                      <a:rPr lang="en-PH" sz="2200" b="0" i="0" smtClean="0">
                        <a:latin typeface="Cambria Math"/>
                      </a:rPr>
                      <m:t> </m:t>
                    </m:r>
                    <m:r>
                      <a:rPr lang="en-PH" sz="2200" b="1">
                        <a:latin typeface="Cambria Math"/>
                      </a:rPr>
                      <m:t>𝐮</m:t>
                    </m:r>
                    <m:r>
                      <a:rPr lang="en-PH" sz="2200" i="1">
                        <a:latin typeface="Cambria Math"/>
                      </a:rPr>
                      <m:t>= </m:t>
                    </m:r>
                    <m:d>
                      <m:dPr>
                        <m:begChr m:val="["/>
                        <m:endChr m:val="]"/>
                        <m:ctrlPr>
                          <a:rPr lang="en-PH" sz="2200" i="1">
                            <a:latin typeface="Cambria Math" panose="02040503050406030204" pitchFamily="18" charset="0"/>
                          </a:rPr>
                        </m:ctrlPr>
                      </m:dPr>
                      <m:e>
                        <m:m>
                          <m:mPr>
                            <m:mcs>
                              <m:mc>
                                <m:mcPr>
                                  <m:count m:val="1"/>
                                  <m:mcJc m:val="center"/>
                                </m:mcPr>
                              </m:mc>
                            </m:mcs>
                            <m:ctrlPr>
                              <a:rPr lang="en-PH" sz="2200" i="1">
                                <a:latin typeface="Cambria Math" panose="02040503050406030204" pitchFamily="18" charset="0"/>
                              </a:rPr>
                            </m:ctrlPr>
                          </m:mPr>
                          <m:mr>
                            <m:e>
                              <m:r>
                                <a:rPr lang="en-PH" sz="2200" b="0" i="1" smtClean="0">
                                  <a:latin typeface="Cambria Math"/>
                                </a:rPr>
                                <m:t>2</m:t>
                              </m:r>
                            </m:e>
                          </m:mr>
                          <m:mr>
                            <m:e>
                              <m:r>
                                <a:rPr lang="en-PH" sz="2200" b="0" i="1" smtClean="0">
                                  <a:latin typeface="Cambria Math"/>
                                </a:rPr>
                                <m:t>−3</m:t>
                              </m:r>
                            </m:e>
                          </m:mr>
                        </m:m>
                      </m:e>
                    </m:d>
                  </m:oMath>
                </a14:m>
                <a:r>
                  <a:rPr lang="en-PH" sz="1800" dirty="0"/>
                  <a:t>   , find </a:t>
                </a:r>
                <a:r>
                  <a:rPr lang="en-PH" sz="1800" i="1" dirty="0"/>
                  <a:t>c</a:t>
                </a:r>
                <a:r>
                  <a:rPr lang="en-PH" sz="1800" b="1" dirty="0"/>
                  <a:t>u </a:t>
                </a:r>
                <a:r>
                  <a:rPr lang="en-PH" sz="1800" dirty="0"/>
                  <a:t> and </a:t>
                </a:r>
                <a:r>
                  <a:rPr lang="en-PH" sz="1800" i="1" dirty="0"/>
                  <a:t>d</a:t>
                </a:r>
                <a:r>
                  <a:rPr lang="en-PH" sz="1800" b="1" dirty="0"/>
                  <a:t>u.</a:t>
                </a:r>
                <a:endParaRPr lang="en-PH" sz="1800" dirty="0"/>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93" t="-750"/>
                </a:stretch>
              </a:blipFill>
            </p:spPr>
            <p:txBody>
              <a:bodyPr/>
              <a:lstStyle/>
              <a:p>
                <a:r>
                  <a:rPr lang="en-US">
                    <a:noFill/>
                  </a:rPr>
                  <a:t> </a:t>
                </a:r>
              </a:p>
            </p:txBody>
          </p:sp>
        </mc:Fallback>
      </mc:AlternateContent>
    </p:spTree>
    <p:extLst>
      <p:ext uri="{BB962C8B-B14F-4D97-AF65-F5344CB8AC3E}">
        <p14:creationId xmlns:p14="http://schemas.microsoft.com/office/powerpoint/2010/main" val="352790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1800" dirty="0"/>
                  <a:t>Solution:  </a:t>
                </a:r>
              </a:p>
              <a:p>
                <a:pPr marL="0" indent="0">
                  <a:buNone/>
                </a:pPr>
                <a:r>
                  <a:rPr lang="en-PH" sz="1800" i="1" dirty="0"/>
                  <a:t>	c</a:t>
                </a:r>
                <a14:m>
                  <m:oMath xmlns:m="http://schemas.openxmlformats.org/officeDocument/2006/math">
                    <m:r>
                      <a:rPr lang="en-PH" sz="1800" b="1" i="0" smtClean="0">
                        <a:latin typeface="Cambria Math"/>
                      </a:rPr>
                      <m:t>𝐮</m:t>
                    </m:r>
                    <m:r>
                      <a:rPr lang="en-PH" sz="1800" b="1" i="0" smtClean="0">
                        <a:latin typeface="Cambria Math"/>
                      </a:rPr>
                      <m:t>= </m:t>
                    </m:r>
                    <m:d>
                      <m:dPr>
                        <m:begChr m:val="["/>
                        <m:endChr m:val="]"/>
                        <m:ctrlPr>
                          <a:rPr lang="en-PH" sz="1800"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i="1" smtClean="0">
                                  <a:latin typeface="Cambria Math"/>
                                </a:rPr>
                                <m:t>2</m:t>
                              </m:r>
                              <m:r>
                                <a:rPr lang="en-PH" sz="1800" b="0" i="1" smtClean="0">
                                  <a:latin typeface="Cambria Math"/>
                                </a:rPr>
                                <m:t>(2)</m:t>
                              </m:r>
                            </m:e>
                          </m:mr>
                          <m:mr>
                            <m:e>
                              <m:r>
                                <a:rPr lang="en-PH" sz="1800" b="0" i="1" smtClean="0">
                                  <a:latin typeface="Cambria Math"/>
                                </a:rPr>
                                <m:t>2(−3)</m:t>
                              </m:r>
                            </m:e>
                          </m:mr>
                        </m:m>
                      </m:e>
                    </m:d>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r>
                                <a:rPr lang="en-PH" sz="1800" b="0" i="1" smtClean="0">
                                  <a:latin typeface="Cambria Math"/>
                                </a:rPr>
                                <m:t>4</m:t>
                              </m:r>
                            </m:e>
                          </m:mr>
                          <m:mr>
                            <m:e>
                              <m:r>
                                <a:rPr lang="en-PH" sz="1800" b="0" i="1" smtClean="0">
                                  <a:latin typeface="Cambria Math"/>
                                </a:rPr>
                                <m:t>−6</m:t>
                              </m:r>
                            </m:e>
                          </m:mr>
                        </m:m>
                      </m:e>
                    </m:d>
                  </m:oMath>
                </a14:m>
                <a:endParaRPr lang="en-PH" sz="1800" dirty="0"/>
              </a:p>
              <a:p>
                <a:pPr marL="0" indent="0" algn="ctr">
                  <a:buNone/>
                </a:pPr>
                <a:endParaRPr lang="en-PH" sz="1800" dirty="0"/>
              </a:p>
              <a:p>
                <a:pPr marL="0" indent="0">
                  <a:buNone/>
                </a:pPr>
                <a:r>
                  <a:rPr lang="en-PH" sz="1800" dirty="0"/>
                  <a:t>To illustrate:</a:t>
                </a:r>
              </a:p>
              <a:p>
                <a:pPr marL="0" indent="0">
                  <a:buNone/>
                </a:pPr>
                <a:endParaRPr lang="en-PH" sz="1800" dirty="0"/>
              </a:p>
              <a:p>
                <a:pPr marL="0" indent="0">
                  <a:buNone/>
                </a:pPr>
                <a:endParaRPr lang="en-PH" sz="1800" dirty="0"/>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625"/>
                </a:stretch>
              </a:blipFill>
            </p:spPr>
            <p:txBody>
              <a:bodyPr/>
              <a:lstStyle/>
              <a:p>
                <a:r>
                  <a:rPr lang="en-PH">
                    <a:noFill/>
                  </a:rPr>
                  <a:t> </a:t>
                </a:r>
              </a:p>
            </p:txBody>
          </p:sp>
        </mc:Fallback>
      </mc:AlternateContent>
      <p:cxnSp>
        <p:nvCxnSpPr>
          <p:cNvPr id="6" name="Straight Arrow Connector 5"/>
          <p:cNvCxnSpPr/>
          <p:nvPr/>
        </p:nvCxnSpPr>
        <p:spPr>
          <a:xfrm>
            <a:off x="3200400" y="2819400"/>
            <a:ext cx="0" cy="33528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143000" y="3581400"/>
            <a:ext cx="54102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36576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41910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46482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51816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56388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60960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16764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2098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743200" y="35052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3124200" y="4419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3124200" y="3962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3124200" y="3581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3124200" y="3200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3124200" y="5943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3124200" y="5562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3124200" y="5181600"/>
            <a:ext cx="1524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4114800" y="47244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Oval 49"/>
          <p:cNvSpPr/>
          <p:nvPr/>
        </p:nvSpPr>
        <p:spPr>
          <a:xfrm>
            <a:off x="5105400" y="58674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52" name="Straight Arrow Connector 51"/>
          <p:cNvCxnSpPr/>
          <p:nvPr/>
        </p:nvCxnSpPr>
        <p:spPr>
          <a:xfrm>
            <a:off x="3200400" y="3566963"/>
            <a:ext cx="967740" cy="12030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3200400" y="3596460"/>
            <a:ext cx="1935481" cy="2347140"/>
          </a:xfrm>
          <a:prstGeom prst="straightConnector1">
            <a:avLst/>
          </a:prstGeom>
          <a:ln>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3277462" y="4953000"/>
            <a:ext cx="1523138" cy="369332"/>
          </a:xfrm>
          <a:prstGeom prst="rect">
            <a:avLst/>
          </a:prstGeom>
          <a:noFill/>
          <a:ln>
            <a:noFill/>
          </a:ln>
        </p:spPr>
        <p:txBody>
          <a:bodyPr wrap="square" rtlCol="0">
            <a:spAutoFit/>
          </a:bodyPr>
          <a:lstStyle/>
          <a:p>
            <a:r>
              <a:rPr lang="en-PH" b="1" dirty="0"/>
              <a:t>u</a:t>
            </a:r>
            <a:r>
              <a:rPr lang="en-PH" dirty="0"/>
              <a:t>=[2,-3]</a:t>
            </a:r>
          </a:p>
        </p:txBody>
      </p:sp>
      <p:sp>
        <p:nvSpPr>
          <p:cNvPr id="67" name="TextBox 66"/>
          <p:cNvSpPr txBox="1"/>
          <p:nvPr/>
        </p:nvSpPr>
        <p:spPr>
          <a:xfrm>
            <a:off x="5372100" y="5650468"/>
            <a:ext cx="1866900" cy="369332"/>
          </a:xfrm>
          <a:prstGeom prst="rect">
            <a:avLst/>
          </a:prstGeom>
          <a:noFill/>
          <a:ln>
            <a:noFill/>
          </a:ln>
        </p:spPr>
        <p:txBody>
          <a:bodyPr wrap="square" rtlCol="0">
            <a:spAutoFit/>
          </a:bodyPr>
          <a:lstStyle/>
          <a:p>
            <a:r>
              <a:rPr lang="en-PH" b="1" dirty="0"/>
              <a:t>2u </a:t>
            </a:r>
            <a:r>
              <a:rPr lang="en-PH" dirty="0"/>
              <a:t>= [4, -6]</a:t>
            </a:r>
          </a:p>
        </p:txBody>
      </p:sp>
      <p:cxnSp>
        <p:nvCxnSpPr>
          <p:cNvPr id="38" name="Straight Connector 37"/>
          <p:cNvCxnSpPr/>
          <p:nvPr/>
        </p:nvCxnSpPr>
        <p:spPr>
          <a:xfrm flipH="1">
            <a:off x="3124200" y="4800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3200400" y="3596460"/>
            <a:ext cx="967740" cy="1166040"/>
          </a:xfrm>
          <a:prstGeom prst="straightConnector1">
            <a:avLst/>
          </a:prstGeom>
          <a:ln>
            <a:solidFill>
              <a:srgbClr val="005DA2"/>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33400" y="6324600"/>
            <a:ext cx="8153400" cy="307777"/>
          </a:xfrm>
          <a:prstGeom prst="rect">
            <a:avLst/>
          </a:prstGeom>
          <a:noFill/>
        </p:spPr>
        <p:txBody>
          <a:bodyPr wrap="square" rtlCol="0">
            <a:spAutoFit/>
          </a:bodyPr>
          <a:lstStyle/>
          <a:p>
            <a:r>
              <a:rPr lang="en-PH" sz="1400" dirty="0"/>
              <a:t>Note: Observe that the size of the original vector doubles since </a:t>
            </a:r>
            <a:r>
              <a:rPr lang="en-PH" sz="1400" i="1" dirty="0"/>
              <a:t>c = 2.</a:t>
            </a:r>
            <a:r>
              <a:rPr lang="en-PH" sz="1400" dirty="0"/>
              <a:t> </a:t>
            </a:r>
          </a:p>
        </p:txBody>
      </p:sp>
    </p:spTree>
    <p:extLst>
      <p:ext uri="{BB962C8B-B14F-4D97-AF65-F5344CB8AC3E}">
        <p14:creationId xmlns:p14="http://schemas.microsoft.com/office/powerpoint/2010/main" val="2093538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the Plane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1800" dirty="0"/>
                  <a:t>Solution:  </a:t>
                </a:r>
              </a:p>
              <a:p>
                <a:pPr marL="0" indent="0">
                  <a:buNone/>
                </a:pPr>
                <a:r>
                  <a:rPr lang="en-PH" sz="1800" i="1" dirty="0"/>
                  <a:t>-3</a:t>
                </a:r>
                <a14:m>
                  <m:oMath xmlns:m="http://schemas.openxmlformats.org/officeDocument/2006/math">
                    <m:r>
                      <a:rPr lang="en-PH" sz="1800" b="1" i="0" smtClean="0">
                        <a:latin typeface="Cambria Math"/>
                      </a:rPr>
                      <m:t>𝐮</m:t>
                    </m:r>
                    <m:r>
                      <a:rPr lang="en-PH" sz="1800" b="1" i="0" smtClean="0">
                        <a:latin typeface="Cambria Math"/>
                      </a:rPr>
                      <m:t>= </m:t>
                    </m:r>
                    <m:d>
                      <m:dPr>
                        <m:begChr m:val="["/>
                        <m:endChr m:val="]"/>
                        <m:ctrlPr>
                          <a:rPr lang="en-PH" sz="1800" i="1" smtClean="0">
                            <a:latin typeface="Cambria Math" panose="02040503050406030204" pitchFamily="18" charset="0"/>
                          </a:rPr>
                        </m:ctrlPr>
                      </m:dPr>
                      <m:e>
                        <m:m>
                          <m:mPr>
                            <m:mcs>
                              <m:mc>
                                <m:mcPr>
                                  <m:count m:val="1"/>
                                  <m:mcJc m:val="center"/>
                                </m:mcPr>
                              </m:mc>
                            </m:mcs>
                            <m:ctrlPr>
                              <a:rPr lang="en-PH" sz="1800" i="1" smtClean="0">
                                <a:latin typeface="Cambria Math" panose="02040503050406030204" pitchFamily="18" charset="0"/>
                              </a:rPr>
                            </m:ctrlPr>
                          </m:mPr>
                          <m:mr>
                            <m:e>
                              <m:r>
                                <m:rPr>
                                  <m:brk m:alnAt="7"/>
                                </m:rPr>
                                <a:rPr lang="en-PH" sz="1800" b="0" i="1" smtClean="0">
                                  <a:latin typeface="Cambria Math"/>
                                </a:rPr>
                                <m:t>−</m:t>
                              </m:r>
                              <m:r>
                                <a:rPr lang="en-PH" sz="1800" b="0" i="1" smtClean="0">
                                  <a:latin typeface="Cambria Math"/>
                                </a:rPr>
                                <m:t>3(2)</m:t>
                              </m:r>
                            </m:e>
                          </m:mr>
                          <m:mr>
                            <m:e>
                              <m:r>
                                <a:rPr lang="en-PH" sz="1800" b="0" i="1" smtClean="0">
                                  <a:latin typeface="Cambria Math"/>
                                </a:rPr>
                                <m:t>−3(−3)</m:t>
                              </m:r>
                            </m:e>
                          </m:mr>
                        </m:m>
                      </m:e>
                    </m:d>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r>
                                <a:rPr lang="en-PH" sz="1800" b="0" i="1" smtClean="0">
                                  <a:latin typeface="Cambria Math"/>
                                </a:rPr>
                                <m:t>−6</m:t>
                              </m:r>
                            </m:e>
                          </m:mr>
                          <m:mr>
                            <m:e>
                              <m:r>
                                <a:rPr lang="en-PH" sz="1800" b="0" i="1" smtClean="0">
                                  <a:latin typeface="Cambria Math"/>
                                </a:rPr>
                                <m:t>9</m:t>
                              </m:r>
                            </m:e>
                          </m:mr>
                        </m:m>
                      </m:e>
                    </m:d>
                  </m:oMath>
                </a14:m>
                <a:endParaRPr lang="en-PH" sz="1800" dirty="0"/>
              </a:p>
              <a:p>
                <a:pPr marL="0" indent="0" algn="ctr">
                  <a:buNone/>
                </a:pPr>
                <a:endParaRPr lang="en-PH" sz="1800" dirty="0"/>
              </a:p>
              <a:p>
                <a:pPr marL="0" indent="0">
                  <a:buNone/>
                </a:pPr>
                <a:r>
                  <a:rPr lang="en-PH" sz="1800" dirty="0"/>
                  <a:t>To illustrate:</a:t>
                </a:r>
              </a:p>
              <a:p>
                <a:pPr marL="0" indent="0">
                  <a:buNone/>
                </a:pPr>
                <a:r>
                  <a:rPr lang="en-PH" sz="1800" dirty="0"/>
                  <a:t>	</a:t>
                </a:r>
              </a:p>
              <a:p>
                <a:pPr marL="0" indent="0">
                  <a:buNone/>
                </a:pPr>
                <a:endParaRPr lang="en-PH" sz="1800" dirty="0"/>
              </a:p>
              <a:p>
                <a:pPr marL="0" indent="0">
                  <a:buNone/>
                </a:pPr>
                <a:endParaRPr lang="en-PH" sz="1800" dirty="0"/>
              </a:p>
              <a:p>
                <a:pPr marL="0" indent="0">
                  <a:buNone/>
                </a:pPr>
                <a:endParaRPr lang="en-PH" sz="1800" dirty="0"/>
              </a:p>
              <a:p>
                <a:pPr marL="0" indent="0">
                  <a:buNone/>
                </a:pPr>
                <a:r>
                  <a:rPr lang="en-PH" sz="18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593" t="-750"/>
                </a:stretch>
              </a:blipFill>
            </p:spPr>
            <p:txBody>
              <a:bodyPr/>
              <a:lstStyle/>
              <a:p>
                <a:r>
                  <a:rPr lang="en-US">
                    <a:noFill/>
                  </a:rPr>
                  <a:t> </a:t>
                </a:r>
              </a:p>
            </p:txBody>
          </p:sp>
        </mc:Fallback>
      </mc:AlternateContent>
      <p:cxnSp>
        <p:nvCxnSpPr>
          <p:cNvPr id="6" name="Straight Arrow Connector 5"/>
          <p:cNvCxnSpPr/>
          <p:nvPr/>
        </p:nvCxnSpPr>
        <p:spPr>
          <a:xfrm>
            <a:off x="6781800" y="1066800"/>
            <a:ext cx="0" cy="55626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209800" y="5181600"/>
            <a:ext cx="59436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33800" y="472440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52578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57912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62484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38100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72390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6962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32766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28194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43434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6705600" y="4419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6705600" y="3962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6705600" y="3200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a:off x="6705600" y="5943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H="1">
            <a:off x="6705600" y="5562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H="1">
            <a:off x="3124200" y="5181600"/>
            <a:ext cx="1524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3840481" y="16002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0" name="Oval 49"/>
          <p:cNvSpPr/>
          <p:nvPr/>
        </p:nvSpPr>
        <p:spPr>
          <a:xfrm>
            <a:off x="7802881" y="6324600"/>
            <a:ext cx="45719" cy="76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cxnSp>
        <p:nvCxnSpPr>
          <p:cNvPr id="52" name="Straight Arrow Connector 51"/>
          <p:cNvCxnSpPr/>
          <p:nvPr/>
        </p:nvCxnSpPr>
        <p:spPr>
          <a:xfrm>
            <a:off x="6781800" y="5181600"/>
            <a:ext cx="1013459" cy="12030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flipH="1" flipV="1">
            <a:off x="3810000" y="1600200"/>
            <a:ext cx="2947220" cy="3552526"/>
          </a:xfrm>
          <a:prstGeom prst="straightConnector1">
            <a:avLst/>
          </a:prstGeom>
          <a:ln>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7620862" y="5802868"/>
            <a:ext cx="1294538" cy="369332"/>
          </a:xfrm>
          <a:prstGeom prst="rect">
            <a:avLst/>
          </a:prstGeom>
          <a:noFill/>
          <a:ln>
            <a:noFill/>
          </a:ln>
        </p:spPr>
        <p:txBody>
          <a:bodyPr wrap="square" rtlCol="0">
            <a:spAutoFit/>
          </a:bodyPr>
          <a:lstStyle/>
          <a:p>
            <a:r>
              <a:rPr lang="en-PH" b="1" dirty="0"/>
              <a:t>u</a:t>
            </a:r>
            <a:r>
              <a:rPr lang="en-PH" dirty="0"/>
              <a:t>=[2,-3]</a:t>
            </a:r>
          </a:p>
        </p:txBody>
      </p:sp>
      <p:sp>
        <p:nvSpPr>
          <p:cNvPr id="67" name="TextBox 66"/>
          <p:cNvSpPr txBox="1"/>
          <p:nvPr/>
        </p:nvSpPr>
        <p:spPr>
          <a:xfrm>
            <a:off x="4343400" y="1524000"/>
            <a:ext cx="1866900" cy="369332"/>
          </a:xfrm>
          <a:prstGeom prst="rect">
            <a:avLst/>
          </a:prstGeom>
          <a:noFill/>
          <a:ln>
            <a:noFill/>
          </a:ln>
        </p:spPr>
        <p:txBody>
          <a:bodyPr wrap="square" rtlCol="0">
            <a:spAutoFit/>
          </a:bodyPr>
          <a:lstStyle/>
          <a:p>
            <a:r>
              <a:rPr lang="en-PH" b="1" dirty="0"/>
              <a:t>-3u </a:t>
            </a:r>
            <a:r>
              <a:rPr lang="en-PH" dirty="0"/>
              <a:t>= [-6, 9]</a:t>
            </a:r>
          </a:p>
        </p:txBody>
      </p:sp>
      <p:cxnSp>
        <p:nvCxnSpPr>
          <p:cNvPr id="38" name="Straight Connector 37"/>
          <p:cNvCxnSpPr/>
          <p:nvPr/>
        </p:nvCxnSpPr>
        <p:spPr>
          <a:xfrm flipH="1">
            <a:off x="6705600" y="4800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4800600" y="5105400"/>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6705600" y="3581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H="1">
            <a:off x="6705600" y="63246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6705600" y="2438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6705600" y="1981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6705600" y="12192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6705600" y="2819400"/>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6705600" y="1600200"/>
            <a:ext cx="1524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533400" y="6324600"/>
            <a:ext cx="8153400" cy="307777"/>
          </a:xfrm>
          <a:prstGeom prst="rect">
            <a:avLst/>
          </a:prstGeom>
          <a:noFill/>
        </p:spPr>
        <p:txBody>
          <a:bodyPr wrap="square" rtlCol="0">
            <a:spAutoFit/>
          </a:bodyPr>
          <a:lstStyle/>
          <a:p>
            <a:r>
              <a:rPr lang="en-PH" sz="1400" dirty="0"/>
              <a:t>Note: Observe that the size of the original vector triples but on the opposite  direction</a:t>
            </a:r>
            <a:r>
              <a:rPr lang="en-PH" sz="1400" i="1" dirty="0"/>
              <a:t>.</a:t>
            </a:r>
            <a:r>
              <a:rPr lang="en-PH" sz="1400" dirty="0"/>
              <a:t> </a:t>
            </a:r>
          </a:p>
        </p:txBody>
      </p:sp>
    </p:spTree>
    <p:extLst>
      <p:ext uri="{BB962C8B-B14F-4D97-AF65-F5344CB8AC3E}">
        <p14:creationId xmlns:p14="http://schemas.microsoft.com/office/powerpoint/2010/main" val="1121629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3BF9-EFB7-4C05-BBE6-A1BB84CFFC9A}"/>
              </a:ext>
            </a:extLst>
          </p:cNvPr>
          <p:cNvSpPr>
            <a:spLocks noGrp="1"/>
          </p:cNvSpPr>
          <p:nvPr>
            <p:ph type="title"/>
          </p:nvPr>
        </p:nvSpPr>
        <p:spPr>
          <a:xfrm>
            <a:off x="0" y="8860"/>
            <a:ext cx="8229600" cy="420511"/>
          </a:xfrm>
        </p:spPr>
        <p:txBody>
          <a:bodyPr>
            <a:normAutofit fontScale="90000"/>
          </a:bodyPr>
          <a:lstStyle/>
          <a:p>
            <a:r>
              <a:rPr lang="en-US" dirty="0"/>
              <a:t>Example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87F6F7-7BAE-4888-BF89-27FD4B1C21BB}"/>
                  </a:ext>
                </a:extLst>
              </p:cNvPr>
              <p:cNvSpPr>
                <a:spLocks noGrp="1"/>
              </p:cNvSpPr>
              <p:nvPr>
                <p:ph idx="1"/>
              </p:nvPr>
            </p:nvSpPr>
            <p:spPr>
              <a:xfrm>
                <a:off x="152400" y="533400"/>
                <a:ext cx="8610600" cy="6096000"/>
              </a:xfrm>
            </p:spPr>
            <p:txBody>
              <a:bodyPr>
                <a:normAutofit/>
              </a:bodyPr>
              <a:lstStyle/>
              <a:p>
                <a:pPr marL="0" indent="0">
                  <a:buNone/>
                </a:pPr>
                <a:r>
                  <a:rPr lang="en-US" sz="2000" dirty="0">
                    <a:latin typeface="Arial" panose="020B0604020202020204" pitchFamily="34" charset="0"/>
                    <a:cs typeface="Arial" panose="020B0604020202020204" pitchFamily="34" charset="0"/>
                  </a:rPr>
                  <a:t>Let v the vector with the initial point (2,5) and terminal point (8,13) and let w = (-2,4).</a:t>
                </a:r>
              </a:p>
              <a:p>
                <a:pPr marL="457200" indent="-457200">
                  <a:buAutoNum type="alphaLcPeriod"/>
                </a:pPr>
                <a:r>
                  <a:rPr lang="en-US" sz="2000" dirty="0">
                    <a:latin typeface="Arial" panose="020B0604020202020204" pitchFamily="34" charset="0"/>
                    <a:cs typeface="Arial" panose="020B0604020202020204" pitchFamily="34" charset="0"/>
                  </a:rPr>
                  <a:t>Express v in the component form and find |v|.</a:t>
                </a:r>
              </a:p>
              <a:p>
                <a:pPr marL="457200" indent="-457200">
                  <a:buAutoNum type="alphaLcPeriod"/>
                </a:pPr>
                <a:r>
                  <a:rPr lang="en-US" sz="2000" dirty="0">
                    <a:latin typeface="Arial" panose="020B0604020202020204" pitchFamily="34" charset="0"/>
                    <a:cs typeface="Arial" panose="020B0604020202020204" pitchFamily="34" charset="0"/>
                  </a:rPr>
                  <a:t>v + w	c.  3v	 	d.  v – 2w</a:t>
                </a:r>
              </a:p>
              <a:p>
                <a:pPr marL="0" indent="0">
                  <a:buNone/>
                </a:pPr>
                <a:r>
                  <a:rPr lang="en-US" sz="2000" dirty="0">
                    <a:latin typeface="Arial" panose="020B0604020202020204" pitchFamily="34" charset="0"/>
                    <a:cs typeface="Arial" panose="020B0604020202020204" pitchFamily="34" charset="0"/>
                  </a:rPr>
                  <a:t>Solution:</a:t>
                </a:r>
              </a:p>
              <a:p>
                <a:pPr marL="457200" indent="-457200">
                  <a:buAutoNum type="alphaLcPeriod"/>
                </a:pPr>
                <a:r>
                  <a:rPr lang="en-US" sz="2000" dirty="0">
                    <a:latin typeface="Arial" panose="020B0604020202020204" pitchFamily="34" charset="0"/>
                    <a:cs typeface="Arial" panose="020B0604020202020204" pitchFamily="34" charset="0"/>
                  </a:rPr>
                  <a:t>v = (8 – 2, 13 – 5) = (6, 8)</a:t>
                </a:r>
              </a:p>
              <a:p>
                <a:pPr marL="0" indent="0">
                  <a:buNone/>
                </a:pPr>
                <a:r>
                  <a:rPr lang="en-US" sz="2000" dirty="0">
                    <a:latin typeface="Arial" panose="020B0604020202020204" pitchFamily="34" charset="0"/>
                    <a:cs typeface="Arial" panose="020B0604020202020204" pitchFamily="34" charset="0"/>
                  </a:rPr>
                  <a:t>     |v| = </a:t>
                </a:r>
                <a14:m>
                  <m:oMath xmlns:m="http://schemas.openxmlformats.org/officeDocument/2006/math">
                    <m:rad>
                      <m:radPr>
                        <m:degHide m:val="on"/>
                        <m:ctrlPr>
                          <a:rPr lang="en-US" sz="2000" i="1" smtClean="0">
                            <a:latin typeface="Cambria Math" panose="02040503050406030204" pitchFamily="18" charset="0"/>
                            <a:cs typeface="Arial" panose="020B0604020202020204" pitchFamily="34" charset="0"/>
                          </a:rPr>
                        </m:ctrlPr>
                      </m:radPr>
                      <m:deg/>
                      <m:e>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6</m:t>
                            </m:r>
                          </m:e>
                          <m:sup>
                            <m:r>
                              <a:rPr lang="en-US" sz="2000" i="1" smtClean="0">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cs typeface="Arial" panose="020B0604020202020204" pitchFamily="34" charset="0"/>
                          </a:rPr>
                          <m:t>+</m:t>
                        </m:r>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8</m:t>
                            </m:r>
                          </m:e>
                          <m:sup>
                            <m:r>
                              <a:rPr lang="en-US" sz="2000" i="1" smtClean="0">
                                <a:latin typeface="Cambria Math" panose="02040503050406030204" pitchFamily="18" charset="0"/>
                                <a:cs typeface="Arial" panose="020B0604020202020204" pitchFamily="34" charset="0"/>
                              </a:rPr>
                              <m:t>2</m:t>
                            </m:r>
                          </m:sup>
                        </m:sSup>
                      </m:e>
                    </m:rad>
                  </m:oMath>
                </a14:m>
                <a:r>
                  <a:rPr lang="en-US" sz="20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36</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64</m:t>
                        </m:r>
                      </m:e>
                    </m:rad>
                  </m:oMath>
                </a14:m>
                <a:r>
                  <a:rPr lang="en-US" sz="2000" dirty="0">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100</m:t>
                        </m:r>
                      </m:e>
                    </m:rad>
                  </m:oMath>
                </a14:m>
                <a:r>
                  <a:rPr lang="en-US" sz="2000" dirty="0">
                    <a:latin typeface="Arial" panose="020B0604020202020204" pitchFamily="34" charset="0"/>
                    <a:cs typeface="Arial" panose="020B0604020202020204" pitchFamily="34" charset="0"/>
                  </a:rPr>
                  <a:t> = 10</a:t>
                </a:r>
              </a:p>
              <a:p>
                <a:pPr marL="0" indent="0">
                  <a:buNone/>
                </a:pPr>
                <a:endParaRPr lang="en-US" sz="2000" dirty="0">
                  <a:latin typeface="Arial" panose="020B0604020202020204" pitchFamily="34" charset="0"/>
                  <a:cs typeface="Arial" panose="020B0604020202020204" pitchFamily="34" charset="0"/>
                </a:endParaRPr>
              </a:p>
              <a:p>
                <a:pPr marL="457200" indent="-457200" algn="just">
                  <a:buAutoNum type="alphaLcPeriod" startAt="2"/>
                </a:pPr>
                <a:r>
                  <a:rPr lang="en-US" sz="2000" dirty="0">
                    <a:latin typeface="Arial" panose="020B0604020202020204" pitchFamily="34" charset="0"/>
                    <a:cs typeface="Arial" panose="020B0604020202020204" pitchFamily="34" charset="0"/>
                  </a:rPr>
                  <a:t>To find v + w, add the x-components and the y-components separately: </a:t>
                </a:r>
              </a:p>
              <a:p>
                <a:pPr marL="0" indent="0" algn="just">
                  <a:buNone/>
                </a:pPr>
                <a:r>
                  <a:rPr lang="en-US" sz="2000" dirty="0">
                    <a:latin typeface="Arial" panose="020B0604020202020204" pitchFamily="34" charset="0"/>
                    <a:cs typeface="Arial" panose="020B0604020202020204" pitchFamily="34" charset="0"/>
                  </a:rPr>
                  <a:t>		v + w = (6, 8) + (-2, 4) = (4, 12)</a:t>
                </a:r>
              </a:p>
              <a:p>
                <a:pPr marL="457200" indent="-457200" algn="just">
                  <a:buAutoNum type="alphaLcPeriod" startAt="3"/>
                </a:pPr>
                <a:r>
                  <a:rPr lang="en-US" sz="2000" dirty="0">
                    <a:latin typeface="Arial" panose="020B0604020202020204" pitchFamily="34" charset="0"/>
                    <a:cs typeface="Arial" panose="020B0604020202020204" pitchFamily="34" charset="0"/>
                  </a:rPr>
                  <a:t>To find 3v, multiply v by the scalar k = 3</a:t>
                </a:r>
              </a:p>
              <a:p>
                <a:pPr marL="0" indent="0" algn="just">
                  <a:buNone/>
                </a:pPr>
                <a:r>
                  <a:rPr lang="en-US" sz="2000" dirty="0">
                    <a:latin typeface="Arial" panose="020B0604020202020204" pitchFamily="34" charset="0"/>
                    <a:cs typeface="Arial" panose="020B0604020202020204" pitchFamily="34" charset="0"/>
                  </a:rPr>
                  <a:t>		3v = 3(6, 8) = (3(6), 3(8)) = (18, 24)</a:t>
                </a:r>
              </a:p>
              <a:p>
                <a:pPr marL="457200" indent="-457200" algn="just">
                  <a:buAutoNum type="alphaLcPeriod" startAt="4"/>
                </a:pPr>
                <a:r>
                  <a:rPr lang="en-US" sz="2000" dirty="0">
                    <a:latin typeface="Arial" panose="020B0604020202020204" pitchFamily="34" charset="0"/>
                    <a:cs typeface="Arial" panose="020B0604020202020204" pitchFamily="34" charset="0"/>
                  </a:rPr>
                  <a:t>To find v – 2w, find -2w and add it to v</a:t>
                </a:r>
              </a:p>
              <a:p>
                <a:pPr marL="0" indent="0" algn="just">
                  <a:buNone/>
                </a:pPr>
                <a:r>
                  <a:rPr lang="en-US" sz="2000" dirty="0">
                    <a:latin typeface="Arial" panose="020B0604020202020204" pitchFamily="34" charset="0"/>
                    <a:cs typeface="Arial" panose="020B0604020202020204" pitchFamily="34" charset="0"/>
                  </a:rPr>
                  <a:t>		v – 2w = (6, 8) – 2 (-2, 4) = (6, 8) + (4, -8) = (10, 0)</a:t>
                </a:r>
              </a:p>
              <a:p>
                <a:pPr marL="0" indent="0" algn="just">
                  <a:buNone/>
                </a:pP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2987F6F7-7BAE-4888-BF89-27FD4B1C21BB}"/>
                  </a:ext>
                </a:extLst>
              </p:cNvPr>
              <p:cNvSpPr>
                <a:spLocks noGrp="1" noRot="1" noChangeAspect="1" noMove="1" noResize="1" noEditPoints="1" noAdjustHandles="1" noChangeArrowheads="1" noChangeShapeType="1" noTextEdit="1"/>
              </p:cNvSpPr>
              <p:nvPr>
                <p:ph idx="1"/>
              </p:nvPr>
            </p:nvSpPr>
            <p:spPr>
              <a:xfrm>
                <a:off x="152400" y="533400"/>
                <a:ext cx="8610600" cy="6096000"/>
              </a:xfrm>
              <a:blipFill>
                <a:blip r:embed="rId2"/>
                <a:stretch>
                  <a:fillRect l="-708" t="-500" r="-354"/>
                </a:stretch>
              </a:blipFill>
            </p:spPr>
            <p:txBody>
              <a:bodyPr/>
              <a:lstStyle/>
              <a:p>
                <a:r>
                  <a:rPr lang="en-PH">
                    <a:noFill/>
                  </a:rPr>
                  <a:t> </a:t>
                </a:r>
              </a:p>
            </p:txBody>
          </p:sp>
        </mc:Fallback>
      </mc:AlternateContent>
    </p:spTree>
    <p:extLst>
      <p:ext uri="{BB962C8B-B14F-4D97-AF65-F5344CB8AC3E}">
        <p14:creationId xmlns:p14="http://schemas.microsoft.com/office/powerpoint/2010/main" val="3972210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3BF9-EFB7-4C05-BBE6-A1BB84CFFC9A}"/>
              </a:ext>
            </a:extLst>
          </p:cNvPr>
          <p:cNvSpPr>
            <a:spLocks noGrp="1"/>
          </p:cNvSpPr>
          <p:nvPr>
            <p:ph type="title"/>
          </p:nvPr>
        </p:nvSpPr>
        <p:spPr>
          <a:xfrm>
            <a:off x="152400" y="417689"/>
            <a:ext cx="8229600" cy="420511"/>
          </a:xfrm>
        </p:spPr>
        <p:txBody>
          <a:bodyPr>
            <a:normAutofit fontScale="90000"/>
          </a:bodyPr>
          <a:lstStyle/>
          <a:p>
            <a:r>
              <a:rPr lang="en-US" dirty="0"/>
              <a:t>Exercise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87F6F7-7BAE-4888-BF89-27FD4B1C21BB}"/>
                  </a:ext>
                </a:extLst>
              </p:cNvPr>
              <p:cNvSpPr>
                <a:spLocks noGrp="1"/>
              </p:cNvSpPr>
              <p:nvPr>
                <p:ph idx="1"/>
              </p:nvPr>
            </p:nvSpPr>
            <p:spPr>
              <a:xfrm>
                <a:off x="228600" y="1066800"/>
                <a:ext cx="8458200" cy="5410200"/>
              </a:xfrm>
            </p:spPr>
            <p:txBody>
              <a:bodyPr>
                <a:normAutofit/>
              </a:bodyPr>
              <a:lstStyle/>
              <a:p>
                <a:pPr marL="0" indent="0">
                  <a:buNone/>
                </a:pPr>
                <a:endParaRPr lang="en-US" sz="2000" dirty="0">
                  <a:latin typeface="Arial" panose="020B0604020202020204" pitchFamily="34" charset="0"/>
                  <a:cs typeface="Arial" panose="020B0604020202020204" pitchFamily="34" charset="0"/>
                </a:endParaRPr>
              </a:p>
              <a:p>
                <a:pPr marL="457200" indent="-457200">
                  <a:buAutoNum type="arabicPeriod"/>
                </a:pPr>
                <a:r>
                  <a:rPr lang="en-US" sz="2000" dirty="0">
                    <a:latin typeface="Arial" panose="020B0604020202020204" pitchFamily="34" charset="0"/>
                    <a:cs typeface="Arial" panose="020B0604020202020204" pitchFamily="34" charset="0"/>
                  </a:rPr>
                  <a:t>Let a = (7, 1) and let b the vector with initial point (3,2) and terminal point (-1, -1).</a:t>
                </a:r>
              </a:p>
              <a:p>
                <a:pPr marL="0" indent="0">
                  <a:buNone/>
                </a:pPr>
                <a:endParaRPr lang="en-US" sz="2000" dirty="0">
                  <a:latin typeface="Arial" panose="020B0604020202020204" pitchFamily="34" charset="0"/>
                  <a:cs typeface="Arial" panose="020B0604020202020204" pitchFamily="34" charset="0"/>
                </a:endParaRPr>
              </a:p>
              <a:p>
                <a:pPr marL="457200" indent="-457200">
                  <a:buAutoNum type="alphaLcPeriod"/>
                </a:pPr>
                <a:r>
                  <a:rPr lang="en-US" sz="2000" dirty="0">
                    <a:latin typeface="Arial" panose="020B0604020202020204" pitchFamily="34" charset="0"/>
                    <a:cs typeface="Arial" panose="020B0604020202020204" pitchFamily="34" charset="0"/>
                  </a:rPr>
                  <a:t>Find |a|.</a:t>
                </a:r>
              </a:p>
              <a:p>
                <a:pPr marL="457200" indent="-457200">
                  <a:buAutoNum type="alphaLcPeriod"/>
                </a:pPr>
                <a:r>
                  <a:rPr lang="en-US" sz="2000" dirty="0">
                    <a:latin typeface="Arial" panose="020B0604020202020204" pitchFamily="34" charset="0"/>
                    <a:cs typeface="Arial" panose="020B0604020202020204" pitchFamily="34" charset="0"/>
                  </a:rPr>
                  <a:t>Express b in component form</a:t>
                </a:r>
              </a:p>
              <a:p>
                <a:pPr marL="457200" indent="-457200">
                  <a:buAutoNum type="alphaLcPeriod"/>
                </a:pPr>
                <a:r>
                  <a:rPr lang="en-US" sz="2000" dirty="0">
                    <a:latin typeface="Arial" panose="020B0604020202020204" pitchFamily="34" charset="0"/>
                    <a:cs typeface="Arial" panose="020B0604020202020204" pitchFamily="34" charset="0"/>
                  </a:rPr>
                  <a:t>Find 3a – 4b.</a:t>
                </a:r>
              </a:p>
              <a:p>
                <a:pPr marL="457200" indent="-457200">
                  <a:buAutoNum type="alphaLcPeriod"/>
                </a:pPr>
                <a:endParaRPr lang="en-US" sz="2000" dirty="0">
                  <a:solidFill>
                    <a:schemeClr val="tx1"/>
                  </a:solidFill>
                  <a:latin typeface="Arial" panose="020B0604020202020204" pitchFamily="34" charset="0"/>
                  <a:cs typeface="Arial" panose="020B0604020202020204" pitchFamily="34" charset="0"/>
                </a:endParaRPr>
              </a:p>
              <a:p>
                <a:pPr marL="0" indent="0">
                  <a:buNone/>
                </a:pPr>
                <a:r>
                  <a:rPr lang="en-US" sz="2000" dirty="0">
                    <a:solidFill>
                      <a:schemeClr val="tx1"/>
                    </a:solidFill>
                    <a:latin typeface="Arial" panose="020B0604020202020204" pitchFamily="34" charset="0"/>
                    <a:cs typeface="Arial" panose="020B0604020202020204" pitchFamily="34" charset="0"/>
                  </a:rPr>
                  <a:t>Solution:</a:t>
                </a:r>
              </a:p>
              <a:p>
                <a:pPr marL="0" indent="0">
                  <a:buNone/>
                </a:pPr>
                <a:r>
                  <a:rPr lang="en-US" sz="2000" dirty="0">
                    <a:solidFill>
                      <a:schemeClr val="tx1"/>
                    </a:solidFill>
                    <a:latin typeface="Arial" panose="020B0604020202020204" pitchFamily="34" charset="0"/>
                    <a:cs typeface="Arial" panose="020B0604020202020204" pitchFamily="34" charset="0"/>
                  </a:rPr>
                  <a:t>a.  |a| = </a:t>
                </a:r>
                <a14:m>
                  <m:oMath xmlns:m="http://schemas.openxmlformats.org/officeDocument/2006/math">
                    <m:rad>
                      <m:radPr>
                        <m:degHide m:val="on"/>
                        <m:ctrlPr>
                          <a:rPr lang="en-US" sz="2000" i="1" smtClean="0">
                            <a:solidFill>
                              <a:schemeClr val="tx1"/>
                            </a:solidFill>
                            <a:latin typeface="Cambria Math" panose="02040503050406030204" pitchFamily="18" charset="0"/>
                            <a:cs typeface="Arial" panose="020B0604020202020204" pitchFamily="34" charset="0"/>
                          </a:rPr>
                        </m:ctrlPr>
                      </m:radPr>
                      <m:deg/>
                      <m:e>
                        <m:sSup>
                          <m:sSupPr>
                            <m:ctrlPr>
                              <a:rPr lang="en-US" sz="2000" i="1" smtClean="0">
                                <a:solidFill>
                                  <a:schemeClr val="tx1"/>
                                </a:solidFill>
                                <a:latin typeface="Cambria Math" panose="02040503050406030204" pitchFamily="18" charset="0"/>
                                <a:cs typeface="Arial" panose="020B0604020202020204" pitchFamily="34" charset="0"/>
                              </a:rPr>
                            </m:ctrlPr>
                          </m:sSupPr>
                          <m:e>
                            <m:r>
                              <a:rPr lang="en-US" sz="2000" b="0" i="1" smtClean="0">
                                <a:solidFill>
                                  <a:schemeClr val="tx1"/>
                                </a:solidFill>
                                <a:latin typeface="Cambria Math" panose="02040503050406030204" pitchFamily="18" charset="0"/>
                                <a:cs typeface="Arial" panose="020B0604020202020204" pitchFamily="34" charset="0"/>
                              </a:rPr>
                              <m:t>7</m:t>
                            </m:r>
                          </m:e>
                          <m:sup>
                            <m:r>
                              <a:rPr lang="en-US" sz="2000" i="1" smtClean="0">
                                <a:solidFill>
                                  <a:schemeClr val="tx1"/>
                                </a:solidFill>
                                <a:latin typeface="Cambria Math" panose="02040503050406030204" pitchFamily="18" charset="0"/>
                                <a:cs typeface="Arial" panose="020B0604020202020204" pitchFamily="34" charset="0"/>
                              </a:rPr>
                              <m:t>2</m:t>
                            </m:r>
                          </m:sup>
                        </m:sSup>
                        <m:r>
                          <a:rPr lang="en-US" sz="2000" i="1" smtClean="0">
                            <a:solidFill>
                              <a:schemeClr val="tx1"/>
                            </a:solidFill>
                            <a:latin typeface="Cambria Math" panose="02040503050406030204" pitchFamily="18" charset="0"/>
                            <a:cs typeface="Arial" panose="020B0604020202020204" pitchFamily="34" charset="0"/>
                          </a:rPr>
                          <m:t>+</m:t>
                        </m:r>
                        <m:sSup>
                          <m:sSupPr>
                            <m:ctrlPr>
                              <a:rPr lang="en-US" sz="2000" i="1" smtClean="0">
                                <a:solidFill>
                                  <a:schemeClr val="tx1"/>
                                </a:solidFill>
                                <a:latin typeface="Cambria Math" panose="02040503050406030204" pitchFamily="18" charset="0"/>
                                <a:cs typeface="Arial" panose="020B0604020202020204" pitchFamily="34" charset="0"/>
                              </a:rPr>
                            </m:ctrlPr>
                          </m:sSupPr>
                          <m:e>
                            <m:r>
                              <a:rPr lang="en-US" sz="2000" b="0" i="1" smtClean="0">
                                <a:solidFill>
                                  <a:schemeClr val="tx1"/>
                                </a:solidFill>
                                <a:latin typeface="Cambria Math" panose="02040503050406030204" pitchFamily="18" charset="0"/>
                                <a:cs typeface="Arial" panose="020B0604020202020204" pitchFamily="34" charset="0"/>
                              </a:rPr>
                              <m:t>1</m:t>
                            </m:r>
                          </m:e>
                          <m:sup>
                            <m:r>
                              <a:rPr lang="en-US" sz="2000" i="1" smtClean="0">
                                <a:solidFill>
                                  <a:schemeClr val="tx1"/>
                                </a:solidFill>
                                <a:latin typeface="Cambria Math" panose="02040503050406030204" pitchFamily="18" charset="0"/>
                                <a:cs typeface="Arial" panose="020B0604020202020204" pitchFamily="34" charset="0"/>
                              </a:rPr>
                              <m:t>2</m:t>
                            </m:r>
                          </m:sup>
                        </m:sSup>
                      </m:e>
                    </m:rad>
                  </m:oMath>
                </a14:m>
                <a:r>
                  <a:rPr lang="en-US" sz="2000" dirty="0">
                    <a:solidFill>
                      <a:schemeClr val="tx1"/>
                    </a:solidFill>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a:solidFill>
                              <a:schemeClr val="tx1"/>
                            </a:solidFill>
                            <a:latin typeface="Cambria Math" panose="02040503050406030204" pitchFamily="18" charset="0"/>
                            <a:cs typeface="Arial" panose="020B0604020202020204" pitchFamily="34" charset="0"/>
                          </a:rPr>
                        </m:ctrlPr>
                      </m:radPr>
                      <m:deg/>
                      <m:e>
                        <m:r>
                          <a:rPr lang="en-US" sz="2000" b="0" i="1" smtClean="0">
                            <a:solidFill>
                              <a:schemeClr val="tx1"/>
                            </a:solidFill>
                            <a:latin typeface="Cambria Math" panose="02040503050406030204" pitchFamily="18" charset="0"/>
                            <a:cs typeface="Arial" panose="020B0604020202020204" pitchFamily="34" charset="0"/>
                          </a:rPr>
                          <m:t>49</m:t>
                        </m:r>
                        <m:r>
                          <a:rPr lang="en-US" sz="2000" i="1">
                            <a:solidFill>
                              <a:schemeClr val="tx1"/>
                            </a:solidFill>
                            <a:latin typeface="Cambria Math" panose="02040503050406030204" pitchFamily="18" charset="0"/>
                            <a:cs typeface="Arial" panose="020B0604020202020204" pitchFamily="34" charset="0"/>
                          </a:rPr>
                          <m:t>+</m:t>
                        </m:r>
                        <m:r>
                          <a:rPr lang="en-US" sz="2000" b="0" i="1" smtClean="0">
                            <a:solidFill>
                              <a:schemeClr val="tx1"/>
                            </a:solidFill>
                            <a:latin typeface="Cambria Math" panose="02040503050406030204" pitchFamily="18" charset="0"/>
                            <a:cs typeface="Arial" panose="020B0604020202020204" pitchFamily="34" charset="0"/>
                          </a:rPr>
                          <m:t>1</m:t>
                        </m:r>
                      </m:e>
                    </m:rad>
                  </m:oMath>
                </a14:m>
                <a:r>
                  <a:rPr lang="en-US" sz="2000" dirty="0">
                    <a:solidFill>
                      <a:schemeClr val="tx1"/>
                    </a:solidFill>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a:solidFill>
                              <a:schemeClr val="tx1"/>
                            </a:solidFill>
                            <a:latin typeface="Cambria Math" panose="02040503050406030204" pitchFamily="18" charset="0"/>
                            <a:cs typeface="Arial" panose="020B0604020202020204" pitchFamily="34" charset="0"/>
                          </a:rPr>
                        </m:ctrlPr>
                      </m:radPr>
                      <m:deg/>
                      <m:e>
                        <m:r>
                          <a:rPr lang="en-US" sz="2000" b="0" i="1" smtClean="0">
                            <a:solidFill>
                              <a:schemeClr val="tx1"/>
                            </a:solidFill>
                            <a:latin typeface="Cambria Math" panose="02040503050406030204" pitchFamily="18" charset="0"/>
                            <a:cs typeface="Arial" panose="020B0604020202020204" pitchFamily="34" charset="0"/>
                          </a:rPr>
                          <m:t>50</m:t>
                        </m:r>
                      </m:e>
                    </m:rad>
                  </m:oMath>
                </a14:m>
                <a:r>
                  <a:rPr lang="en-US" sz="2000" dirty="0">
                    <a:solidFill>
                      <a:schemeClr val="tx1"/>
                    </a:solidFill>
                    <a:latin typeface="Arial" panose="020B0604020202020204" pitchFamily="34" charset="0"/>
                    <a:cs typeface="Arial" panose="020B0604020202020204" pitchFamily="34" charset="0"/>
                  </a:rPr>
                  <a:t> = </a:t>
                </a:r>
                <a14:m>
                  <m:oMath xmlns:m="http://schemas.openxmlformats.org/officeDocument/2006/math">
                    <m:rad>
                      <m:radPr>
                        <m:degHide m:val="on"/>
                        <m:ctrlPr>
                          <a:rPr lang="en-US" sz="2000" i="1">
                            <a:solidFill>
                              <a:schemeClr val="tx1"/>
                            </a:solidFill>
                            <a:latin typeface="Cambria Math" panose="02040503050406030204" pitchFamily="18" charset="0"/>
                            <a:cs typeface="Arial" panose="020B0604020202020204" pitchFamily="34" charset="0"/>
                          </a:rPr>
                        </m:ctrlPr>
                      </m:radPr>
                      <m:deg/>
                      <m:e>
                        <m:r>
                          <a:rPr lang="en-US" sz="2000" b="0" i="1" smtClean="0">
                            <a:solidFill>
                              <a:schemeClr val="tx1"/>
                            </a:solidFill>
                            <a:latin typeface="Cambria Math" panose="02040503050406030204" pitchFamily="18" charset="0"/>
                            <a:cs typeface="Arial" panose="020B0604020202020204" pitchFamily="34" charset="0"/>
                          </a:rPr>
                          <m:t>25(2)</m:t>
                        </m:r>
                      </m:e>
                    </m:rad>
                  </m:oMath>
                </a14:m>
                <a:r>
                  <a:rPr lang="en-US" sz="2000" dirty="0">
                    <a:solidFill>
                      <a:schemeClr val="tx1"/>
                    </a:solidFill>
                    <a:latin typeface="Arial" panose="020B0604020202020204" pitchFamily="34" charset="0"/>
                    <a:cs typeface="Arial" panose="020B0604020202020204" pitchFamily="34" charset="0"/>
                  </a:rPr>
                  <a:t> = 5</a:t>
                </a:r>
                <a:r>
                  <a:rPr lang="en-US" sz="2000" dirty="0">
                    <a:solidFill>
                      <a:schemeClr val="tx1"/>
                    </a:solidFill>
                    <a:cs typeface="Arial" panose="020B0604020202020204" pitchFamily="34" charset="0"/>
                  </a:rPr>
                  <a:t> </a:t>
                </a:r>
                <a14:m>
                  <m:oMath xmlns:m="http://schemas.openxmlformats.org/officeDocument/2006/math">
                    <m:rad>
                      <m:radPr>
                        <m:degHide m:val="on"/>
                        <m:ctrlPr>
                          <a:rPr lang="en-US" sz="2000" i="1">
                            <a:solidFill>
                              <a:schemeClr val="tx1"/>
                            </a:solidFill>
                            <a:latin typeface="Cambria Math" panose="02040503050406030204" pitchFamily="18" charset="0"/>
                            <a:cs typeface="Arial" panose="020B0604020202020204" pitchFamily="34" charset="0"/>
                          </a:rPr>
                        </m:ctrlPr>
                      </m:radPr>
                      <m:deg/>
                      <m:e>
                        <m:r>
                          <a:rPr lang="en-US" sz="2000" i="1">
                            <a:solidFill>
                              <a:schemeClr val="tx1"/>
                            </a:solidFill>
                            <a:latin typeface="Cambria Math" panose="02040503050406030204" pitchFamily="18" charset="0"/>
                            <a:cs typeface="Arial" panose="020B0604020202020204" pitchFamily="34" charset="0"/>
                          </a:rPr>
                          <m:t>2</m:t>
                        </m:r>
                      </m:e>
                    </m:rad>
                  </m:oMath>
                </a14:m>
                <a:endParaRPr lang="en-US" sz="2000" dirty="0">
                  <a:solidFill>
                    <a:schemeClr val="tx1"/>
                  </a:solidFill>
                  <a:latin typeface="Arial" panose="020B0604020202020204" pitchFamily="34" charset="0"/>
                  <a:cs typeface="Arial" panose="020B0604020202020204" pitchFamily="34" charset="0"/>
                </a:endParaRPr>
              </a:p>
              <a:p>
                <a:pPr marL="0" indent="0">
                  <a:buNone/>
                </a:pPr>
                <a:r>
                  <a:rPr lang="en-US" sz="2000" dirty="0">
                    <a:solidFill>
                      <a:schemeClr val="tx1"/>
                    </a:solidFill>
                    <a:latin typeface="Arial" panose="020B0604020202020204" pitchFamily="34" charset="0"/>
                    <a:cs typeface="Arial" panose="020B0604020202020204" pitchFamily="34" charset="0"/>
                  </a:rPr>
                  <a:t>b.    b = (-1 – 3, -1 – 2) = (-4, -3)</a:t>
                </a:r>
              </a:p>
              <a:p>
                <a:pPr marL="0" indent="0">
                  <a:buNone/>
                </a:pPr>
                <a:r>
                  <a:rPr lang="en-US" sz="2000" dirty="0">
                    <a:solidFill>
                      <a:schemeClr val="tx1"/>
                    </a:solidFill>
                    <a:latin typeface="Arial" panose="020B0604020202020204" pitchFamily="34" charset="0"/>
                    <a:cs typeface="Arial" panose="020B0604020202020204" pitchFamily="34" charset="0"/>
                  </a:rPr>
                  <a:t>c.  3a – 4b = 3(7,1) – 4(-4,-3) = (21,3) + (16,12) = (37,15)</a:t>
                </a:r>
              </a:p>
              <a:p>
                <a:pPr marL="0" indent="0">
                  <a:buNone/>
                </a:pPr>
                <a:endParaRPr lang="en-US" sz="2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6="http://schemas.microsoft.com/office/drawing/2014/main" id="{2987F6F7-7BAE-4888-BF89-27FD4B1C21BB}"/>
                  </a:ext>
                </a:extLst>
              </p:cNvPr>
              <p:cNvSpPr>
                <a:spLocks noGrp="1" noRot="1" noChangeAspect="1" noMove="1" noResize="1" noEditPoints="1" noAdjustHandles="1" noChangeArrowheads="1" noChangeShapeType="1" noTextEdit="1"/>
              </p:cNvSpPr>
              <p:nvPr>
                <p:ph idx="1"/>
              </p:nvPr>
            </p:nvSpPr>
            <p:spPr>
              <a:xfrm>
                <a:off x="228600" y="1066800"/>
                <a:ext cx="8458200" cy="5410200"/>
              </a:xfrm>
              <a:blipFill>
                <a:blip r:embed="rId2"/>
                <a:stretch>
                  <a:fillRect l="-793"/>
                </a:stretch>
              </a:blipFill>
            </p:spPr>
            <p:txBody>
              <a:bodyPr/>
              <a:lstStyle/>
              <a:p>
                <a:r>
                  <a:rPr lang="en-PH">
                    <a:noFill/>
                  </a:rPr>
                  <a:t> </a:t>
                </a:r>
              </a:p>
            </p:txBody>
          </p:sp>
        </mc:Fallback>
      </mc:AlternateContent>
    </p:spTree>
    <p:extLst>
      <p:ext uri="{BB962C8B-B14F-4D97-AF65-F5344CB8AC3E}">
        <p14:creationId xmlns:p14="http://schemas.microsoft.com/office/powerpoint/2010/main" val="3390802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in space</a:t>
            </a:r>
          </a:p>
        </p:txBody>
      </p:sp>
      <p:sp>
        <p:nvSpPr>
          <p:cNvPr id="5" name="Text Placeholder 4"/>
          <p:cNvSpPr>
            <a:spLocks noGrp="1"/>
          </p:cNvSpPr>
          <p:nvPr>
            <p:ph type="body" idx="1"/>
          </p:nvPr>
        </p:nvSpPr>
        <p:spPr/>
        <p:txBody>
          <a:bodyPr/>
          <a:lstStyle/>
          <a:p>
            <a:r>
              <a:rPr lang="en-PH" dirty="0"/>
              <a:t>Lesson 2</a:t>
            </a:r>
          </a:p>
        </p:txBody>
      </p:sp>
    </p:spTree>
    <p:extLst>
      <p:ext uri="{BB962C8B-B14F-4D97-AF65-F5344CB8AC3E}">
        <p14:creationId xmlns:p14="http://schemas.microsoft.com/office/powerpoint/2010/main" val="298524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2000" dirty="0"/>
                  <a:t>Definition 4:  </a:t>
                </a:r>
              </a:p>
              <a:p>
                <a:pPr marL="0" indent="0">
                  <a:buNone/>
                </a:pPr>
                <a:r>
                  <a:rPr lang="en-PH" sz="2000" i="1" dirty="0"/>
                  <a:t>	</a:t>
                </a:r>
                <a:r>
                  <a:rPr lang="en-PH" sz="2000" dirty="0"/>
                  <a:t>A </a:t>
                </a:r>
                <a:r>
                  <a:rPr lang="en-PH" sz="2000" b="1" dirty="0"/>
                  <a:t>vector in space, </a:t>
                </a:r>
                <a:r>
                  <a:rPr lang="en-PH" sz="2000" dirty="0"/>
                  <a:t>or </a:t>
                </a:r>
                <a:r>
                  <a:rPr lang="en-PH" sz="2000" b="1" dirty="0"/>
                  <a:t>3-vector, </a:t>
                </a:r>
                <a:r>
                  <a:rPr lang="en-PH" sz="2000" dirty="0"/>
                  <a:t>is a </a:t>
                </a:r>
                <a14:m>
                  <m:oMath xmlns:m="http://schemas.openxmlformats.org/officeDocument/2006/math">
                    <m:r>
                      <a:rPr lang="en-PH" sz="2000" b="0" i="1" smtClean="0">
                        <a:latin typeface="Cambria Math"/>
                      </a:rPr>
                      <m:t>3</m:t>
                    </m:r>
                    <m:r>
                      <a:rPr lang="en-PH" sz="2000" b="0" i="1" smtClean="0">
                        <a:latin typeface="Cambria Math"/>
                      </a:rPr>
                      <m:t>𝑥</m:t>
                    </m:r>
                    <m:r>
                      <a:rPr lang="en-PH" sz="2000" b="0" i="1" smtClean="0">
                        <a:latin typeface="Cambria Math"/>
                      </a:rPr>
                      <m:t>1</m:t>
                    </m:r>
                  </m:oMath>
                </a14:m>
                <a:r>
                  <a:rPr lang="en-PH" sz="2000" dirty="0"/>
                  <a:t> matrix</a:t>
                </a:r>
              </a:p>
              <a:p>
                <a:pPr marL="0" indent="0">
                  <a:buNone/>
                </a:pPr>
                <a:endParaRPr lang="en-PH" sz="2000" dirty="0"/>
              </a:p>
              <a:p>
                <a:pPr marL="0" indent="0" algn="ctr">
                  <a:buNone/>
                </a:pPr>
                <a14:m>
                  <m:oMathPara xmlns:m="http://schemas.openxmlformats.org/officeDocument/2006/math">
                    <m:oMathParaPr>
                      <m:jc m:val="centerGroup"/>
                    </m:oMathParaPr>
                    <m:oMath xmlns:m="http://schemas.openxmlformats.org/officeDocument/2006/math">
                      <m:r>
                        <a:rPr lang="en-PH" sz="2000" b="1" i="0" smtClean="0">
                          <a:latin typeface="Cambria Math"/>
                        </a:rPr>
                        <m:t>𝐮</m:t>
                      </m:r>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𝑥</m:t>
                                </m:r>
                              </m:e>
                            </m:mr>
                            <m:mr>
                              <m:e>
                                <m:r>
                                  <a:rPr lang="en-PH" sz="2000" b="0" i="1" smtClean="0">
                                    <a:latin typeface="Cambria Math"/>
                                  </a:rPr>
                                  <m:t>𝑦</m:t>
                                </m:r>
                              </m:e>
                            </m:mr>
                            <m:mr>
                              <m:e>
                                <m:r>
                                  <a:rPr lang="en-PH" sz="2000" b="0" i="1" smtClean="0">
                                    <a:latin typeface="Cambria Math"/>
                                  </a:rPr>
                                  <m:t>𝑧</m:t>
                                </m:r>
                              </m:e>
                            </m:mr>
                          </m:m>
                        </m:e>
                      </m:d>
                    </m:oMath>
                  </m:oMathPara>
                </a14:m>
                <a:endParaRPr lang="en-PH" sz="2000" b="0" dirty="0"/>
              </a:p>
              <a:p>
                <a:pPr marL="0" indent="0">
                  <a:buNone/>
                </a:pPr>
                <a:endParaRPr lang="en-PH" sz="2000" dirty="0"/>
              </a:p>
              <a:p>
                <a:pPr marL="0" indent="0">
                  <a:buNone/>
                </a:pPr>
                <a:r>
                  <a:rPr lang="en-PH" sz="2000" dirty="0"/>
                  <a:t>   	where </a:t>
                </a:r>
                <a:r>
                  <a:rPr lang="en-PH" sz="2000" i="1" dirty="0"/>
                  <a:t>x, y </a:t>
                </a:r>
                <a:r>
                  <a:rPr lang="en-PH" sz="2000" dirty="0"/>
                  <a:t> and </a:t>
                </a:r>
                <a:r>
                  <a:rPr lang="en-PH" sz="2000" i="1" dirty="0"/>
                  <a:t>z </a:t>
                </a:r>
                <a:r>
                  <a:rPr lang="en-PH" sz="2000" dirty="0"/>
                  <a:t>are real numbers, called the </a:t>
                </a:r>
                <a:r>
                  <a:rPr lang="en-PH" sz="2000" b="1" dirty="0"/>
                  <a:t>components</a:t>
                </a:r>
                <a:r>
                  <a:rPr lang="en-PH" sz="2000" dirty="0"/>
                  <a:t> of vector </a:t>
                </a:r>
                <a:r>
                  <a:rPr lang="en-PH" sz="2000" b="1" dirty="0"/>
                  <a:t>u</a:t>
                </a:r>
                <a:r>
                  <a:rPr lang="en-PH" sz="2000" dirty="0"/>
                  <a:t>. </a:t>
                </a:r>
              </a:p>
              <a:p>
                <a:pPr marL="0" indent="0">
                  <a:buNone/>
                </a:pPr>
                <a:r>
                  <a:rPr lang="en-PH" sz="2000" dirty="0"/>
                  <a:t>	Same as vectors in the plane, two vectors in space are said to be equal if their respective components are equal.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t="-625"/>
                </a:stretch>
              </a:blipFill>
            </p:spPr>
            <p:txBody>
              <a:bodyPr/>
              <a:lstStyle/>
              <a:p>
                <a:r>
                  <a:rPr lang="en-US">
                    <a:noFill/>
                  </a:rPr>
                  <a:t> </a:t>
                </a:r>
              </a:p>
            </p:txBody>
          </p:sp>
        </mc:Fallback>
      </mc:AlternateContent>
    </p:spTree>
    <p:extLst>
      <p:ext uri="{BB962C8B-B14F-4D97-AF65-F5344CB8AC3E}">
        <p14:creationId xmlns:p14="http://schemas.microsoft.com/office/powerpoint/2010/main" val="3439133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2000" dirty="0"/>
                  <a:t>	To plot vectors in space or vector in </a:t>
                </a:r>
                <a14:m>
                  <m:oMath xmlns:m="http://schemas.openxmlformats.org/officeDocument/2006/math">
                    <m:sSup>
                      <m:sSupPr>
                        <m:ctrlPr>
                          <a:rPr lang="en-PH" sz="2000" i="1" smtClean="0">
                            <a:latin typeface="Cambria Math" panose="02040503050406030204" pitchFamily="18" charset="0"/>
                          </a:rPr>
                        </m:ctrlPr>
                      </m:sSupPr>
                      <m:e>
                        <m:r>
                          <a:rPr lang="en-PH" sz="2000" b="0" i="1" smtClean="0">
                            <a:latin typeface="Cambria Math"/>
                          </a:rPr>
                          <m:t>𝑅</m:t>
                        </m:r>
                      </m:e>
                      <m:sup>
                        <m:r>
                          <a:rPr lang="en-PH" sz="2000" b="0" i="1" smtClean="0">
                            <a:latin typeface="Cambria Math"/>
                          </a:rPr>
                          <m:t>3</m:t>
                        </m:r>
                      </m:sup>
                    </m:sSup>
                  </m:oMath>
                </a14:m>
                <a:r>
                  <a:rPr lang="en-PH" sz="2000" dirty="0"/>
                  <a:t> can be presented in xyz-coordinate axes.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t="-625"/>
                </a:stretch>
              </a:blipFill>
            </p:spPr>
            <p:txBody>
              <a:bodyPr/>
              <a:lstStyle/>
              <a:p>
                <a:r>
                  <a:rPr lang="en-US">
                    <a:noFill/>
                  </a:rPr>
                  <a:t> </a:t>
                </a:r>
              </a:p>
            </p:txBody>
          </p:sp>
        </mc:Fallback>
      </mc:AlternateContent>
      <p:cxnSp>
        <p:nvCxnSpPr>
          <p:cNvPr id="5" name="Straight Arrow Connector 4"/>
          <p:cNvCxnSpPr/>
          <p:nvPr/>
        </p:nvCxnSpPr>
        <p:spPr>
          <a:xfrm>
            <a:off x="2819400" y="4766187"/>
            <a:ext cx="2667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12" idx="0"/>
          </p:cNvCxnSpPr>
          <p:nvPr/>
        </p:nvCxnSpPr>
        <p:spPr>
          <a:xfrm flipH="1">
            <a:off x="1619250" y="4766187"/>
            <a:ext cx="120015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819400" y="3124200"/>
            <a:ext cx="0" cy="167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43000" y="5985387"/>
            <a:ext cx="952500" cy="307777"/>
          </a:xfrm>
          <a:prstGeom prst="rect">
            <a:avLst/>
          </a:prstGeom>
          <a:noFill/>
        </p:spPr>
        <p:txBody>
          <a:bodyPr wrap="square" rtlCol="0">
            <a:spAutoFit/>
          </a:bodyPr>
          <a:lstStyle/>
          <a:p>
            <a:r>
              <a:rPr lang="en-PH" sz="1400" dirty="0"/>
              <a:t>x-axis</a:t>
            </a:r>
          </a:p>
        </p:txBody>
      </p:sp>
      <p:sp>
        <p:nvSpPr>
          <p:cNvPr id="13" name="TextBox 12"/>
          <p:cNvSpPr txBox="1"/>
          <p:nvPr/>
        </p:nvSpPr>
        <p:spPr>
          <a:xfrm>
            <a:off x="5219700" y="4800600"/>
            <a:ext cx="952500" cy="307777"/>
          </a:xfrm>
          <a:prstGeom prst="rect">
            <a:avLst/>
          </a:prstGeom>
          <a:noFill/>
        </p:spPr>
        <p:txBody>
          <a:bodyPr wrap="square" rtlCol="0">
            <a:spAutoFit/>
          </a:bodyPr>
          <a:lstStyle/>
          <a:p>
            <a:r>
              <a:rPr lang="en-PH" sz="1400" dirty="0"/>
              <a:t>y-axis</a:t>
            </a:r>
          </a:p>
        </p:txBody>
      </p:sp>
      <p:sp>
        <p:nvSpPr>
          <p:cNvPr id="14" name="TextBox 13"/>
          <p:cNvSpPr txBox="1"/>
          <p:nvPr/>
        </p:nvSpPr>
        <p:spPr>
          <a:xfrm>
            <a:off x="2667000" y="2667000"/>
            <a:ext cx="952500" cy="307777"/>
          </a:xfrm>
          <a:prstGeom prst="rect">
            <a:avLst/>
          </a:prstGeom>
          <a:noFill/>
        </p:spPr>
        <p:txBody>
          <a:bodyPr wrap="square" rtlCol="0">
            <a:spAutoFit/>
          </a:bodyPr>
          <a:lstStyle/>
          <a:p>
            <a:r>
              <a:rPr lang="en-PH" sz="1400" dirty="0"/>
              <a:t>z-axis</a:t>
            </a:r>
          </a:p>
        </p:txBody>
      </p:sp>
      <p:sp>
        <p:nvSpPr>
          <p:cNvPr id="16" name="TextBox 15"/>
          <p:cNvSpPr txBox="1"/>
          <p:nvPr/>
        </p:nvSpPr>
        <p:spPr>
          <a:xfrm>
            <a:off x="2819400" y="4495800"/>
            <a:ext cx="1066800" cy="307777"/>
          </a:xfrm>
          <a:prstGeom prst="rect">
            <a:avLst/>
          </a:prstGeom>
          <a:noFill/>
        </p:spPr>
        <p:txBody>
          <a:bodyPr wrap="square" rtlCol="0">
            <a:spAutoFit/>
          </a:bodyPr>
          <a:lstStyle/>
          <a:p>
            <a:r>
              <a:rPr lang="en-PH" sz="1400" i="1" dirty="0"/>
              <a:t>O(0,0,0)</a:t>
            </a:r>
            <a:endParaRPr lang="en-PH" i="1" dirty="0"/>
          </a:p>
        </p:txBody>
      </p:sp>
      <p:cxnSp>
        <p:nvCxnSpPr>
          <p:cNvPr id="18" name="Straight Connector 17"/>
          <p:cNvCxnSpPr/>
          <p:nvPr/>
        </p:nvCxnSpPr>
        <p:spPr>
          <a:xfrm flipV="1">
            <a:off x="3200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581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962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343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724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10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914400" y="4766187"/>
            <a:ext cx="1905000" cy="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1"/>
          </p:cNvCxnSpPr>
          <p:nvPr/>
        </p:nvCxnSpPr>
        <p:spPr>
          <a:xfrm>
            <a:off x="2819400" y="4649689"/>
            <a:ext cx="0" cy="1643475"/>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V="1">
            <a:off x="2857500" y="3429000"/>
            <a:ext cx="1381127" cy="1337188"/>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129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1676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057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438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819400" y="44196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819400" y="41148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819400" y="38100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819400" y="3505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819400" y="5108377"/>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819400" y="5410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819400" y="5791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2552700" y="4955978"/>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81250" y="51830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152650" y="54116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847850" y="56402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3867150" y="38100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600450" y="4035622"/>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a:cxnSpLocks/>
          </p:cNvCxnSpPr>
          <p:nvPr/>
        </p:nvCxnSpPr>
        <p:spPr>
          <a:xfrm>
            <a:off x="3390900" y="41924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a:cxnSpLocks/>
          </p:cNvCxnSpPr>
          <p:nvPr/>
        </p:nvCxnSpPr>
        <p:spPr>
          <a:xfrm>
            <a:off x="3124200" y="4418111"/>
            <a:ext cx="57150" cy="7471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7176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p:sp>
        <p:nvSpPr>
          <p:cNvPr id="3" name="Content Placeholder 2"/>
          <p:cNvSpPr>
            <a:spLocks noGrp="1"/>
          </p:cNvSpPr>
          <p:nvPr>
            <p:ph idx="1"/>
          </p:nvPr>
        </p:nvSpPr>
        <p:spPr/>
        <p:txBody>
          <a:bodyPr>
            <a:normAutofit/>
          </a:bodyPr>
          <a:lstStyle/>
          <a:p>
            <a:pPr marL="0" indent="0">
              <a:buNone/>
            </a:pPr>
            <a:r>
              <a:rPr lang="en-PH" sz="2000" dirty="0"/>
              <a:t>	A good example of a 3-dimension or the </a:t>
            </a:r>
            <a:r>
              <a:rPr lang="en-PH" sz="2000" dirty="0" err="1"/>
              <a:t>xyz</a:t>
            </a:r>
            <a:r>
              <a:rPr lang="en-PH" sz="2000" dirty="0"/>
              <a:t>-coordinate axis is the corner of a room </a:t>
            </a:r>
          </a:p>
        </p:txBody>
      </p:sp>
      <p:pic>
        <p:nvPicPr>
          <p:cNvPr id="1026" name="Picture 2" descr="Empty room interior corner view template blue Vector Image">
            <a:extLst>
              <a:ext uri="{FF2B5EF4-FFF2-40B4-BE49-F238E27FC236}">
                <a16:creationId xmlns:a16="http://schemas.microsoft.com/office/drawing/2014/main" id="{078F9C60-744D-467C-8CCE-71010B7D4E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90800"/>
            <a:ext cx="2328860" cy="244583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orner Of Empty White Room With Black Parquet Floor Stock Photo - Download  Image Now - iStock">
            <a:extLst>
              <a:ext uri="{FF2B5EF4-FFF2-40B4-BE49-F238E27FC236}">
                <a16:creationId xmlns:a16="http://schemas.microsoft.com/office/drawing/2014/main" id="{F8BA2E70-A211-449E-AF38-B30F6E0C1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0363" y="2971800"/>
            <a:ext cx="3568237" cy="23764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D885450-4ECB-4696-98BC-9A72661A0909}"/>
              </a:ext>
            </a:extLst>
          </p:cNvPr>
          <p:cNvSpPr txBox="1"/>
          <p:nvPr/>
        </p:nvSpPr>
        <p:spPr>
          <a:xfrm>
            <a:off x="1371600" y="3962400"/>
            <a:ext cx="990600" cy="307777"/>
          </a:xfrm>
          <a:prstGeom prst="rect">
            <a:avLst/>
          </a:prstGeom>
          <a:noFill/>
        </p:spPr>
        <p:txBody>
          <a:bodyPr wrap="square" rtlCol="0">
            <a:spAutoFit/>
          </a:bodyPr>
          <a:lstStyle/>
          <a:p>
            <a:r>
              <a:rPr lang="en-US" sz="1400" i="1" dirty="0"/>
              <a:t>x</a:t>
            </a:r>
            <a:r>
              <a:rPr lang="en-US" sz="1400" dirty="0"/>
              <a:t>-axis</a:t>
            </a:r>
          </a:p>
        </p:txBody>
      </p:sp>
      <p:sp>
        <p:nvSpPr>
          <p:cNvPr id="46" name="TextBox 45">
            <a:extLst>
              <a:ext uri="{FF2B5EF4-FFF2-40B4-BE49-F238E27FC236}">
                <a16:creationId xmlns:a16="http://schemas.microsoft.com/office/drawing/2014/main" id="{0BC34399-C1E9-475D-A22B-8371D3B750A0}"/>
              </a:ext>
            </a:extLst>
          </p:cNvPr>
          <p:cNvSpPr txBox="1"/>
          <p:nvPr/>
        </p:nvSpPr>
        <p:spPr>
          <a:xfrm>
            <a:off x="2667000" y="4038600"/>
            <a:ext cx="990600" cy="307777"/>
          </a:xfrm>
          <a:prstGeom prst="rect">
            <a:avLst/>
          </a:prstGeom>
          <a:noFill/>
        </p:spPr>
        <p:txBody>
          <a:bodyPr wrap="square" rtlCol="0">
            <a:spAutoFit/>
          </a:bodyPr>
          <a:lstStyle/>
          <a:p>
            <a:r>
              <a:rPr lang="en-US" sz="1400" i="1" dirty="0"/>
              <a:t>y</a:t>
            </a:r>
            <a:r>
              <a:rPr lang="en-US" sz="1400" dirty="0"/>
              <a:t>-axis</a:t>
            </a:r>
          </a:p>
        </p:txBody>
      </p:sp>
      <p:sp>
        <p:nvSpPr>
          <p:cNvPr id="50" name="TextBox 49">
            <a:extLst>
              <a:ext uri="{FF2B5EF4-FFF2-40B4-BE49-F238E27FC236}">
                <a16:creationId xmlns:a16="http://schemas.microsoft.com/office/drawing/2014/main" id="{07980E4B-06D1-41F0-8DA8-2BF2F8863626}"/>
              </a:ext>
            </a:extLst>
          </p:cNvPr>
          <p:cNvSpPr txBox="1"/>
          <p:nvPr/>
        </p:nvSpPr>
        <p:spPr>
          <a:xfrm>
            <a:off x="2286000" y="3276600"/>
            <a:ext cx="990600" cy="307777"/>
          </a:xfrm>
          <a:prstGeom prst="rect">
            <a:avLst/>
          </a:prstGeom>
          <a:noFill/>
        </p:spPr>
        <p:txBody>
          <a:bodyPr wrap="square" rtlCol="0">
            <a:spAutoFit/>
          </a:bodyPr>
          <a:lstStyle/>
          <a:p>
            <a:r>
              <a:rPr lang="en-US" sz="1400" i="1" dirty="0"/>
              <a:t>z</a:t>
            </a:r>
            <a:r>
              <a:rPr lang="en-US" sz="1400" dirty="0"/>
              <a:t>-axis</a:t>
            </a:r>
          </a:p>
        </p:txBody>
      </p:sp>
      <p:sp>
        <p:nvSpPr>
          <p:cNvPr id="52" name="TextBox 51">
            <a:extLst>
              <a:ext uri="{FF2B5EF4-FFF2-40B4-BE49-F238E27FC236}">
                <a16:creationId xmlns:a16="http://schemas.microsoft.com/office/drawing/2014/main" id="{3A02C53E-F532-4DB6-B8CB-3A7FF9A526A7}"/>
              </a:ext>
            </a:extLst>
          </p:cNvPr>
          <p:cNvSpPr txBox="1"/>
          <p:nvPr/>
        </p:nvSpPr>
        <p:spPr>
          <a:xfrm>
            <a:off x="5486400" y="4267200"/>
            <a:ext cx="990600" cy="307777"/>
          </a:xfrm>
          <a:prstGeom prst="rect">
            <a:avLst/>
          </a:prstGeom>
          <a:noFill/>
        </p:spPr>
        <p:txBody>
          <a:bodyPr wrap="square" rtlCol="0">
            <a:spAutoFit/>
          </a:bodyPr>
          <a:lstStyle/>
          <a:p>
            <a:r>
              <a:rPr lang="en-US" sz="1400" i="1" dirty="0"/>
              <a:t>x</a:t>
            </a:r>
            <a:r>
              <a:rPr lang="en-US" sz="1400" dirty="0"/>
              <a:t>-axis</a:t>
            </a:r>
          </a:p>
        </p:txBody>
      </p:sp>
      <p:sp>
        <p:nvSpPr>
          <p:cNvPr id="53" name="TextBox 52">
            <a:extLst>
              <a:ext uri="{FF2B5EF4-FFF2-40B4-BE49-F238E27FC236}">
                <a16:creationId xmlns:a16="http://schemas.microsoft.com/office/drawing/2014/main" id="{161C7FF1-ED9D-420A-80EB-22F00177CADA}"/>
              </a:ext>
            </a:extLst>
          </p:cNvPr>
          <p:cNvSpPr txBox="1"/>
          <p:nvPr/>
        </p:nvSpPr>
        <p:spPr>
          <a:xfrm>
            <a:off x="6781800" y="4343400"/>
            <a:ext cx="990600" cy="307777"/>
          </a:xfrm>
          <a:prstGeom prst="rect">
            <a:avLst/>
          </a:prstGeom>
          <a:noFill/>
        </p:spPr>
        <p:txBody>
          <a:bodyPr wrap="square" rtlCol="0">
            <a:spAutoFit/>
          </a:bodyPr>
          <a:lstStyle/>
          <a:p>
            <a:r>
              <a:rPr lang="en-US" sz="1400" i="1" dirty="0"/>
              <a:t>y</a:t>
            </a:r>
            <a:r>
              <a:rPr lang="en-US" sz="1400" dirty="0"/>
              <a:t>-axis</a:t>
            </a:r>
          </a:p>
        </p:txBody>
      </p:sp>
      <p:sp>
        <p:nvSpPr>
          <p:cNvPr id="54" name="TextBox 53">
            <a:extLst>
              <a:ext uri="{FF2B5EF4-FFF2-40B4-BE49-F238E27FC236}">
                <a16:creationId xmlns:a16="http://schemas.microsoft.com/office/drawing/2014/main" id="{2DAD802F-1DC7-40C0-BDCC-05BDED0E110F}"/>
              </a:ext>
            </a:extLst>
          </p:cNvPr>
          <p:cNvSpPr txBox="1"/>
          <p:nvPr/>
        </p:nvSpPr>
        <p:spPr>
          <a:xfrm>
            <a:off x="6400800" y="3581400"/>
            <a:ext cx="990600" cy="307777"/>
          </a:xfrm>
          <a:prstGeom prst="rect">
            <a:avLst/>
          </a:prstGeom>
          <a:noFill/>
        </p:spPr>
        <p:txBody>
          <a:bodyPr wrap="square" rtlCol="0">
            <a:spAutoFit/>
          </a:bodyPr>
          <a:lstStyle/>
          <a:p>
            <a:r>
              <a:rPr lang="en-US" sz="1400" i="1" dirty="0"/>
              <a:t>z</a:t>
            </a:r>
            <a:r>
              <a:rPr lang="en-US" sz="1400" dirty="0"/>
              <a:t>-axis</a:t>
            </a:r>
          </a:p>
        </p:txBody>
      </p:sp>
    </p:spTree>
    <p:extLst>
      <p:ext uri="{BB962C8B-B14F-4D97-AF65-F5344CB8AC3E}">
        <p14:creationId xmlns:p14="http://schemas.microsoft.com/office/powerpoint/2010/main" val="295076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2000" dirty="0"/>
                  <a:t>Example 1: Plot the vectors: </a:t>
                </a:r>
                <a14:m>
                  <m:oMath xmlns:m="http://schemas.openxmlformats.org/officeDocument/2006/math">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PH" sz="2000" b="0" i="1" smtClean="0">
                                  <a:latin typeface="Cambria Math"/>
                                </a:rPr>
                                <m:t>2</m:t>
                              </m:r>
                            </m:e>
                          </m:mr>
                          <m:mr>
                            <m:e>
                              <m:r>
                                <a:rPr lang="en-PH" sz="2000" b="0" i="1" smtClean="0">
                                  <a:latin typeface="Cambria Math"/>
                                </a:rPr>
                                <m:t>5</m:t>
                              </m:r>
                            </m:e>
                          </m:mr>
                          <m:mr>
                            <m:e>
                              <m:r>
                                <a:rPr lang="en-PH" sz="2000" b="0" i="1" smtClean="0">
                                  <a:latin typeface="Cambria Math"/>
                                </a:rPr>
                                <m:t>3</m:t>
                              </m:r>
                            </m:e>
                          </m:mr>
                        </m:m>
                      </m:e>
                    </m:d>
                  </m:oMath>
                </a14:m>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a:stretch>
              </a:blipFill>
            </p:spPr>
            <p:txBody>
              <a:bodyPr/>
              <a:lstStyle/>
              <a:p>
                <a:r>
                  <a:rPr lang="en-US">
                    <a:noFill/>
                  </a:rPr>
                  <a:t> </a:t>
                </a:r>
              </a:p>
            </p:txBody>
          </p:sp>
        </mc:Fallback>
      </mc:AlternateContent>
      <p:cxnSp>
        <p:nvCxnSpPr>
          <p:cNvPr id="5" name="Straight Arrow Connector 4"/>
          <p:cNvCxnSpPr/>
          <p:nvPr/>
        </p:nvCxnSpPr>
        <p:spPr>
          <a:xfrm>
            <a:off x="2819400" y="4766187"/>
            <a:ext cx="2667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cxnSpLocks/>
            <a:endCxn id="12" idx="0"/>
          </p:cNvCxnSpPr>
          <p:nvPr/>
        </p:nvCxnSpPr>
        <p:spPr>
          <a:xfrm flipH="1">
            <a:off x="1619250" y="4766187"/>
            <a:ext cx="12573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819400" y="3124200"/>
            <a:ext cx="0" cy="167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43000" y="5985387"/>
            <a:ext cx="952500" cy="307777"/>
          </a:xfrm>
          <a:prstGeom prst="rect">
            <a:avLst/>
          </a:prstGeom>
          <a:noFill/>
        </p:spPr>
        <p:txBody>
          <a:bodyPr wrap="square" rtlCol="0">
            <a:spAutoFit/>
          </a:bodyPr>
          <a:lstStyle/>
          <a:p>
            <a:r>
              <a:rPr lang="en-PH" sz="1400" dirty="0"/>
              <a:t>x-axis</a:t>
            </a:r>
          </a:p>
        </p:txBody>
      </p:sp>
      <p:sp>
        <p:nvSpPr>
          <p:cNvPr id="13" name="TextBox 12"/>
          <p:cNvSpPr txBox="1"/>
          <p:nvPr/>
        </p:nvSpPr>
        <p:spPr>
          <a:xfrm>
            <a:off x="5219700" y="4800600"/>
            <a:ext cx="952500" cy="307777"/>
          </a:xfrm>
          <a:prstGeom prst="rect">
            <a:avLst/>
          </a:prstGeom>
          <a:noFill/>
        </p:spPr>
        <p:txBody>
          <a:bodyPr wrap="square" rtlCol="0">
            <a:spAutoFit/>
          </a:bodyPr>
          <a:lstStyle/>
          <a:p>
            <a:r>
              <a:rPr lang="en-PH" sz="1400" dirty="0"/>
              <a:t>y-axis</a:t>
            </a:r>
          </a:p>
        </p:txBody>
      </p:sp>
      <p:sp>
        <p:nvSpPr>
          <p:cNvPr id="14" name="TextBox 13"/>
          <p:cNvSpPr txBox="1"/>
          <p:nvPr/>
        </p:nvSpPr>
        <p:spPr>
          <a:xfrm>
            <a:off x="2819400" y="3121223"/>
            <a:ext cx="952500" cy="307777"/>
          </a:xfrm>
          <a:prstGeom prst="rect">
            <a:avLst/>
          </a:prstGeom>
          <a:noFill/>
        </p:spPr>
        <p:txBody>
          <a:bodyPr wrap="square" rtlCol="0">
            <a:spAutoFit/>
          </a:bodyPr>
          <a:lstStyle/>
          <a:p>
            <a:r>
              <a:rPr lang="en-PH" sz="1400" dirty="0"/>
              <a:t>z-axis</a:t>
            </a:r>
          </a:p>
        </p:txBody>
      </p:sp>
      <p:cxnSp>
        <p:nvCxnSpPr>
          <p:cNvPr id="18" name="Straight Connector 17"/>
          <p:cNvCxnSpPr/>
          <p:nvPr/>
        </p:nvCxnSpPr>
        <p:spPr>
          <a:xfrm flipV="1">
            <a:off x="3200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581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962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343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724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10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914400" y="4766187"/>
            <a:ext cx="1905000" cy="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819400" y="4649689"/>
            <a:ext cx="0" cy="1643475"/>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V="1">
            <a:off x="2895600" y="3417006"/>
            <a:ext cx="1295400" cy="1349181"/>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129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1676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057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438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819400" y="44196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819400" y="41148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819400" y="38100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819400" y="3505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819400" y="5108377"/>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819400" y="5410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819400" y="5791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2609850" y="4955978"/>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81250" y="51054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152650" y="53340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924050" y="55640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3867150" y="3889178"/>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600450" y="41148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390900" y="4271667"/>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124200" y="44972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2438399" y="4767192"/>
            <a:ext cx="400052" cy="352992"/>
          </a:xfrm>
          <a:prstGeom prst="straightConnector1">
            <a:avLst/>
          </a:prstGeom>
          <a:ln w="28575">
            <a:solidFill>
              <a:srgbClr val="7030A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4267200" y="4747043"/>
            <a:ext cx="457200" cy="472545"/>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2438399" y="5180112"/>
            <a:ext cx="1866900" cy="38472"/>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914650" y="4746038"/>
            <a:ext cx="1809750" cy="2015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2409825" y="4189511"/>
            <a:ext cx="0" cy="915889"/>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2381250" y="3808510"/>
            <a:ext cx="533400" cy="38249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2876550" y="3832123"/>
            <a:ext cx="1847850" cy="2703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cxnSpLocks/>
            <a:endCxn id="113" idx="6"/>
          </p:cNvCxnSpPr>
          <p:nvPr/>
        </p:nvCxnSpPr>
        <p:spPr>
          <a:xfrm>
            <a:off x="2409825" y="4192490"/>
            <a:ext cx="1933573" cy="4501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113" name="Oval 112"/>
          <p:cNvSpPr/>
          <p:nvPr/>
        </p:nvSpPr>
        <p:spPr>
          <a:xfrm>
            <a:off x="4190999" y="4173422"/>
            <a:ext cx="152399" cy="128156"/>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19" name="TextBox 118"/>
              <p:cNvSpPr txBox="1"/>
              <p:nvPr/>
            </p:nvSpPr>
            <p:spPr>
              <a:xfrm>
                <a:off x="4876800" y="2985094"/>
                <a:ext cx="1219200" cy="8249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PH" b="1" smtClean="0">
                          <a:latin typeface="Cambria Math"/>
                        </a:rPr>
                        <m:t>𝐮</m:t>
                      </m:r>
                      <m:r>
                        <a:rPr lang="en-PH" i="1">
                          <a:latin typeface="Cambria Math"/>
                        </a:rPr>
                        <m:t>= </m:t>
                      </m:r>
                      <m:d>
                        <m:dPr>
                          <m:begChr m:val="["/>
                          <m:endChr m:val="]"/>
                          <m:ctrlPr>
                            <a:rPr lang="en-PH" i="1">
                              <a:latin typeface="Cambria Math" panose="02040503050406030204" pitchFamily="18" charset="0"/>
                            </a:rPr>
                          </m:ctrlPr>
                        </m:dPr>
                        <m:e>
                          <m:m>
                            <m:mPr>
                              <m:mcs>
                                <m:mc>
                                  <m:mcPr>
                                    <m:count m:val="1"/>
                                    <m:mcJc m:val="center"/>
                                  </m:mcPr>
                                </m:mc>
                              </m:mcs>
                              <m:ctrlPr>
                                <a:rPr lang="en-PH" i="1">
                                  <a:latin typeface="Cambria Math" panose="02040503050406030204" pitchFamily="18" charset="0"/>
                                </a:rPr>
                              </m:ctrlPr>
                            </m:mPr>
                            <m:mr>
                              <m:e>
                                <m:r>
                                  <a:rPr lang="en-PH" i="1">
                                    <a:latin typeface="Cambria Math"/>
                                  </a:rPr>
                                  <m:t>2</m:t>
                                </m:r>
                              </m:e>
                            </m:mr>
                            <m:mr>
                              <m:e>
                                <m:r>
                                  <a:rPr lang="en-PH" b="0" i="1" smtClean="0">
                                    <a:latin typeface="Cambria Math"/>
                                  </a:rPr>
                                  <m:t>5</m:t>
                                </m:r>
                              </m:e>
                            </m:mr>
                            <m:mr>
                              <m:e>
                                <m:r>
                                  <a:rPr lang="en-PH" i="1">
                                    <a:latin typeface="Cambria Math"/>
                                  </a:rPr>
                                  <m:t>3</m:t>
                                </m:r>
                              </m:e>
                            </m:mr>
                          </m:m>
                        </m:e>
                      </m:d>
                    </m:oMath>
                  </m:oMathPara>
                </a14:m>
                <a:endParaRPr lang="en-PH" dirty="0"/>
              </a:p>
            </p:txBody>
          </p:sp>
        </mc:Choice>
        <mc:Fallback xmlns="">
          <p:sp>
            <p:nvSpPr>
              <p:cNvPr id="119" name="TextBox 118"/>
              <p:cNvSpPr txBox="1">
                <a:spLocks noRot="1" noChangeAspect="1" noMove="1" noResize="1" noEditPoints="1" noAdjustHandles="1" noChangeArrowheads="1" noChangeShapeType="1" noTextEdit="1"/>
              </p:cNvSpPr>
              <p:nvPr/>
            </p:nvSpPr>
            <p:spPr>
              <a:xfrm>
                <a:off x="4876800" y="2985094"/>
                <a:ext cx="1219200" cy="824906"/>
              </a:xfrm>
              <a:prstGeom prst="rect">
                <a:avLst/>
              </a:prstGeom>
              <a:blipFill>
                <a:blip r:embed="rId3"/>
                <a:stretch>
                  <a:fillRect/>
                </a:stretch>
              </a:blipFill>
            </p:spPr>
            <p:txBody>
              <a:bodyPr/>
              <a:lstStyle/>
              <a:p>
                <a:r>
                  <a:rPr lang="en-US">
                    <a:noFill/>
                  </a:rPr>
                  <a:t> </a:t>
                </a:r>
              </a:p>
            </p:txBody>
          </p:sp>
        </mc:Fallback>
      </mc:AlternateContent>
      <p:cxnSp>
        <p:nvCxnSpPr>
          <p:cNvPr id="7" name="Straight Arrow Connector 6"/>
          <p:cNvCxnSpPr/>
          <p:nvPr/>
        </p:nvCxnSpPr>
        <p:spPr>
          <a:xfrm flipV="1">
            <a:off x="2828925" y="4271667"/>
            <a:ext cx="1400175" cy="494522"/>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24400" y="3859161"/>
            <a:ext cx="0" cy="90702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4229100" y="3859161"/>
            <a:ext cx="495300" cy="41250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267200" y="4246289"/>
            <a:ext cx="0" cy="9722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1CF451-09B5-405A-BBFC-E7FBD07D6F17}"/>
                  </a:ext>
                </a:extLst>
              </p:cNvPr>
              <p:cNvSpPr txBox="1"/>
              <p:nvPr/>
            </p:nvSpPr>
            <p:spPr>
              <a:xfrm>
                <a:off x="5105400" y="5315388"/>
                <a:ext cx="3505199" cy="715965"/>
              </a:xfrm>
              <a:prstGeom prst="rect">
                <a:avLst/>
              </a:prstGeom>
              <a:noFill/>
            </p:spPr>
            <p:txBody>
              <a:bodyPr wrap="square" rtlCol="0">
                <a:spAutoFit/>
              </a:bodyPr>
              <a:lstStyle/>
              <a:p>
                <a:r>
                  <a:rPr lang="en-US" dirty="0"/>
                  <a:t>The magnitude of </a:t>
                </a:r>
                <a:r>
                  <a:rPr lang="en-US" b="1" dirty="0"/>
                  <a:t>u</a:t>
                </a:r>
              </a:p>
              <a:p>
                <a14:m>
                  <m:oMath xmlns:m="http://schemas.openxmlformats.org/officeDocument/2006/math">
                    <m:r>
                      <a:rPr lang="en-US" b="1" i="0" smtClean="0">
                        <a:latin typeface="Cambria Math" panose="02040503050406030204" pitchFamily="18" charset="0"/>
                      </a:rPr>
                      <m:t>𝐮</m:t>
                    </m:r>
                    <m:r>
                      <a:rPr lang="en-US" b="1" i="1" smtClean="0">
                        <a:latin typeface="Cambria Math" panose="02040503050406030204" pitchFamily="18" charset="0"/>
                      </a:rPr>
                      <m:t>= </m:t>
                    </m:r>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𝟓</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𝟑</m:t>
                            </m:r>
                          </m:e>
                          <m:sup>
                            <m:r>
                              <a:rPr lang="en-US" b="1" i="1" smtClean="0">
                                <a:latin typeface="Cambria Math" panose="02040503050406030204" pitchFamily="18" charset="0"/>
                              </a:rPr>
                              <m:t>𝟐</m:t>
                            </m:r>
                          </m:sup>
                        </m:sSup>
                        <m:r>
                          <a:rPr lang="en-US" b="1" i="1" smtClean="0">
                            <a:latin typeface="Cambria Math" panose="02040503050406030204" pitchFamily="18" charset="0"/>
                          </a:rPr>
                          <m:t> </m:t>
                        </m:r>
                      </m:e>
                    </m:rad>
                    <m:r>
                      <a:rPr lang="en-US" b="1" i="0" smtClean="0">
                        <a:latin typeface="Cambria Math" panose="02040503050406030204" pitchFamily="18" charset="0"/>
                      </a:rPr>
                      <m:t>=</m:t>
                    </m:r>
                    <m:rad>
                      <m:radPr>
                        <m:degHide m:val="on"/>
                        <m:ctrlPr>
                          <a:rPr lang="en-US" b="1" i="1" smtClean="0">
                            <a:latin typeface="Cambria Math" panose="02040503050406030204" pitchFamily="18" charset="0"/>
                          </a:rPr>
                        </m:ctrlPr>
                      </m:radPr>
                      <m:deg/>
                      <m:e>
                        <m:r>
                          <a:rPr lang="en-US" b="1" i="1" smtClean="0">
                            <a:latin typeface="Cambria Math" panose="02040503050406030204" pitchFamily="18" charset="0"/>
                          </a:rPr>
                          <m:t>𝟑𝟖</m:t>
                        </m:r>
                      </m:e>
                    </m:rad>
                  </m:oMath>
                </a14:m>
                <a:r>
                  <a:rPr lang="en-US" dirty="0"/>
                  <a:t> </a:t>
                </a:r>
                <a:endParaRPr lang="en-US" b="1" dirty="0"/>
              </a:p>
            </p:txBody>
          </p:sp>
        </mc:Choice>
        <mc:Fallback xmlns="">
          <p:sp>
            <p:nvSpPr>
              <p:cNvPr id="4" name="TextBox 3">
                <a:extLst>
                  <a:ext uri="{FF2B5EF4-FFF2-40B4-BE49-F238E27FC236}">
                    <a16:creationId xmlns:a16="http://schemas.microsoft.com/office/drawing/2014/main" id="{611CF451-09B5-405A-BBFC-E7FBD07D6F17}"/>
                  </a:ext>
                </a:extLst>
              </p:cNvPr>
              <p:cNvSpPr txBox="1">
                <a:spLocks noRot="1" noChangeAspect="1" noMove="1" noResize="1" noEditPoints="1" noAdjustHandles="1" noChangeArrowheads="1" noChangeShapeType="1" noTextEdit="1"/>
              </p:cNvSpPr>
              <p:nvPr/>
            </p:nvSpPr>
            <p:spPr>
              <a:xfrm>
                <a:off x="5105400" y="5315388"/>
                <a:ext cx="3505199" cy="715965"/>
              </a:xfrm>
              <a:prstGeom prst="rect">
                <a:avLst/>
              </a:prstGeom>
              <a:blipFill>
                <a:blip r:embed="rId4"/>
                <a:stretch>
                  <a:fillRect l="-1568" t="-512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A9ADC405-E9F4-4BC9-9337-9A94441CFC6F}"/>
              </a:ext>
            </a:extLst>
          </p:cNvPr>
          <p:cNvSpPr txBox="1"/>
          <p:nvPr/>
        </p:nvSpPr>
        <p:spPr>
          <a:xfrm>
            <a:off x="2182761" y="4965290"/>
            <a:ext cx="255638" cy="307777"/>
          </a:xfrm>
          <a:prstGeom prst="rect">
            <a:avLst/>
          </a:prstGeom>
          <a:noFill/>
        </p:spPr>
        <p:txBody>
          <a:bodyPr wrap="square" rtlCol="0">
            <a:spAutoFit/>
          </a:bodyPr>
          <a:lstStyle/>
          <a:p>
            <a:r>
              <a:rPr lang="en-US" sz="1400" dirty="0"/>
              <a:t>2</a:t>
            </a:r>
          </a:p>
        </p:txBody>
      </p:sp>
      <p:sp>
        <p:nvSpPr>
          <p:cNvPr id="56" name="TextBox 55">
            <a:extLst>
              <a:ext uri="{FF2B5EF4-FFF2-40B4-BE49-F238E27FC236}">
                <a16:creationId xmlns:a16="http://schemas.microsoft.com/office/drawing/2014/main" id="{1E9A2220-CEFA-427E-B336-63A13AB8E0F1}"/>
              </a:ext>
            </a:extLst>
          </p:cNvPr>
          <p:cNvSpPr txBox="1"/>
          <p:nvPr/>
        </p:nvSpPr>
        <p:spPr>
          <a:xfrm>
            <a:off x="4544962" y="4724400"/>
            <a:ext cx="223683" cy="307777"/>
          </a:xfrm>
          <a:prstGeom prst="rect">
            <a:avLst/>
          </a:prstGeom>
          <a:noFill/>
        </p:spPr>
        <p:txBody>
          <a:bodyPr wrap="square" rtlCol="0">
            <a:spAutoFit/>
          </a:bodyPr>
          <a:lstStyle/>
          <a:p>
            <a:r>
              <a:rPr lang="en-US" sz="1400" dirty="0"/>
              <a:t>5</a:t>
            </a:r>
          </a:p>
        </p:txBody>
      </p:sp>
      <p:sp>
        <p:nvSpPr>
          <p:cNvPr id="57" name="TextBox 56">
            <a:extLst>
              <a:ext uri="{FF2B5EF4-FFF2-40B4-BE49-F238E27FC236}">
                <a16:creationId xmlns:a16="http://schemas.microsoft.com/office/drawing/2014/main" id="{723AC9EE-BC1A-406C-9067-17CC1FD7FA20}"/>
              </a:ext>
            </a:extLst>
          </p:cNvPr>
          <p:cNvSpPr txBox="1"/>
          <p:nvPr/>
        </p:nvSpPr>
        <p:spPr>
          <a:xfrm>
            <a:off x="2819400" y="3578423"/>
            <a:ext cx="223683" cy="307777"/>
          </a:xfrm>
          <a:prstGeom prst="rect">
            <a:avLst/>
          </a:prstGeom>
          <a:noFill/>
        </p:spPr>
        <p:txBody>
          <a:bodyPr wrap="square" rtlCol="0">
            <a:spAutoFit/>
          </a:bodyPr>
          <a:lstStyle/>
          <a:p>
            <a:r>
              <a:rPr lang="en-US" sz="1400" dirty="0"/>
              <a:t>3</a:t>
            </a:r>
          </a:p>
        </p:txBody>
      </p:sp>
      <p:sp>
        <p:nvSpPr>
          <p:cNvPr id="15" name="TextBox 14">
            <a:extLst>
              <a:ext uri="{FF2B5EF4-FFF2-40B4-BE49-F238E27FC236}">
                <a16:creationId xmlns:a16="http://schemas.microsoft.com/office/drawing/2014/main" id="{B9D81B05-C01E-4E60-99BF-A580159BD114}"/>
              </a:ext>
            </a:extLst>
          </p:cNvPr>
          <p:cNvSpPr txBox="1"/>
          <p:nvPr/>
        </p:nvSpPr>
        <p:spPr>
          <a:xfrm>
            <a:off x="914400" y="2526268"/>
            <a:ext cx="7086589" cy="369332"/>
          </a:xfrm>
          <a:prstGeom prst="rect">
            <a:avLst/>
          </a:prstGeom>
          <a:noFill/>
        </p:spPr>
        <p:txBody>
          <a:bodyPr wrap="square" rtlCol="0">
            <a:spAutoFit/>
          </a:bodyPr>
          <a:lstStyle/>
          <a:p>
            <a:r>
              <a:rPr lang="en-US" dirty="0"/>
              <a:t>Plotting a 3-dimension vector is like constructing a parallelepiped.</a:t>
            </a:r>
          </a:p>
        </p:txBody>
      </p:sp>
      <p:cxnSp>
        <p:nvCxnSpPr>
          <p:cNvPr id="63" name="Straight Connector 62">
            <a:extLst>
              <a:ext uri="{FF2B5EF4-FFF2-40B4-BE49-F238E27FC236}">
                <a16:creationId xmlns:a16="http://schemas.microsoft.com/office/drawing/2014/main" id="{5BF4B13E-AA27-4888-B12D-700D32C9C4E1}"/>
              </a:ext>
            </a:extLst>
          </p:cNvPr>
          <p:cNvCxnSpPr/>
          <p:nvPr/>
        </p:nvCxnSpPr>
        <p:spPr>
          <a:xfrm>
            <a:off x="2819400" y="3810000"/>
            <a:ext cx="0" cy="907026"/>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49F8051E-D446-4D7B-8EDB-62ACEB08A7D1}"/>
              </a:ext>
            </a:extLst>
          </p:cNvPr>
          <p:cNvSpPr/>
          <p:nvPr/>
        </p:nvSpPr>
        <p:spPr>
          <a:xfrm>
            <a:off x="4267200" y="3479005"/>
            <a:ext cx="737419" cy="739034"/>
          </a:xfrm>
          <a:custGeom>
            <a:avLst/>
            <a:gdLst>
              <a:gd name="connsiteX0" fmla="*/ 0 w 737419"/>
              <a:gd name="connsiteY0" fmla="*/ 739034 h 739034"/>
              <a:gd name="connsiteX1" fmla="*/ 29497 w 737419"/>
              <a:gd name="connsiteY1" fmla="*/ 689872 h 739034"/>
              <a:gd name="connsiteX2" fmla="*/ 39329 w 737419"/>
              <a:gd name="connsiteY2" fmla="*/ 660376 h 739034"/>
              <a:gd name="connsiteX3" fmla="*/ 68826 w 737419"/>
              <a:gd name="connsiteY3" fmla="*/ 640711 h 739034"/>
              <a:gd name="connsiteX4" fmla="*/ 108155 w 737419"/>
              <a:gd name="connsiteY4" fmla="*/ 591550 h 739034"/>
              <a:gd name="connsiteX5" fmla="*/ 147484 w 737419"/>
              <a:gd name="connsiteY5" fmla="*/ 532556 h 739034"/>
              <a:gd name="connsiteX6" fmla="*/ 176981 w 737419"/>
              <a:gd name="connsiteY6" fmla="*/ 473563 h 739034"/>
              <a:gd name="connsiteX7" fmla="*/ 186813 w 737419"/>
              <a:gd name="connsiteY7" fmla="*/ 444066 h 739034"/>
              <a:gd name="connsiteX8" fmla="*/ 226142 w 737419"/>
              <a:gd name="connsiteY8" fmla="*/ 385072 h 739034"/>
              <a:gd name="connsiteX9" fmla="*/ 245806 w 737419"/>
              <a:gd name="connsiteY9" fmla="*/ 355576 h 739034"/>
              <a:gd name="connsiteX10" fmla="*/ 275303 w 737419"/>
              <a:gd name="connsiteY10" fmla="*/ 335911 h 739034"/>
              <a:gd name="connsiteX11" fmla="*/ 324465 w 737419"/>
              <a:gd name="connsiteY11" fmla="*/ 276918 h 739034"/>
              <a:gd name="connsiteX12" fmla="*/ 373626 w 737419"/>
              <a:gd name="connsiteY12" fmla="*/ 227756 h 739034"/>
              <a:gd name="connsiteX13" fmla="*/ 422787 w 737419"/>
              <a:gd name="connsiteY13" fmla="*/ 188427 h 739034"/>
              <a:gd name="connsiteX14" fmla="*/ 442452 w 737419"/>
              <a:gd name="connsiteY14" fmla="*/ 158930 h 739034"/>
              <a:gd name="connsiteX15" fmla="*/ 471948 w 737419"/>
              <a:gd name="connsiteY15" fmla="*/ 149098 h 739034"/>
              <a:gd name="connsiteX16" fmla="*/ 540774 w 737419"/>
              <a:gd name="connsiteY16" fmla="*/ 119601 h 739034"/>
              <a:gd name="connsiteX17" fmla="*/ 570271 w 737419"/>
              <a:gd name="connsiteY17" fmla="*/ 99937 h 739034"/>
              <a:gd name="connsiteX18" fmla="*/ 629265 w 737419"/>
              <a:gd name="connsiteY18" fmla="*/ 80272 h 739034"/>
              <a:gd name="connsiteX19" fmla="*/ 658761 w 737419"/>
              <a:gd name="connsiteY19" fmla="*/ 70440 h 739034"/>
              <a:gd name="connsiteX20" fmla="*/ 737419 w 737419"/>
              <a:gd name="connsiteY20" fmla="*/ 60608 h 739034"/>
              <a:gd name="connsiteX21" fmla="*/ 688258 w 737419"/>
              <a:gd name="connsiteY21" fmla="*/ 168763 h 739034"/>
              <a:gd name="connsiteX22" fmla="*/ 698090 w 737419"/>
              <a:gd name="connsiteY22" fmla="*/ 139266 h 739034"/>
              <a:gd name="connsiteX23" fmla="*/ 727587 w 737419"/>
              <a:gd name="connsiteY23" fmla="*/ 99937 h 73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7419" h="739034">
                <a:moveTo>
                  <a:pt x="0" y="739034"/>
                </a:moveTo>
                <a:cubicBezTo>
                  <a:pt x="9832" y="722647"/>
                  <a:pt x="20950" y="706965"/>
                  <a:pt x="29497" y="689872"/>
                </a:cubicBezTo>
                <a:cubicBezTo>
                  <a:pt x="34132" y="680602"/>
                  <a:pt x="32855" y="668469"/>
                  <a:pt x="39329" y="660376"/>
                </a:cubicBezTo>
                <a:cubicBezTo>
                  <a:pt x="46711" y="651148"/>
                  <a:pt x="58994" y="647266"/>
                  <a:pt x="68826" y="640711"/>
                </a:cubicBezTo>
                <a:cubicBezTo>
                  <a:pt x="90967" y="574284"/>
                  <a:pt x="60260" y="646287"/>
                  <a:pt x="108155" y="591550"/>
                </a:cubicBezTo>
                <a:cubicBezTo>
                  <a:pt x="123718" y="573764"/>
                  <a:pt x="147484" y="532556"/>
                  <a:pt x="147484" y="532556"/>
                </a:cubicBezTo>
                <a:cubicBezTo>
                  <a:pt x="172198" y="458415"/>
                  <a:pt x="138860" y="549806"/>
                  <a:pt x="176981" y="473563"/>
                </a:cubicBezTo>
                <a:cubicBezTo>
                  <a:pt x="181616" y="464293"/>
                  <a:pt x="181780" y="453126"/>
                  <a:pt x="186813" y="444066"/>
                </a:cubicBezTo>
                <a:cubicBezTo>
                  <a:pt x="198291" y="423406"/>
                  <a:pt x="213032" y="404737"/>
                  <a:pt x="226142" y="385072"/>
                </a:cubicBezTo>
                <a:cubicBezTo>
                  <a:pt x="232697" y="375240"/>
                  <a:pt x="235974" y="362131"/>
                  <a:pt x="245806" y="355576"/>
                </a:cubicBezTo>
                <a:lnTo>
                  <a:pt x="275303" y="335911"/>
                </a:lnTo>
                <a:cubicBezTo>
                  <a:pt x="324132" y="262668"/>
                  <a:pt x="261371" y="352631"/>
                  <a:pt x="324465" y="276918"/>
                </a:cubicBezTo>
                <a:cubicBezTo>
                  <a:pt x="365435" y="227754"/>
                  <a:pt x="319545" y="263810"/>
                  <a:pt x="373626" y="227756"/>
                </a:cubicBezTo>
                <a:cubicBezTo>
                  <a:pt x="429979" y="143226"/>
                  <a:pt x="354942" y="242703"/>
                  <a:pt x="422787" y="188427"/>
                </a:cubicBezTo>
                <a:cubicBezTo>
                  <a:pt x="432015" y="181045"/>
                  <a:pt x="433224" y="166312"/>
                  <a:pt x="442452" y="158930"/>
                </a:cubicBezTo>
                <a:cubicBezTo>
                  <a:pt x="450545" y="152456"/>
                  <a:pt x="462678" y="153733"/>
                  <a:pt x="471948" y="149098"/>
                </a:cubicBezTo>
                <a:cubicBezTo>
                  <a:pt x="539850" y="115148"/>
                  <a:pt x="458921" y="140066"/>
                  <a:pt x="540774" y="119601"/>
                </a:cubicBezTo>
                <a:cubicBezTo>
                  <a:pt x="550606" y="113046"/>
                  <a:pt x="559473" y="104736"/>
                  <a:pt x="570271" y="99937"/>
                </a:cubicBezTo>
                <a:cubicBezTo>
                  <a:pt x="589213" y="91518"/>
                  <a:pt x="609600" y="86827"/>
                  <a:pt x="629265" y="80272"/>
                </a:cubicBezTo>
                <a:cubicBezTo>
                  <a:pt x="639097" y="76995"/>
                  <a:pt x="648477" y="71725"/>
                  <a:pt x="658761" y="70440"/>
                </a:cubicBezTo>
                <a:lnTo>
                  <a:pt x="737419" y="60608"/>
                </a:lnTo>
                <a:cubicBezTo>
                  <a:pt x="638961" y="-37852"/>
                  <a:pt x="676793" y="-26148"/>
                  <a:pt x="688258" y="168763"/>
                </a:cubicBezTo>
                <a:cubicBezTo>
                  <a:pt x="691535" y="158931"/>
                  <a:pt x="691616" y="147359"/>
                  <a:pt x="698090" y="139266"/>
                </a:cubicBezTo>
                <a:cubicBezTo>
                  <a:pt x="733041" y="95577"/>
                  <a:pt x="727587" y="142727"/>
                  <a:pt x="727587" y="99937"/>
                </a:cubicBezTo>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0320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PH" sz="2000" dirty="0"/>
                  <a:t>Example 1: Plot the vectors: </a:t>
                </a:r>
                <a14:m>
                  <m:oMath xmlns:m="http://schemas.openxmlformats.org/officeDocument/2006/math">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US" sz="2000" b="0" i="1" smtClean="0">
                                  <a:latin typeface="Cambria Math" panose="02040503050406030204" pitchFamily="18" charset="0"/>
                                </a:rPr>
                                <m:t>3</m:t>
                              </m:r>
                            </m:e>
                          </m:mr>
                          <m:mr>
                            <m:e>
                              <m:r>
                                <a:rPr lang="en-US" sz="2000" b="0" i="1" smtClean="0">
                                  <a:latin typeface="Cambria Math" panose="02040503050406030204" pitchFamily="18" charset="0"/>
                                </a:rPr>
                                <m:t>−2</m:t>
                              </m:r>
                            </m:e>
                          </m:mr>
                          <m:mr>
                            <m:e>
                              <m:r>
                                <a:rPr lang="en-US" sz="2000" b="0" i="1" smtClean="0">
                                  <a:latin typeface="Cambria Math" panose="02040503050406030204" pitchFamily="18" charset="0"/>
                                </a:rPr>
                                <m:t>−4</m:t>
                              </m:r>
                            </m:e>
                          </m:mr>
                        </m:m>
                      </m:e>
                    </m:d>
                  </m:oMath>
                </a14:m>
                <a:endParaRPr lang="en-PH"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a:stretch>
              </a:blipFill>
            </p:spPr>
            <p:txBody>
              <a:bodyPr/>
              <a:lstStyle/>
              <a:p>
                <a:r>
                  <a:rPr lang="en-US">
                    <a:noFill/>
                  </a:rPr>
                  <a:t> </a:t>
                </a:r>
              </a:p>
            </p:txBody>
          </p:sp>
        </mc:Fallback>
      </mc:AlternateContent>
      <p:cxnSp>
        <p:nvCxnSpPr>
          <p:cNvPr id="5" name="Straight Arrow Connector 4"/>
          <p:cNvCxnSpPr/>
          <p:nvPr/>
        </p:nvCxnSpPr>
        <p:spPr>
          <a:xfrm>
            <a:off x="2819400" y="4766187"/>
            <a:ext cx="2667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cxnSpLocks/>
          </p:cNvCxnSpPr>
          <p:nvPr/>
        </p:nvCxnSpPr>
        <p:spPr>
          <a:xfrm flipH="1">
            <a:off x="1119956" y="4759759"/>
            <a:ext cx="1764584" cy="1869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2819400" y="3124200"/>
            <a:ext cx="0" cy="1676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09600" y="6016823"/>
            <a:ext cx="952500" cy="307777"/>
          </a:xfrm>
          <a:prstGeom prst="rect">
            <a:avLst/>
          </a:prstGeom>
          <a:noFill/>
        </p:spPr>
        <p:txBody>
          <a:bodyPr wrap="square" rtlCol="0">
            <a:spAutoFit/>
          </a:bodyPr>
          <a:lstStyle/>
          <a:p>
            <a:r>
              <a:rPr lang="en-PH" sz="1400" dirty="0"/>
              <a:t>x-axis</a:t>
            </a:r>
          </a:p>
        </p:txBody>
      </p:sp>
      <p:sp>
        <p:nvSpPr>
          <p:cNvPr id="13" name="TextBox 12"/>
          <p:cNvSpPr txBox="1"/>
          <p:nvPr/>
        </p:nvSpPr>
        <p:spPr>
          <a:xfrm>
            <a:off x="5219700" y="4800600"/>
            <a:ext cx="952500" cy="307777"/>
          </a:xfrm>
          <a:prstGeom prst="rect">
            <a:avLst/>
          </a:prstGeom>
          <a:noFill/>
        </p:spPr>
        <p:txBody>
          <a:bodyPr wrap="square" rtlCol="0">
            <a:spAutoFit/>
          </a:bodyPr>
          <a:lstStyle/>
          <a:p>
            <a:r>
              <a:rPr lang="en-PH" sz="1400" dirty="0"/>
              <a:t>y-axis</a:t>
            </a:r>
          </a:p>
        </p:txBody>
      </p:sp>
      <p:sp>
        <p:nvSpPr>
          <p:cNvPr id="14" name="TextBox 13"/>
          <p:cNvSpPr txBox="1"/>
          <p:nvPr/>
        </p:nvSpPr>
        <p:spPr>
          <a:xfrm>
            <a:off x="2819400" y="3121223"/>
            <a:ext cx="952500" cy="307777"/>
          </a:xfrm>
          <a:prstGeom prst="rect">
            <a:avLst/>
          </a:prstGeom>
          <a:noFill/>
        </p:spPr>
        <p:txBody>
          <a:bodyPr wrap="square" rtlCol="0">
            <a:spAutoFit/>
          </a:bodyPr>
          <a:lstStyle/>
          <a:p>
            <a:r>
              <a:rPr lang="en-PH" sz="1400" dirty="0"/>
              <a:t>z-axis</a:t>
            </a:r>
          </a:p>
        </p:txBody>
      </p:sp>
      <p:cxnSp>
        <p:nvCxnSpPr>
          <p:cNvPr id="18" name="Straight Connector 17"/>
          <p:cNvCxnSpPr/>
          <p:nvPr/>
        </p:nvCxnSpPr>
        <p:spPr>
          <a:xfrm flipV="1">
            <a:off x="3200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3581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3962400" y="4722911"/>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343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4724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510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914400" y="4766187"/>
            <a:ext cx="1905000" cy="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819400" y="4649689"/>
            <a:ext cx="0" cy="1643475"/>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V="1">
            <a:off x="2895600" y="3417006"/>
            <a:ext cx="1295400" cy="1349181"/>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1295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1676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2057400" y="4724400"/>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2438400" y="4725889"/>
            <a:ext cx="0" cy="153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819400" y="44196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819400" y="41148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2819400" y="38100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819400" y="3505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2819400" y="5108377"/>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2819400" y="5410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819400" y="5791200"/>
            <a:ext cx="38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2609850" y="4955978"/>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2381250" y="51054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2152650" y="53340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924048" y="5563894"/>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3867150" y="3889178"/>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600450" y="4114800"/>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3390900" y="4271667"/>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3124200" y="4497289"/>
            <a:ext cx="57150" cy="74711"/>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2303207" y="4767191"/>
            <a:ext cx="535247" cy="649802"/>
          </a:xfrm>
          <a:prstGeom prst="straightConnector1">
            <a:avLst/>
          </a:prstGeom>
          <a:ln w="28575">
            <a:solidFill>
              <a:srgbClr val="7030A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cxnSpLocks/>
          </p:cNvCxnSpPr>
          <p:nvPr/>
        </p:nvCxnSpPr>
        <p:spPr>
          <a:xfrm>
            <a:off x="1981200" y="4745693"/>
            <a:ext cx="846188" cy="14503"/>
          </a:xfrm>
          <a:prstGeom prst="line">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Oval 112"/>
          <p:cNvSpPr/>
          <p:nvPr/>
        </p:nvSpPr>
        <p:spPr>
          <a:xfrm>
            <a:off x="1524001" y="6553200"/>
            <a:ext cx="152399" cy="128156"/>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mc:AlternateContent xmlns:mc="http://schemas.openxmlformats.org/markup-compatibility/2006" xmlns:a14="http://schemas.microsoft.com/office/drawing/2010/main">
        <mc:Choice Requires="a14">
          <p:sp>
            <p:nvSpPr>
              <p:cNvPr id="119" name="TextBox 118"/>
              <p:cNvSpPr txBox="1"/>
              <p:nvPr/>
            </p:nvSpPr>
            <p:spPr>
              <a:xfrm>
                <a:off x="3200401" y="5313534"/>
                <a:ext cx="1219200" cy="8487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PH" b="1" smtClean="0">
                          <a:latin typeface="Cambria Math"/>
                        </a:rPr>
                        <m:t>𝐮</m:t>
                      </m:r>
                      <m:r>
                        <a:rPr lang="en-PH" i="1">
                          <a:latin typeface="Cambria Math"/>
                        </a:rPr>
                        <m:t>= </m:t>
                      </m:r>
                      <m:d>
                        <m:dPr>
                          <m:begChr m:val="["/>
                          <m:endChr m:val="]"/>
                          <m:ctrlPr>
                            <a:rPr lang="en-PH" i="1">
                              <a:latin typeface="Cambria Math" panose="02040503050406030204" pitchFamily="18" charset="0"/>
                            </a:rPr>
                          </m:ctrlPr>
                        </m:dPr>
                        <m:e>
                          <m:m>
                            <m:mPr>
                              <m:mcs>
                                <m:mc>
                                  <m:mcPr>
                                    <m:count m:val="1"/>
                                    <m:mcJc m:val="center"/>
                                  </m:mcPr>
                                </m:mc>
                              </m:mcs>
                              <m:ctrlPr>
                                <a:rPr lang="en-PH" i="1">
                                  <a:latin typeface="Cambria Math" panose="02040503050406030204" pitchFamily="18" charset="0"/>
                                </a:rPr>
                              </m:ctrlPr>
                            </m:mPr>
                            <m:mr>
                              <m:e>
                                <m:r>
                                  <m:rPr>
                                    <m:brk m:alnAt="7"/>
                                  </m:rPr>
                                  <a:rPr lang="en-US" b="0" i="1" smtClean="0">
                                    <a:latin typeface="Cambria Math" panose="02040503050406030204" pitchFamily="18" charset="0"/>
                                  </a:rPr>
                                  <m:t>3</m:t>
                                </m:r>
                              </m:e>
                            </m:mr>
                            <m:mr>
                              <m:e>
                                <m:r>
                                  <a:rPr lang="en-US" b="0" i="1" smtClean="0">
                                    <a:latin typeface="Cambria Math" panose="02040503050406030204" pitchFamily="18" charset="0"/>
                                  </a:rPr>
                                  <m:t>−2</m:t>
                                </m:r>
                              </m:e>
                            </m:mr>
                            <m:mr>
                              <m:e>
                                <m:r>
                                  <a:rPr lang="en-US" b="0" i="1" smtClean="0">
                                    <a:latin typeface="Cambria Math" panose="02040503050406030204" pitchFamily="18" charset="0"/>
                                  </a:rPr>
                                  <m:t>−4</m:t>
                                </m:r>
                              </m:e>
                            </m:mr>
                          </m:m>
                        </m:e>
                      </m:d>
                    </m:oMath>
                  </m:oMathPara>
                </a14:m>
                <a:endParaRPr lang="en-PH" dirty="0"/>
              </a:p>
            </p:txBody>
          </p:sp>
        </mc:Choice>
        <mc:Fallback xmlns="">
          <p:sp>
            <p:nvSpPr>
              <p:cNvPr id="119" name="TextBox 118"/>
              <p:cNvSpPr txBox="1">
                <a:spLocks noRot="1" noChangeAspect="1" noMove="1" noResize="1" noEditPoints="1" noAdjustHandles="1" noChangeArrowheads="1" noChangeShapeType="1" noTextEdit="1"/>
              </p:cNvSpPr>
              <p:nvPr/>
            </p:nvSpPr>
            <p:spPr>
              <a:xfrm>
                <a:off x="3200401" y="5313534"/>
                <a:ext cx="1219200" cy="848758"/>
              </a:xfrm>
              <a:prstGeom prst="rect">
                <a:avLst/>
              </a:prstGeom>
              <a:blipFill>
                <a:blip r:embed="rId3"/>
                <a:stretch>
                  <a:fillRect/>
                </a:stretch>
              </a:blipFill>
            </p:spPr>
            <p:txBody>
              <a:bodyPr/>
              <a:lstStyle/>
              <a:p>
                <a:r>
                  <a:rPr lang="en-US">
                    <a:noFill/>
                  </a:rPr>
                  <a:t> </a:t>
                </a:r>
              </a:p>
            </p:txBody>
          </p:sp>
        </mc:Fallback>
      </mc:AlternateContent>
      <p:cxnSp>
        <p:nvCxnSpPr>
          <p:cNvPr id="7" name="Straight Arrow Connector 6"/>
          <p:cNvCxnSpPr>
            <a:cxnSpLocks/>
          </p:cNvCxnSpPr>
          <p:nvPr/>
        </p:nvCxnSpPr>
        <p:spPr>
          <a:xfrm flipH="1">
            <a:off x="1581149" y="4766189"/>
            <a:ext cx="1247776" cy="186297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11CF451-09B5-405A-BBFC-E7FBD07D6F17}"/>
                  </a:ext>
                </a:extLst>
              </p:cNvPr>
              <p:cNvSpPr txBox="1"/>
              <p:nvPr/>
            </p:nvSpPr>
            <p:spPr>
              <a:xfrm>
                <a:off x="4935484" y="3442493"/>
                <a:ext cx="3808465" cy="704745"/>
              </a:xfrm>
              <a:prstGeom prst="rect">
                <a:avLst/>
              </a:prstGeom>
              <a:noFill/>
            </p:spPr>
            <p:txBody>
              <a:bodyPr wrap="square" rtlCol="0">
                <a:spAutoFit/>
              </a:bodyPr>
              <a:lstStyle/>
              <a:p>
                <a:r>
                  <a:rPr lang="en-US" dirty="0"/>
                  <a:t>The magnitude of </a:t>
                </a:r>
                <a:r>
                  <a:rPr lang="en-US" b="1" dirty="0"/>
                  <a:t>u</a:t>
                </a:r>
              </a:p>
              <a:p>
                <a14:m>
                  <m:oMath xmlns:m="http://schemas.openxmlformats.org/officeDocument/2006/math">
                    <m:r>
                      <a:rPr lang="en-US" b="1" i="0" smtClean="0">
                        <a:latin typeface="Cambria Math" panose="02040503050406030204" pitchFamily="18" charset="0"/>
                      </a:rPr>
                      <m:t>𝐮</m:t>
                    </m:r>
                    <m:r>
                      <a:rPr lang="en-US" b="1" i="1" smtClean="0">
                        <a:latin typeface="Cambria Math" panose="02040503050406030204" pitchFamily="18" charset="0"/>
                      </a:rPr>
                      <m:t>= </m:t>
                    </m:r>
                    <m:rad>
                      <m:radPr>
                        <m:degHide m:val="on"/>
                        <m:ctrlPr>
                          <a:rPr lang="en-US" b="1" i="1" smtClean="0">
                            <a:latin typeface="Cambria Math" panose="02040503050406030204" pitchFamily="18" charset="0"/>
                          </a:rPr>
                        </m:ctrlPr>
                      </m:radPr>
                      <m:deg/>
                      <m:e>
                        <m:sSup>
                          <m:sSupPr>
                            <m:ctrlPr>
                              <a:rPr lang="en-US" b="1" i="1" smtClean="0">
                                <a:latin typeface="Cambria Math" panose="02040503050406030204" pitchFamily="18" charset="0"/>
                              </a:rPr>
                            </m:ctrlPr>
                          </m:sSupPr>
                          <m:e>
                            <m:r>
                              <a:rPr lang="en-US" b="1" i="1" smtClean="0">
                                <a:latin typeface="Cambria Math" panose="02040503050406030204" pitchFamily="18" charset="0"/>
                              </a:rPr>
                              <m:t>𝟑</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m:t>
                            </m:r>
                            <m:r>
                              <a:rPr lang="en-US" b="1" i="1" smtClean="0">
                                <a:latin typeface="Cambria Math" panose="02040503050406030204" pitchFamily="18" charset="0"/>
                              </a:rPr>
                              <m:t>𝟒</m:t>
                            </m:r>
                            <m:r>
                              <a:rPr lang="en-US" b="1" i="1" smtClean="0">
                                <a:latin typeface="Cambria Math" panose="02040503050406030204" pitchFamily="18" charset="0"/>
                              </a:rPr>
                              <m:t>)</m:t>
                            </m:r>
                          </m:e>
                          <m:sup>
                            <m:r>
                              <a:rPr lang="en-US" b="1" i="1" smtClean="0">
                                <a:latin typeface="Cambria Math" panose="02040503050406030204" pitchFamily="18" charset="0"/>
                              </a:rPr>
                              <m:t>𝟐</m:t>
                            </m:r>
                          </m:sup>
                        </m:sSup>
                        <m:r>
                          <a:rPr lang="en-US" b="1" i="1" smtClean="0">
                            <a:latin typeface="Cambria Math" panose="02040503050406030204" pitchFamily="18" charset="0"/>
                          </a:rPr>
                          <m:t> </m:t>
                        </m:r>
                      </m:e>
                    </m:rad>
                    <m:r>
                      <a:rPr lang="en-US" b="1" i="0" smtClean="0">
                        <a:latin typeface="Cambria Math" panose="02040503050406030204" pitchFamily="18" charset="0"/>
                      </a:rPr>
                      <m:t>=</m:t>
                    </m:r>
                    <m:rad>
                      <m:radPr>
                        <m:degHide m:val="on"/>
                        <m:ctrlPr>
                          <a:rPr lang="en-US" b="1" i="1" smtClean="0">
                            <a:latin typeface="Cambria Math" panose="02040503050406030204" pitchFamily="18" charset="0"/>
                          </a:rPr>
                        </m:ctrlPr>
                      </m:radPr>
                      <m:deg/>
                      <m:e>
                        <m:r>
                          <a:rPr lang="en-US" b="1" i="1" smtClean="0">
                            <a:latin typeface="Cambria Math" panose="02040503050406030204" pitchFamily="18" charset="0"/>
                          </a:rPr>
                          <m:t>𝟐𝟗</m:t>
                        </m:r>
                      </m:e>
                    </m:rad>
                  </m:oMath>
                </a14:m>
                <a:r>
                  <a:rPr lang="en-US" dirty="0"/>
                  <a:t> </a:t>
                </a:r>
                <a:endParaRPr lang="en-US" b="1" dirty="0"/>
              </a:p>
            </p:txBody>
          </p:sp>
        </mc:Choice>
        <mc:Fallback xmlns="">
          <p:sp>
            <p:nvSpPr>
              <p:cNvPr id="4" name="TextBox 3">
                <a:extLst>
                  <a:ext uri="{FF2B5EF4-FFF2-40B4-BE49-F238E27FC236}">
                    <a16:creationId xmlns:a16="http://schemas.microsoft.com/office/drawing/2014/main" id="{611CF451-09B5-405A-BBFC-E7FBD07D6F17}"/>
                  </a:ext>
                </a:extLst>
              </p:cNvPr>
              <p:cNvSpPr txBox="1">
                <a:spLocks noRot="1" noChangeAspect="1" noMove="1" noResize="1" noEditPoints="1" noAdjustHandles="1" noChangeArrowheads="1" noChangeShapeType="1" noTextEdit="1"/>
              </p:cNvSpPr>
              <p:nvPr/>
            </p:nvSpPr>
            <p:spPr>
              <a:xfrm>
                <a:off x="4935484" y="3442493"/>
                <a:ext cx="3808465" cy="704745"/>
              </a:xfrm>
              <a:prstGeom prst="rect">
                <a:avLst/>
              </a:prstGeom>
              <a:blipFill>
                <a:blip r:embed="rId4"/>
                <a:stretch>
                  <a:fillRect l="-1442" t="-5217" b="-608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A9ADC405-E9F4-4BC9-9337-9A94441CFC6F}"/>
              </a:ext>
            </a:extLst>
          </p:cNvPr>
          <p:cNvSpPr txBox="1"/>
          <p:nvPr/>
        </p:nvSpPr>
        <p:spPr>
          <a:xfrm>
            <a:off x="2057400" y="5105400"/>
            <a:ext cx="245807" cy="307777"/>
          </a:xfrm>
          <a:prstGeom prst="rect">
            <a:avLst/>
          </a:prstGeom>
          <a:noFill/>
        </p:spPr>
        <p:txBody>
          <a:bodyPr wrap="square" rtlCol="0">
            <a:spAutoFit/>
          </a:bodyPr>
          <a:lstStyle/>
          <a:p>
            <a:r>
              <a:rPr lang="en-US" sz="1400" dirty="0"/>
              <a:t>3</a:t>
            </a:r>
          </a:p>
        </p:txBody>
      </p:sp>
      <p:sp>
        <p:nvSpPr>
          <p:cNvPr id="56" name="TextBox 55">
            <a:extLst>
              <a:ext uri="{FF2B5EF4-FFF2-40B4-BE49-F238E27FC236}">
                <a16:creationId xmlns:a16="http://schemas.microsoft.com/office/drawing/2014/main" id="{1E9A2220-CEFA-427E-B336-63A13AB8E0F1}"/>
              </a:ext>
            </a:extLst>
          </p:cNvPr>
          <p:cNvSpPr txBox="1"/>
          <p:nvPr/>
        </p:nvSpPr>
        <p:spPr>
          <a:xfrm>
            <a:off x="1828800" y="4748981"/>
            <a:ext cx="384072" cy="307777"/>
          </a:xfrm>
          <a:prstGeom prst="rect">
            <a:avLst/>
          </a:prstGeom>
          <a:noFill/>
        </p:spPr>
        <p:txBody>
          <a:bodyPr wrap="square" rtlCol="0">
            <a:spAutoFit/>
          </a:bodyPr>
          <a:lstStyle/>
          <a:p>
            <a:r>
              <a:rPr lang="en-US" sz="1400" dirty="0"/>
              <a:t>-2</a:t>
            </a:r>
          </a:p>
        </p:txBody>
      </p:sp>
      <p:cxnSp>
        <p:nvCxnSpPr>
          <p:cNvPr id="63" name="Straight Connector 62">
            <a:extLst>
              <a:ext uri="{FF2B5EF4-FFF2-40B4-BE49-F238E27FC236}">
                <a16:creationId xmlns:a16="http://schemas.microsoft.com/office/drawing/2014/main" id="{5BF4B13E-AA27-4888-B12D-700D32C9C4E1}"/>
              </a:ext>
            </a:extLst>
          </p:cNvPr>
          <p:cNvCxnSpPr>
            <a:cxnSpLocks/>
          </p:cNvCxnSpPr>
          <p:nvPr/>
        </p:nvCxnSpPr>
        <p:spPr>
          <a:xfrm>
            <a:off x="2819399" y="4839446"/>
            <a:ext cx="19050" cy="1332755"/>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3" name="Freeform: Shape 32">
            <a:extLst>
              <a:ext uri="{FF2B5EF4-FFF2-40B4-BE49-F238E27FC236}">
                <a16:creationId xmlns:a16="http://schemas.microsoft.com/office/drawing/2014/main" id="{49F8051E-D446-4D7B-8EDB-62ACEB08A7D1}"/>
              </a:ext>
            </a:extLst>
          </p:cNvPr>
          <p:cNvSpPr/>
          <p:nvPr/>
        </p:nvSpPr>
        <p:spPr>
          <a:xfrm>
            <a:off x="1646288" y="5807445"/>
            <a:ext cx="1681933" cy="741808"/>
          </a:xfrm>
          <a:custGeom>
            <a:avLst/>
            <a:gdLst>
              <a:gd name="connsiteX0" fmla="*/ 0 w 737419"/>
              <a:gd name="connsiteY0" fmla="*/ 739034 h 739034"/>
              <a:gd name="connsiteX1" fmla="*/ 29497 w 737419"/>
              <a:gd name="connsiteY1" fmla="*/ 689872 h 739034"/>
              <a:gd name="connsiteX2" fmla="*/ 39329 w 737419"/>
              <a:gd name="connsiteY2" fmla="*/ 660376 h 739034"/>
              <a:gd name="connsiteX3" fmla="*/ 68826 w 737419"/>
              <a:gd name="connsiteY3" fmla="*/ 640711 h 739034"/>
              <a:gd name="connsiteX4" fmla="*/ 108155 w 737419"/>
              <a:gd name="connsiteY4" fmla="*/ 591550 h 739034"/>
              <a:gd name="connsiteX5" fmla="*/ 147484 w 737419"/>
              <a:gd name="connsiteY5" fmla="*/ 532556 h 739034"/>
              <a:gd name="connsiteX6" fmla="*/ 176981 w 737419"/>
              <a:gd name="connsiteY6" fmla="*/ 473563 h 739034"/>
              <a:gd name="connsiteX7" fmla="*/ 186813 w 737419"/>
              <a:gd name="connsiteY7" fmla="*/ 444066 h 739034"/>
              <a:gd name="connsiteX8" fmla="*/ 226142 w 737419"/>
              <a:gd name="connsiteY8" fmla="*/ 385072 h 739034"/>
              <a:gd name="connsiteX9" fmla="*/ 245806 w 737419"/>
              <a:gd name="connsiteY9" fmla="*/ 355576 h 739034"/>
              <a:gd name="connsiteX10" fmla="*/ 275303 w 737419"/>
              <a:gd name="connsiteY10" fmla="*/ 335911 h 739034"/>
              <a:gd name="connsiteX11" fmla="*/ 324465 w 737419"/>
              <a:gd name="connsiteY11" fmla="*/ 276918 h 739034"/>
              <a:gd name="connsiteX12" fmla="*/ 373626 w 737419"/>
              <a:gd name="connsiteY12" fmla="*/ 227756 h 739034"/>
              <a:gd name="connsiteX13" fmla="*/ 422787 w 737419"/>
              <a:gd name="connsiteY13" fmla="*/ 188427 h 739034"/>
              <a:gd name="connsiteX14" fmla="*/ 442452 w 737419"/>
              <a:gd name="connsiteY14" fmla="*/ 158930 h 739034"/>
              <a:gd name="connsiteX15" fmla="*/ 471948 w 737419"/>
              <a:gd name="connsiteY15" fmla="*/ 149098 h 739034"/>
              <a:gd name="connsiteX16" fmla="*/ 540774 w 737419"/>
              <a:gd name="connsiteY16" fmla="*/ 119601 h 739034"/>
              <a:gd name="connsiteX17" fmla="*/ 570271 w 737419"/>
              <a:gd name="connsiteY17" fmla="*/ 99937 h 739034"/>
              <a:gd name="connsiteX18" fmla="*/ 629265 w 737419"/>
              <a:gd name="connsiteY18" fmla="*/ 80272 h 739034"/>
              <a:gd name="connsiteX19" fmla="*/ 658761 w 737419"/>
              <a:gd name="connsiteY19" fmla="*/ 70440 h 739034"/>
              <a:gd name="connsiteX20" fmla="*/ 737419 w 737419"/>
              <a:gd name="connsiteY20" fmla="*/ 60608 h 739034"/>
              <a:gd name="connsiteX21" fmla="*/ 688258 w 737419"/>
              <a:gd name="connsiteY21" fmla="*/ 168763 h 739034"/>
              <a:gd name="connsiteX22" fmla="*/ 698090 w 737419"/>
              <a:gd name="connsiteY22" fmla="*/ 139266 h 739034"/>
              <a:gd name="connsiteX23" fmla="*/ 727587 w 737419"/>
              <a:gd name="connsiteY23" fmla="*/ 99937 h 739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37419" h="739034">
                <a:moveTo>
                  <a:pt x="0" y="739034"/>
                </a:moveTo>
                <a:cubicBezTo>
                  <a:pt x="9832" y="722647"/>
                  <a:pt x="20950" y="706965"/>
                  <a:pt x="29497" y="689872"/>
                </a:cubicBezTo>
                <a:cubicBezTo>
                  <a:pt x="34132" y="680602"/>
                  <a:pt x="32855" y="668469"/>
                  <a:pt x="39329" y="660376"/>
                </a:cubicBezTo>
                <a:cubicBezTo>
                  <a:pt x="46711" y="651148"/>
                  <a:pt x="58994" y="647266"/>
                  <a:pt x="68826" y="640711"/>
                </a:cubicBezTo>
                <a:cubicBezTo>
                  <a:pt x="90967" y="574284"/>
                  <a:pt x="60260" y="646287"/>
                  <a:pt x="108155" y="591550"/>
                </a:cubicBezTo>
                <a:cubicBezTo>
                  <a:pt x="123718" y="573764"/>
                  <a:pt x="147484" y="532556"/>
                  <a:pt x="147484" y="532556"/>
                </a:cubicBezTo>
                <a:cubicBezTo>
                  <a:pt x="172198" y="458415"/>
                  <a:pt x="138860" y="549806"/>
                  <a:pt x="176981" y="473563"/>
                </a:cubicBezTo>
                <a:cubicBezTo>
                  <a:pt x="181616" y="464293"/>
                  <a:pt x="181780" y="453126"/>
                  <a:pt x="186813" y="444066"/>
                </a:cubicBezTo>
                <a:cubicBezTo>
                  <a:pt x="198291" y="423406"/>
                  <a:pt x="213032" y="404737"/>
                  <a:pt x="226142" y="385072"/>
                </a:cubicBezTo>
                <a:cubicBezTo>
                  <a:pt x="232697" y="375240"/>
                  <a:pt x="235974" y="362131"/>
                  <a:pt x="245806" y="355576"/>
                </a:cubicBezTo>
                <a:lnTo>
                  <a:pt x="275303" y="335911"/>
                </a:lnTo>
                <a:cubicBezTo>
                  <a:pt x="324132" y="262668"/>
                  <a:pt x="261371" y="352631"/>
                  <a:pt x="324465" y="276918"/>
                </a:cubicBezTo>
                <a:cubicBezTo>
                  <a:pt x="365435" y="227754"/>
                  <a:pt x="319545" y="263810"/>
                  <a:pt x="373626" y="227756"/>
                </a:cubicBezTo>
                <a:cubicBezTo>
                  <a:pt x="429979" y="143226"/>
                  <a:pt x="354942" y="242703"/>
                  <a:pt x="422787" y="188427"/>
                </a:cubicBezTo>
                <a:cubicBezTo>
                  <a:pt x="432015" y="181045"/>
                  <a:pt x="433224" y="166312"/>
                  <a:pt x="442452" y="158930"/>
                </a:cubicBezTo>
                <a:cubicBezTo>
                  <a:pt x="450545" y="152456"/>
                  <a:pt x="462678" y="153733"/>
                  <a:pt x="471948" y="149098"/>
                </a:cubicBezTo>
                <a:cubicBezTo>
                  <a:pt x="539850" y="115148"/>
                  <a:pt x="458921" y="140066"/>
                  <a:pt x="540774" y="119601"/>
                </a:cubicBezTo>
                <a:cubicBezTo>
                  <a:pt x="550606" y="113046"/>
                  <a:pt x="559473" y="104736"/>
                  <a:pt x="570271" y="99937"/>
                </a:cubicBezTo>
                <a:cubicBezTo>
                  <a:pt x="589213" y="91518"/>
                  <a:pt x="609600" y="86827"/>
                  <a:pt x="629265" y="80272"/>
                </a:cubicBezTo>
                <a:cubicBezTo>
                  <a:pt x="639097" y="76995"/>
                  <a:pt x="648477" y="71725"/>
                  <a:pt x="658761" y="70440"/>
                </a:cubicBezTo>
                <a:lnTo>
                  <a:pt x="737419" y="60608"/>
                </a:lnTo>
                <a:cubicBezTo>
                  <a:pt x="638961" y="-37852"/>
                  <a:pt x="676793" y="-26148"/>
                  <a:pt x="688258" y="168763"/>
                </a:cubicBezTo>
                <a:cubicBezTo>
                  <a:pt x="691535" y="158931"/>
                  <a:pt x="691616" y="147359"/>
                  <a:pt x="698090" y="139266"/>
                </a:cubicBezTo>
                <a:cubicBezTo>
                  <a:pt x="733041" y="95577"/>
                  <a:pt x="727587" y="142727"/>
                  <a:pt x="727587" y="99937"/>
                </a:cubicBezTo>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8AAEBC0B-AAB2-4569-8C56-CA19F36691E4}"/>
              </a:ext>
            </a:extLst>
          </p:cNvPr>
          <p:cNvCxnSpPr>
            <a:cxnSpLocks/>
          </p:cNvCxnSpPr>
          <p:nvPr/>
        </p:nvCxnSpPr>
        <p:spPr>
          <a:xfrm>
            <a:off x="1439812" y="5395055"/>
            <a:ext cx="846188" cy="14503"/>
          </a:xfrm>
          <a:prstGeom prst="line">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BE06E04-DC84-4C77-86D2-F8957F27FF11}"/>
              </a:ext>
            </a:extLst>
          </p:cNvPr>
          <p:cNvCxnSpPr>
            <a:cxnSpLocks/>
          </p:cNvCxnSpPr>
          <p:nvPr/>
        </p:nvCxnSpPr>
        <p:spPr>
          <a:xfrm flipH="1">
            <a:off x="1427213" y="4724400"/>
            <a:ext cx="630187" cy="677906"/>
          </a:xfrm>
          <a:prstGeom prst="straightConnector1">
            <a:avLst/>
          </a:prstGeom>
          <a:ln w="28575">
            <a:solidFill>
              <a:srgbClr val="7030A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724D984-C719-4EF5-99CF-FC613E58E4F4}"/>
              </a:ext>
            </a:extLst>
          </p:cNvPr>
          <p:cNvCxnSpPr>
            <a:cxnSpLocks/>
          </p:cNvCxnSpPr>
          <p:nvPr/>
        </p:nvCxnSpPr>
        <p:spPr>
          <a:xfrm>
            <a:off x="2286000" y="5372845"/>
            <a:ext cx="19050" cy="1332755"/>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F608ED58-EA65-4CB1-ADA1-D4CB3274B11A}"/>
              </a:ext>
            </a:extLst>
          </p:cNvPr>
          <p:cNvSpPr txBox="1"/>
          <p:nvPr/>
        </p:nvSpPr>
        <p:spPr>
          <a:xfrm>
            <a:off x="2914650" y="6031353"/>
            <a:ext cx="476250" cy="307777"/>
          </a:xfrm>
          <a:prstGeom prst="rect">
            <a:avLst/>
          </a:prstGeom>
          <a:noFill/>
        </p:spPr>
        <p:txBody>
          <a:bodyPr wrap="square" rtlCol="0">
            <a:spAutoFit/>
          </a:bodyPr>
          <a:lstStyle/>
          <a:p>
            <a:r>
              <a:rPr lang="en-US" sz="1400" dirty="0"/>
              <a:t>-4</a:t>
            </a:r>
          </a:p>
        </p:txBody>
      </p:sp>
      <p:cxnSp>
        <p:nvCxnSpPr>
          <p:cNvPr id="77" name="Straight Connector 76">
            <a:extLst>
              <a:ext uri="{FF2B5EF4-FFF2-40B4-BE49-F238E27FC236}">
                <a16:creationId xmlns:a16="http://schemas.microsoft.com/office/drawing/2014/main" id="{DC3447A7-3ADB-4439-B4E0-7E8F8BDC2E7F}"/>
              </a:ext>
            </a:extLst>
          </p:cNvPr>
          <p:cNvCxnSpPr>
            <a:cxnSpLocks/>
          </p:cNvCxnSpPr>
          <p:nvPr/>
        </p:nvCxnSpPr>
        <p:spPr>
          <a:xfrm>
            <a:off x="2057399" y="4800600"/>
            <a:ext cx="19050" cy="1332755"/>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0BA1214A-89F2-4400-AEA3-F9A0D07EDB96}"/>
              </a:ext>
            </a:extLst>
          </p:cNvPr>
          <p:cNvCxnSpPr>
            <a:cxnSpLocks/>
          </p:cNvCxnSpPr>
          <p:nvPr/>
        </p:nvCxnSpPr>
        <p:spPr>
          <a:xfrm>
            <a:off x="1524000" y="5333999"/>
            <a:ext cx="19050" cy="1332755"/>
          </a:xfrm>
          <a:prstGeom prst="line">
            <a:avLst/>
          </a:prstGeom>
          <a:ln w="28575">
            <a:solidFill>
              <a:srgbClr val="0070C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F556507-E119-4D0F-99BC-AED585E4585D}"/>
              </a:ext>
            </a:extLst>
          </p:cNvPr>
          <p:cNvCxnSpPr>
            <a:cxnSpLocks/>
          </p:cNvCxnSpPr>
          <p:nvPr/>
        </p:nvCxnSpPr>
        <p:spPr>
          <a:xfrm>
            <a:off x="2068462" y="6081497"/>
            <a:ext cx="846188" cy="14503"/>
          </a:xfrm>
          <a:prstGeom prst="line">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AD18CD8-A8C5-46E1-AFF7-5A79EA4F0CE6}"/>
              </a:ext>
            </a:extLst>
          </p:cNvPr>
          <p:cNvCxnSpPr>
            <a:cxnSpLocks/>
          </p:cNvCxnSpPr>
          <p:nvPr/>
        </p:nvCxnSpPr>
        <p:spPr>
          <a:xfrm>
            <a:off x="1439812" y="6611919"/>
            <a:ext cx="941438" cy="34480"/>
          </a:xfrm>
          <a:prstGeom prst="line">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7589B280-DEC9-4483-BCFF-322A3DF09DAC}"/>
              </a:ext>
            </a:extLst>
          </p:cNvPr>
          <p:cNvCxnSpPr>
            <a:cxnSpLocks/>
          </p:cNvCxnSpPr>
          <p:nvPr/>
        </p:nvCxnSpPr>
        <p:spPr>
          <a:xfrm flipH="1">
            <a:off x="2305052" y="6051304"/>
            <a:ext cx="551679" cy="654296"/>
          </a:xfrm>
          <a:prstGeom prst="straightConnector1">
            <a:avLst/>
          </a:prstGeom>
          <a:ln w="28575">
            <a:solidFill>
              <a:srgbClr val="7030A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159D2F5F-BB91-4DB4-9EE2-8DC1826BC626}"/>
              </a:ext>
            </a:extLst>
          </p:cNvPr>
          <p:cNvCxnSpPr>
            <a:cxnSpLocks/>
          </p:cNvCxnSpPr>
          <p:nvPr/>
        </p:nvCxnSpPr>
        <p:spPr>
          <a:xfrm flipH="1">
            <a:off x="1562102" y="6105383"/>
            <a:ext cx="571498" cy="524017"/>
          </a:xfrm>
          <a:prstGeom prst="straightConnector1">
            <a:avLst/>
          </a:prstGeom>
          <a:ln w="28575">
            <a:solidFill>
              <a:srgbClr val="7030A0"/>
            </a:solidFill>
            <a:prstDash val="soli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018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5C3A8-9913-4308-9173-6DEDABF39B0D}"/>
              </a:ext>
            </a:extLst>
          </p:cNvPr>
          <p:cNvSpPr>
            <a:spLocks noGrp="1"/>
          </p:cNvSpPr>
          <p:nvPr>
            <p:ph type="title"/>
          </p:nvPr>
        </p:nvSpPr>
        <p:spPr/>
        <p:txBody>
          <a:bodyPr/>
          <a:lstStyle/>
          <a:p>
            <a:r>
              <a:rPr lang="en-PH" dirty="0"/>
              <a:t>Vectors in Space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B8D2D3-3DEF-4C9F-867D-3C8B07CDC880}"/>
                  </a:ext>
                </a:extLst>
              </p:cNvPr>
              <p:cNvSpPr>
                <a:spLocks noGrp="1"/>
              </p:cNvSpPr>
              <p:nvPr>
                <p:ph idx="1"/>
              </p:nvPr>
            </p:nvSpPr>
            <p:spPr/>
            <p:txBody>
              <a:bodyPr/>
              <a:lstStyle/>
              <a:p>
                <a:pPr marL="0" indent="0">
                  <a:buNone/>
                </a:pPr>
                <a:r>
                  <a:rPr lang="en-US" dirty="0"/>
                  <a:t>For a vector with initial point </a:t>
                </a:r>
                <a14:m>
                  <m:oMath xmlns:m="http://schemas.openxmlformats.org/officeDocument/2006/math">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e>
                    </m:d>
                  </m:oMath>
                </a14:m>
                <a:r>
                  <a:rPr lang="en-US" dirty="0"/>
                  <a:t> and terminal point </a:t>
                </a:r>
                <a14:m>
                  <m:oMath xmlns:m="http://schemas.openxmlformats.org/officeDocument/2006/math">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b="0" i="1" smtClean="0">
                                <a:latin typeface="Cambria Math" panose="02040503050406030204" pitchFamily="18" charset="0"/>
                              </a:rPr>
                              <m:t>2</m:t>
                            </m:r>
                          </m:sub>
                        </m:sSub>
                      </m:e>
                    </m:d>
                  </m:oMath>
                </a14:m>
                <a:r>
                  <a:rPr lang="en-US" dirty="0"/>
                  <a:t> the unique position vector </a:t>
                </a:r>
                <a:r>
                  <a:rPr lang="en-US" b="1" dirty="0"/>
                  <a:t>v</a:t>
                </a:r>
                <a:r>
                  <a:rPr lang="en-US" dirty="0"/>
                  <a:t> is:</a:t>
                </a:r>
              </a:p>
              <a:p>
                <a:pPr marL="0" indent="0" algn="ctr">
                  <a:buNone/>
                </a:pPr>
                <a14:m>
                  <m:oMathPara xmlns:m="http://schemas.openxmlformats.org/officeDocument/2006/math">
                    <m:oMathParaPr>
                      <m:jc m:val="centerGroup"/>
                    </m:oMathParaPr>
                    <m:oMath xmlns:m="http://schemas.openxmlformats.org/officeDocument/2006/math">
                      <m:acc>
                        <m:accPr>
                          <m:chr m:val="⃗"/>
                          <m:ctrlPr>
                            <a:rPr lang="en-US" b="1" i="1" smtClean="0">
                              <a:latin typeface="Cambria Math" panose="02040503050406030204" pitchFamily="18" charset="0"/>
                            </a:rPr>
                          </m:ctrlPr>
                        </m:accPr>
                        <m:e>
                          <m:r>
                            <a:rPr lang="en-US" b="1">
                              <a:latin typeface="Cambria Math" panose="02040503050406030204" pitchFamily="18" charset="0"/>
                            </a:rPr>
                            <m:t>𝐯</m:t>
                          </m:r>
                        </m:e>
                      </m:acc>
                      <m:r>
                        <a:rPr lang="en-US" b="1" i="1" smtClean="0">
                          <a:latin typeface="Cambria Math" panose="02040503050406030204" pitchFamily="18" charset="0"/>
                        </a:rPr>
                        <m:t>=</m:t>
                      </m:r>
                      <m:d>
                        <m:dPr>
                          <m:begChr m:val="["/>
                          <m:endChr m:val="]"/>
                          <m:ctrlPr>
                            <a:rPr lang="en-US" b="1"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e>
                      </m:d>
                      <m:r>
                        <a:rPr lang="en-US" b="0" i="0"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m:t>
                      </m:r>
                      <m:r>
                        <m:rPr>
                          <m:sty m:val="p"/>
                        </m:rPr>
                        <a:rPr lang="en-US" b="0" i="0" smtClean="0">
                          <a:latin typeface="Cambria Math" panose="02040503050406030204" pitchFamily="18" charset="0"/>
                        </a:rPr>
                        <m:t>b</m:t>
                      </m:r>
                      <m:r>
                        <a:rPr lang="en-US" b="0" i="0" smtClean="0">
                          <a:latin typeface="Cambria Math" panose="02040503050406030204" pitchFamily="18" charset="0"/>
                        </a:rPr>
                        <m:t>,</m:t>
                      </m:r>
                      <m:r>
                        <m:rPr>
                          <m:sty m:val="p"/>
                        </m:rPr>
                        <a:rPr lang="en-US" b="0" i="0" smtClean="0">
                          <a:latin typeface="Cambria Math" panose="02040503050406030204" pitchFamily="18" charset="0"/>
                        </a:rPr>
                        <m:t>c</m:t>
                      </m:r>
                      <m:r>
                        <a:rPr lang="en-US" b="0" i="0" smtClean="0">
                          <a:latin typeface="Cambria Math" panose="02040503050406030204" pitchFamily="18" charset="0"/>
                        </a:rPr>
                        <m:t>]</m:t>
                      </m:r>
                    </m:oMath>
                  </m:oMathPara>
                </a14:m>
                <a:endParaRPr lang="en-US" dirty="0"/>
              </a:p>
              <a:p>
                <a:pPr marL="0" indent="0" algn="ctr">
                  <a:buNone/>
                </a:pPr>
                <a:endParaRPr lang="en-US" dirty="0"/>
              </a:p>
              <a:p>
                <a:pPr marL="0" indent="0">
                  <a:buNone/>
                </a:pPr>
                <a:r>
                  <a:rPr lang="en-US" dirty="0"/>
                  <a:t>The magnitude or length of the vector </a:t>
                </a:r>
                <a:r>
                  <a:rPr lang="en-US" b="1" dirty="0"/>
                  <a:t>v</a:t>
                </a:r>
                <a:r>
                  <a:rPr lang="en-US" dirty="0"/>
                  <a:t> is given by</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e>
                      </m:d>
                      <m:r>
                        <a:rPr lang="en-US" b="1" i="1" smtClean="0">
                          <a:latin typeface="Cambria Math" panose="02040503050406030204" pitchFamily="18" charset="0"/>
                        </a:rPr>
                        <m:t>=</m:t>
                      </m:r>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e>
                      </m:rad>
                    </m:oMath>
                  </m:oMathPara>
                </a14:m>
                <a:endParaRPr lang="en-US" dirty="0"/>
              </a:p>
              <a:p>
                <a:pPr marL="0" indent="0">
                  <a:buNone/>
                </a:pPr>
                <a:endParaRPr lang="en-US" dirty="0"/>
              </a:p>
              <a:p>
                <a:pPr marL="0" indent="0">
                  <a:buNone/>
                </a:pPr>
                <a:r>
                  <a:rPr lang="en-US" dirty="0"/>
                  <a:t>The unit vector in the direction of </a:t>
                </a:r>
                <a:r>
                  <a:rPr lang="en-US" b="1" dirty="0"/>
                  <a:t>v </a:t>
                </a:r>
                <a:r>
                  <a:rPr lang="en-US" dirty="0"/>
                  <a:t>is computed using the formula: </a:t>
                </a:r>
              </a:p>
              <a:p>
                <a:pPr marL="0" indent="0">
                  <a:buNone/>
                </a:pPr>
                <a14:m>
                  <m:oMathPara xmlns:m="http://schemas.openxmlformats.org/officeDocument/2006/math">
                    <m:oMathParaPr>
                      <m:jc m:val="centerGroup"/>
                    </m:oMathParaPr>
                    <m:oMath xmlns:m="http://schemas.openxmlformats.org/officeDocument/2006/math">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𝐮</m:t>
                          </m:r>
                        </m:e>
                      </m:acc>
                      <m:r>
                        <a:rPr lang="en-US" b="1" i="1" smtClean="0">
                          <a:latin typeface="Cambria Math" panose="02040503050406030204" pitchFamily="18" charset="0"/>
                        </a:rPr>
                        <m:t>=</m:t>
                      </m:r>
                      <m:f>
                        <m:fPr>
                          <m:ctrlPr>
                            <a:rPr lang="en-US" b="1" i="1" smtClean="0">
                              <a:latin typeface="Cambria Math" panose="02040503050406030204" pitchFamily="18" charset="0"/>
                            </a:rPr>
                          </m:ctrlPr>
                        </m:fPr>
                        <m:num>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num>
                        <m:den>
                          <m:d>
                            <m:dPr>
                              <m:begChr m:val="‖"/>
                              <m:endChr m:val="‖"/>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e>
                          </m:d>
                        </m:den>
                      </m:f>
                      <m:r>
                        <a:rPr lang="en-US" b="1" i="1" smtClean="0">
                          <a:latin typeface="Cambria Math" panose="02040503050406030204" pitchFamily="18" charset="0"/>
                        </a:rPr>
                        <m:t>= </m:t>
                      </m:r>
                      <m:f>
                        <m:fPr>
                          <m:ctrlPr>
                            <a:rPr lang="en-US" b="1" i="1" smtClean="0">
                              <a:latin typeface="Cambria Math" panose="02040503050406030204" pitchFamily="18" charset="0"/>
                            </a:rPr>
                          </m:ctrlPr>
                        </m:fPr>
                        <m:num>
                          <m:r>
                            <a:rPr lang="en-US" b="1" i="1" smtClean="0">
                              <a:latin typeface="Cambria Math" panose="02040503050406030204" pitchFamily="18" charset="0"/>
                            </a:rPr>
                            <m:t>𝟏</m:t>
                          </m:r>
                        </m:num>
                        <m:den>
                          <m:d>
                            <m:dPr>
                              <m:begChr m:val="‖"/>
                              <m:endChr m:val="‖"/>
                              <m:ctrlPr>
                                <a:rPr lang="en-US" b="1" i="1" smtClean="0">
                                  <a:latin typeface="Cambria Math" panose="02040503050406030204" pitchFamily="18" charset="0"/>
                                </a:rPr>
                              </m:ctrlPr>
                            </m:dPr>
                            <m:e>
                              <m:acc>
                                <m:accPr>
                                  <m:chr m:val="⃗"/>
                                  <m:ctrlPr>
                                    <a:rPr lang="en-US" b="1" i="1" smtClean="0">
                                      <a:latin typeface="Cambria Math" panose="02040503050406030204" pitchFamily="18" charset="0"/>
                                    </a:rPr>
                                  </m:ctrlPr>
                                </m:accPr>
                                <m:e>
                                  <m:r>
                                    <a:rPr lang="en-US" b="1" i="0" smtClean="0">
                                      <a:latin typeface="Cambria Math" panose="02040503050406030204" pitchFamily="18" charset="0"/>
                                    </a:rPr>
                                    <m:t>𝐯</m:t>
                                  </m:r>
                                </m:e>
                              </m:acc>
                            </m:e>
                          </m:d>
                        </m:den>
                      </m:f>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m:t>
                      </m:r>
                      <m:acc>
                        <m:accPr>
                          <m:chr m:val="⃗"/>
                          <m:ctrlPr>
                            <a:rPr lang="en-US" b="1" i="1" smtClean="0">
                              <a:latin typeface="Cambria Math" panose="02040503050406030204" pitchFamily="18" charset="0"/>
                              <a:ea typeface="Cambria Math" panose="02040503050406030204" pitchFamily="18" charset="0"/>
                            </a:rPr>
                          </m:ctrlPr>
                        </m:accPr>
                        <m:e>
                          <m:r>
                            <a:rPr lang="en-US" b="1" i="0" smtClean="0">
                              <a:latin typeface="Cambria Math" panose="02040503050406030204" pitchFamily="18" charset="0"/>
                              <a:ea typeface="Cambria Math" panose="02040503050406030204" pitchFamily="18" charset="0"/>
                            </a:rPr>
                            <m:t>𝐯</m:t>
                          </m:r>
                        </m:e>
                      </m:acc>
                    </m:oMath>
                  </m:oMathPara>
                </a14:m>
                <a:endParaRPr lang="en-US" b="1"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34B8D2D3-3DEF-4C9F-867D-3C8B07CDC880}"/>
                  </a:ext>
                </a:extLst>
              </p:cNvPr>
              <p:cNvSpPr>
                <a:spLocks noGrp="1" noRot="1" noChangeAspect="1" noMove="1" noResize="1" noEditPoints="1" noAdjustHandles="1" noChangeArrowheads="1" noChangeShapeType="1" noTextEdit="1"/>
              </p:cNvSpPr>
              <p:nvPr>
                <p:ph idx="1"/>
              </p:nvPr>
            </p:nvSpPr>
            <p:spPr>
              <a:blipFill>
                <a:blip r:embed="rId2"/>
                <a:stretch>
                  <a:fillRect l="-1111" t="-875"/>
                </a:stretch>
              </a:blipFill>
            </p:spPr>
            <p:txBody>
              <a:bodyPr/>
              <a:lstStyle/>
              <a:p>
                <a:r>
                  <a:rPr lang="en-US">
                    <a:noFill/>
                  </a:rPr>
                  <a:t> </a:t>
                </a:r>
              </a:p>
            </p:txBody>
          </p:sp>
        </mc:Fallback>
      </mc:AlternateContent>
    </p:spTree>
    <p:extLst>
      <p:ext uri="{BB962C8B-B14F-4D97-AF65-F5344CB8AC3E}">
        <p14:creationId xmlns:p14="http://schemas.microsoft.com/office/powerpoint/2010/main" val="3265236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5C3A8-9913-4308-9173-6DEDABF39B0D}"/>
              </a:ext>
            </a:extLst>
          </p:cNvPr>
          <p:cNvSpPr>
            <a:spLocks noGrp="1"/>
          </p:cNvSpPr>
          <p:nvPr>
            <p:ph type="title"/>
          </p:nvPr>
        </p:nvSpPr>
        <p:spPr/>
        <p:txBody>
          <a:bodyPr/>
          <a:lstStyle/>
          <a:p>
            <a:r>
              <a:rPr lang="en-PH" dirty="0"/>
              <a:t>Vectors in Space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B8D2D3-3DEF-4C9F-867D-3C8B07CDC880}"/>
                  </a:ext>
                </a:extLst>
              </p:cNvPr>
              <p:cNvSpPr>
                <a:spLocks noGrp="1"/>
              </p:cNvSpPr>
              <p:nvPr>
                <p:ph idx="1"/>
              </p:nvPr>
            </p:nvSpPr>
            <p:spPr/>
            <p:txBody>
              <a:bodyPr/>
              <a:lstStyle/>
              <a:p>
                <a:pPr marL="0" indent="0">
                  <a:buNone/>
                </a:pPr>
                <a:r>
                  <a:rPr lang="en-US" dirty="0"/>
                  <a:t>A </a:t>
                </a:r>
                <a:r>
                  <a:rPr lang="en-US" b="1" i="1" dirty="0">
                    <a:solidFill>
                      <a:srgbClr val="0070C0"/>
                    </a:solidFill>
                  </a:rPr>
                  <a:t>unit vector</a:t>
                </a:r>
                <a:r>
                  <a:rPr lang="en-US" dirty="0"/>
                  <a:t> is a vector with magnitude 1.</a:t>
                </a:r>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𝑖</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1, 0, 0</m:t>
                          </m:r>
                        </m:e>
                      </m:d>
                    </m:oMath>
                  </m:oMathPara>
                </a14:m>
                <a:endParaRPr lang="en-US" b="0"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𝑗</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0, 1, 0</m:t>
                          </m:r>
                        </m:e>
                      </m:d>
                    </m:oMath>
                  </m:oMathPara>
                </a14:m>
                <a:endParaRPr lang="en-US" b="0"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𝑘</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0, 0, 1</m:t>
                          </m:r>
                        </m:e>
                      </m:d>
                    </m:oMath>
                  </m:oMathPara>
                </a14:m>
                <a:endParaRPr lang="en-US" b="0" dirty="0"/>
              </a:p>
              <a:p>
                <a:pPr marL="0" indent="0" algn="ctr">
                  <a:buNone/>
                </a:pPr>
                <a:endParaRPr lang="en-US" dirty="0"/>
              </a:p>
              <a:p>
                <a:pPr marL="0" indent="0">
                  <a:buNone/>
                </a:pPr>
                <a:r>
                  <a:rPr lang="en-US" b="0" dirty="0"/>
                  <a:t>With unit vectors </a:t>
                </a:r>
                <a:r>
                  <a:rPr lang="en-US" i="1" dirty="0"/>
                  <a:t> </a:t>
                </a:r>
                <a:r>
                  <a:rPr lang="en-US" i="1" dirty="0" err="1">
                    <a:solidFill>
                      <a:srgbClr val="0070C0"/>
                    </a:solidFill>
                  </a:rPr>
                  <a:t>i</a:t>
                </a:r>
                <a:r>
                  <a:rPr lang="en-US" i="1" dirty="0">
                    <a:solidFill>
                      <a:srgbClr val="0070C0"/>
                    </a:solidFill>
                  </a:rPr>
                  <a:t>,</a:t>
                </a:r>
                <a:r>
                  <a:rPr lang="en-US" b="0" i="1" dirty="0">
                    <a:solidFill>
                      <a:srgbClr val="0070C0"/>
                    </a:solidFill>
                  </a:rPr>
                  <a:t> j,</a:t>
                </a:r>
                <a:r>
                  <a:rPr lang="en-US" b="0" i="1" dirty="0"/>
                  <a:t> and </a:t>
                </a:r>
                <a:r>
                  <a:rPr lang="en-US" b="0" i="1" dirty="0">
                    <a:solidFill>
                      <a:srgbClr val="0070C0"/>
                    </a:solidFill>
                  </a:rPr>
                  <a:t>k</a:t>
                </a:r>
                <a:r>
                  <a:rPr lang="en-US" b="0" i="1" dirty="0"/>
                  <a:t> any vector in the form [a, b, c] can be expressed in the form  </a:t>
                </a:r>
                <a14:m>
                  <m:oMath xmlns:m="http://schemas.openxmlformats.org/officeDocument/2006/math">
                    <m:r>
                      <a:rPr lang="en-US" b="0" i="1" smtClean="0">
                        <a:solidFill>
                          <a:srgbClr val="0070C0"/>
                        </a:solidFill>
                        <a:latin typeface="Cambria Math" panose="02040503050406030204" pitchFamily="18" charset="0"/>
                      </a:rPr>
                      <m:t>𝑎𝑖</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𝑏𝑗</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𝑐𝑘</m:t>
                    </m:r>
                  </m:oMath>
                </a14:m>
                <a:r>
                  <a:rPr lang="en-US" b="0" i="1" dirty="0"/>
                  <a:t>, that is </a:t>
                </a:r>
              </a:p>
              <a:p>
                <a:pPr marL="0" indent="0">
                  <a:buNone/>
                </a:pPr>
                <a:endParaRPr lang="en-US" b="0" i="1"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1" i="0" smtClean="0">
                              <a:latin typeface="Cambria Math" panose="02040503050406030204" pitchFamily="18" charset="0"/>
                            </a:rPr>
                            <m:t>𝐯</m:t>
                          </m:r>
                        </m:e>
                      </m:ac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𝑏</m:t>
                          </m:r>
                          <m:r>
                            <a:rPr lang="en-US" b="0" i="1" smtClean="0">
                              <a:latin typeface="Cambria Math" panose="02040503050406030204" pitchFamily="18" charset="0"/>
                            </a:rPr>
                            <m:t>, </m:t>
                          </m:r>
                          <m:r>
                            <a:rPr lang="en-US" b="0" i="1" smtClean="0">
                              <a:latin typeface="Cambria Math" panose="02040503050406030204" pitchFamily="18" charset="0"/>
                            </a:rPr>
                            <m:t>𝑐</m:t>
                          </m:r>
                        </m:e>
                      </m:d>
                      <m:r>
                        <a:rPr lang="en-US" b="0" i="1" smtClean="0">
                          <a:latin typeface="Cambria Math" panose="02040503050406030204" pitchFamily="18" charset="0"/>
                        </a:rPr>
                        <m:t>=</m:t>
                      </m:r>
                      <m:r>
                        <a:rPr lang="en-US" b="0" i="1" smtClean="0">
                          <a:latin typeface="Cambria Math" panose="02040503050406030204" pitchFamily="18" charset="0"/>
                        </a:rPr>
                        <m:t>𝑎𝑖</m:t>
                      </m:r>
                      <m:r>
                        <a:rPr lang="en-US" b="0" i="1" smtClean="0">
                          <a:latin typeface="Cambria Math" panose="02040503050406030204" pitchFamily="18" charset="0"/>
                        </a:rPr>
                        <m:t>+</m:t>
                      </m:r>
                      <m:r>
                        <a:rPr lang="en-US" b="0" i="1" smtClean="0">
                          <a:latin typeface="Cambria Math" panose="02040503050406030204" pitchFamily="18" charset="0"/>
                        </a:rPr>
                        <m:t>𝑏𝑗</m:t>
                      </m:r>
                      <m:r>
                        <a:rPr lang="en-US" b="0" i="1" smtClean="0">
                          <a:latin typeface="Cambria Math" panose="02040503050406030204" pitchFamily="18" charset="0"/>
                        </a:rPr>
                        <m:t>+</m:t>
                      </m:r>
                      <m:r>
                        <a:rPr lang="en-US" b="0" i="1" smtClean="0">
                          <a:latin typeface="Cambria Math" panose="02040503050406030204" pitchFamily="18" charset="0"/>
                        </a:rPr>
                        <m:t>𝑐𝑘</m:t>
                      </m:r>
                    </m:oMath>
                  </m:oMathPara>
                </a14:m>
                <a:endParaRPr lang="en-US" b="0" i="1" dirty="0"/>
              </a:p>
              <a:p>
                <a:pPr marL="0" indent="0" algn="ctr">
                  <a:buNone/>
                </a:pPr>
                <a:endParaRPr lang="en-US"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34B8D2D3-3DEF-4C9F-867D-3C8B07CDC880}"/>
                  </a:ext>
                </a:extLst>
              </p:cNvPr>
              <p:cNvSpPr>
                <a:spLocks noGrp="1" noRot="1" noChangeAspect="1" noMove="1" noResize="1" noEditPoints="1" noAdjustHandles="1" noChangeArrowheads="1" noChangeShapeType="1" noTextEdit="1"/>
              </p:cNvSpPr>
              <p:nvPr>
                <p:ph idx="1"/>
              </p:nvPr>
            </p:nvSpPr>
            <p:spPr>
              <a:blipFill>
                <a:blip r:embed="rId2"/>
                <a:stretch>
                  <a:fillRect l="-1111" t="-875"/>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824E2486-8DA6-45F9-8F1A-BDD801071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1250" y="1600200"/>
            <a:ext cx="211455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149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60623-9ECB-43C3-B77F-F4D7E3963DD6}"/>
              </a:ext>
            </a:extLst>
          </p:cNvPr>
          <p:cNvSpPr>
            <a:spLocks noGrp="1"/>
          </p:cNvSpPr>
          <p:nvPr>
            <p:ph type="title"/>
          </p:nvPr>
        </p:nvSpPr>
        <p:spPr/>
        <p:txBody>
          <a:bodyPr/>
          <a:lstStyle/>
          <a:p>
            <a:r>
              <a:rPr lang="en-PH" dirty="0"/>
              <a:t>Vectors in Space</a:t>
            </a:r>
            <a:endParaRPr lang="en-US" dirty="0"/>
          </a:p>
        </p:txBody>
      </p:sp>
      <p:sp>
        <p:nvSpPr>
          <p:cNvPr id="3" name="Content Placeholder 2">
            <a:extLst>
              <a:ext uri="{FF2B5EF4-FFF2-40B4-BE49-F238E27FC236}">
                <a16:creationId xmlns:a16="http://schemas.microsoft.com/office/drawing/2014/main" id="{B6747747-6023-413D-B186-EAF20D303043}"/>
              </a:ext>
            </a:extLst>
          </p:cNvPr>
          <p:cNvSpPr>
            <a:spLocks noGrp="1"/>
          </p:cNvSpPr>
          <p:nvPr>
            <p:ph idx="1"/>
          </p:nvPr>
        </p:nvSpPr>
        <p:spPr/>
        <p:txBody>
          <a:bodyPr/>
          <a:lstStyle/>
          <a:p>
            <a:pPr marL="0" indent="0">
              <a:buNone/>
            </a:pPr>
            <a:r>
              <a:rPr lang="en-US" dirty="0"/>
              <a:t>Example: </a:t>
            </a:r>
          </a:p>
          <a:p>
            <a:pPr marL="0" indent="0">
              <a:buNone/>
            </a:pPr>
            <a:r>
              <a:rPr lang="en-US" dirty="0"/>
              <a:t>Given a vector in space with initial point (2, 3, -1) and terminal point at (0, 0, 2), determine each of the following:</a:t>
            </a:r>
          </a:p>
          <a:p>
            <a:pPr marL="0" indent="0">
              <a:buNone/>
            </a:pPr>
            <a:endParaRPr lang="en-US" dirty="0"/>
          </a:p>
          <a:p>
            <a:pPr marL="457200" indent="-457200">
              <a:buAutoNum type="alphaLcPeriod"/>
            </a:pPr>
            <a:r>
              <a:rPr lang="en-US" dirty="0"/>
              <a:t>The position vector; </a:t>
            </a:r>
          </a:p>
          <a:p>
            <a:pPr marL="457200" indent="-457200">
              <a:buAutoNum type="alphaLcPeriod"/>
            </a:pPr>
            <a:r>
              <a:rPr lang="en-US" dirty="0"/>
              <a:t> The vector as linear combination of </a:t>
            </a:r>
            <a:r>
              <a:rPr lang="en-US" i="1" dirty="0" err="1"/>
              <a:t>i</a:t>
            </a:r>
            <a:r>
              <a:rPr lang="en-US" i="1" dirty="0"/>
              <a:t>, j,</a:t>
            </a:r>
            <a:r>
              <a:rPr lang="en-US" dirty="0"/>
              <a:t> and </a:t>
            </a:r>
            <a:r>
              <a:rPr lang="en-US" i="1" dirty="0"/>
              <a:t>k;</a:t>
            </a:r>
          </a:p>
          <a:p>
            <a:pPr marL="457200" indent="-457200">
              <a:buAutoNum type="alphaLcPeriod"/>
            </a:pPr>
            <a:r>
              <a:rPr lang="en-US" dirty="0"/>
              <a:t>The magnitude or the length of the vector; and </a:t>
            </a:r>
          </a:p>
          <a:p>
            <a:pPr marL="457200" indent="-457200">
              <a:buAutoNum type="alphaLcPeriod"/>
            </a:pPr>
            <a:r>
              <a:rPr lang="en-US" dirty="0"/>
              <a:t>A unit vector in the same direction as the given vector.</a:t>
            </a:r>
          </a:p>
        </p:txBody>
      </p:sp>
    </p:spTree>
    <p:extLst>
      <p:ext uri="{BB962C8B-B14F-4D97-AF65-F5344CB8AC3E}">
        <p14:creationId xmlns:p14="http://schemas.microsoft.com/office/powerpoint/2010/main" val="1362264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60623-9ECB-43C3-B77F-F4D7E3963DD6}"/>
              </a:ext>
            </a:extLst>
          </p:cNvPr>
          <p:cNvSpPr>
            <a:spLocks noGrp="1"/>
          </p:cNvSpPr>
          <p:nvPr>
            <p:ph type="title"/>
          </p:nvPr>
        </p:nvSpPr>
        <p:spPr/>
        <p:txBody>
          <a:bodyPr/>
          <a:lstStyle/>
          <a:p>
            <a:r>
              <a:rPr lang="en-PH" dirty="0"/>
              <a:t>Vectors in Space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747747-6023-413D-B186-EAF20D303043}"/>
                  </a:ext>
                </a:extLst>
              </p:cNvPr>
              <p:cNvSpPr>
                <a:spLocks noGrp="1"/>
              </p:cNvSpPr>
              <p:nvPr>
                <p:ph idx="1"/>
              </p:nvPr>
            </p:nvSpPr>
            <p:spPr/>
            <p:txBody>
              <a:bodyPr>
                <a:normAutofit/>
              </a:bodyPr>
              <a:lstStyle/>
              <a:p>
                <a:pPr marL="0" indent="0">
                  <a:buNone/>
                </a:pPr>
                <a:r>
                  <a:rPr lang="en-US" sz="2000" i="1" dirty="0"/>
                  <a:t>Solution:</a:t>
                </a:r>
                <a:r>
                  <a:rPr lang="en-US" sz="2000" dirty="0"/>
                  <a:t> </a:t>
                </a:r>
              </a:p>
              <a:p>
                <a:pPr marL="0" indent="0">
                  <a:buNone/>
                </a:pPr>
                <a:r>
                  <a:rPr lang="en-US" sz="2000" dirty="0"/>
                  <a:t>Given: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1</m:t>
                        </m:r>
                      </m:sub>
                    </m:sSub>
                  </m:oMath>
                </a14:m>
                <a:r>
                  <a:rPr lang="en-US" sz="2000" dirty="0"/>
                  <a:t>(2, 3, -1)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2</m:t>
                        </m:r>
                      </m:sub>
                    </m:sSub>
                  </m:oMath>
                </a14:m>
                <a:r>
                  <a:rPr lang="en-US" sz="2000" dirty="0"/>
                  <a:t>(0, 0, 2)</a:t>
                </a:r>
              </a:p>
              <a:p>
                <a:pPr marL="0" indent="0">
                  <a:buNone/>
                </a:pPr>
                <a:endParaRPr lang="en-US" sz="2000" dirty="0"/>
              </a:p>
              <a:p>
                <a:pPr marL="457200" indent="-457200">
                  <a:buAutoNum type="alphaLcPeriod"/>
                </a:pPr>
                <a:r>
                  <a:rPr lang="en-US" sz="2000" dirty="0"/>
                  <a:t>The position vector:                                                                          </a:t>
                </a:r>
                <a14:m>
                  <m:oMath xmlns:m="http://schemas.openxmlformats.org/officeDocument/2006/math">
                    <m:acc>
                      <m:accPr>
                        <m:chr m:val="⃗"/>
                        <m:ctrlPr>
                          <a:rPr lang="en-US" sz="2000" i="1" smtClean="0">
                            <a:latin typeface="Cambria Math" panose="02040503050406030204" pitchFamily="18" charset="0"/>
                          </a:rPr>
                        </m:ctrlPr>
                      </m:accPr>
                      <m:e>
                        <m:r>
                          <m:rPr>
                            <m:sty m:val="p"/>
                          </m:rPr>
                          <a:rPr lang="en-US" sz="2000" b="0" i="0" smtClean="0">
                            <a:latin typeface="Cambria Math" panose="02040503050406030204" pitchFamily="18" charset="0"/>
                          </a:rPr>
                          <m:t>v</m:t>
                        </m:r>
                      </m:e>
                    </m:acc>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0−2, 0−3, 2−(−1)</m:t>
                        </m:r>
                      </m:e>
                    </m:d>
                    <m:r>
                      <a:rPr lang="en-US" sz="2000" b="0" i="1" smtClean="0">
                        <a:latin typeface="Cambria Math" panose="02040503050406030204" pitchFamily="18" charset="0"/>
                      </a:rPr>
                      <m:t>=</m:t>
                    </m:r>
                    <m:r>
                      <a:rPr lang="en-US" sz="2000" b="0" i="1" smtClean="0">
                        <a:solidFill>
                          <a:srgbClr val="0070C0"/>
                        </a:solidFill>
                        <a:latin typeface="Cambria Math" panose="02040503050406030204" pitchFamily="18" charset="0"/>
                      </a:rPr>
                      <m:t>[−2,−3,  3]</m:t>
                    </m:r>
                  </m:oMath>
                </a14:m>
                <a:endParaRPr lang="en-US" sz="2000" dirty="0"/>
              </a:p>
              <a:p>
                <a:pPr marL="457200" indent="-457200">
                  <a:buAutoNum type="alphaLcPeriod"/>
                </a:pPr>
                <a:endParaRPr lang="en-US" sz="2000" dirty="0"/>
              </a:p>
              <a:p>
                <a:pPr marL="457200" indent="-457200">
                  <a:buAutoNum type="alphaLcPeriod"/>
                </a:pPr>
                <a:r>
                  <a:rPr lang="en-US" sz="2000" dirty="0"/>
                  <a:t> The vector as linear combination of </a:t>
                </a:r>
                <a:r>
                  <a:rPr lang="en-US" sz="2000" i="1" dirty="0" err="1"/>
                  <a:t>i</a:t>
                </a:r>
                <a:r>
                  <a:rPr lang="en-US" sz="2000" i="1" dirty="0"/>
                  <a:t>, j,</a:t>
                </a:r>
                <a:r>
                  <a:rPr lang="en-US" sz="2000" dirty="0"/>
                  <a:t> and </a:t>
                </a:r>
                <a:r>
                  <a:rPr lang="en-US" sz="2000" i="1" dirty="0"/>
                  <a:t>k; </a:t>
                </a:r>
                <a14:m>
                  <m:oMath xmlns:m="http://schemas.openxmlformats.org/officeDocument/2006/math">
                    <m:r>
                      <a:rPr lang="en-US" sz="2000" b="0" i="1" smtClean="0">
                        <a:latin typeface="Cambria Math" panose="02040503050406030204" pitchFamily="18" charset="0"/>
                      </a:rPr>
                      <m:t>                                    </m:t>
                    </m:r>
                    <m:r>
                      <a:rPr lang="en-US" sz="2000" b="0" i="1" smtClean="0">
                        <a:latin typeface="Cambria Math" panose="02040503050406030204" pitchFamily="18" charset="0"/>
                      </a:rPr>
                      <m:t>𝑎𝑖</m:t>
                    </m:r>
                    <m:r>
                      <a:rPr lang="en-US" sz="2000" b="0" i="1" smtClean="0">
                        <a:latin typeface="Cambria Math" panose="02040503050406030204" pitchFamily="18" charset="0"/>
                      </a:rPr>
                      <m:t>+</m:t>
                    </m:r>
                    <m:r>
                      <a:rPr lang="en-US" sz="2000" b="0" i="1" smtClean="0">
                        <a:latin typeface="Cambria Math" panose="02040503050406030204" pitchFamily="18" charset="0"/>
                      </a:rPr>
                      <m:t>𝑏𝑗</m:t>
                    </m:r>
                    <m:r>
                      <a:rPr lang="en-US" sz="2000" b="0" i="1" smtClean="0">
                        <a:latin typeface="Cambria Math" panose="02040503050406030204" pitchFamily="18" charset="0"/>
                      </a:rPr>
                      <m:t>+</m:t>
                    </m:r>
                    <m:r>
                      <a:rPr lang="en-US" sz="2000" b="0" i="1" smtClean="0">
                        <a:latin typeface="Cambria Math" panose="02040503050406030204" pitchFamily="18" charset="0"/>
                      </a:rPr>
                      <m:t>𝑐𝑘</m:t>
                    </m:r>
                    <m:r>
                      <a:rPr lang="en-US" sz="2000" b="0" i="1" smtClean="0">
                        <a:latin typeface="Cambria Math" panose="02040503050406030204" pitchFamily="18" charset="0"/>
                      </a:rPr>
                      <m:t>=−2</m:t>
                    </m:r>
                    <m:r>
                      <a:rPr lang="en-US" sz="2000" b="0" i="1" smtClean="0">
                        <a:solidFill>
                          <a:srgbClr val="0070C0"/>
                        </a:solidFill>
                        <a:latin typeface="Cambria Math" panose="02040503050406030204" pitchFamily="18" charset="0"/>
                      </a:rPr>
                      <m:t>𝑖</m:t>
                    </m:r>
                    <m:r>
                      <a:rPr lang="en-US" sz="2000" b="0" i="1" smtClean="0">
                        <a:solidFill>
                          <a:srgbClr val="0070C0"/>
                        </a:solidFill>
                        <a:latin typeface="Cambria Math" panose="02040503050406030204" pitchFamily="18" charset="0"/>
                      </a:rPr>
                      <m:t>−3</m:t>
                    </m:r>
                    <m:r>
                      <a:rPr lang="en-US" sz="2000" b="0" i="1" smtClean="0">
                        <a:solidFill>
                          <a:srgbClr val="0070C0"/>
                        </a:solidFill>
                        <a:latin typeface="Cambria Math" panose="02040503050406030204" pitchFamily="18" charset="0"/>
                      </a:rPr>
                      <m:t>𝑗</m:t>
                    </m:r>
                    <m:r>
                      <a:rPr lang="en-US" sz="2000" b="0" i="1" smtClean="0">
                        <a:solidFill>
                          <a:srgbClr val="0070C0"/>
                        </a:solidFill>
                        <a:latin typeface="Cambria Math" panose="02040503050406030204" pitchFamily="18" charset="0"/>
                      </a:rPr>
                      <m:t>+3</m:t>
                    </m:r>
                    <m:r>
                      <a:rPr lang="en-US" sz="2000" b="0" i="1" smtClean="0">
                        <a:solidFill>
                          <a:srgbClr val="0070C0"/>
                        </a:solidFill>
                        <a:latin typeface="Cambria Math" panose="02040503050406030204" pitchFamily="18" charset="0"/>
                      </a:rPr>
                      <m:t>𝑘</m:t>
                    </m:r>
                  </m:oMath>
                </a14:m>
                <a:endParaRPr lang="en-US" sz="2000" i="1" dirty="0"/>
              </a:p>
              <a:p>
                <a:pPr marL="457200" indent="-457200">
                  <a:buAutoNum type="alphaLcPeriod"/>
                </a:pPr>
                <a:endParaRPr lang="en-US" sz="2000" i="1" dirty="0"/>
              </a:p>
              <a:p>
                <a:pPr marL="457200" indent="-457200">
                  <a:buAutoNum type="alphaLcPeriod"/>
                </a:pPr>
                <a:r>
                  <a:rPr lang="en-US" sz="2000" dirty="0"/>
                  <a:t>The magnitude or the length of the vector; and                            </a:t>
                </a:r>
                <a14:m>
                  <m:oMath xmlns:m="http://schemas.openxmlformats.org/officeDocument/2006/math">
                    <m:d>
                      <m:dPr>
                        <m:begChr m:val="‖"/>
                        <m:endChr m:val="‖"/>
                        <m:ctrlPr>
                          <a:rPr lang="en-US" sz="2000" i="1" smtClean="0">
                            <a:latin typeface="Cambria Math" panose="02040503050406030204" pitchFamily="18" charset="0"/>
                          </a:rPr>
                        </m:ctrlPr>
                      </m:dPr>
                      <m:e>
                        <m:r>
                          <a:rPr lang="en-US" sz="2000" b="1" i="0" smtClean="0">
                            <a:latin typeface="Cambria Math" panose="02040503050406030204" pitchFamily="18" charset="0"/>
                          </a:rPr>
                          <m:t>𝐯</m:t>
                        </m:r>
                      </m:e>
                    </m: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(−3)</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(3)</m:t>
                            </m:r>
                          </m:e>
                          <m:sup>
                            <m:r>
                              <a:rPr lang="en-US" sz="2000" b="0" i="1" smtClean="0">
                                <a:latin typeface="Cambria Math" panose="02040503050406030204" pitchFamily="18" charset="0"/>
                              </a:rPr>
                              <m:t>2</m:t>
                            </m:r>
                          </m:sup>
                        </m:sSup>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4+9+9</m:t>
                        </m:r>
                      </m:e>
                    </m:rad>
                    <m:r>
                      <a:rPr lang="en-US" sz="2000" b="0" i="1" smtClean="0">
                        <a:latin typeface="Cambria Math" panose="02040503050406030204" pitchFamily="18" charset="0"/>
                      </a:rPr>
                      <m:t>=</m:t>
                    </m:r>
                    <m:rad>
                      <m:radPr>
                        <m:degHide m:val="on"/>
                        <m:ctrlPr>
                          <a:rPr lang="en-US" sz="2000" b="0" i="1" smtClean="0">
                            <a:solidFill>
                              <a:srgbClr val="0070C0"/>
                            </a:solidFill>
                            <a:latin typeface="Cambria Math" panose="02040503050406030204" pitchFamily="18" charset="0"/>
                          </a:rPr>
                        </m:ctrlPr>
                      </m:radPr>
                      <m:deg/>
                      <m:e>
                        <m:r>
                          <a:rPr lang="en-US" sz="2000" b="0" i="1" smtClean="0">
                            <a:solidFill>
                              <a:srgbClr val="0070C0"/>
                            </a:solidFill>
                            <a:latin typeface="Cambria Math" panose="02040503050406030204" pitchFamily="18" charset="0"/>
                          </a:rPr>
                          <m:t>22</m:t>
                        </m:r>
                      </m:e>
                    </m:rad>
                  </m:oMath>
                </a14:m>
                <a:endParaRPr lang="en-US" sz="2000" dirty="0"/>
              </a:p>
            </p:txBody>
          </p:sp>
        </mc:Choice>
        <mc:Fallback xmlns="">
          <p:sp>
            <p:nvSpPr>
              <p:cNvPr id="3" name="Content Placeholder 2">
                <a:extLst>
                  <a:ext uri="{FF2B5EF4-FFF2-40B4-BE49-F238E27FC236}">
                    <a16:creationId xmlns:a16="http://schemas.microsoft.com/office/drawing/2014/main" id="{B6747747-6023-413D-B186-EAF20D303043}"/>
                  </a:ext>
                </a:extLst>
              </p:cNvPr>
              <p:cNvSpPr>
                <a:spLocks noGrp="1" noRot="1" noChangeAspect="1" noMove="1" noResize="1" noEditPoints="1" noAdjustHandles="1" noChangeArrowheads="1" noChangeShapeType="1" noTextEdit="1"/>
              </p:cNvSpPr>
              <p:nvPr>
                <p:ph idx="1"/>
              </p:nvPr>
            </p:nvSpPr>
            <p:spPr>
              <a:blipFill>
                <a:blip r:embed="rId3"/>
                <a:stretch>
                  <a:fillRect l="-741" t="-625"/>
                </a:stretch>
              </a:blipFill>
            </p:spPr>
            <p:txBody>
              <a:bodyPr/>
              <a:lstStyle/>
              <a:p>
                <a:r>
                  <a:rPr lang="en-PH">
                    <a:noFill/>
                  </a:rPr>
                  <a:t> </a:t>
                </a:r>
              </a:p>
            </p:txBody>
          </p:sp>
        </mc:Fallback>
      </mc:AlternateContent>
    </p:spTree>
    <p:extLst>
      <p:ext uri="{BB962C8B-B14F-4D97-AF65-F5344CB8AC3E}">
        <p14:creationId xmlns:p14="http://schemas.microsoft.com/office/powerpoint/2010/main" val="486554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60623-9ECB-43C3-B77F-F4D7E3963DD6}"/>
              </a:ext>
            </a:extLst>
          </p:cNvPr>
          <p:cNvSpPr>
            <a:spLocks noGrp="1"/>
          </p:cNvSpPr>
          <p:nvPr>
            <p:ph type="title"/>
          </p:nvPr>
        </p:nvSpPr>
        <p:spPr/>
        <p:txBody>
          <a:bodyPr/>
          <a:lstStyle/>
          <a:p>
            <a:r>
              <a:rPr lang="en-PH" dirty="0"/>
              <a:t>Vectors in Space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747747-6023-413D-B186-EAF20D303043}"/>
                  </a:ext>
                </a:extLst>
              </p:cNvPr>
              <p:cNvSpPr>
                <a:spLocks noGrp="1"/>
              </p:cNvSpPr>
              <p:nvPr>
                <p:ph idx="1"/>
              </p:nvPr>
            </p:nvSpPr>
            <p:spPr/>
            <p:txBody>
              <a:bodyPr>
                <a:normAutofit/>
              </a:bodyPr>
              <a:lstStyle/>
              <a:p>
                <a:pPr marL="457200" indent="-457200">
                  <a:buFont typeface="+mj-lt"/>
                  <a:buAutoNum type="alphaLcPeriod" startAt="4"/>
                </a:pPr>
                <a:r>
                  <a:rPr lang="en-US" sz="2000" dirty="0"/>
                  <a:t>A unit vector in the same direction as the given vector. </a:t>
                </a:r>
              </a:p>
              <a:p>
                <a:pPr marL="0" indent="0" algn="ctr">
                  <a:buNone/>
                </a:pPr>
                <a:r>
                  <a:rPr lang="en-US" sz="2000" dirty="0"/>
                  <a:t>     </a:t>
                </a:r>
                <a14:m>
                  <m:oMath xmlns:m="http://schemas.openxmlformats.org/officeDocument/2006/math">
                    <m:acc>
                      <m:accPr>
                        <m:chr m:val="⃗"/>
                        <m:ctrlPr>
                          <a:rPr lang="en-US" sz="2000" i="1" smtClean="0">
                            <a:latin typeface="Cambria Math" panose="02040503050406030204" pitchFamily="18" charset="0"/>
                          </a:rPr>
                        </m:ctrlPr>
                      </m:accPr>
                      <m:e>
                        <m:r>
                          <a:rPr lang="en-US" sz="2000" b="1" i="0" smtClean="0">
                            <a:latin typeface="Cambria Math" panose="02040503050406030204" pitchFamily="18" charset="0"/>
                          </a:rPr>
                          <m:t>𝐮</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d>
                          <m:dPr>
                            <m:begChr m:val="‖"/>
                            <m:endChr m:val="‖"/>
                            <m:ctrlPr>
                              <a:rPr lang="en-US" sz="2000" b="0" i="1" smtClean="0">
                                <a:latin typeface="Cambria Math" panose="02040503050406030204" pitchFamily="18" charset="0"/>
                              </a:rPr>
                            </m:ctrlPr>
                          </m:dPr>
                          <m:e>
                            <m:r>
                              <a:rPr lang="en-US" sz="2000" b="1" i="0" smtClean="0">
                                <a:latin typeface="Cambria Math" panose="02040503050406030204" pitchFamily="18" charset="0"/>
                              </a:rPr>
                              <m:t>𝐯</m:t>
                            </m:r>
                          </m:e>
                        </m:d>
                      </m:den>
                    </m:f>
                    <m:r>
                      <a:rPr lang="en-US" sz="2000" b="0" i="1" smtClean="0">
                        <a:latin typeface="Cambria Math" panose="02040503050406030204" pitchFamily="18" charset="0"/>
                        <a:ea typeface="Cambria Math" panose="02040503050406030204" pitchFamily="18" charset="0"/>
                      </a:rPr>
                      <m:t>∙</m:t>
                    </m:r>
                    <m:r>
                      <a:rPr lang="en-US" sz="2000" b="1" i="0" smtClean="0">
                        <a:latin typeface="Cambria Math" panose="02040503050406030204" pitchFamily="18" charset="0"/>
                        <a:ea typeface="Cambria Math" panose="02040503050406030204" pitchFamily="18" charset="0"/>
                      </a:rPr>
                      <m:t>𝐯</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22</m:t>
                            </m:r>
                          </m:e>
                        </m:rad>
                      </m:den>
                    </m:f>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−2,−3,  3</m:t>
                        </m:r>
                      </m:e>
                    </m:d>
                  </m:oMath>
                </a14:m>
                <a:endParaRPr lang="en-US" sz="2000" b="0" i="1" dirty="0">
                  <a:latin typeface="Cambria Math" panose="02040503050406030204" pitchFamily="18" charset="0"/>
                  <a:ea typeface="Cambria Math" panose="02040503050406030204" pitchFamily="18" charset="0"/>
                </a:endParaRPr>
              </a:p>
              <a:p>
                <a:pPr marL="0" indent="0" algn="ctr">
                  <a:buNone/>
                </a:pPr>
                <a:endParaRPr lang="en-US" sz="2000" b="0" i="1" dirty="0">
                  <a:latin typeface="Cambria Math" panose="02040503050406030204" pitchFamily="18" charset="0"/>
                  <a:ea typeface="Cambria Math" panose="02040503050406030204" pitchFamily="18" charset="0"/>
                </a:endParaRPr>
              </a:p>
              <a:p>
                <a:pPr marL="0" indent="0">
                  <a:buNone/>
                  <a:tabLst>
                    <a:tab pos="2576513" algn="l"/>
                  </a:tabLst>
                </a:pPr>
                <a14:m>
                  <m:oMathPara xmlns:m="http://schemas.openxmlformats.org/officeDocument/2006/math">
                    <m:oMathParaPr>
                      <m:jc m:val="centerGroup"/>
                    </m:oMathParaPr>
                    <m:oMath xmlns:m="http://schemas.openxmlformats.org/officeDocument/2006/math">
                      <m:acc>
                        <m:accPr>
                          <m:chr m:val="⃗"/>
                          <m:ctrlPr>
                            <a:rPr lang="en-US" sz="1800" b="0" i="1" smtClean="0">
                              <a:latin typeface="Cambria Math" panose="02040503050406030204" pitchFamily="18" charset="0"/>
                              <a:ea typeface="Cambria Math" panose="02040503050406030204" pitchFamily="18" charset="0"/>
                            </a:rPr>
                          </m:ctrlPr>
                        </m:accPr>
                        <m:e>
                          <m:r>
                            <a:rPr lang="en-US" sz="1800" b="1" i="0" smtClean="0">
                              <a:latin typeface="Cambria Math" panose="02040503050406030204" pitchFamily="18" charset="0"/>
                              <a:ea typeface="Cambria Math" panose="02040503050406030204" pitchFamily="18" charset="0"/>
                            </a:rPr>
                            <m:t>𝐮</m:t>
                          </m:r>
                        </m:e>
                      </m:acc>
                      <m:r>
                        <a:rPr lang="en-US" sz="1800" b="0" i="1" smtClean="0">
                          <a:latin typeface="Cambria Math" panose="02040503050406030204" pitchFamily="18" charset="0"/>
                          <a:ea typeface="Cambria Math" panose="02040503050406030204" pitchFamily="18" charset="0"/>
                        </a:rPr>
                        <m:t>=</m:t>
                      </m:r>
                      <m:d>
                        <m:dPr>
                          <m:begChr m:val="["/>
                          <m:endChr m:val="]"/>
                          <m:ctrlPr>
                            <a:rPr lang="en-US" sz="1800" b="0" i="1" smtClean="0">
                              <a:latin typeface="Cambria Math" panose="02040503050406030204" pitchFamily="18" charset="0"/>
                              <a:ea typeface="Cambria Math" panose="02040503050406030204" pitchFamily="18" charset="0"/>
                            </a:rPr>
                          </m:ctrlPr>
                        </m:dPr>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−2</m:t>
                              </m:r>
                            </m:num>
                            <m:den>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22</m:t>
                                  </m:r>
                                </m:e>
                              </m:rad>
                            </m:den>
                          </m:f>
                          <m:r>
                            <a:rPr lang="en-US" sz="1800" b="0" i="1" smtClean="0">
                              <a:latin typeface="Cambria Math" panose="02040503050406030204" pitchFamily="18" charset="0"/>
                              <a:ea typeface="Cambria Math" panose="02040503050406030204" pitchFamily="18" charset="0"/>
                            </a:rPr>
                            <m:t>, </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−3</m:t>
                              </m:r>
                            </m:num>
                            <m:den>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22</m:t>
                                  </m:r>
                                </m:e>
                              </m:rad>
                            </m:den>
                          </m:f>
                          <m:r>
                            <a:rPr lang="en-US" sz="1800" b="0" i="1" smtClean="0">
                              <a:latin typeface="Cambria Math" panose="02040503050406030204" pitchFamily="18" charset="0"/>
                              <a:ea typeface="Cambria Math" panose="02040503050406030204" pitchFamily="18" charset="0"/>
                            </a:rPr>
                            <m:t>, </m:t>
                          </m:r>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3</m:t>
                              </m:r>
                            </m:num>
                            <m:den>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22</m:t>
                                  </m:r>
                                </m:e>
                              </m:rad>
                            </m:den>
                          </m:f>
                        </m:e>
                      </m:d>
                      <m:r>
                        <a:rPr lang="en-US" sz="1800" b="0" i="1" smtClean="0">
                          <a:latin typeface="Cambria Math" panose="02040503050406030204" pitchFamily="18" charset="0"/>
                          <a:ea typeface="Cambria Math" panose="02040503050406030204" pitchFamily="18" charset="0"/>
                        </a:rPr>
                        <m:t>𝑜𝑟</m:t>
                      </m:r>
                      <m:r>
                        <a:rPr lang="en-US" sz="1800" b="0" i="1" smtClean="0">
                          <a:solidFill>
                            <a:srgbClr val="0070C0"/>
                          </a:solidFill>
                          <a:latin typeface="Cambria Math" panose="02040503050406030204" pitchFamily="18" charset="0"/>
                          <a:ea typeface="Cambria Math" panose="02040503050406030204" pitchFamily="18" charset="0"/>
                        </a:rPr>
                        <m:t> [</m:t>
                      </m:r>
                      <m:f>
                        <m:fPr>
                          <m:ctrlPr>
                            <a:rPr lang="en-US" sz="1800" b="0" i="1" smtClean="0">
                              <a:solidFill>
                                <a:srgbClr val="0070C0"/>
                              </a:solidFill>
                              <a:latin typeface="Cambria Math" panose="02040503050406030204" pitchFamily="18" charset="0"/>
                              <a:ea typeface="Cambria Math" panose="02040503050406030204" pitchFamily="18" charset="0"/>
                            </a:rPr>
                          </m:ctrlPr>
                        </m:fPr>
                        <m:num>
                          <m:r>
                            <a:rPr lang="en-US" sz="1800" b="0" i="1" smtClean="0">
                              <a:solidFill>
                                <a:srgbClr val="0070C0"/>
                              </a:solidFill>
                              <a:latin typeface="Cambria Math" panose="02040503050406030204" pitchFamily="18" charset="0"/>
                              <a:ea typeface="Cambria Math" panose="02040503050406030204" pitchFamily="18" charset="0"/>
                            </a:rPr>
                            <m:t>−</m:t>
                          </m:r>
                          <m:rad>
                            <m:radPr>
                              <m:degHide m:val="on"/>
                              <m:ctrlPr>
                                <a:rPr lang="en-US" sz="1800" b="0" i="1" smtClean="0">
                                  <a:solidFill>
                                    <a:srgbClr val="0070C0"/>
                                  </a:solidFill>
                                  <a:latin typeface="Cambria Math" panose="02040503050406030204" pitchFamily="18" charset="0"/>
                                  <a:ea typeface="Cambria Math" panose="02040503050406030204" pitchFamily="18" charset="0"/>
                                </a:rPr>
                              </m:ctrlPr>
                            </m:radPr>
                            <m:deg/>
                            <m:e>
                              <m:r>
                                <a:rPr lang="en-US" sz="1800" b="0" i="1" smtClean="0">
                                  <a:solidFill>
                                    <a:srgbClr val="0070C0"/>
                                  </a:solidFill>
                                  <a:latin typeface="Cambria Math" panose="02040503050406030204" pitchFamily="18" charset="0"/>
                                  <a:ea typeface="Cambria Math" panose="02040503050406030204" pitchFamily="18" charset="0"/>
                                </a:rPr>
                                <m:t>22</m:t>
                              </m:r>
                            </m:e>
                          </m:rad>
                        </m:num>
                        <m:den>
                          <m:r>
                            <a:rPr lang="en-US" sz="1800" b="0" i="1" smtClean="0">
                              <a:solidFill>
                                <a:srgbClr val="0070C0"/>
                              </a:solidFill>
                              <a:latin typeface="Cambria Math" panose="02040503050406030204" pitchFamily="18" charset="0"/>
                              <a:ea typeface="Cambria Math" panose="02040503050406030204" pitchFamily="18" charset="0"/>
                            </a:rPr>
                            <m:t>11</m:t>
                          </m:r>
                        </m:den>
                      </m:f>
                      <m:r>
                        <a:rPr lang="en-US" sz="1800" b="0" i="1" smtClean="0">
                          <a:solidFill>
                            <a:srgbClr val="0070C0"/>
                          </a:solidFill>
                          <a:latin typeface="Cambria Math" panose="02040503050406030204" pitchFamily="18" charset="0"/>
                          <a:ea typeface="Cambria Math" panose="02040503050406030204" pitchFamily="18" charset="0"/>
                        </a:rPr>
                        <m:t>,</m:t>
                      </m:r>
                      <m:f>
                        <m:fPr>
                          <m:ctrlPr>
                            <a:rPr lang="en-US" sz="1800" b="0" i="1" smtClean="0">
                              <a:solidFill>
                                <a:srgbClr val="0070C0"/>
                              </a:solidFill>
                              <a:latin typeface="Cambria Math" panose="02040503050406030204" pitchFamily="18" charset="0"/>
                              <a:ea typeface="Cambria Math" panose="02040503050406030204" pitchFamily="18" charset="0"/>
                            </a:rPr>
                          </m:ctrlPr>
                        </m:fPr>
                        <m:num>
                          <m:r>
                            <a:rPr lang="en-US" sz="1800" b="0" i="1" smtClean="0">
                              <a:solidFill>
                                <a:srgbClr val="0070C0"/>
                              </a:solidFill>
                              <a:latin typeface="Cambria Math" panose="02040503050406030204" pitchFamily="18" charset="0"/>
                              <a:ea typeface="Cambria Math" panose="02040503050406030204" pitchFamily="18" charset="0"/>
                            </a:rPr>
                            <m:t>−3</m:t>
                          </m:r>
                          <m:rad>
                            <m:radPr>
                              <m:degHide m:val="on"/>
                              <m:ctrlPr>
                                <a:rPr lang="en-US" sz="1800" b="0" i="1" smtClean="0">
                                  <a:solidFill>
                                    <a:srgbClr val="0070C0"/>
                                  </a:solidFill>
                                  <a:latin typeface="Cambria Math" panose="02040503050406030204" pitchFamily="18" charset="0"/>
                                  <a:ea typeface="Cambria Math" panose="02040503050406030204" pitchFamily="18" charset="0"/>
                                </a:rPr>
                              </m:ctrlPr>
                            </m:radPr>
                            <m:deg/>
                            <m:e>
                              <m:r>
                                <a:rPr lang="en-US" sz="1800" b="0" i="1" smtClean="0">
                                  <a:solidFill>
                                    <a:srgbClr val="0070C0"/>
                                  </a:solidFill>
                                  <a:latin typeface="Cambria Math" panose="02040503050406030204" pitchFamily="18" charset="0"/>
                                  <a:ea typeface="Cambria Math" panose="02040503050406030204" pitchFamily="18" charset="0"/>
                                </a:rPr>
                                <m:t>22</m:t>
                              </m:r>
                            </m:e>
                          </m:rad>
                        </m:num>
                        <m:den>
                          <m:r>
                            <a:rPr lang="en-US" sz="1800" b="0" i="1" smtClean="0">
                              <a:solidFill>
                                <a:srgbClr val="0070C0"/>
                              </a:solidFill>
                              <a:latin typeface="Cambria Math" panose="02040503050406030204" pitchFamily="18" charset="0"/>
                              <a:ea typeface="Cambria Math" panose="02040503050406030204" pitchFamily="18" charset="0"/>
                            </a:rPr>
                            <m:t>22</m:t>
                          </m:r>
                        </m:den>
                      </m:f>
                      <m:r>
                        <a:rPr lang="en-US" sz="1800" b="0" i="1" smtClean="0">
                          <a:solidFill>
                            <a:srgbClr val="0070C0"/>
                          </a:solidFill>
                          <a:latin typeface="Cambria Math" panose="02040503050406030204" pitchFamily="18" charset="0"/>
                          <a:ea typeface="Cambria Math" panose="02040503050406030204" pitchFamily="18" charset="0"/>
                        </a:rPr>
                        <m:t>, </m:t>
                      </m:r>
                      <m:f>
                        <m:fPr>
                          <m:ctrlPr>
                            <a:rPr lang="en-US" sz="1800" b="0" i="1" smtClean="0">
                              <a:solidFill>
                                <a:srgbClr val="0070C0"/>
                              </a:solidFill>
                              <a:latin typeface="Cambria Math" panose="02040503050406030204" pitchFamily="18" charset="0"/>
                              <a:ea typeface="Cambria Math" panose="02040503050406030204" pitchFamily="18" charset="0"/>
                            </a:rPr>
                          </m:ctrlPr>
                        </m:fPr>
                        <m:num>
                          <m:r>
                            <a:rPr lang="en-US" sz="1800" b="0" i="1" smtClean="0">
                              <a:solidFill>
                                <a:srgbClr val="0070C0"/>
                              </a:solidFill>
                              <a:latin typeface="Cambria Math" panose="02040503050406030204" pitchFamily="18" charset="0"/>
                              <a:ea typeface="Cambria Math" panose="02040503050406030204" pitchFamily="18" charset="0"/>
                            </a:rPr>
                            <m:t>3</m:t>
                          </m:r>
                          <m:rad>
                            <m:radPr>
                              <m:degHide m:val="on"/>
                              <m:ctrlPr>
                                <a:rPr lang="en-US" sz="1800" b="0" i="1" smtClean="0">
                                  <a:solidFill>
                                    <a:srgbClr val="0070C0"/>
                                  </a:solidFill>
                                  <a:latin typeface="Cambria Math" panose="02040503050406030204" pitchFamily="18" charset="0"/>
                                  <a:ea typeface="Cambria Math" panose="02040503050406030204" pitchFamily="18" charset="0"/>
                                </a:rPr>
                              </m:ctrlPr>
                            </m:radPr>
                            <m:deg/>
                            <m:e>
                              <m:r>
                                <a:rPr lang="en-US" sz="1800" b="0" i="1" smtClean="0">
                                  <a:solidFill>
                                    <a:srgbClr val="0070C0"/>
                                  </a:solidFill>
                                  <a:latin typeface="Cambria Math" panose="02040503050406030204" pitchFamily="18" charset="0"/>
                                  <a:ea typeface="Cambria Math" panose="02040503050406030204" pitchFamily="18" charset="0"/>
                                </a:rPr>
                                <m:t>22</m:t>
                              </m:r>
                            </m:e>
                          </m:rad>
                        </m:num>
                        <m:den>
                          <m:r>
                            <a:rPr lang="en-US" sz="1800" b="0" i="1" smtClean="0">
                              <a:solidFill>
                                <a:srgbClr val="0070C0"/>
                              </a:solidFill>
                              <a:latin typeface="Cambria Math" panose="02040503050406030204" pitchFamily="18" charset="0"/>
                              <a:ea typeface="Cambria Math" panose="02040503050406030204" pitchFamily="18" charset="0"/>
                            </a:rPr>
                            <m:t>22</m:t>
                          </m:r>
                        </m:den>
                      </m:f>
                      <m:r>
                        <a:rPr lang="en-US" sz="1800" b="0" i="1" smtClean="0">
                          <a:solidFill>
                            <a:srgbClr val="0070C0"/>
                          </a:solidFill>
                          <a:latin typeface="Cambria Math" panose="02040503050406030204" pitchFamily="18" charset="0"/>
                          <a:ea typeface="Cambria Math" panose="02040503050406030204" pitchFamily="18" charset="0"/>
                        </a:rPr>
                        <m:t>]</m:t>
                      </m:r>
                    </m:oMath>
                  </m:oMathPara>
                </a14:m>
                <a:endParaRPr lang="en-US" sz="2000" dirty="0"/>
              </a:p>
              <a:p>
                <a:pPr marL="0" indent="0">
                  <a:buNone/>
                  <a:tabLst>
                    <a:tab pos="2576513" algn="l"/>
                  </a:tabLst>
                </a:pPr>
                <a:endParaRPr lang="en-US" sz="2000" dirty="0"/>
              </a:p>
              <a:p>
                <a:pPr marL="0" indent="0">
                  <a:buNone/>
                  <a:tabLst>
                    <a:tab pos="2576513" algn="l"/>
                  </a:tabLst>
                </a:pPr>
                <a:r>
                  <a:rPr lang="en-US" sz="2000" dirty="0"/>
                  <a:t> </a:t>
                </a:r>
                <a14:m>
                  <m:oMath xmlns:m="http://schemas.openxmlformats.org/officeDocument/2006/math">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−2</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22</m:t>
                            </m:r>
                          </m:e>
                        </m:rad>
                      </m:den>
                    </m:f>
                  </m:oMath>
                </a14:m>
                <a:r>
                  <a:rPr lang="en-US" sz="2000" dirty="0"/>
                  <a:t> X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den>
                    </m:f>
                  </m:oMath>
                </a14:m>
                <a:r>
                  <a:rPr lang="en-US" sz="2000" dirty="0"/>
                  <a:t> =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−2</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ad>
                          <m:radPr>
                            <m:degHide m:val="on"/>
                            <m:ctrlPr>
                              <a:rPr lang="en-US" sz="2000" i="1">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484</m:t>
                            </m:r>
                          </m:e>
                        </m:rad>
                      </m:den>
                    </m:f>
                  </m:oMath>
                </a14:m>
                <a:r>
                  <a:rPr lang="en-US" sz="2000" dirty="0"/>
                  <a:t> =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−2</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
                          <a:rPr lang="en-US" sz="2000" b="0" i="1" smtClean="0">
                            <a:latin typeface="Cambria Math" panose="02040503050406030204" pitchFamily="18" charset="0"/>
                            <a:ea typeface="Cambria Math" panose="02040503050406030204" pitchFamily="18" charset="0"/>
                          </a:rPr>
                          <m:t>22</m:t>
                        </m:r>
                      </m:den>
                    </m:f>
                    <m:r>
                      <a:rPr lang="en-US" sz="2000" b="0" i="1" smtClean="0">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
                          <a:rPr lang="en-US" sz="2000" b="0" i="1" smtClean="0">
                            <a:latin typeface="Cambria Math" panose="02040503050406030204" pitchFamily="18" charset="0"/>
                            <a:ea typeface="Cambria Math" panose="02040503050406030204" pitchFamily="18" charset="0"/>
                          </a:rPr>
                          <m:t>11</m:t>
                        </m:r>
                      </m:den>
                    </m:f>
                  </m:oMath>
                </a14:m>
                <a:endParaRPr lang="en-US" sz="2000" dirty="0"/>
              </a:p>
              <a:p>
                <a:pPr marL="0" indent="0">
                  <a:buNone/>
                  <a:tabLst>
                    <a:tab pos="2576513" algn="l"/>
                  </a:tabLst>
                </a:pPr>
                <a:endParaRPr lang="en-US" sz="2000" dirty="0"/>
              </a:p>
              <a:p>
                <a:pPr marL="0" indent="0">
                  <a:buNone/>
                  <a:tabLst>
                    <a:tab pos="2576513" algn="l"/>
                  </a:tabLst>
                </a:pP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num>
                      <m:den>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den>
                    </m:f>
                  </m:oMath>
                </a14:m>
                <a:r>
                  <a:rPr lang="en-US" sz="2000" dirty="0"/>
                  <a:t> X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den>
                    </m:f>
                  </m:oMath>
                </a14:m>
                <a:r>
                  <a:rPr lang="en-US" sz="2000" dirty="0"/>
                  <a:t> =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484</m:t>
                            </m:r>
                          </m:e>
                        </m:rad>
                      </m:den>
                    </m:f>
                  </m:oMath>
                </a14:m>
                <a:r>
                  <a:rPr lang="en-US" sz="2000" dirty="0"/>
                  <a:t> =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
                          <a:rPr lang="en-US" sz="2000" i="1">
                            <a:latin typeface="Cambria Math" panose="02040503050406030204" pitchFamily="18" charset="0"/>
                            <a:ea typeface="Cambria Math" panose="02040503050406030204" pitchFamily="18" charset="0"/>
                          </a:rPr>
                          <m:t>22</m:t>
                        </m:r>
                      </m:den>
                    </m:f>
                    <m:r>
                      <a:rPr lang="en-US" sz="2000" i="1">
                        <a:latin typeface="Cambria Math" panose="02040503050406030204" pitchFamily="18" charset="0"/>
                        <a:ea typeface="Cambria Math" panose="02040503050406030204" pitchFamily="18" charset="0"/>
                      </a:rPr>
                      <m:t>= </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22</m:t>
                            </m:r>
                          </m:e>
                        </m:rad>
                      </m:num>
                      <m:den>
                        <m:r>
                          <a:rPr lang="en-US" sz="2000" b="0" i="1" smtClean="0">
                            <a:latin typeface="Cambria Math" panose="02040503050406030204" pitchFamily="18" charset="0"/>
                            <a:ea typeface="Cambria Math" panose="02040503050406030204" pitchFamily="18" charset="0"/>
                          </a:rPr>
                          <m:t>22</m:t>
                        </m:r>
                      </m:den>
                    </m:f>
                  </m:oMath>
                </a14:m>
                <a:endParaRPr lang="en-US" sz="2000" dirty="0"/>
              </a:p>
            </p:txBody>
          </p:sp>
        </mc:Choice>
        <mc:Fallback xmlns="">
          <p:sp>
            <p:nvSpPr>
              <p:cNvPr id="3" name="Content Placeholder 2">
                <a:extLst>
                  <a:ext uri="{FF2B5EF4-FFF2-40B4-BE49-F238E27FC236}">
                    <a16:creationId xmlns:a16="http://schemas.microsoft.com/office/drawing/2014/main" id="{B6747747-6023-413D-B186-EAF20D303043}"/>
                  </a:ext>
                </a:extLst>
              </p:cNvPr>
              <p:cNvSpPr>
                <a:spLocks noGrp="1" noRot="1" noChangeAspect="1" noMove="1" noResize="1" noEditPoints="1" noAdjustHandles="1" noChangeArrowheads="1" noChangeShapeType="1" noTextEdit="1"/>
              </p:cNvSpPr>
              <p:nvPr>
                <p:ph idx="1"/>
              </p:nvPr>
            </p:nvSpPr>
            <p:spPr>
              <a:blipFill>
                <a:blip r:embed="rId3"/>
                <a:stretch>
                  <a:fillRect l="-370" t="-625"/>
                </a:stretch>
              </a:blipFill>
            </p:spPr>
            <p:txBody>
              <a:bodyPr/>
              <a:lstStyle/>
              <a:p>
                <a:r>
                  <a:rPr lang="en-PH">
                    <a:noFill/>
                  </a:rPr>
                  <a:t> </a:t>
                </a:r>
              </a:p>
            </p:txBody>
          </p:sp>
        </mc:Fallback>
      </mc:AlternateContent>
    </p:spTree>
    <p:extLst>
      <p:ext uri="{BB962C8B-B14F-4D97-AF65-F5344CB8AC3E}">
        <p14:creationId xmlns:p14="http://schemas.microsoft.com/office/powerpoint/2010/main" val="4080826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600200"/>
                <a:ext cx="8229600" cy="4876800"/>
              </a:xfrm>
            </p:spPr>
            <p:txBody>
              <a:bodyPr>
                <a:normAutofit/>
              </a:bodyPr>
              <a:lstStyle/>
              <a:p>
                <a:pPr marL="0" indent="0">
                  <a:buNone/>
                </a:pPr>
                <a:r>
                  <a:rPr lang="en-PH" sz="2000" dirty="0"/>
                  <a:t>	If </a:t>
                </a:r>
                <a14:m>
                  <m:oMath xmlns:m="http://schemas.openxmlformats.org/officeDocument/2006/math">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sSub>
                                <m:sSubPr>
                                  <m:ctrlPr>
                                    <a:rPr lang="en-PH" sz="2000" i="1" smtClean="0">
                                      <a:latin typeface="Cambria Math" panose="02040503050406030204" pitchFamily="18" charset="0"/>
                                    </a:rPr>
                                  </m:ctrlPr>
                                </m:sSubPr>
                                <m:e>
                                  <m:r>
                                    <a:rPr lang="en-PH" sz="2000" b="0" i="1" smtClean="0">
                                      <a:latin typeface="Cambria Math"/>
                                    </a:rPr>
                                    <m:t>𝑢</m:t>
                                  </m:r>
                                </m:e>
                                <m:sub>
                                  <m:r>
                                    <a:rPr lang="en-PH" sz="2000" b="0" i="1" smtClean="0">
                                      <a:latin typeface="Cambria Math"/>
                                    </a:rPr>
                                    <m:t>1</m:t>
                                  </m:r>
                                </m:sub>
                              </m:sSub>
                            </m:e>
                          </m:mr>
                          <m:mr>
                            <m:e>
                              <m:sSub>
                                <m:sSubPr>
                                  <m:ctrlPr>
                                    <a:rPr lang="en-PH" sz="2000" i="1" smtClean="0">
                                      <a:latin typeface="Cambria Math" panose="02040503050406030204" pitchFamily="18" charset="0"/>
                                    </a:rPr>
                                  </m:ctrlPr>
                                </m:sSubPr>
                                <m:e>
                                  <m:r>
                                    <a:rPr lang="en-PH" sz="2000" b="0" i="1" smtClean="0">
                                      <a:latin typeface="Cambria Math"/>
                                    </a:rPr>
                                    <m:t>𝑢</m:t>
                                  </m:r>
                                </m:e>
                                <m:sub>
                                  <m:r>
                                    <a:rPr lang="en-PH" sz="2000" b="0" i="1" smtClean="0">
                                      <a:latin typeface="Cambria Math"/>
                                    </a:rPr>
                                    <m:t>2</m:t>
                                  </m:r>
                                </m:sub>
                              </m:sSub>
                            </m:e>
                          </m:mr>
                          <m:mr>
                            <m:e>
                              <m:sSub>
                                <m:sSubPr>
                                  <m:ctrlPr>
                                    <a:rPr lang="en-PH" sz="2000" i="1" smtClean="0">
                                      <a:latin typeface="Cambria Math" panose="02040503050406030204" pitchFamily="18" charset="0"/>
                                    </a:rPr>
                                  </m:ctrlPr>
                                </m:sSubPr>
                                <m:e>
                                  <m:r>
                                    <a:rPr lang="en-PH" sz="2000" b="0" i="1" smtClean="0">
                                      <a:latin typeface="Cambria Math"/>
                                    </a:rPr>
                                    <m:t>𝑢</m:t>
                                  </m:r>
                                </m:e>
                                <m:sub>
                                  <m:r>
                                    <a:rPr lang="en-PH" sz="2000" b="0" i="1" smtClean="0">
                                      <a:latin typeface="Cambria Math"/>
                                    </a:rPr>
                                    <m:t>3</m:t>
                                  </m:r>
                                </m:sub>
                              </m:sSub>
                            </m:e>
                          </m:mr>
                        </m:m>
                      </m:e>
                    </m:d>
                    <m:r>
                      <a:rPr lang="en-PH" sz="2000" b="0" i="1" smtClean="0">
                        <a:latin typeface="Cambria Math"/>
                      </a:rPr>
                      <m:t>  </m:t>
                    </m:r>
                  </m:oMath>
                </a14:m>
                <a:r>
                  <a:rPr lang="en-PH" sz="2000" dirty="0"/>
                  <a:t> and </a:t>
                </a:r>
                <a14:m>
                  <m:oMath xmlns:m="http://schemas.openxmlformats.org/officeDocument/2006/math">
                    <m:r>
                      <a:rPr lang="en-PH" sz="2000" b="0" i="0" smtClean="0">
                        <a:latin typeface="Cambria Math"/>
                      </a:rPr>
                      <m:t>  </m:t>
                    </m:r>
                    <m:r>
                      <a:rPr lang="en-PH" sz="2000" b="1" i="0" smtClean="0">
                        <a:latin typeface="Cambria Math"/>
                      </a:rPr>
                      <m:t>𝐯</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b="0" i="1" smtClean="0">
                                      <a:latin typeface="Cambria Math"/>
                                    </a:rPr>
                                    <m:t>𝑣</m:t>
                                  </m:r>
                                </m:e>
                                <m:sub>
                                  <m:r>
                                    <a:rPr lang="en-PH" sz="2000" i="1">
                                      <a:latin typeface="Cambria Math"/>
                                    </a:rPr>
                                    <m:t>1</m:t>
                                  </m:r>
                                </m:sub>
                              </m:sSub>
                            </m:e>
                          </m:mr>
                          <m:mr>
                            <m:e>
                              <m:sSub>
                                <m:sSubPr>
                                  <m:ctrlPr>
                                    <a:rPr lang="en-PH" sz="2000" i="1">
                                      <a:latin typeface="Cambria Math" panose="02040503050406030204" pitchFamily="18" charset="0"/>
                                    </a:rPr>
                                  </m:ctrlPr>
                                </m:sSubPr>
                                <m:e>
                                  <m:r>
                                    <a:rPr lang="en-PH" sz="2000" b="0" i="1" smtClean="0">
                                      <a:latin typeface="Cambria Math"/>
                                    </a:rPr>
                                    <m:t>𝑣</m:t>
                                  </m:r>
                                </m:e>
                                <m:sub>
                                  <m:r>
                                    <a:rPr lang="en-PH" sz="2000" i="1">
                                      <a:latin typeface="Cambria Math"/>
                                    </a:rPr>
                                    <m:t>2</m:t>
                                  </m:r>
                                </m:sub>
                              </m:sSub>
                            </m:e>
                          </m:mr>
                          <m:mr>
                            <m:e>
                              <m:sSub>
                                <m:sSubPr>
                                  <m:ctrlPr>
                                    <a:rPr lang="en-PH" sz="2000" i="1">
                                      <a:latin typeface="Cambria Math" panose="02040503050406030204" pitchFamily="18" charset="0"/>
                                    </a:rPr>
                                  </m:ctrlPr>
                                </m:sSubPr>
                                <m:e>
                                  <m:r>
                                    <a:rPr lang="en-PH" sz="2000" b="0" i="1" smtClean="0">
                                      <a:latin typeface="Cambria Math"/>
                                    </a:rPr>
                                    <m:t>𝑣</m:t>
                                  </m:r>
                                </m:e>
                                <m:sub>
                                  <m:r>
                                    <a:rPr lang="en-PH" sz="2000" i="1">
                                      <a:latin typeface="Cambria Math"/>
                                    </a:rPr>
                                    <m:t>3</m:t>
                                  </m:r>
                                </m:sub>
                              </m:sSub>
                            </m:e>
                          </m:mr>
                        </m:m>
                      </m:e>
                    </m:d>
                  </m:oMath>
                </a14:m>
                <a:r>
                  <a:rPr lang="en-PH" sz="2000" dirty="0"/>
                  <a:t>   are vectors in </a:t>
                </a:r>
                <a14:m>
                  <m:oMath xmlns:m="http://schemas.openxmlformats.org/officeDocument/2006/math">
                    <m:sSup>
                      <m:sSupPr>
                        <m:ctrlPr>
                          <a:rPr lang="en-PH" sz="2000" i="1" smtClean="0">
                            <a:latin typeface="Cambria Math" panose="02040503050406030204" pitchFamily="18" charset="0"/>
                          </a:rPr>
                        </m:ctrlPr>
                      </m:sSupPr>
                      <m:e>
                        <m:r>
                          <a:rPr lang="en-PH" sz="2000" b="0" i="1" smtClean="0">
                            <a:latin typeface="Cambria Math"/>
                          </a:rPr>
                          <m:t>𝑅</m:t>
                        </m:r>
                      </m:e>
                      <m:sup>
                        <m:r>
                          <a:rPr lang="en-PH" sz="2000" b="0" i="1" smtClean="0">
                            <a:latin typeface="Cambria Math"/>
                          </a:rPr>
                          <m:t>3</m:t>
                        </m:r>
                      </m:sup>
                    </m:sSup>
                  </m:oMath>
                </a14:m>
                <a:r>
                  <a:rPr lang="en-PH" sz="2000" dirty="0"/>
                  <a:t> and </a:t>
                </a:r>
                <a:r>
                  <a:rPr lang="en-PH" sz="2000" i="1" dirty="0"/>
                  <a:t>c</a:t>
                </a:r>
                <a:r>
                  <a:rPr lang="en-PH" sz="2000" dirty="0"/>
                  <a:t> is a scalar, </a:t>
                </a:r>
              </a:p>
              <a:p>
                <a:pPr marL="0" indent="0">
                  <a:buNone/>
                </a:pPr>
                <a:endParaRPr lang="en-PH" sz="2000"/>
              </a:p>
              <a:p>
                <a:pPr marL="0" indent="0">
                  <a:buNone/>
                </a:pPr>
                <a:r>
                  <a:rPr lang="en-PH" sz="2000"/>
                  <a:t>then </a:t>
                </a:r>
                <a:r>
                  <a:rPr lang="en-PH" sz="2000" dirty="0"/>
                  <a:t>the sum  </a:t>
                </a:r>
                <a:r>
                  <a:rPr lang="en-PH" sz="2000" b="1" dirty="0"/>
                  <a:t>u</a:t>
                </a:r>
                <a:r>
                  <a:rPr lang="en-PH" sz="2000" dirty="0"/>
                  <a:t> + </a:t>
                </a:r>
                <a:r>
                  <a:rPr lang="en-PH" sz="2000" b="1" dirty="0"/>
                  <a:t>v </a:t>
                </a:r>
                <a:r>
                  <a:rPr lang="en-PH" sz="2000" dirty="0"/>
                  <a:t> and the scalar multiplication </a:t>
                </a:r>
                <a:r>
                  <a:rPr lang="en-PH" sz="2000" i="1" dirty="0"/>
                  <a:t>c</a:t>
                </a:r>
                <a:r>
                  <a:rPr lang="en-PH" sz="2000" b="1" dirty="0"/>
                  <a:t>u </a:t>
                </a:r>
                <a:r>
                  <a:rPr lang="en-PH" sz="2000" dirty="0"/>
                  <a:t>are defined, respectively as </a:t>
                </a:r>
              </a:p>
              <a:p>
                <a:pPr marL="0" indent="0">
                  <a:buNone/>
                </a:pPr>
                <a:endParaRPr lang="en-PH" sz="2000" b="1" dirty="0"/>
              </a:p>
              <a:p>
                <a:pPr marL="0" indent="0">
                  <a:buNone/>
                </a:pPr>
                <a:r>
                  <a:rPr lang="en-PH" sz="2000" b="1" dirty="0"/>
                  <a:t>	 </a:t>
                </a:r>
                <a14:m>
                  <m:oMath xmlns:m="http://schemas.openxmlformats.org/officeDocument/2006/math">
                    <m:r>
                      <a:rPr lang="en-PH" sz="2000" b="1" i="0" smtClean="0">
                        <a:latin typeface="Cambria Math"/>
                      </a:rPr>
                      <m:t>𝐮</m:t>
                    </m:r>
                    <m:r>
                      <a:rPr lang="en-PH" sz="2000" b="1" i="1" smtClean="0">
                        <a:latin typeface="Cambria Math"/>
                      </a:rPr>
                      <m:t>+</m:t>
                    </m:r>
                    <m:r>
                      <a:rPr lang="en-PH" sz="2000" b="1" i="0" smtClean="0">
                        <a:latin typeface="Cambria Math"/>
                      </a:rPr>
                      <m:t>𝐯</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𝑢</m:t>
                                  </m:r>
                                </m:e>
                                <m:sub>
                                  <m:r>
                                    <a:rPr lang="en-PH" sz="2000" i="1">
                                      <a:latin typeface="Cambria Math"/>
                                    </a:rPr>
                                    <m:t>1</m:t>
                                  </m:r>
                                </m:sub>
                              </m:sSub>
                              <m:r>
                                <a:rPr lang="en-PH" sz="2000" b="0" i="1" smtClean="0">
                                  <a:latin typeface="Cambria Math"/>
                                </a:rPr>
                                <m:t>+ </m:t>
                              </m:r>
                              <m:sSub>
                                <m:sSubPr>
                                  <m:ctrlPr>
                                    <a:rPr lang="en-PH" sz="2000" b="0" i="1" smtClean="0">
                                      <a:latin typeface="Cambria Math" panose="02040503050406030204" pitchFamily="18" charset="0"/>
                                    </a:rPr>
                                  </m:ctrlPr>
                                </m:sSubPr>
                                <m:e>
                                  <m:r>
                                    <a:rPr lang="en-PH" sz="2000" b="0" i="1" smtClean="0">
                                      <a:latin typeface="Cambria Math"/>
                                    </a:rPr>
                                    <m:t>𝑣</m:t>
                                  </m:r>
                                </m:e>
                                <m:sub>
                                  <m:r>
                                    <a:rPr lang="en-PH" sz="2000" b="0" i="1" smtClean="0">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𝑢</m:t>
                                  </m:r>
                                </m:e>
                                <m:sub>
                                  <m:r>
                                    <a:rPr lang="en-PH" sz="2000" i="1">
                                      <a:latin typeface="Cambria Math"/>
                                    </a:rPr>
                                    <m:t>2</m:t>
                                  </m:r>
                                </m:sub>
                              </m:sSub>
                              <m:r>
                                <a:rPr lang="en-PH" sz="2000" i="1">
                                  <a:latin typeface="Cambria Math"/>
                                </a:rPr>
                                <m:t>+ </m:t>
                              </m:r>
                              <m:sSub>
                                <m:sSubPr>
                                  <m:ctrlPr>
                                    <a:rPr lang="en-PH" sz="2000" i="1">
                                      <a:latin typeface="Cambria Math" panose="02040503050406030204" pitchFamily="18" charset="0"/>
                                    </a:rPr>
                                  </m:ctrlPr>
                                </m:sSubPr>
                                <m:e>
                                  <m:r>
                                    <a:rPr lang="en-PH" sz="2000" i="1">
                                      <a:latin typeface="Cambria Math"/>
                                    </a:rPr>
                                    <m:t>𝑣</m:t>
                                  </m:r>
                                </m:e>
                                <m:sub>
                                  <m:r>
                                    <a:rPr lang="en-PH" sz="2000" b="0" i="1" smtClean="0">
                                      <a:latin typeface="Cambria Math"/>
                                    </a:rPr>
                                    <m:t>2</m:t>
                                  </m:r>
                                </m:sub>
                              </m:sSub>
                            </m:e>
                          </m:mr>
                          <m:mr>
                            <m:e>
                              <m:sSub>
                                <m:sSubPr>
                                  <m:ctrlPr>
                                    <a:rPr lang="en-PH" sz="2000" i="1">
                                      <a:latin typeface="Cambria Math" panose="02040503050406030204" pitchFamily="18" charset="0"/>
                                    </a:rPr>
                                  </m:ctrlPr>
                                </m:sSubPr>
                                <m:e>
                                  <m:r>
                                    <a:rPr lang="en-PH" sz="2000" i="1">
                                      <a:latin typeface="Cambria Math"/>
                                    </a:rPr>
                                    <m:t>𝑢</m:t>
                                  </m:r>
                                </m:e>
                                <m:sub>
                                  <m:r>
                                    <a:rPr lang="en-PH" sz="2000" i="1">
                                      <a:latin typeface="Cambria Math"/>
                                    </a:rPr>
                                    <m:t>3</m:t>
                                  </m:r>
                                </m:sub>
                              </m:sSub>
                              <m:r>
                                <a:rPr lang="en-PH" sz="2000" i="1">
                                  <a:latin typeface="Cambria Math"/>
                                </a:rPr>
                                <m:t>+ </m:t>
                              </m:r>
                              <m:sSub>
                                <m:sSubPr>
                                  <m:ctrlPr>
                                    <a:rPr lang="en-PH" sz="2000" i="1">
                                      <a:latin typeface="Cambria Math" panose="02040503050406030204" pitchFamily="18" charset="0"/>
                                    </a:rPr>
                                  </m:ctrlPr>
                                </m:sSubPr>
                                <m:e>
                                  <m:r>
                                    <a:rPr lang="en-PH" sz="2000" i="1">
                                      <a:latin typeface="Cambria Math"/>
                                    </a:rPr>
                                    <m:t>𝑣</m:t>
                                  </m:r>
                                </m:e>
                                <m:sub>
                                  <m:r>
                                    <a:rPr lang="en-PH" sz="2000" b="0" i="1" smtClean="0">
                                      <a:latin typeface="Cambria Math"/>
                                    </a:rPr>
                                    <m:t>3</m:t>
                                  </m:r>
                                </m:sub>
                              </m:sSub>
                            </m:e>
                          </m:mr>
                        </m:m>
                      </m:e>
                    </m:d>
                  </m:oMath>
                </a14:m>
                <a:r>
                  <a:rPr lang="en-PH" sz="2000" b="1" i="1" dirty="0"/>
                  <a:t>   </a:t>
                </a:r>
                <a:r>
                  <a:rPr lang="en-PH" sz="2000" dirty="0"/>
                  <a:t>  and </a:t>
                </a:r>
                <a14:m>
                  <m:oMath xmlns:m="http://schemas.openxmlformats.org/officeDocument/2006/math">
                    <m:r>
                      <m:rPr>
                        <m:sty m:val="p"/>
                      </m:rPr>
                      <a:rPr lang="en-PH" sz="2000" b="0" i="0" smtClean="0">
                        <a:latin typeface="Cambria Math"/>
                      </a:rPr>
                      <m:t>c</m:t>
                    </m:r>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b="0" i="1" smtClean="0">
                                      <a:latin typeface="Cambria Math"/>
                                    </a:rPr>
                                    <m:t>𝑐</m:t>
                                  </m:r>
                                  <m:r>
                                    <a:rPr lang="en-PH" sz="2000" i="1">
                                      <a:latin typeface="Cambria Math"/>
                                    </a:rPr>
                                    <m:t>𝑢</m:t>
                                  </m:r>
                                </m:e>
                                <m:sub>
                                  <m:r>
                                    <a:rPr lang="en-PH" sz="2000" i="1">
                                      <a:latin typeface="Cambria Math"/>
                                    </a:rPr>
                                    <m:t>1</m:t>
                                  </m:r>
                                </m:sub>
                              </m:sSub>
                            </m:e>
                          </m:mr>
                          <m:mr>
                            <m:e>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𝑢</m:t>
                                  </m:r>
                                </m:e>
                                <m:sub>
                                  <m:r>
                                    <a:rPr lang="en-PH" sz="2000" i="1">
                                      <a:latin typeface="Cambria Math"/>
                                    </a:rPr>
                                    <m:t>2</m:t>
                                  </m:r>
                                </m:sub>
                              </m:sSub>
                            </m:e>
                          </m:mr>
                          <m:mr>
                            <m:e>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𝑢</m:t>
                                  </m:r>
                                </m:e>
                                <m:sub>
                                  <m:r>
                                    <a:rPr lang="en-PH" sz="2000" i="1">
                                      <a:latin typeface="Cambria Math"/>
                                    </a:rPr>
                                    <m:t>3</m:t>
                                  </m:r>
                                </m:sub>
                              </m:sSub>
                            </m:e>
                          </m:mr>
                        </m:m>
                      </m:e>
                    </m:d>
                  </m:oMath>
                </a14:m>
                <a:endParaRPr lang="en-PH" sz="2000" b="1"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600200"/>
                <a:ext cx="8229600" cy="4876800"/>
              </a:xfrm>
              <a:blipFill rotWithShape="1">
                <a:blip r:embed="rId2"/>
                <a:stretch>
                  <a:fillRect l="-815" r="-370"/>
                </a:stretch>
              </a:blipFill>
            </p:spPr>
            <p:txBody>
              <a:bodyPr/>
              <a:lstStyle/>
              <a:p>
                <a:r>
                  <a:rPr lang="en-PH">
                    <a:noFill/>
                  </a:rPr>
                  <a:t> </a:t>
                </a:r>
              </a:p>
            </p:txBody>
          </p:sp>
        </mc:Fallback>
      </mc:AlternateContent>
    </p:spTree>
    <p:extLst>
      <p:ext uri="{BB962C8B-B14F-4D97-AF65-F5344CB8AC3E}">
        <p14:creationId xmlns:p14="http://schemas.microsoft.com/office/powerpoint/2010/main" val="202409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1600200"/>
                <a:ext cx="8229600" cy="4876800"/>
              </a:xfrm>
            </p:spPr>
            <p:txBody>
              <a:bodyPr>
                <a:normAutofit lnSpcReduction="10000"/>
              </a:bodyPr>
              <a:lstStyle/>
              <a:p>
                <a:pPr marL="0" indent="0">
                  <a:buNone/>
                </a:pPr>
                <a:r>
                  <a:rPr lang="en-PH" sz="2000" dirty="0"/>
                  <a:t>Example:</a:t>
                </a:r>
              </a:p>
              <a:p>
                <a:pPr marL="0" indent="0">
                  <a:buNone/>
                </a:pPr>
                <a:r>
                  <a:rPr lang="en-PH" sz="2000" dirty="0"/>
                  <a:t>	Let </a:t>
                </a:r>
                <a14:m>
                  <m:oMath xmlns:m="http://schemas.openxmlformats.org/officeDocument/2006/math">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a:rPr lang="en-PH" sz="2000" i="1" smtClean="0">
                                  <a:latin typeface="Cambria Math"/>
                                </a:rPr>
                                <m:t>2</m:t>
                              </m:r>
                            </m:e>
                          </m:mr>
                          <m:mr>
                            <m:e>
                              <m:r>
                                <a:rPr lang="en-PH" sz="2000" i="1" smtClean="0">
                                  <a:latin typeface="Cambria Math"/>
                                </a:rPr>
                                <m:t>3</m:t>
                              </m:r>
                            </m:e>
                          </m:mr>
                          <m:mr>
                            <m:e>
                              <m:r>
                                <a:rPr lang="en-PH" sz="2000" i="1" smtClean="0">
                                  <a:latin typeface="Cambria Math"/>
                                </a:rPr>
                                <m:t>−</m:t>
                              </m:r>
                              <m:r>
                                <a:rPr lang="en-PH" sz="2000" b="0" i="1" smtClean="0">
                                  <a:latin typeface="Cambria Math"/>
                                </a:rPr>
                                <m:t>1</m:t>
                              </m:r>
                            </m:e>
                          </m:mr>
                        </m:m>
                      </m:e>
                    </m:d>
                    <m:r>
                      <a:rPr lang="en-PH" sz="2000" b="0" i="1" smtClean="0">
                        <a:latin typeface="Cambria Math"/>
                      </a:rPr>
                      <m:t>  </m:t>
                    </m:r>
                  </m:oMath>
                </a14:m>
                <a:r>
                  <a:rPr lang="en-PH" sz="2000" dirty="0"/>
                  <a:t> and </a:t>
                </a:r>
                <a14:m>
                  <m:oMath xmlns:m="http://schemas.openxmlformats.org/officeDocument/2006/math">
                    <m:r>
                      <a:rPr lang="en-PH" sz="2000" b="0" i="0" smtClean="0">
                        <a:latin typeface="Cambria Math"/>
                      </a:rPr>
                      <m:t>  </m:t>
                    </m:r>
                    <m:r>
                      <a:rPr lang="en-PH" sz="2000" b="1" i="0" smtClean="0">
                        <a:latin typeface="Cambria Math"/>
                      </a:rPr>
                      <m:t>𝐯</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PH" sz="2000" i="1" smtClean="0">
                                  <a:latin typeface="Cambria Math"/>
                                </a:rPr>
                                <m:t>3</m:t>
                              </m:r>
                            </m:e>
                          </m:mr>
                          <m:mr>
                            <m:e>
                              <m:r>
                                <a:rPr lang="en-PH" sz="2000" i="1" smtClean="0">
                                  <a:latin typeface="Cambria Math"/>
                                </a:rPr>
                                <m:t>−</m:t>
                              </m:r>
                              <m:r>
                                <a:rPr lang="en-PH" sz="2000" b="0" i="1" smtClean="0">
                                  <a:latin typeface="Cambria Math"/>
                                </a:rPr>
                                <m:t>4</m:t>
                              </m:r>
                            </m:e>
                          </m:mr>
                          <m:mr>
                            <m:e>
                              <m:r>
                                <a:rPr lang="en-PH" sz="2000" b="0" i="1" smtClean="0">
                                  <a:latin typeface="Cambria Math"/>
                                </a:rPr>
                                <m:t>2</m:t>
                              </m:r>
                            </m:e>
                          </m:mr>
                        </m:m>
                      </m:e>
                    </m:d>
                  </m:oMath>
                </a14:m>
                <a:r>
                  <a:rPr lang="en-PH" sz="2000" dirty="0"/>
                  <a:t>   ,</a:t>
                </a:r>
              </a:p>
              <a:p>
                <a:pPr marL="0" indent="0">
                  <a:buNone/>
                </a:pPr>
                <a:r>
                  <a:rPr lang="en-PH" sz="2000" dirty="0"/>
                  <a:t>Compute: a) </a:t>
                </a:r>
                <a:r>
                  <a:rPr lang="en-PH" sz="2000" b="1" dirty="0"/>
                  <a:t>u</a:t>
                </a:r>
                <a:r>
                  <a:rPr lang="en-PH" sz="2000" dirty="0"/>
                  <a:t> + </a:t>
                </a:r>
                <a:r>
                  <a:rPr lang="en-PH" sz="2000" b="1" dirty="0"/>
                  <a:t>v</a:t>
                </a:r>
                <a:r>
                  <a:rPr lang="en-PH" sz="2000" dirty="0"/>
                  <a:t>;    b)   -2</a:t>
                </a:r>
                <a:r>
                  <a:rPr lang="en-PH" sz="2000" b="1" dirty="0"/>
                  <a:t>u</a:t>
                </a:r>
                <a:r>
                  <a:rPr lang="en-PH" sz="2000" dirty="0"/>
                  <a:t>	c) 3</a:t>
                </a:r>
                <a:r>
                  <a:rPr lang="en-PH" sz="2000" b="1" dirty="0"/>
                  <a:t>u</a:t>
                </a:r>
                <a:r>
                  <a:rPr lang="en-PH" sz="2000" dirty="0"/>
                  <a:t> – 2</a:t>
                </a:r>
                <a:r>
                  <a:rPr lang="en-PH" sz="2000" b="1" dirty="0"/>
                  <a:t>v</a:t>
                </a:r>
                <a:r>
                  <a:rPr lang="en-PH" sz="2000" dirty="0"/>
                  <a:t>  </a:t>
                </a:r>
              </a:p>
              <a:p>
                <a:pPr marL="0" indent="0">
                  <a:buNone/>
                </a:pPr>
                <a:endParaRPr lang="en-PH" sz="2000" dirty="0"/>
              </a:p>
              <a:p>
                <a:pPr marL="0" indent="0">
                  <a:buNone/>
                </a:pPr>
                <a:r>
                  <a:rPr lang="en-PH" sz="2000" dirty="0"/>
                  <a:t>Solution:</a:t>
                </a:r>
                <a:endParaRPr lang="en-PH" sz="2000" b="1" dirty="0"/>
              </a:p>
              <a:p>
                <a:pPr marL="0" indent="0">
                  <a:buNone/>
                </a:pPr>
                <a:r>
                  <a:rPr lang="en-PH" sz="2000" dirty="0"/>
                  <a:t>a)</a:t>
                </a:r>
                <a:r>
                  <a:rPr lang="en-PH" sz="2000" b="1" dirty="0"/>
                  <a:t> </a:t>
                </a:r>
                <a14:m>
                  <m:oMath xmlns:m="http://schemas.openxmlformats.org/officeDocument/2006/math">
                    <m:r>
                      <a:rPr lang="en-PH" sz="2000" b="1" i="0" smtClean="0">
                        <a:latin typeface="Cambria Math"/>
                      </a:rPr>
                      <m:t>𝐮</m:t>
                    </m:r>
                    <m:r>
                      <a:rPr lang="en-PH" sz="2000" b="1" i="1" smtClean="0">
                        <a:latin typeface="Cambria Math"/>
                      </a:rPr>
                      <m:t>+</m:t>
                    </m:r>
                    <m:r>
                      <a:rPr lang="en-PH" sz="2000" b="1" i="0" smtClean="0">
                        <a:latin typeface="Cambria Math"/>
                      </a:rPr>
                      <m:t>𝐯</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PH" sz="2000" b="0" i="1" smtClean="0">
                                  <a:latin typeface="Cambria Math"/>
                                </a:rPr>
                                <m:t>2+3</m:t>
                              </m:r>
                            </m:e>
                          </m:mr>
                          <m:mr>
                            <m:e>
                              <m:r>
                                <a:rPr lang="en-PH" sz="2000" b="0" i="1" smtClean="0">
                                  <a:latin typeface="Cambria Math"/>
                                </a:rPr>
                                <m:t>3</m:t>
                              </m:r>
                              <m:r>
                                <a:rPr lang="en-PH" sz="2000" i="1">
                                  <a:latin typeface="Cambria Math"/>
                                </a:rPr>
                                <m:t>+</m:t>
                              </m:r>
                              <m:r>
                                <a:rPr lang="en-PH" sz="2000" i="1" smtClean="0">
                                  <a:latin typeface="Cambria Math"/>
                                </a:rPr>
                                <m:t>(</m:t>
                              </m:r>
                              <m:r>
                                <a:rPr lang="en-PH" sz="2000" b="0" i="1" smtClean="0">
                                  <a:latin typeface="Cambria Math"/>
                                </a:rPr>
                                <m:t>−4)</m:t>
                              </m:r>
                            </m:e>
                          </m:mr>
                          <m:mr>
                            <m:e>
                              <m:r>
                                <a:rPr lang="en-PH" sz="2000" b="0" i="1" smtClean="0">
                                  <a:latin typeface="Cambria Math"/>
                                </a:rPr>
                                <m:t>−1</m:t>
                              </m:r>
                              <m:r>
                                <a:rPr lang="en-PH" sz="2000" i="1">
                                  <a:latin typeface="Cambria Math"/>
                                </a:rPr>
                                <m:t>+</m:t>
                              </m:r>
                              <m:r>
                                <a:rPr lang="en-PH" sz="2000" i="1" smtClean="0">
                                  <a:latin typeface="Cambria Math"/>
                                </a:rPr>
                                <m:t>2</m:t>
                              </m:r>
                            </m:e>
                          </m:mr>
                        </m:m>
                      </m:e>
                    </m:d>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5</m:t>
                              </m:r>
                            </m:e>
                          </m:mr>
                          <m:mr>
                            <m:e>
                              <m:r>
                                <a:rPr lang="en-PH" sz="2000" b="0" i="1" smtClean="0">
                                  <a:latin typeface="Cambria Math"/>
                                </a:rPr>
                                <m:t>−1</m:t>
                              </m:r>
                            </m:e>
                          </m:mr>
                          <m:mr>
                            <m:e>
                              <m:r>
                                <a:rPr lang="en-PH" sz="2000" b="0" i="1" smtClean="0">
                                  <a:latin typeface="Cambria Math"/>
                                </a:rPr>
                                <m:t>1</m:t>
                              </m:r>
                            </m:e>
                          </m:mr>
                        </m:m>
                      </m:e>
                    </m:d>
                  </m:oMath>
                </a14:m>
                <a:r>
                  <a:rPr lang="en-PH" sz="2000" b="1" i="1" dirty="0"/>
                  <a:t>   </a:t>
                </a:r>
                <a:r>
                  <a:rPr lang="en-PH" sz="2000" dirty="0"/>
                  <a:t>  b) </a:t>
                </a:r>
                <a14:m>
                  <m:oMath xmlns:m="http://schemas.openxmlformats.org/officeDocument/2006/math">
                    <m:r>
                      <a:rPr lang="en-PH" sz="2000" b="0" i="0" smtClean="0">
                        <a:latin typeface="Cambria Math"/>
                      </a:rPr>
                      <m:t>−2</m:t>
                    </m:r>
                    <m:r>
                      <a:rPr lang="en-PH" sz="2000" b="1">
                        <a:latin typeface="Cambria Math"/>
                      </a:rPr>
                      <m:t>𝐮</m:t>
                    </m:r>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a:rPr lang="en-PH" sz="2000" i="1" smtClean="0">
                                  <a:latin typeface="Cambria Math"/>
                                </a:rPr>
                                <m:t>−</m:t>
                              </m:r>
                              <m:r>
                                <a:rPr lang="en-PH" sz="2000" b="0" i="1" smtClean="0">
                                  <a:latin typeface="Cambria Math"/>
                                </a:rPr>
                                <m:t>2</m:t>
                              </m:r>
                              <m:d>
                                <m:dPr>
                                  <m:ctrlPr>
                                    <a:rPr lang="en-PH" sz="2000" b="0" i="1" smtClean="0">
                                      <a:latin typeface="Cambria Math" panose="02040503050406030204" pitchFamily="18" charset="0"/>
                                    </a:rPr>
                                  </m:ctrlPr>
                                </m:dPr>
                                <m:e>
                                  <m:r>
                                    <a:rPr lang="en-PH" sz="2000" b="0" i="1" smtClean="0">
                                      <a:latin typeface="Cambria Math"/>
                                    </a:rPr>
                                    <m:t>2</m:t>
                                  </m:r>
                                </m:e>
                              </m:d>
                            </m:e>
                          </m:mr>
                          <m:mr>
                            <m:e>
                              <m:r>
                                <a:rPr lang="en-PH" sz="2000" b="0" i="1" smtClean="0">
                                  <a:latin typeface="Cambria Math"/>
                                </a:rPr>
                                <m:t>−2</m:t>
                              </m:r>
                              <m:d>
                                <m:dPr>
                                  <m:ctrlPr>
                                    <a:rPr lang="en-PH" sz="2000" b="0" i="1" smtClean="0">
                                      <a:latin typeface="Cambria Math" panose="02040503050406030204" pitchFamily="18" charset="0"/>
                                    </a:rPr>
                                  </m:ctrlPr>
                                </m:dPr>
                                <m:e>
                                  <m:r>
                                    <a:rPr lang="en-PH" sz="2000" b="0" i="1" smtClean="0">
                                      <a:latin typeface="Cambria Math"/>
                                    </a:rPr>
                                    <m:t>3</m:t>
                                  </m:r>
                                </m:e>
                              </m:d>
                            </m:e>
                          </m:mr>
                          <m:mr>
                            <m:e>
                              <m:r>
                                <a:rPr lang="en-PH" sz="2000" b="0" i="1" smtClean="0">
                                  <a:latin typeface="Cambria Math"/>
                                </a:rPr>
                                <m:t>−2</m:t>
                              </m:r>
                              <m:d>
                                <m:dPr>
                                  <m:ctrlPr>
                                    <a:rPr lang="en-PH" sz="2000" b="0" i="1" smtClean="0">
                                      <a:latin typeface="Cambria Math" panose="02040503050406030204" pitchFamily="18" charset="0"/>
                                    </a:rPr>
                                  </m:ctrlPr>
                                </m:dPr>
                                <m:e>
                                  <m:r>
                                    <a:rPr lang="en-PH" sz="2000" b="0" i="1" smtClean="0">
                                      <a:latin typeface="Cambria Math"/>
                                    </a:rPr>
                                    <m:t>−1</m:t>
                                  </m:r>
                                </m:e>
                              </m:d>
                            </m:e>
                          </m:mr>
                        </m:m>
                      </m:e>
                    </m:d>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m:t>
                              </m:r>
                              <m:r>
                                <a:rPr lang="en-PH" sz="2000" b="0" i="1" smtClean="0">
                                  <a:latin typeface="Cambria Math"/>
                                </a:rPr>
                                <m:t>4</m:t>
                              </m:r>
                            </m:e>
                          </m:mr>
                          <m:mr>
                            <m:e>
                              <m:r>
                                <a:rPr lang="en-PH" sz="2000" b="0" i="1" smtClean="0">
                                  <a:latin typeface="Cambria Math"/>
                                </a:rPr>
                                <m:t>−6</m:t>
                              </m:r>
                            </m:e>
                          </m:mr>
                          <m:mr>
                            <m:e>
                              <m:r>
                                <a:rPr lang="en-PH" sz="2000" b="0" i="1" smtClean="0">
                                  <a:latin typeface="Cambria Math"/>
                                </a:rPr>
                                <m:t>2</m:t>
                              </m:r>
                            </m:e>
                          </m:mr>
                        </m:m>
                      </m:e>
                    </m:d>
                  </m:oMath>
                </a14:m>
                <a:r>
                  <a:rPr lang="en-PH" sz="2000" b="1" i="1" dirty="0"/>
                  <a:t> </a:t>
                </a:r>
              </a:p>
              <a:p>
                <a:pPr marL="0" indent="0">
                  <a:buNone/>
                </a:pPr>
                <a:endParaRPr lang="en-PH" sz="2000" i="1" dirty="0"/>
              </a:p>
              <a:p>
                <a:pPr marL="0" indent="0">
                  <a:buNone/>
                </a:pPr>
                <a:r>
                  <a:rPr lang="en-PH" sz="2000" dirty="0"/>
                  <a:t>c) 3</a:t>
                </a:r>
                <a:r>
                  <a:rPr lang="en-PH" sz="2000" b="1" dirty="0"/>
                  <a:t>u</a:t>
                </a:r>
                <a:r>
                  <a:rPr lang="en-PH" sz="2000" dirty="0"/>
                  <a:t> – 2</a:t>
                </a:r>
                <a:r>
                  <a:rPr lang="en-PH" sz="2000" b="1" dirty="0"/>
                  <a:t>v </a:t>
                </a:r>
                <a14:m>
                  <m:oMath xmlns:m="http://schemas.openxmlformats.org/officeDocument/2006/math">
                    <m:r>
                      <a:rPr lang="en-PH" sz="2000" b="1" i="1" smtClean="0">
                        <a:latin typeface="Cambria Math"/>
                      </a:rPr>
                      <m:t>=</m:t>
                    </m:r>
                    <m:d>
                      <m:dPr>
                        <m:begChr m:val="["/>
                        <m:endChr m:val="]"/>
                        <m:ctrlPr>
                          <a:rPr lang="en-PH" sz="2000" i="1" smtClean="0">
                            <a:latin typeface="Cambria Math" panose="02040503050406030204" pitchFamily="18" charset="0"/>
                          </a:rPr>
                        </m:ctrlPr>
                      </m:dPr>
                      <m:e>
                        <m:m>
                          <m:mPr>
                            <m:mcs>
                              <m:mc>
                                <m:mcPr>
                                  <m:count m:val="1"/>
                                  <m:mcJc m:val="center"/>
                                </m:mcPr>
                              </m:mc>
                            </m:mcs>
                            <m:ctrlPr>
                              <a:rPr lang="en-PH" sz="2000" i="1" smtClean="0">
                                <a:latin typeface="Cambria Math" panose="02040503050406030204" pitchFamily="18" charset="0"/>
                              </a:rPr>
                            </m:ctrlPr>
                          </m:mPr>
                          <m:mr>
                            <m:e>
                              <m:r>
                                <m:rPr>
                                  <m:brk m:alnAt="7"/>
                                </m:rPr>
                                <a:rPr lang="en-PH" sz="2000" b="0" i="1" smtClean="0">
                                  <a:latin typeface="Cambria Math"/>
                                </a:rPr>
                                <m:t>3</m:t>
                              </m:r>
                              <m:r>
                                <a:rPr lang="en-PH" sz="2000" b="0" i="1" smtClean="0">
                                  <a:latin typeface="Cambria Math"/>
                                </a:rPr>
                                <m:t>(2)</m:t>
                              </m:r>
                            </m:e>
                          </m:mr>
                          <m:mr>
                            <m:e>
                              <m:r>
                                <a:rPr lang="en-PH" sz="2000" b="0" i="1" smtClean="0">
                                  <a:latin typeface="Cambria Math"/>
                                </a:rPr>
                                <m:t>3(3)</m:t>
                              </m:r>
                            </m:e>
                          </m:mr>
                          <m:mr>
                            <m:e>
                              <m:r>
                                <a:rPr lang="en-PH" sz="2000" b="0" i="1" smtClean="0">
                                  <a:latin typeface="Cambria Math"/>
                                </a:rPr>
                                <m:t>3(−1)</m:t>
                              </m:r>
                            </m:e>
                          </m:mr>
                        </m:m>
                      </m:e>
                    </m:d>
                    <m:r>
                      <a:rPr lang="en-PH" sz="2000" b="0" i="1" smtClean="0">
                        <a:latin typeface="Cambria Math"/>
                      </a:rPr>
                      <m:t> −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2</m:t>
                              </m:r>
                              <m:d>
                                <m:dPr>
                                  <m:ctrlPr>
                                    <a:rPr lang="en-PH" sz="2000" b="0" i="1" smtClean="0">
                                      <a:latin typeface="Cambria Math" panose="02040503050406030204" pitchFamily="18" charset="0"/>
                                    </a:rPr>
                                  </m:ctrlPr>
                                </m:dPr>
                                <m:e>
                                  <m:r>
                                    <m:rPr>
                                      <m:brk m:alnAt="7"/>
                                    </m:rPr>
                                    <a:rPr lang="en-PH" sz="2000" b="0" i="1" smtClean="0">
                                      <a:latin typeface="Cambria Math"/>
                                    </a:rPr>
                                    <m:t>3</m:t>
                                  </m:r>
                                </m:e>
                              </m:d>
                            </m:e>
                          </m:mr>
                          <m:mr>
                            <m:e>
                              <m:r>
                                <a:rPr lang="en-PH" sz="2000" b="0" i="1" smtClean="0">
                                  <a:latin typeface="Cambria Math"/>
                                </a:rPr>
                                <m:t>2</m:t>
                              </m:r>
                              <m:d>
                                <m:dPr>
                                  <m:ctrlPr>
                                    <a:rPr lang="en-PH" sz="2000" b="0" i="1" smtClean="0">
                                      <a:latin typeface="Cambria Math" panose="02040503050406030204" pitchFamily="18" charset="0"/>
                                    </a:rPr>
                                  </m:ctrlPr>
                                </m:dPr>
                                <m:e>
                                  <m:r>
                                    <a:rPr lang="en-PH" sz="2000" b="0" i="1" smtClean="0">
                                      <a:latin typeface="Cambria Math"/>
                                    </a:rPr>
                                    <m:t>−4</m:t>
                                  </m:r>
                                </m:e>
                              </m:d>
                            </m:e>
                          </m:mr>
                          <m:mr>
                            <m:e>
                              <m:r>
                                <a:rPr lang="en-PH" sz="2000" b="0" i="1" smtClean="0">
                                  <a:latin typeface="Cambria Math"/>
                                </a:rPr>
                                <m:t>2</m:t>
                              </m:r>
                              <m:d>
                                <m:dPr>
                                  <m:ctrlPr>
                                    <a:rPr lang="en-PH" sz="2000" b="0" i="1" smtClean="0">
                                      <a:latin typeface="Cambria Math" panose="02040503050406030204" pitchFamily="18" charset="0"/>
                                    </a:rPr>
                                  </m:ctrlPr>
                                </m:dPr>
                                <m:e>
                                  <m:r>
                                    <a:rPr lang="en-PH" sz="2000" b="0" i="1" smtClean="0">
                                      <a:latin typeface="Cambria Math"/>
                                    </a:rPr>
                                    <m:t>2</m:t>
                                  </m:r>
                                </m:e>
                              </m:d>
                            </m:e>
                          </m:mr>
                        </m:m>
                      </m:e>
                    </m:d>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0</m:t>
                              </m:r>
                            </m:e>
                          </m:mr>
                          <m:mr>
                            <m:e>
                              <m:r>
                                <a:rPr lang="en-PH" sz="2000" b="0" i="1" smtClean="0">
                                  <a:latin typeface="Cambria Math"/>
                                </a:rPr>
                                <m:t>17</m:t>
                              </m:r>
                            </m:e>
                          </m:mr>
                          <m:mr>
                            <m:e>
                              <m:r>
                                <a:rPr lang="en-PH" sz="2000" b="0" i="1" smtClean="0">
                                  <a:latin typeface="Cambria Math"/>
                                </a:rPr>
                                <m:t>−7</m:t>
                              </m:r>
                              <m:r>
                                <a:rPr lang="en-US" sz="2000" b="0" i="1" smtClean="0">
                                  <a:latin typeface="Cambria Math" panose="02040503050406030204" pitchFamily="18" charset="0"/>
                                </a:rPr>
                                <m:t> </m:t>
                              </m:r>
                            </m:e>
                          </m:mr>
                        </m:m>
                      </m:e>
                    </m:d>
                  </m:oMath>
                </a14:m>
                <a:r>
                  <a:rPr lang="en-PH" sz="2000" dirty="0"/>
                  <a:t>  = 9 – (-8) = 17</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1600200"/>
                <a:ext cx="8229600" cy="4876800"/>
              </a:xfrm>
              <a:blipFill>
                <a:blip r:embed="rId2"/>
                <a:stretch>
                  <a:fillRect l="-815" t="-1250"/>
                </a:stretch>
              </a:blipFill>
            </p:spPr>
            <p:txBody>
              <a:bodyPr/>
              <a:lstStyle/>
              <a:p>
                <a:r>
                  <a:rPr lang="en-PH">
                    <a:noFill/>
                  </a:rPr>
                  <a:t> </a:t>
                </a:r>
              </a:p>
            </p:txBody>
          </p:sp>
        </mc:Fallback>
      </mc:AlternateContent>
    </p:spTree>
    <p:extLst>
      <p:ext uri="{BB962C8B-B14F-4D97-AF65-F5344CB8AC3E}">
        <p14:creationId xmlns:p14="http://schemas.microsoft.com/office/powerpoint/2010/main" val="293926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Vectors in Space</a:t>
            </a:r>
          </a:p>
        </p:txBody>
      </p:sp>
      <p:sp>
        <p:nvSpPr>
          <p:cNvPr id="3" name="Content Placeholder 2"/>
          <p:cNvSpPr>
            <a:spLocks noGrp="1"/>
          </p:cNvSpPr>
          <p:nvPr>
            <p:ph idx="1"/>
          </p:nvPr>
        </p:nvSpPr>
        <p:spPr>
          <a:xfrm>
            <a:off x="381000" y="1600200"/>
            <a:ext cx="8229600" cy="4876800"/>
          </a:xfrm>
        </p:spPr>
        <p:txBody>
          <a:bodyPr>
            <a:normAutofit/>
          </a:bodyPr>
          <a:lstStyle/>
          <a:p>
            <a:pPr marL="0" indent="0">
              <a:buNone/>
            </a:pPr>
            <a:r>
              <a:rPr lang="en-PH" sz="2000" dirty="0"/>
              <a:t>Theorem: If </a:t>
            </a:r>
            <a:r>
              <a:rPr lang="en-PH" sz="2000" b="1" dirty="0"/>
              <a:t>u</a:t>
            </a:r>
            <a:r>
              <a:rPr lang="en-PH" sz="2000" dirty="0"/>
              <a:t>, </a:t>
            </a:r>
            <a:r>
              <a:rPr lang="en-PH" sz="2000" b="1" dirty="0"/>
              <a:t>v</a:t>
            </a:r>
            <a:r>
              <a:rPr lang="en-PH" sz="2000" dirty="0"/>
              <a:t>, and </a:t>
            </a:r>
            <a:r>
              <a:rPr lang="en-PH" sz="2000" b="1" dirty="0"/>
              <a:t>w</a:t>
            </a:r>
            <a:r>
              <a:rPr lang="en-PH" sz="2000" dirty="0"/>
              <a:t> are vectors in R</a:t>
            </a:r>
            <a:r>
              <a:rPr lang="en-PH" sz="2000" baseline="30000" dirty="0"/>
              <a:t>2</a:t>
            </a:r>
            <a:r>
              <a:rPr lang="en-PH" sz="2000" dirty="0"/>
              <a:t> or R</a:t>
            </a:r>
            <a:r>
              <a:rPr lang="en-PH" sz="2000" baseline="30000" dirty="0"/>
              <a:t>3</a:t>
            </a:r>
            <a:r>
              <a:rPr lang="en-PH" sz="2000" dirty="0"/>
              <a:t>, and c and d are real scalars, then  </a:t>
            </a:r>
          </a:p>
          <a:p>
            <a:pPr marL="457200" indent="-457200">
              <a:buAutoNum type="alphaLcPeriod"/>
            </a:pPr>
            <a:r>
              <a:rPr lang="en-PH" sz="2000" b="1" dirty="0"/>
              <a:t>u</a:t>
            </a:r>
            <a:r>
              <a:rPr lang="en-PH" sz="2000" dirty="0"/>
              <a:t> + </a:t>
            </a:r>
            <a:r>
              <a:rPr lang="en-PH" sz="2000" b="1" dirty="0"/>
              <a:t>v</a:t>
            </a:r>
            <a:r>
              <a:rPr lang="en-PH" sz="2000" dirty="0"/>
              <a:t> = </a:t>
            </a:r>
            <a:r>
              <a:rPr lang="en-PH" sz="2000" b="1" dirty="0"/>
              <a:t>v</a:t>
            </a:r>
            <a:r>
              <a:rPr lang="en-PH" sz="2000" dirty="0"/>
              <a:t> + </a:t>
            </a:r>
            <a:r>
              <a:rPr lang="en-PH" sz="2000" b="1" dirty="0"/>
              <a:t>u</a:t>
            </a:r>
            <a:r>
              <a:rPr lang="en-PH" sz="2000" dirty="0"/>
              <a:t> </a:t>
            </a:r>
          </a:p>
          <a:p>
            <a:pPr marL="457200" indent="-457200">
              <a:buAutoNum type="alphaLcPeriod"/>
            </a:pPr>
            <a:r>
              <a:rPr lang="en-PH" sz="2000" b="1" dirty="0"/>
              <a:t>u</a:t>
            </a:r>
            <a:r>
              <a:rPr lang="en-PH" sz="2000" dirty="0"/>
              <a:t> + (</a:t>
            </a:r>
            <a:r>
              <a:rPr lang="en-PH" sz="2000" b="1" dirty="0"/>
              <a:t>v </a:t>
            </a:r>
            <a:r>
              <a:rPr lang="en-PH" sz="2000" dirty="0"/>
              <a:t>+</a:t>
            </a:r>
            <a:r>
              <a:rPr lang="en-PH" sz="2000" b="1" dirty="0"/>
              <a:t> w)</a:t>
            </a:r>
            <a:r>
              <a:rPr lang="en-PH" sz="2000" dirty="0"/>
              <a:t> =  (</a:t>
            </a:r>
            <a:r>
              <a:rPr lang="en-PH" sz="2000" b="1" dirty="0"/>
              <a:t>u</a:t>
            </a:r>
            <a:r>
              <a:rPr lang="en-PH" sz="2000" dirty="0"/>
              <a:t> + </a:t>
            </a:r>
            <a:r>
              <a:rPr lang="en-PH" sz="2000" b="1" dirty="0"/>
              <a:t>v</a:t>
            </a:r>
            <a:r>
              <a:rPr lang="en-PH" sz="2000" dirty="0"/>
              <a:t>) + </a:t>
            </a:r>
            <a:r>
              <a:rPr lang="en-PH" sz="2000" b="1" dirty="0"/>
              <a:t>w</a:t>
            </a:r>
          </a:p>
          <a:p>
            <a:pPr marL="457200" indent="-457200">
              <a:buAutoNum type="alphaLcPeriod"/>
            </a:pPr>
            <a:r>
              <a:rPr lang="en-PH" sz="2000" b="1" dirty="0"/>
              <a:t>u</a:t>
            </a:r>
            <a:r>
              <a:rPr lang="en-PH" sz="2000" dirty="0"/>
              <a:t> + </a:t>
            </a:r>
            <a:r>
              <a:rPr lang="en-PH" sz="2000" b="1" dirty="0"/>
              <a:t>0</a:t>
            </a:r>
            <a:r>
              <a:rPr lang="en-PH" sz="2000" dirty="0"/>
              <a:t> = </a:t>
            </a:r>
            <a:r>
              <a:rPr lang="en-PH" sz="2000" b="1" dirty="0"/>
              <a:t>0</a:t>
            </a:r>
            <a:r>
              <a:rPr lang="en-PH" sz="2000" dirty="0"/>
              <a:t> + </a:t>
            </a:r>
            <a:r>
              <a:rPr lang="en-PH" sz="2000" b="1" dirty="0"/>
              <a:t>u </a:t>
            </a:r>
            <a:r>
              <a:rPr lang="en-PH" sz="2000" dirty="0"/>
              <a:t>= </a:t>
            </a:r>
            <a:r>
              <a:rPr lang="en-PH" sz="2000" b="1" dirty="0"/>
              <a:t>u</a:t>
            </a:r>
            <a:endParaRPr lang="en-PH" sz="2000" dirty="0"/>
          </a:p>
          <a:p>
            <a:pPr marL="457200" indent="-457200">
              <a:buAutoNum type="alphaLcPeriod"/>
            </a:pPr>
            <a:r>
              <a:rPr lang="en-PH" sz="2000" b="1" dirty="0"/>
              <a:t>u</a:t>
            </a:r>
            <a:r>
              <a:rPr lang="en-PH" sz="2000" dirty="0"/>
              <a:t> + (- </a:t>
            </a:r>
            <a:r>
              <a:rPr lang="en-PH" sz="2000" b="1" dirty="0"/>
              <a:t>u</a:t>
            </a:r>
            <a:r>
              <a:rPr lang="en-PH" sz="2000" dirty="0"/>
              <a:t>) = </a:t>
            </a:r>
            <a:r>
              <a:rPr lang="en-PH" sz="2000" b="1" dirty="0"/>
              <a:t>0</a:t>
            </a:r>
            <a:endParaRPr lang="en-PH" sz="2000" dirty="0"/>
          </a:p>
          <a:p>
            <a:pPr marL="457200" indent="-457200">
              <a:buAutoNum type="alphaLcPeriod"/>
            </a:pPr>
            <a:r>
              <a:rPr lang="en-PH" sz="2000" dirty="0"/>
              <a:t>c(</a:t>
            </a:r>
            <a:r>
              <a:rPr lang="en-PH" sz="2000" b="1" dirty="0"/>
              <a:t>u</a:t>
            </a:r>
            <a:r>
              <a:rPr lang="en-PH" sz="2000" dirty="0"/>
              <a:t> + </a:t>
            </a:r>
            <a:r>
              <a:rPr lang="en-PH" sz="2000" b="1" dirty="0"/>
              <a:t>v</a:t>
            </a:r>
            <a:r>
              <a:rPr lang="en-PH" sz="2000" dirty="0"/>
              <a:t>) = c</a:t>
            </a:r>
            <a:r>
              <a:rPr lang="en-PH" sz="2000" b="1" dirty="0"/>
              <a:t>u</a:t>
            </a:r>
            <a:r>
              <a:rPr lang="en-PH" sz="2000" dirty="0"/>
              <a:t> + c</a:t>
            </a:r>
            <a:r>
              <a:rPr lang="en-PH" sz="2000" b="1" dirty="0"/>
              <a:t>v</a:t>
            </a:r>
          </a:p>
          <a:p>
            <a:pPr marL="457200" indent="-457200">
              <a:buAutoNum type="alphaLcPeriod"/>
            </a:pPr>
            <a:r>
              <a:rPr lang="en-PH" sz="2000" dirty="0"/>
              <a:t>(c +d) </a:t>
            </a:r>
            <a:r>
              <a:rPr lang="en-PH" sz="2000" b="1" dirty="0"/>
              <a:t>u </a:t>
            </a:r>
            <a:r>
              <a:rPr lang="en-PH" sz="2000" dirty="0"/>
              <a:t> = c</a:t>
            </a:r>
            <a:r>
              <a:rPr lang="en-PH" sz="2000" b="1" dirty="0"/>
              <a:t>u </a:t>
            </a:r>
            <a:r>
              <a:rPr lang="en-PH" sz="2000" dirty="0"/>
              <a:t>+ d</a:t>
            </a:r>
            <a:r>
              <a:rPr lang="en-PH" sz="2000" b="1" dirty="0"/>
              <a:t>u</a:t>
            </a:r>
            <a:endParaRPr lang="en-PH" sz="2000" dirty="0"/>
          </a:p>
          <a:p>
            <a:pPr marL="457200" indent="-457200">
              <a:buAutoNum type="alphaLcPeriod"/>
            </a:pPr>
            <a:r>
              <a:rPr lang="en-PH" sz="2000" i="1" dirty="0"/>
              <a:t>c(d</a:t>
            </a:r>
            <a:r>
              <a:rPr lang="en-PH" sz="2000" b="1" dirty="0"/>
              <a:t>u</a:t>
            </a:r>
            <a:r>
              <a:rPr lang="en-PH" sz="2000" dirty="0"/>
              <a:t>) = (cd) </a:t>
            </a:r>
            <a:r>
              <a:rPr lang="en-PH" sz="2000" b="1" dirty="0"/>
              <a:t>u</a:t>
            </a:r>
          </a:p>
          <a:p>
            <a:pPr marL="457200" indent="-457200">
              <a:buAutoNum type="alphaLcPeriod"/>
            </a:pPr>
            <a:r>
              <a:rPr lang="en-PH" sz="2000" dirty="0"/>
              <a:t>1</a:t>
            </a:r>
            <a:r>
              <a:rPr lang="en-PH" sz="2000" b="1" dirty="0"/>
              <a:t>u </a:t>
            </a:r>
            <a:r>
              <a:rPr lang="en-PH" sz="2000" dirty="0"/>
              <a:t>= </a:t>
            </a:r>
            <a:r>
              <a:rPr lang="en-PH" sz="2000" b="1" dirty="0"/>
              <a:t>u </a:t>
            </a:r>
          </a:p>
          <a:p>
            <a:pPr marL="457200" indent="-457200">
              <a:buAutoNum type="alphaLcPeriod"/>
            </a:pPr>
            <a:endParaRPr lang="en-PH" sz="2000" b="1" dirty="0"/>
          </a:p>
          <a:p>
            <a:pPr marL="457200" indent="-457200">
              <a:buAutoNum type="alphaLcPeriod"/>
            </a:pPr>
            <a:endParaRPr lang="en-PH" sz="2000" b="1" baseline="30000" dirty="0"/>
          </a:p>
          <a:p>
            <a:pPr marL="0" indent="0">
              <a:buNone/>
            </a:pPr>
            <a:endParaRPr lang="en-PH" sz="2000" b="1" baseline="30000" dirty="0"/>
          </a:p>
        </p:txBody>
      </p:sp>
    </p:spTree>
    <p:extLst>
      <p:ext uri="{BB962C8B-B14F-4D97-AF65-F5344CB8AC3E}">
        <p14:creationId xmlns:p14="http://schemas.microsoft.com/office/powerpoint/2010/main" val="1539521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and subspaces</a:t>
            </a:r>
          </a:p>
        </p:txBody>
      </p:sp>
      <p:sp>
        <p:nvSpPr>
          <p:cNvPr id="5" name="Text Placeholder 4"/>
          <p:cNvSpPr>
            <a:spLocks noGrp="1"/>
          </p:cNvSpPr>
          <p:nvPr>
            <p:ph type="body" idx="1"/>
          </p:nvPr>
        </p:nvSpPr>
        <p:spPr/>
        <p:txBody>
          <a:bodyPr/>
          <a:lstStyle/>
          <a:p>
            <a:r>
              <a:rPr lang="en-PH" dirty="0"/>
              <a:t>Lesson 3</a:t>
            </a:r>
          </a:p>
        </p:txBody>
      </p:sp>
    </p:spTree>
    <p:extLst>
      <p:ext uri="{BB962C8B-B14F-4D97-AF65-F5344CB8AC3E}">
        <p14:creationId xmlns:p14="http://schemas.microsoft.com/office/powerpoint/2010/main" val="3024192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a:t>
            </a:r>
          </a:p>
        </p:txBody>
      </p:sp>
      <p:sp>
        <p:nvSpPr>
          <p:cNvPr id="5" name="Content Placeholder 4"/>
          <p:cNvSpPr>
            <a:spLocks noGrp="1"/>
          </p:cNvSpPr>
          <p:nvPr>
            <p:ph idx="1"/>
          </p:nvPr>
        </p:nvSpPr>
        <p:spPr>
          <a:xfrm>
            <a:off x="457200" y="1447800"/>
            <a:ext cx="8229600" cy="4876800"/>
          </a:xfrm>
        </p:spPr>
        <p:txBody>
          <a:bodyPr>
            <a:noAutofit/>
          </a:bodyPr>
          <a:lstStyle/>
          <a:p>
            <a:pPr marL="0" indent="0">
              <a:buNone/>
            </a:pPr>
            <a:r>
              <a:rPr lang="en-PH" sz="1800" i="1" dirty="0"/>
              <a:t>Definition:</a:t>
            </a:r>
          </a:p>
          <a:p>
            <a:pPr marL="0" indent="0">
              <a:buNone/>
            </a:pPr>
            <a:r>
              <a:rPr lang="en-PH" sz="1800" i="1" dirty="0"/>
              <a:t>	</a:t>
            </a:r>
            <a:r>
              <a:rPr lang="en-PH" sz="1800" dirty="0"/>
              <a:t> A </a:t>
            </a:r>
            <a:r>
              <a:rPr lang="en-PH" sz="1800" b="1" dirty="0"/>
              <a:t>vector space</a:t>
            </a:r>
            <a:r>
              <a:rPr lang="en-PH" sz="1800" dirty="0"/>
              <a:t> is a nonempty set V of objects, called </a:t>
            </a:r>
            <a:r>
              <a:rPr lang="en-PH" sz="1800" i="1" dirty="0"/>
              <a:t>vectors</a:t>
            </a:r>
            <a:r>
              <a:rPr lang="en-PH" sz="1800" dirty="0"/>
              <a:t>,  on which two operations are defined: </a:t>
            </a:r>
            <a:r>
              <a:rPr lang="en-PH" sz="1800" i="1" dirty="0"/>
              <a:t>addition</a:t>
            </a:r>
            <a:r>
              <a:rPr lang="en-PH" sz="1800" dirty="0"/>
              <a:t> and </a:t>
            </a:r>
            <a:r>
              <a:rPr lang="en-PH" sz="1800" i="1" dirty="0"/>
              <a:t>scalar multiplication, </a:t>
            </a:r>
            <a:r>
              <a:rPr lang="en-PH" sz="1800" dirty="0"/>
              <a:t>satisfying the ten (10) axioms.</a:t>
            </a:r>
          </a:p>
          <a:p>
            <a:pPr marL="0" indent="0">
              <a:buNone/>
            </a:pPr>
            <a:r>
              <a:rPr lang="en-PH" sz="1800" dirty="0"/>
              <a:t>           The axioms must hold for all </a:t>
            </a:r>
            <a:r>
              <a:rPr lang="en-PH" sz="1800" b="1" dirty="0"/>
              <a:t>u</a:t>
            </a:r>
            <a:r>
              <a:rPr lang="en-PH" sz="1800" dirty="0"/>
              <a:t>, </a:t>
            </a:r>
            <a:r>
              <a:rPr lang="en-PH" sz="1800" b="1" dirty="0"/>
              <a:t>v</a:t>
            </a:r>
            <a:r>
              <a:rPr lang="en-PH" sz="1800" dirty="0"/>
              <a:t>, and </a:t>
            </a:r>
            <a:r>
              <a:rPr lang="en-PH" sz="1800" b="1" dirty="0"/>
              <a:t>w</a:t>
            </a:r>
            <a:r>
              <a:rPr lang="en-PH" sz="1800" dirty="0"/>
              <a:t> in V and for all scalars </a:t>
            </a:r>
            <a:r>
              <a:rPr lang="en-PH" sz="1800" i="1" dirty="0"/>
              <a:t>c</a:t>
            </a:r>
            <a:r>
              <a:rPr lang="en-PH" sz="1800" dirty="0"/>
              <a:t> and </a:t>
            </a:r>
            <a:r>
              <a:rPr lang="en-PH" sz="1800" i="1" dirty="0"/>
              <a:t>d</a:t>
            </a:r>
            <a:r>
              <a:rPr lang="en-PH" sz="1800" dirty="0"/>
              <a:t>.</a:t>
            </a:r>
          </a:p>
          <a:p>
            <a:pPr marL="0" indent="0">
              <a:buNone/>
            </a:pPr>
            <a:r>
              <a:rPr lang="en-PH" sz="1800" dirty="0"/>
              <a:t> </a:t>
            </a:r>
          </a:p>
          <a:p>
            <a:pPr marL="457200" indent="-457200">
              <a:buClr>
                <a:srgbClr val="C00000"/>
              </a:buClr>
              <a:buFont typeface="+mj-lt"/>
              <a:buAutoNum type="arabicPeriod"/>
            </a:pPr>
            <a:r>
              <a:rPr lang="en-PH" sz="1800" b="1" dirty="0"/>
              <a:t>u</a:t>
            </a:r>
            <a:r>
              <a:rPr lang="en-PH" sz="1800" dirty="0"/>
              <a:t> + </a:t>
            </a:r>
            <a:r>
              <a:rPr lang="en-PH" sz="1800" b="1" dirty="0"/>
              <a:t>v </a:t>
            </a:r>
            <a:r>
              <a:rPr lang="en-PH" sz="1800" dirty="0"/>
              <a:t>is in </a:t>
            </a:r>
            <a:r>
              <a:rPr lang="en-PH" sz="1800" i="1" dirty="0"/>
              <a:t>V</a:t>
            </a:r>
            <a:r>
              <a:rPr lang="en-PH" sz="1800" dirty="0"/>
              <a:t>   		</a:t>
            </a:r>
            <a:r>
              <a:rPr lang="en-PH" sz="1800" i="1" dirty="0"/>
              <a:t>(Closure Property under Addition)</a:t>
            </a:r>
          </a:p>
          <a:p>
            <a:pPr marL="457200" indent="-457200">
              <a:buClr>
                <a:srgbClr val="C00000"/>
              </a:buClr>
              <a:buFont typeface="+mj-lt"/>
              <a:buAutoNum type="arabicPeriod"/>
            </a:pPr>
            <a:r>
              <a:rPr lang="en-PH" sz="1800" b="1" dirty="0"/>
              <a:t>u</a:t>
            </a:r>
            <a:r>
              <a:rPr lang="en-PH" sz="1800" dirty="0"/>
              <a:t> + </a:t>
            </a:r>
            <a:r>
              <a:rPr lang="en-PH" sz="1800" b="1" dirty="0"/>
              <a:t>v</a:t>
            </a:r>
            <a:r>
              <a:rPr lang="en-PH" sz="1800" dirty="0"/>
              <a:t> = </a:t>
            </a:r>
            <a:r>
              <a:rPr lang="en-PH" sz="1800" b="1" dirty="0"/>
              <a:t>v</a:t>
            </a:r>
            <a:r>
              <a:rPr lang="en-PH" sz="1800" dirty="0"/>
              <a:t> + </a:t>
            </a:r>
            <a:r>
              <a:rPr lang="en-PH" sz="1800" b="1" dirty="0"/>
              <a:t>u</a:t>
            </a:r>
            <a:r>
              <a:rPr lang="en-PH" sz="1800" dirty="0"/>
              <a:t> 		</a:t>
            </a:r>
            <a:r>
              <a:rPr lang="en-PH" sz="1800" i="1" dirty="0"/>
              <a:t>(Commutative Property)</a:t>
            </a:r>
          </a:p>
          <a:p>
            <a:pPr marL="457200" indent="-457200">
              <a:buClr>
                <a:srgbClr val="C00000"/>
              </a:buClr>
              <a:buFont typeface="+mj-lt"/>
              <a:buAutoNum type="arabicPeriod"/>
            </a:pPr>
            <a:r>
              <a:rPr lang="en-PH" sz="1800" b="1" dirty="0"/>
              <a:t>u</a:t>
            </a:r>
            <a:r>
              <a:rPr lang="en-PH" sz="1800" dirty="0"/>
              <a:t> + (</a:t>
            </a:r>
            <a:r>
              <a:rPr lang="en-PH" sz="1800" b="1" dirty="0"/>
              <a:t>v </a:t>
            </a:r>
            <a:r>
              <a:rPr lang="en-PH" sz="1800" dirty="0"/>
              <a:t>+</a:t>
            </a:r>
            <a:r>
              <a:rPr lang="en-PH" sz="1800" b="1" dirty="0"/>
              <a:t> w)</a:t>
            </a:r>
            <a:r>
              <a:rPr lang="en-PH" sz="1800" dirty="0"/>
              <a:t> =  (</a:t>
            </a:r>
            <a:r>
              <a:rPr lang="en-PH" sz="1800" b="1" dirty="0"/>
              <a:t>u</a:t>
            </a:r>
            <a:r>
              <a:rPr lang="en-PH" sz="1800" dirty="0"/>
              <a:t> + </a:t>
            </a:r>
            <a:r>
              <a:rPr lang="en-PH" sz="1800" b="1" dirty="0"/>
              <a:t>v</a:t>
            </a:r>
            <a:r>
              <a:rPr lang="en-PH" sz="1800" dirty="0"/>
              <a:t>) + </a:t>
            </a:r>
            <a:r>
              <a:rPr lang="en-PH" sz="1800" b="1" dirty="0"/>
              <a:t>w	</a:t>
            </a:r>
            <a:r>
              <a:rPr lang="en-PH" sz="1800" dirty="0"/>
              <a:t> </a:t>
            </a:r>
            <a:r>
              <a:rPr lang="en-PH" sz="1800" i="1" dirty="0"/>
              <a:t>(Associative Property of Addition)</a:t>
            </a:r>
          </a:p>
          <a:p>
            <a:pPr marL="457200" indent="-457200">
              <a:buClr>
                <a:srgbClr val="C00000"/>
              </a:buClr>
              <a:buFont typeface="+mj-lt"/>
              <a:buAutoNum type="arabicPeriod"/>
            </a:pPr>
            <a:r>
              <a:rPr lang="en-PH" sz="1800" dirty="0"/>
              <a:t>There is a vector </a:t>
            </a:r>
            <a:r>
              <a:rPr lang="en-PH" sz="1800" b="1" dirty="0"/>
              <a:t>0</a:t>
            </a:r>
            <a:r>
              <a:rPr lang="en-PH" sz="1800" dirty="0"/>
              <a:t> ( called the zero vector) in </a:t>
            </a:r>
            <a:r>
              <a:rPr lang="en-PH" sz="1800" i="1" dirty="0"/>
              <a:t>V</a:t>
            </a:r>
            <a:r>
              <a:rPr lang="en-PH" sz="1800" dirty="0"/>
              <a:t> such that    </a:t>
            </a:r>
            <a:r>
              <a:rPr lang="en-PH" sz="1800" b="1" dirty="0"/>
              <a:t>u</a:t>
            </a:r>
            <a:r>
              <a:rPr lang="en-PH" sz="1800" dirty="0"/>
              <a:t> + </a:t>
            </a:r>
            <a:r>
              <a:rPr lang="en-PH" sz="1800" b="1" dirty="0"/>
              <a:t>0 </a:t>
            </a:r>
            <a:r>
              <a:rPr lang="en-PH" sz="1800" dirty="0"/>
              <a:t>= </a:t>
            </a:r>
            <a:r>
              <a:rPr lang="en-PH" sz="1800" b="1" dirty="0"/>
              <a:t>u</a:t>
            </a:r>
          </a:p>
          <a:p>
            <a:pPr marL="457200" indent="-457200">
              <a:buClr>
                <a:srgbClr val="C00000"/>
              </a:buClr>
              <a:buFont typeface="+mj-lt"/>
              <a:buAutoNum type="arabicPeriod"/>
            </a:pPr>
            <a:r>
              <a:rPr lang="en-PH" sz="1800" dirty="0"/>
              <a:t>For each</a:t>
            </a:r>
            <a:r>
              <a:rPr lang="en-PH" sz="1800" b="1" dirty="0"/>
              <a:t> u </a:t>
            </a:r>
            <a:r>
              <a:rPr lang="en-PH" sz="1800" dirty="0"/>
              <a:t>in </a:t>
            </a:r>
            <a:r>
              <a:rPr lang="en-PH" sz="1800" i="1" dirty="0"/>
              <a:t>V</a:t>
            </a:r>
            <a:r>
              <a:rPr lang="en-PH" sz="1800" b="1" dirty="0"/>
              <a:t>, </a:t>
            </a:r>
            <a:r>
              <a:rPr lang="en-PH" sz="1800" dirty="0"/>
              <a:t>there is vector</a:t>
            </a:r>
            <a:r>
              <a:rPr lang="en-PH" sz="1800" b="1" dirty="0"/>
              <a:t> –u  </a:t>
            </a:r>
            <a:r>
              <a:rPr lang="en-PH" sz="1800" dirty="0"/>
              <a:t>in </a:t>
            </a:r>
            <a:r>
              <a:rPr lang="en-PH" sz="1800" i="1" dirty="0"/>
              <a:t>V</a:t>
            </a:r>
            <a:r>
              <a:rPr lang="en-PH" sz="1800" dirty="0"/>
              <a:t> satisfying</a:t>
            </a:r>
            <a:r>
              <a:rPr lang="en-PH" sz="1800" b="1" dirty="0"/>
              <a:t>      u</a:t>
            </a:r>
            <a:r>
              <a:rPr lang="en-PH" sz="1800" dirty="0"/>
              <a:t> + (- </a:t>
            </a:r>
            <a:r>
              <a:rPr lang="en-PH" sz="1800" b="1" dirty="0"/>
              <a:t>u</a:t>
            </a:r>
            <a:r>
              <a:rPr lang="en-PH" sz="1800" dirty="0"/>
              <a:t>) = </a:t>
            </a:r>
            <a:r>
              <a:rPr lang="en-PH" sz="1800" b="1" dirty="0"/>
              <a:t>0</a:t>
            </a:r>
          </a:p>
          <a:p>
            <a:pPr marL="457200" indent="-457200">
              <a:buClr>
                <a:srgbClr val="C00000"/>
              </a:buClr>
              <a:buFont typeface="+mj-lt"/>
              <a:buAutoNum type="arabicPeriod"/>
            </a:pPr>
            <a:r>
              <a:rPr lang="en-PH" sz="1800" i="1" dirty="0"/>
              <a:t>c</a:t>
            </a:r>
            <a:r>
              <a:rPr lang="en-PH" sz="1800" b="1" dirty="0"/>
              <a:t>u  </a:t>
            </a:r>
            <a:r>
              <a:rPr lang="en-PH" sz="1800" dirty="0"/>
              <a:t>is  in </a:t>
            </a:r>
            <a:r>
              <a:rPr lang="en-PH" sz="1800" i="1" dirty="0"/>
              <a:t>V			</a:t>
            </a:r>
            <a:r>
              <a:rPr lang="en-PH" sz="1800" dirty="0"/>
              <a:t> </a:t>
            </a:r>
            <a:r>
              <a:rPr lang="en-PH" sz="1800" i="1" dirty="0"/>
              <a:t>(Closure Property under Multiplication)</a:t>
            </a:r>
          </a:p>
          <a:p>
            <a:pPr marL="457200" indent="-457200">
              <a:buClr>
                <a:srgbClr val="C00000"/>
              </a:buClr>
              <a:buFont typeface="+mj-lt"/>
              <a:buAutoNum type="arabicPeriod"/>
            </a:pPr>
            <a:r>
              <a:rPr lang="en-PH" sz="1800" i="1" dirty="0"/>
              <a:t>c(</a:t>
            </a:r>
            <a:r>
              <a:rPr lang="en-PH" sz="1800" b="1" dirty="0"/>
              <a:t>u</a:t>
            </a:r>
            <a:r>
              <a:rPr lang="en-PH" sz="1800" dirty="0"/>
              <a:t> + </a:t>
            </a:r>
            <a:r>
              <a:rPr lang="en-PH" sz="1800" b="1" dirty="0"/>
              <a:t>v</a:t>
            </a:r>
            <a:r>
              <a:rPr lang="en-PH" sz="1800" i="1" dirty="0"/>
              <a:t>)</a:t>
            </a:r>
            <a:r>
              <a:rPr lang="en-PH" sz="1800" dirty="0"/>
              <a:t> = </a:t>
            </a:r>
            <a:r>
              <a:rPr lang="en-PH" sz="1800" i="1" dirty="0"/>
              <a:t>c</a:t>
            </a:r>
            <a:r>
              <a:rPr lang="en-PH" sz="1800" b="1" dirty="0"/>
              <a:t>u</a:t>
            </a:r>
            <a:r>
              <a:rPr lang="en-PH" sz="1800" dirty="0"/>
              <a:t> + </a:t>
            </a:r>
            <a:r>
              <a:rPr lang="en-PH" sz="1800" i="1" dirty="0"/>
              <a:t>c</a:t>
            </a:r>
            <a:r>
              <a:rPr lang="en-PH" sz="1800" b="1" dirty="0"/>
              <a:t>v		  </a:t>
            </a:r>
            <a:r>
              <a:rPr lang="en-PH" sz="1800" i="1" dirty="0"/>
              <a:t>(Left Distributive Property)</a:t>
            </a:r>
          </a:p>
          <a:p>
            <a:pPr marL="457200" indent="-457200">
              <a:buClr>
                <a:srgbClr val="C00000"/>
              </a:buClr>
              <a:buFont typeface="+mj-lt"/>
              <a:buAutoNum type="arabicPeriod"/>
            </a:pPr>
            <a:r>
              <a:rPr lang="en-PH" sz="1800" i="1" dirty="0"/>
              <a:t>(c +d)</a:t>
            </a:r>
            <a:r>
              <a:rPr lang="en-PH" sz="1800" dirty="0"/>
              <a:t> </a:t>
            </a:r>
            <a:r>
              <a:rPr lang="en-PH" sz="1800" b="1" dirty="0"/>
              <a:t>u </a:t>
            </a:r>
            <a:r>
              <a:rPr lang="en-PH" sz="1800" dirty="0"/>
              <a:t> = </a:t>
            </a:r>
            <a:r>
              <a:rPr lang="en-PH" sz="1800" i="1" dirty="0"/>
              <a:t>c</a:t>
            </a:r>
            <a:r>
              <a:rPr lang="en-PH" sz="1800" b="1" dirty="0"/>
              <a:t>u </a:t>
            </a:r>
            <a:r>
              <a:rPr lang="en-PH" sz="1800" dirty="0"/>
              <a:t>+ </a:t>
            </a:r>
            <a:r>
              <a:rPr lang="en-PH" sz="1800" i="1" dirty="0"/>
              <a:t>d</a:t>
            </a:r>
            <a:r>
              <a:rPr lang="en-PH" sz="1800" b="1" dirty="0"/>
              <a:t>u		</a:t>
            </a:r>
            <a:r>
              <a:rPr lang="en-PH" sz="1800" b="1" i="1" dirty="0"/>
              <a:t> </a:t>
            </a:r>
            <a:r>
              <a:rPr lang="en-PH" sz="1800" i="1" dirty="0"/>
              <a:t>(Right Distributive Property)</a:t>
            </a:r>
          </a:p>
          <a:p>
            <a:pPr marL="457200" indent="-457200">
              <a:buClr>
                <a:srgbClr val="C00000"/>
              </a:buClr>
              <a:buFont typeface="+mj-lt"/>
              <a:buAutoNum type="arabicPeriod"/>
            </a:pPr>
            <a:r>
              <a:rPr lang="en-PH" sz="1800" i="1" dirty="0"/>
              <a:t>c(d</a:t>
            </a:r>
            <a:r>
              <a:rPr lang="en-PH" sz="1800" b="1" dirty="0"/>
              <a:t>u</a:t>
            </a:r>
            <a:r>
              <a:rPr lang="en-PH" sz="1800" dirty="0"/>
              <a:t>) = </a:t>
            </a:r>
            <a:r>
              <a:rPr lang="en-PH" sz="1800" i="1" dirty="0"/>
              <a:t>(cd)</a:t>
            </a:r>
            <a:r>
              <a:rPr lang="en-PH" sz="1800" dirty="0"/>
              <a:t> </a:t>
            </a:r>
            <a:r>
              <a:rPr lang="en-PH" sz="1800" b="1" dirty="0"/>
              <a:t>u		 </a:t>
            </a:r>
            <a:r>
              <a:rPr lang="en-PH" sz="1800" i="1" dirty="0"/>
              <a:t>(Associative Property of Multiplication)</a:t>
            </a:r>
            <a:r>
              <a:rPr lang="en-PH" sz="1800" b="1" dirty="0"/>
              <a:t> </a:t>
            </a:r>
          </a:p>
          <a:p>
            <a:pPr marL="457200" indent="-457200">
              <a:buClr>
                <a:srgbClr val="C00000"/>
              </a:buClr>
              <a:buFont typeface="+mj-lt"/>
              <a:buAutoNum type="arabicPeriod"/>
            </a:pPr>
            <a:r>
              <a:rPr lang="en-PH" sz="1800" dirty="0"/>
              <a:t>1</a:t>
            </a:r>
            <a:r>
              <a:rPr lang="en-PH" sz="1800" b="1" dirty="0"/>
              <a:t>u </a:t>
            </a:r>
            <a:r>
              <a:rPr lang="en-PH" sz="1800" dirty="0"/>
              <a:t>= </a:t>
            </a:r>
            <a:r>
              <a:rPr lang="en-PH" sz="1800" b="1" dirty="0"/>
              <a:t>u 			</a:t>
            </a:r>
            <a:r>
              <a:rPr lang="en-PH" sz="1800" dirty="0"/>
              <a:t> </a:t>
            </a:r>
            <a:r>
              <a:rPr lang="en-PH" sz="1800" i="1" dirty="0"/>
              <a:t>(Scalar Identity)</a:t>
            </a:r>
          </a:p>
          <a:p>
            <a:pPr marL="0" indent="0">
              <a:buNone/>
            </a:pPr>
            <a:endParaRPr lang="en-PH" sz="1800" dirty="0"/>
          </a:p>
        </p:txBody>
      </p:sp>
    </p:spTree>
    <p:extLst>
      <p:ext uri="{BB962C8B-B14F-4D97-AF65-F5344CB8AC3E}">
        <p14:creationId xmlns:p14="http://schemas.microsoft.com/office/powerpoint/2010/main" val="3170294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a:t>
            </a:r>
            <a:r>
              <a:rPr lang="en-PH"/>
              <a:t>Space Examples</a:t>
            </a:r>
            <a:endParaRPr lang="en-PH"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4876800"/>
              </a:xfrm>
            </p:spPr>
            <p:txBody>
              <a:bodyPr>
                <a:normAutofit/>
              </a:bodyPr>
              <a:lstStyle/>
              <a:p>
                <a:pPr marL="0" indent="0">
                  <a:buNone/>
                </a:pPr>
                <a:r>
                  <a:rPr lang="en-PH" sz="2000" dirty="0"/>
                  <a:t>Example #1:</a:t>
                </a:r>
              </a:p>
              <a:p>
                <a:pPr marL="0" indent="0">
                  <a:buNone/>
                </a:pPr>
                <a:r>
                  <a:rPr lang="en-PH" sz="2000" dirty="0"/>
                  <a:t>	Let </a:t>
                </a:r>
                <a:r>
                  <a:rPr lang="en-PH" sz="2000" i="1" dirty="0"/>
                  <a:t>V be</a:t>
                </a:r>
                <a:r>
                  <a:rPr lang="en-PH" sz="2000" dirty="0"/>
                  <a:t> the set of all </a:t>
                </a:r>
                <a14:m>
                  <m:oMath xmlns:m="http://schemas.openxmlformats.org/officeDocument/2006/math">
                    <m:r>
                      <a:rPr lang="en-PH" sz="2000" b="0" i="1" smtClean="0">
                        <a:latin typeface="Cambria Math"/>
                      </a:rPr>
                      <m:t>𝑛𝑥</m:t>
                    </m:r>
                    <m:r>
                      <a:rPr lang="en-PH" sz="2000" b="0" i="1" smtClean="0">
                        <a:latin typeface="Cambria Math"/>
                      </a:rPr>
                      <m:t>1 </m:t>
                    </m:r>
                  </m:oMath>
                </a14:m>
                <a:r>
                  <a:rPr lang="en-PH" sz="2000" dirty="0"/>
                  <a:t>column matrices or </a:t>
                </a:r>
                <a14:m>
                  <m:oMath xmlns:m="http://schemas.openxmlformats.org/officeDocument/2006/math">
                    <m:sSup>
                      <m:sSupPr>
                        <m:ctrlPr>
                          <a:rPr lang="en-PH" sz="2000" i="1">
                            <a:latin typeface="Cambria Math" panose="02040503050406030204" pitchFamily="18" charset="0"/>
                          </a:rPr>
                        </m:ctrlPr>
                      </m:sSupPr>
                      <m:e>
                        <m:r>
                          <a:rPr lang="en-PH" sz="2000" i="1">
                            <a:latin typeface="Cambria Math"/>
                          </a:rPr>
                          <m:t>𝑅</m:t>
                        </m:r>
                      </m:e>
                      <m:sup>
                        <m:r>
                          <a:rPr lang="en-PH" sz="2000" i="1">
                            <a:latin typeface="Cambria Math"/>
                          </a:rPr>
                          <m:t>𝑛</m:t>
                        </m:r>
                      </m:sup>
                    </m:sSup>
                  </m:oMath>
                </a14:m>
                <a:r>
                  <a:rPr lang="en-PH" sz="2000" dirty="0"/>
                  <a:t>,  with real numbers, let the scalars be </a:t>
                </a:r>
                <a14:m>
                  <m:oMath xmlns:m="http://schemas.openxmlformats.org/officeDocument/2006/math">
                    <m:r>
                      <a:rPr lang="en-PH" sz="2000" b="0" i="1" smtClean="0">
                        <a:latin typeface="Cambria Math"/>
                      </a:rPr>
                      <m:t>𝑅</m:t>
                    </m:r>
                    <m:r>
                      <a:rPr lang="en-PH" sz="2000" b="0" i="1" smtClean="0">
                        <a:latin typeface="Cambria Math"/>
                      </a:rPr>
                      <m:t> (</m:t>
                    </m:r>
                    <m:r>
                      <a:rPr lang="en-PH" sz="2000" b="0" i="1" smtClean="0">
                        <a:latin typeface="Cambria Math"/>
                      </a:rPr>
                      <m:t>𝑠𝑒𝑡</m:t>
                    </m:r>
                    <m:r>
                      <a:rPr lang="en-PH" sz="2000" b="0" i="1" smtClean="0">
                        <a:latin typeface="Cambria Math"/>
                      </a:rPr>
                      <m:t> </m:t>
                    </m:r>
                    <m:r>
                      <a:rPr lang="en-PH" sz="2000" b="0" i="1" smtClean="0">
                        <a:latin typeface="Cambria Math"/>
                      </a:rPr>
                      <m:t>𝑜𝑓</m:t>
                    </m:r>
                    <m:r>
                      <a:rPr lang="en-PH" sz="2000" b="0" i="1" smtClean="0">
                        <a:latin typeface="Cambria Math"/>
                      </a:rPr>
                      <m:t> </m:t>
                    </m:r>
                    <m:r>
                      <a:rPr lang="en-PH" sz="2000" b="0" i="1" smtClean="0">
                        <a:latin typeface="Cambria Math"/>
                      </a:rPr>
                      <m:t>𝑟𝑒𝑎𝑙</m:t>
                    </m:r>
                    <m:r>
                      <a:rPr lang="en-PH" sz="2000" b="0" i="1" smtClean="0">
                        <a:latin typeface="Cambria Math"/>
                      </a:rPr>
                      <m:t> </m:t>
                    </m:r>
                    <m:r>
                      <a:rPr lang="en-PH" sz="2000" b="0" i="1" smtClean="0">
                        <a:latin typeface="Cambria Math"/>
                      </a:rPr>
                      <m:t>𝑛𝑢𝑚𝑏𝑒𝑟𝑠</m:t>
                    </m:r>
                    <m:r>
                      <a:rPr lang="en-PH" sz="2000" b="0" i="1" smtClean="0">
                        <a:latin typeface="Cambria Math"/>
                      </a:rPr>
                      <m:t>)</m:t>
                    </m:r>
                  </m:oMath>
                </a14:m>
                <a:r>
                  <a:rPr lang="en-PH" sz="2000" dirty="0"/>
                  <a:t> , and define vector addition and scalar multiplication by:</a:t>
                </a:r>
              </a:p>
              <a:p>
                <a:pPr marL="0" indent="0">
                  <a:buNone/>
                </a:pPr>
                <a14:m>
                  <m:oMath xmlns:m="http://schemas.openxmlformats.org/officeDocument/2006/math">
                    <m:d>
                      <m:dPr>
                        <m:begChr m:val="["/>
                        <m:endChr m:val="]"/>
                        <m:ctrlPr>
                          <a:rPr lang="en-PH" sz="2000" i="1" smtClean="0">
                            <a:latin typeface="Cambria Math" panose="02040503050406030204" pitchFamily="18" charset="0"/>
                          </a:rPr>
                        </m:ctrlPr>
                      </m:dPr>
                      <m:e>
                        <m:eqArr>
                          <m:eqArrPr>
                            <m:ctrlPr>
                              <a:rPr lang="en-PH" sz="2000" i="1" smtClean="0">
                                <a:latin typeface="Cambria Math" panose="02040503050406030204" pitchFamily="18" charset="0"/>
                              </a:rPr>
                            </m:ctrlPr>
                          </m:eqArrPr>
                          <m:e>
                            <m:m>
                              <m:mPr>
                                <m:mcs>
                                  <m:mc>
                                    <m:mcPr>
                                      <m:count m:val="1"/>
                                      <m:mcJc m:val="center"/>
                                    </m:mcPr>
                                  </m:mc>
                                </m:mcs>
                                <m:ctrlPr>
                                  <a:rPr lang="en-PH" sz="2000" i="1" smtClean="0">
                                    <a:latin typeface="Cambria Math" panose="02040503050406030204" pitchFamily="18" charset="0"/>
                                  </a:rPr>
                                </m:ctrlPr>
                              </m:mPr>
                              <m:mr>
                                <m:e>
                                  <m:sSub>
                                    <m:sSubPr>
                                      <m:ctrlPr>
                                        <a:rPr lang="en-PH" sz="2000" i="1" smtClean="0">
                                          <a:latin typeface="Cambria Math" panose="02040503050406030204" pitchFamily="18" charset="0"/>
                                        </a:rPr>
                                      </m:ctrlPr>
                                    </m:sSubPr>
                                    <m:e>
                                      <m:r>
                                        <a:rPr lang="en-PH" sz="2000" b="0" i="1" smtClean="0">
                                          <a:latin typeface="Cambria Math"/>
                                        </a:rPr>
                                        <m:t>𝑥</m:t>
                                      </m:r>
                                    </m:e>
                                    <m:sub>
                                      <m:r>
                                        <a:rPr lang="en-PH" sz="2000" b="0" i="1" smtClean="0">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𝑥</m:t>
                                      </m:r>
                                    </m:e>
                                    <m:sub>
                                      <m:r>
                                        <a:rPr lang="en-PH" sz="2000" b="0" i="1" smtClean="0">
                                          <a:latin typeface="Cambria Math"/>
                                        </a:rPr>
                                        <m:t>2</m:t>
                                      </m:r>
                                    </m:sub>
                                  </m:sSub>
                                </m:e>
                              </m:mr>
                            </m:m>
                          </m:e>
                          <m:e>
                            <m:r>
                              <a:rPr lang="en-PH" sz="2000" i="1" smtClean="0">
                                <a:latin typeface="Cambria Math"/>
                              </a:rPr>
                              <m:t>⋮</m:t>
                            </m:r>
                          </m:e>
                          <m:e>
                            <m:sSub>
                              <m:sSubPr>
                                <m:ctrlPr>
                                  <a:rPr lang="en-PH" sz="2000" i="1" smtClean="0">
                                    <a:latin typeface="Cambria Math" panose="02040503050406030204" pitchFamily="18" charset="0"/>
                                  </a:rPr>
                                </m:ctrlPr>
                              </m:sSubPr>
                              <m:e>
                                <m:r>
                                  <a:rPr lang="en-PH" sz="2000" i="1">
                                    <a:latin typeface="Cambria Math"/>
                                  </a:rPr>
                                  <m:t>𝑥</m:t>
                                </m:r>
                              </m:e>
                              <m:sub>
                                <m:r>
                                  <a:rPr lang="en-PH" sz="2000" b="0" i="1" smtClean="0">
                                    <a:latin typeface="Cambria Math"/>
                                  </a:rPr>
                                  <m:t>𝑛</m:t>
                                </m:r>
                              </m:sub>
                            </m:sSub>
                          </m:e>
                        </m:eqArr>
                      </m:e>
                    </m:d>
                  </m:oMath>
                </a14:m>
                <a:r>
                  <a:rPr lang="en-PH" sz="2000" dirty="0"/>
                  <a:t> + </a:t>
                </a:r>
                <a14:m>
                  <m:oMath xmlns:m="http://schemas.openxmlformats.org/officeDocument/2006/math">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b="0" i="1" smtClean="0">
                                          <a:latin typeface="Cambria Math"/>
                                        </a:rPr>
                                        <m:t>𝑦</m:t>
                                      </m:r>
                                    </m:e>
                                    <m:sub>
                                      <m:r>
                                        <a:rPr lang="en-PH" sz="2000" i="1">
                                          <a:latin typeface="Cambria Math"/>
                                        </a:rPr>
                                        <m:t>1</m:t>
                                      </m:r>
                                    </m:sub>
                                  </m:sSub>
                                </m:e>
                              </m:mr>
                              <m:mr>
                                <m:e>
                                  <m:sSub>
                                    <m:sSubPr>
                                      <m:ctrlPr>
                                        <a:rPr lang="en-PH" sz="2000" i="1" smtClean="0">
                                          <a:latin typeface="Cambria Math" panose="02040503050406030204" pitchFamily="18" charset="0"/>
                                        </a:rPr>
                                      </m:ctrlPr>
                                    </m:sSubPr>
                                    <m:e>
                                      <m:r>
                                        <a:rPr lang="en-PH" sz="2000" b="0" i="1" smtClean="0">
                                          <a:latin typeface="Cambria Math"/>
                                        </a:rPr>
                                        <m:t>𝑦</m:t>
                                      </m:r>
                                    </m:e>
                                    <m:sub>
                                      <m:r>
                                        <a:rPr lang="en-PH" sz="2000" b="0" i="1" smtClean="0">
                                          <a:latin typeface="Cambria Math"/>
                                        </a:rPr>
                                        <m:t>2</m:t>
                                      </m:r>
                                    </m:sub>
                                  </m:sSub>
                                </m:e>
                              </m:mr>
                            </m:m>
                          </m:e>
                          <m:e>
                            <m:r>
                              <a:rPr lang="en-PH" sz="2000" i="1">
                                <a:latin typeface="Cambria Math"/>
                              </a:rPr>
                              <m:t>⋮</m:t>
                            </m:r>
                          </m:e>
                          <m:e>
                            <m:sSub>
                              <m:sSubPr>
                                <m:ctrlPr>
                                  <a:rPr lang="en-PH" sz="2000" i="1">
                                    <a:latin typeface="Cambria Math" panose="02040503050406030204" pitchFamily="18" charset="0"/>
                                  </a:rPr>
                                </m:ctrlPr>
                              </m:sSubPr>
                              <m:e>
                                <m:r>
                                  <a:rPr lang="en-PH" sz="2000" b="0" i="1" smtClean="0">
                                    <a:latin typeface="Cambria Math"/>
                                  </a:rPr>
                                  <m:t>𝑦</m:t>
                                </m:r>
                              </m:e>
                              <m:sub>
                                <m:r>
                                  <a:rPr lang="en-PH" sz="2000" b="0" i="1" smtClean="0">
                                    <a:latin typeface="Cambria Math"/>
                                  </a:rPr>
                                  <m:t>𝑛</m:t>
                                </m:r>
                              </m:sub>
                            </m:sSub>
                          </m:e>
                        </m:eqArr>
                      </m:e>
                    </m:d>
                  </m:oMath>
                </a14:m>
                <a:r>
                  <a:rPr lang="en-PH" sz="2000" dirty="0"/>
                  <a:t> = </a:t>
                </a:r>
                <a14:m>
                  <m:oMath xmlns:m="http://schemas.openxmlformats.org/officeDocument/2006/math">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1</m:t>
                                      </m:r>
                                    </m:sub>
                                  </m:sSub>
                                  <m:r>
                                    <a:rPr lang="en-PH" sz="2000" b="0" i="1" smtClean="0">
                                      <a:latin typeface="Cambria Math"/>
                                    </a:rPr>
                                    <m:t>+</m:t>
                                  </m:r>
                                  <m:sSub>
                                    <m:sSubPr>
                                      <m:ctrlPr>
                                        <a:rPr lang="en-PH" sz="2000" i="1">
                                          <a:latin typeface="Cambria Math" panose="02040503050406030204" pitchFamily="18" charset="0"/>
                                        </a:rPr>
                                      </m:ctrlPr>
                                    </m:sSubPr>
                                    <m:e>
                                      <m:r>
                                        <a:rPr lang="en-PH" sz="2000" i="1">
                                          <a:latin typeface="Cambria Math"/>
                                        </a:rPr>
                                        <m:t>𝑦</m:t>
                                      </m:r>
                                    </m:e>
                                    <m:sub>
                                      <m:r>
                                        <a:rPr lang="en-PH" sz="2000" i="1">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2</m:t>
                                      </m:r>
                                    </m:sub>
                                  </m:sSub>
                                  <m:r>
                                    <a:rPr lang="en-PH" sz="2000" b="0" i="1" smtClean="0">
                                      <a:latin typeface="Cambria Math"/>
                                    </a:rPr>
                                    <m:t>+</m:t>
                                  </m:r>
                                  <m:sSub>
                                    <m:sSubPr>
                                      <m:ctrlPr>
                                        <a:rPr lang="en-PH" sz="2000" i="1">
                                          <a:latin typeface="Cambria Math" panose="02040503050406030204" pitchFamily="18" charset="0"/>
                                        </a:rPr>
                                      </m:ctrlPr>
                                    </m:sSubPr>
                                    <m:e>
                                      <m:r>
                                        <a:rPr lang="en-PH" sz="2000" i="1">
                                          <a:latin typeface="Cambria Math"/>
                                        </a:rPr>
                                        <m:t>𝑦</m:t>
                                      </m:r>
                                    </m:e>
                                    <m:sub>
                                      <m:r>
                                        <a:rPr lang="en-PH" sz="2000" b="0" i="1" smtClean="0">
                                          <a:latin typeface="Cambria Math"/>
                                        </a:rPr>
                                        <m:t>2</m:t>
                                      </m:r>
                                    </m:sub>
                                  </m:sSub>
                                </m:e>
                              </m:mr>
                            </m:m>
                          </m:e>
                          <m:e>
                            <m:r>
                              <a:rPr lang="en-PH" sz="2000" i="1">
                                <a:latin typeface="Cambria Math"/>
                              </a:rPr>
                              <m:t>⋮</m:t>
                            </m:r>
                          </m:e>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𝑛</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𝑦</m:t>
                                </m:r>
                              </m:e>
                              <m:sub>
                                <m:r>
                                  <a:rPr lang="en-PH" sz="2000" b="0" i="1" smtClean="0">
                                    <a:latin typeface="Cambria Math"/>
                                  </a:rPr>
                                  <m:t>𝑛</m:t>
                                </m:r>
                              </m:sub>
                            </m:sSub>
                          </m:e>
                        </m:eqArr>
                      </m:e>
                    </m:d>
                  </m:oMath>
                </a14:m>
                <a:r>
                  <a:rPr lang="en-PH" sz="2000" baseline="-25000" dirty="0"/>
                  <a:t>              </a:t>
                </a:r>
                <a:r>
                  <a:rPr lang="en-PH" baseline="-25000" dirty="0"/>
                  <a:t>and     </a:t>
                </a:r>
                <a:r>
                  <a:rPr lang="en-PH" sz="2800" i="1" baseline="-25000" dirty="0"/>
                  <a:t>c</a:t>
                </a:r>
                <a:r>
                  <a:rPr lang="en-PH" sz="2000" dirty="0"/>
                  <a:t> </a:t>
                </a:r>
                <a14:m>
                  <m:oMath xmlns:m="http://schemas.openxmlformats.org/officeDocument/2006/math">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2</m:t>
                                      </m:r>
                                    </m:sub>
                                  </m:sSub>
                                </m:e>
                              </m:mr>
                            </m:m>
                          </m:e>
                          <m:e>
                            <m:r>
                              <a:rPr lang="en-PH" sz="2000" i="1">
                                <a:latin typeface="Cambria Math"/>
                              </a:rPr>
                              <m:t>⋮</m:t>
                            </m:r>
                          </m:e>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𝑛</m:t>
                                </m:r>
                              </m:sub>
                            </m:sSub>
                          </m:e>
                        </m:eqArr>
                      </m:e>
                    </m:d>
                    <m:r>
                      <a:rPr lang="en-PH" sz="2000" b="0" i="1" smtClean="0">
                        <a:latin typeface="Cambria Math"/>
                      </a:rPr>
                      <m:t>=</m:t>
                    </m:r>
                    <m:d>
                      <m:dPr>
                        <m:begChr m:val="["/>
                        <m:endChr m:val="]"/>
                        <m:ctrlPr>
                          <a:rPr lang="en-PH" sz="2000" i="1">
                            <a:latin typeface="Cambria Math" panose="02040503050406030204" pitchFamily="18" charset="0"/>
                          </a:rPr>
                        </m:ctrlPr>
                      </m:dPr>
                      <m:e>
                        <m:eqArr>
                          <m:eqArrPr>
                            <m:ctrlPr>
                              <a:rPr lang="en-PH" sz="2000" i="1" smtClean="0">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b="0" i="1" smtClean="0">
                                          <a:latin typeface="Cambria Math"/>
                                        </a:rPr>
                                        <m:t>𝑐</m:t>
                                      </m:r>
                                      <m:r>
                                        <a:rPr lang="en-PH" sz="2000" i="1">
                                          <a:latin typeface="Cambria Math"/>
                                        </a:rPr>
                                        <m:t>𝑥</m:t>
                                      </m:r>
                                    </m:e>
                                    <m:sub>
                                      <m:r>
                                        <a:rPr lang="en-PH" sz="2000" i="1">
                                          <a:latin typeface="Cambria Math"/>
                                        </a:rPr>
                                        <m:t>1</m:t>
                                      </m:r>
                                    </m:sub>
                                  </m:sSub>
                                </m:e>
                              </m:mr>
                              <m:mr>
                                <m:e>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2</m:t>
                                      </m:r>
                                    </m:sub>
                                  </m:sSub>
                                </m:e>
                              </m:mr>
                            </m:m>
                          </m:e>
                          <m:e>
                            <m:r>
                              <a:rPr lang="en-PH" sz="2000" i="1">
                                <a:latin typeface="Cambria Math"/>
                              </a:rPr>
                              <m:t>⋮</m:t>
                            </m:r>
                          </m:e>
                          <m:e>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𝑛</m:t>
                                </m:r>
                              </m:sub>
                            </m:sSub>
                          </m:e>
                        </m:eqArr>
                      </m:e>
                    </m:d>
                  </m:oMath>
                </a14:m>
                <a:r>
                  <a:rPr lang="en-PH" sz="2000" i="1" baseline="-25000" dirty="0"/>
                  <a:t> </a:t>
                </a:r>
              </a:p>
              <a:p>
                <a:pPr marL="0" indent="0">
                  <a:buNone/>
                </a:pPr>
                <a:endParaRPr lang="en-PH" sz="2000" dirty="0"/>
              </a:p>
              <a:p>
                <a:pPr marL="0" indent="0">
                  <a:buNone/>
                </a:pPr>
                <a:r>
                  <a:rPr lang="en-PH" sz="2000" dirty="0"/>
                  <a:t>Solution: </a:t>
                </a:r>
              </a:p>
              <a:p>
                <a:pPr marL="0" indent="0">
                  <a:buNone/>
                </a:pPr>
                <a:r>
                  <a:rPr lang="en-PH" sz="2000" dirty="0"/>
                  <a:t>	To determine if the given set is a vector space, we need to verify if all the conditions are satisfied:</a:t>
                </a:r>
              </a:p>
              <a:p>
                <a:pPr marL="0" indent="0">
                  <a:buNone/>
                </a:pPr>
                <a:endParaRPr lang="en-PH" sz="2000" baseline="-250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4876800"/>
              </a:xfrm>
              <a:blipFill rotWithShape="1">
                <a:blip r:embed="rId2"/>
                <a:stretch>
                  <a:fillRect l="-741" t="-500" r="-889"/>
                </a:stretch>
              </a:blipFill>
            </p:spPr>
            <p:txBody>
              <a:bodyPr/>
              <a:lstStyle/>
              <a:p>
                <a:r>
                  <a:rPr lang="en-PH">
                    <a:noFill/>
                  </a:rPr>
                  <a:t> </a:t>
                </a:r>
              </a:p>
            </p:txBody>
          </p:sp>
        </mc:Fallback>
      </mc:AlternateContent>
    </p:spTree>
    <p:extLst>
      <p:ext uri="{BB962C8B-B14F-4D97-AF65-F5344CB8AC3E}">
        <p14:creationId xmlns:p14="http://schemas.microsoft.com/office/powerpoint/2010/main" val="352490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5181600"/>
              </a:xfrm>
            </p:spPr>
            <p:txBody>
              <a:bodyPr>
                <a:normAutofit/>
              </a:bodyPr>
              <a:lstStyle/>
              <a:p>
                <a:pPr marL="0" indent="0">
                  <a:buNone/>
                </a:pPr>
                <a:r>
                  <a:rPr lang="en-PH" sz="1600" dirty="0"/>
                  <a:t>Condition #1:  </a:t>
                </a:r>
                <a:r>
                  <a:rPr lang="en-PH" sz="1600" i="1" dirty="0"/>
                  <a:t>Closure Property of Addition</a:t>
                </a:r>
                <a:r>
                  <a:rPr lang="en-PH" sz="1600" dirty="0"/>
                  <a:t>. Adding two </a:t>
                </a:r>
                <a:r>
                  <a:rPr lang="en-PH" sz="1600" i="1" dirty="0"/>
                  <a:t>nx1</a:t>
                </a:r>
                <a:r>
                  <a:rPr lang="en-PH" sz="1600" dirty="0"/>
                  <a:t> matrices is still an </a:t>
                </a:r>
                <a:r>
                  <a:rPr lang="en-PH" sz="1600" i="1" dirty="0"/>
                  <a:t>nx1</a:t>
                </a:r>
                <a:r>
                  <a:rPr lang="en-PH" sz="1600" dirty="0"/>
                  <a:t> matrix, thus closure property holds true.</a:t>
                </a:r>
              </a:p>
              <a:p>
                <a:pPr marL="0" indent="0">
                  <a:buNone/>
                </a:pPr>
                <a:r>
                  <a:rPr lang="en-PH" sz="1600" dirty="0"/>
                  <a:t>Example, let say we have a </a:t>
                </a:r>
                <a:r>
                  <a:rPr lang="en-PH" sz="1600" i="1" dirty="0"/>
                  <a:t>3x1 matrix:  </a:t>
                </a:r>
                <a:r>
                  <a:rPr lang="en-PH" sz="1600" b="1" dirty="0"/>
                  <a:t>u</a:t>
                </a:r>
                <a:r>
                  <a:rPr lang="en-PH" sz="1600" i="1" dirty="0"/>
                  <a:t>=</a:t>
                </a:r>
                <a14:m>
                  <m:oMath xmlns:m="http://schemas.openxmlformats.org/officeDocument/2006/math">
                    <m:d>
                      <m:dPr>
                        <m:begChr m:val="["/>
                        <m:endChr m:val="]"/>
                        <m:ctrlPr>
                          <a:rPr lang="en-PH" sz="1600" i="1" smtClean="0">
                            <a:latin typeface="Cambria Math" panose="02040503050406030204" pitchFamily="18" charset="0"/>
                          </a:rPr>
                        </m:ctrlPr>
                      </m:dPr>
                      <m:e>
                        <m:m>
                          <m:mPr>
                            <m:mcs>
                              <m:mc>
                                <m:mcPr>
                                  <m:count m:val="1"/>
                                  <m:mcJc m:val="center"/>
                                </m:mcPr>
                              </m:mc>
                            </m:mcs>
                            <m:ctrlPr>
                              <a:rPr lang="en-PH" sz="1600" i="1" smtClean="0">
                                <a:latin typeface="Cambria Math" panose="02040503050406030204" pitchFamily="18" charset="0"/>
                              </a:rPr>
                            </m:ctrlPr>
                          </m:mPr>
                          <m:mr>
                            <m:e>
                              <m:r>
                                <m:rPr>
                                  <m:brk m:alnAt="7"/>
                                </m:rPr>
                                <a:rPr lang="en-US" sz="1600" b="0" i="1" smtClean="0">
                                  <a:latin typeface="Cambria Math" panose="02040503050406030204" pitchFamily="18" charset="0"/>
                                </a:rPr>
                                <m:t>4</m:t>
                              </m:r>
                            </m:e>
                          </m:mr>
                          <m:mr>
                            <m:e>
                              <m:r>
                                <a:rPr lang="en-US" sz="1600" b="0" i="1" smtClean="0">
                                  <a:latin typeface="Cambria Math" panose="02040503050406030204" pitchFamily="18" charset="0"/>
                                </a:rPr>
                                <m:t>−1</m:t>
                              </m:r>
                            </m:e>
                          </m:mr>
                          <m:mr>
                            <m:e>
                              <m:r>
                                <a:rPr lang="en-US" sz="1600" b="0" i="1" smtClean="0">
                                  <a:latin typeface="Cambria Math" panose="02040503050406030204" pitchFamily="18" charset="0"/>
                                </a:rPr>
                                <m:t>3</m:t>
                              </m:r>
                            </m:e>
                          </m:mr>
                        </m:m>
                      </m:e>
                    </m:d>
                  </m:oMath>
                </a14:m>
                <a:r>
                  <a:rPr lang="en-PH" sz="1600" i="1" dirty="0"/>
                  <a:t>   and  </a:t>
                </a:r>
                <a:r>
                  <a:rPr lang="en-PH" sz="1600" b="1" dirty="0"/>
                  <a:t>v</a:t>
                </a:r>
                <a:r>
                  <a:rPr lang="en-PH" sz="1600" i="1" dirty="0"/>
                  <a:t>=</a:t>
                </a:r>
                <a14:m>
                  <m:oMath xmlns:m="http://schemas.openxmlformats.org/officeDocument/2006/math">
                    <m:d>
                      <m:dPr>
                        <m:begChr m:val="["/>
                        <m:endChr m:val="]"/>
                        <m:ctrlPr>
                          <a:rPr lang="en-PH" sz="1600" i="1">
                            <a:latin typeface="Cambria Math" panose="02040503050406030204" pitchFamily="18" charset="0"/>
                          </a:rPr>
                        </m:ctrlPr>
                      </m:dPr>
                      <m:e>
                        <m:m>
                          <m:mPr>
                            <m:mcs>
                              <m:mc>
                                <m:mcPr>
                                  <m:count m:val="1"/>
                                  <m:mcJc m:val="center"/>
                                </m:mcPr>
                              </m:mc>
                            </m:mcs>
                            <m:ctrlPr>
                              <a:rPr lang="en-PH" sz="1600" i="1">
                                <a:latin typeface="Cambria Math" panose="02040503050406030204" pitchFamily="18" charset="0"/>
                              </a:rPr>
                            </m:ctrlPr>
                          </m:mPr>
                          <m:mr>
                            <m:e>
                              <m:r>
                                <m:rPr>
                                  <m:brk m:alnAt="7"/>
                                </m:rPr>
                                <a:rPr lang="en-US" sz="1600" b="0" i="1" smtClean="0">
                                  <a:latin typeface="Cambria Math" panose="02040503050406030204" pitchFamily="18" charset="0"/>
                                </a:rPr>
                                <m:t>2</m:t>
                              </m:r>
                            </m:e>
                          </m:mr>
                          <m:mr>
                            <m:e>
                              <m:r>
                                <a:rPr lang="en-US" sz="1600" b="0" i="1" smtClean="0">
                                  <a:latin typeface="Cambria Math" panose="02040503050406030204" pitchFamily="18" charset="0"/>
                                </a:rPr>
                                <m:t>5</m:t>
                              </m:r>
                            </m:e>
                          </m:mr>
                          <m:mr>
                            <m:e>
                              <m:r>
                                <a:rPr lang="en-US" sz="1600" b="0" i="1" smtClean="0">
                                  <a:latin typeface="Cambria Math" panose="02040503050406030204" pitchFamily="18" charset="0"/>
                                </a:rPr>
                                <m:t>−1</m:t>
                              </m:r>
                            </m:e>
                          </m:mr>
                        </m:m>
                      </m:e>
                    </m:d>
                  </m:oMath>
                </a14:m>
                <a:r>
                  <a:rPr lang="en-PH" sz="1600" i="1" dirty="0"/>
                  <a:t> , adding </a:t>
                </a:r>
                <a:r>
                  <a:rPr lang="en-PH" sz="1600" dirty="0"/>
                  <a:t>u + v= </a:t>
                </a:r>
                <a14:m>
                  <m:oMath xmlns:m="http://schemas.openxmlformats.org/officeDocument/2006/math">
                    <m:d>
                      <m:dPr>
                        <m:begChr m:val="["/>
                        <m:endChr m:val="]"/>
                        <m:ctrlPr>
                          <a:rPr lang="en-PH" sz="1600" i="1">
                            <a:latin typeface="Cambria Math" panose="02040503050406030204" pitchFamily="18" charset="0"/>
                          </a:rPr>
                        </m:ctrlPr>
                      </m:dPr>
                      <m:e>
                        <m:m>
                          <m:mPr>
                            <m:mcs>
                              <m:mc>
                                <m:mcPr>
                                  <m:count m:val="1"/>
                                  <m:mcJc m:val="center"/>
                                </m:mcPr>
                              </m:mc>
                            </m:mcs>
                            <m:ctrlPr>
                              <a:rPr lang="en-PH" sz="1600" i="1">
                                <a:latin typeface="Cambria Math" panose="02040503050406030204" pitchFamily="18" charset="0"/>
                              </a:rPr>
                            </m:ctrlPr>
                          </m:mPr>
                          <m:mr>
                            <m:e>
                              <m:r>
                                <a:rPr lang="en-US" sz="1600" b="0" i="1" smtClean="0">
                                  <a:latin typeface="Cambria Math" panose="02040503050406030204" pitchFamily="18" charset="0"/>
                                </a:rPr>
                                <m:t>6</m:t>
                              </m:r>
                            </m:e>
                          </m:mr>
                          <m:mr>
                            <m:e>
                              <m:r>
                                <a:rPr lang="en-US" sz="1600" b="0" i="1" smtClean="0">
                                  <a:latin typeface="Cambria Math" panose="02040503050406030204" pitchFamily="18" charset="0"/>
                                </a:rPr>
                                <m:t>4</m:t>
                              </m:r>
                            </m:e>
                          </m:mr>
                          <m:mr>
                            <m:e>
                              <m:r>
                                <a:rPr lang="en-US" sz="1600" b="0" i="1" smtClean="0">
                                  <a:latin typeface="Cambria Math" panose="02040503050406030204" pitchFamily="18" charset="0"/>
                                </a:rPr>
                                <m:t>2</m:t>
                              </m:r>
                            </m:e>
                          </m:mr>
                        </m:m>
                      </m:e>
                    </m:d>
                  </m:oMath>
                </a14:m>
                <a:r>
                  <a:rPr lang="en-PH" sz="1600" i="1" dirty="0"/>
                  <a:t> which is still a 3x1 matrix. Thus, it is closed under addition.</a:t>
                </a:r>
              </a:p>
              <a:p>
                <a:pPr marL="0" indent="0">
                  <a:buNone/>
                </a:pPr>
                <a:endParaRPr lang="en-PH" sz="1600" dirty="0"/>
              </a:p>
              <a:p>
                <a:pPr marL="0" indent="0">
                  <a:buNone/>
                </a:pPr>
                <a:r>
                  <a:rPr lang="en-PH" sz="1600" dirty="0"/>
                  <a:t>Condition #2: </a:t>
                </a:r>
                <a:r>
                  <a:rPr lang="en-PH" sz="1600" i="1" dirty="0"/>
                  <a:t>Commutative Property.  </a:t>
                </a:r>
                <a:r>
                  <a:rPr lang="en-PH" sz="1600" dirty="0"/>
                  <a:t>In any order you add two </a:t>
                </a:r>
                <a:r>
                  <a:rPr lang="en-PH" sz="1600" i="1" dirty="0"/>
                  <a:t>nx1</a:t>
                </a:r>
                <a:r>
                  <a:rPr lang="en-PH" sz="1600" dirty="0"/>
                  <a:t> matrices, the results will not be affected, that is,</a:t>
                </a:r>
                <a:endParaRPr lang="en-PH" sz="1600" i="1" dirty="0"/>
              </a:p>
              <a:p>
                <a:pPr marL="0" indent="0" algn="ctr">
                  <a:buNone/>
                </a:pPr>
                <a14:m>
                  <m:oMath xmlns:m="http://schemas.openxmlformats.org/officeDocument/2006/math">
                    <m:d>
                      <m:dPr>
                        <m:begChr m:val="["/>
                        <m:endChr m:val="]"/>
                        <m:ctrlPr>
                          <a:rPr lang="en-PH" sz="1600" i="1" smtClean="0">
                            <a:latin typeface="Cambria Math" panose="02040503050406030204" pitchFamily="18" charset="0"/>
                          </a:rPr>
                        </m:ctrlPr>
                      </m:dPr>
                      <m:e>
                        <m:eqArr>
                          <m:eqArrPr>
                            <m:ctrlPr>
                              <a:rPr lang="en-PH" sz="1600" i="1" smtClean="0">
                                <a:latin typeface="Cambria Math" panose="02040503050406030204" pitchFamily="18" charset="0"/>
                              </a:rPr>
                            </m:ctrlPr>
                          </m:eqArrPr>
                          <m:e>
                            <m:m>
                              <m:mPr>
                                <m:mcs>
                                  <m:mc>
                                    <m:mcPr>
                                      <m:count m:val="1"/>
                                      <m:mcJc m:val="center"/>
                                    </m:mcPr>
                                  </m:mc>
                                </m:mcs>
                                <m:ctrlPr>
                                  <a:rPr lang="en-PH" sz="1600" i="1" smtClean="0">
                                    <a:latin typeface="Cambria Math" panose="02040503050406030204" pitchFamily="18" charset="0"/>
                                  </a:rPr>
                                </m:ctrlPr>
                              </m:mPr>
                              <m:mr>
                                <m:e>
                                  <m:sSub>
                                    <m:sSubPr>
                                      <m:ctrlPr>
                                        <a:rPr lang="en-PH" sz="1600" i="1" smtClean="0">
                                          <a:latin typeface="Cambria Math" panose="02040503050406030204" pitchFamily="18" charset="0"/>
                                        </a:rPr>
                                      </m:ctrlPr>
                                    </m:sSubPr>
                                    <m:e>
                                      <m:r>
                                        <a:rPr lang="en-PH" sz="1600" b="0" i="1" smtClean="0">
                                          <a:latin typeface="Cambria Math"/>
                                        </a:rPr>
                                        <m:t>𝑥</m:t>
                                      </m:r>
                                    </m:e>
                                    <m:sub>
                                      <m:r>
                                        <a:rPr lang="en-PH" sz="1600" b="0" i="1" smtClean="0">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b="0" i="1" smtClean="0">
                                          <a:latin typeface="Cambria Math"/>
                                        </a:rPr>
                                        <m:t>2</m:t>
                                      </m:r>
                                    </m:sub>
                                  </m:sSub>
                                </m:e>
                              </m:mr>
                            </m:m>
                          </m:e>
                          <m:e>
                            <m:r>
                              <a:rPr lang="en-PH" sz="1600" i="1" smtClean="0">
                                <a:latin typeface="Cambria Math"/>
                              </a:rPr>
                              <m:t>⋮</m:t>
                            </m:r>
                          </m:e>
                          <m:e>
                            <m:sSub>
                              <m:sSubPr>
                                <m:ctrlPr>
                                  <a:rPr lang="en-PH" sz="1600" i="1" smtClean="0">
                                    <a:latin typeface="Cambria Math" panose="02040503050406030204" pitchFamily="18" charset="0"/>
                                  </a:rPr>
                                </m:ctrlPr>
                              </m:sSubPr>
                              <m:e>
                                <m:r>
                                  <a:rPr lang="en-PH" sz="1600" i="1">
                                    <a:latin typeface="Cambria Math"/>
                                  </a:rPr>
                                  <m:t>𝑥</m:t>
                                </m:r>
                              </m:e>
                              <m:sub>
                                <m:r>
                                  <a:rPr lang="en-PH" sz="1600" b="0" i="1" smtClean="0">
                                    <a:latin typeface="Cambria Math"/>
                                  </a:rPr>
                                  <m:t>𝑛</m:t>
                                </m:r>
                              </m:sub>
                            </m:sSub>
                          </m:e>
                        </m:eqArr>
                      </m:e>
                    </m:d>
                  </m:oMath>
                </a14:m>
                <a:r>
                  <a:rPr lang="en-PH" sz="1600" dirty="0"/>
                  <a:t> +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1</m:t>
                                      </m:r>
                                    </m:sub>
                                  </m:sSub>
                                </m:e>
                              </m:mr>
                              <m:mr>
                                <m:e>
                                  <m:sSub>
                                    <m:sSubPr>
                                      <m:ctrlPr>
                                        <a:rPr lang="en-PH" sz="1600" i="1" smtClean="0">
                                          <a:latin typeface="Cambria Math" panose="02040503050406030204" pitchFamily="18" charset="0"/>
                                        </a:rPr>
                                      </m:ctrlPr>
                                    </m:sSubPr>
                                    <m:e>
                                      <m:r>
                                        <a:rPr lang="en-PH" sz="1600" b="0" i="1" smtClean="0">
                                          <a:latin typeface="Cambria Math"/>
                                        </a:rPr>
                                        <m:t>𝑦</m:t>
                                      </m:r>
                                    </m:e>
                                    <m:sub>
                                      <m:r>
                                        <a:rPr lang="en-PH" sz="1600" b="0" i="1" smtClean="0">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𝑦</m:t>
                                </m:r>
                              </m:e>
                              <m:sub>
                                <m:r>
                                  <a:rPr lang="en-PH" sz="1600" b="0" i="1" smtClean="0">
                                    <a:latin typeface="Cambria Math"/>
                                  </a:rPr>
                                  <m:t>𝑛</m:t>
                                </m:r>
                              </m:sub>
                            </m:sSub>
                          </m:e>
                        </m:eqArr>
                      </m:e>
                    </m:d>
                  </m:oMath>
                </a14:m>
                <a:r>
                  <a:rPr lang="en-PH" sz="1600" dirty="0"/>
                  <a:t> =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e>
                        </m:eqArr>
                      </m:e>
                    </m:d>
                  </m:oMath>
                </a14:m>
                <a:r>
                  <a:rPr lang="en-PH" sz="1600" dirty="0"/>
                  <a:t>   +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oMath>
                </a14:m>
                <a:r>
                  <a:rPr lang="en-PH" sz="1600" dirty="0"/>
                  <a:t> </a:t>
                </a:r>
              </a:p>
              <a:p>
                <a:pPr marL="0" indent="0" algn="ctr">
                  <a:buNone/>
                </a:pPr>
                <a:r>
                  <a:rPr lang="en-PH" sz="16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b="0" i="1" smtClean="0">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b="0" i="1" smtClean="0">
                                    <a:latin typeface="Cambria Math"/>
                                  </a:rPr>
                                  <m:t>𝑛</m:t>
                                </m:r>
                              </m:sub>
                            </m:sSub>
                          </m:e>
                        </m:eqArr>
                      </m:e>
                    </m:d>
                    <m:r>
                      <a:rPr lang="en-PH" sz="1600" b="0" i="1" smtClean="0">
                        <a:latin typeface="Cambria Math"/>
                      </a:rPr>
                      <m:t>=</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𝑛</m:t>
                                </m:r>
                              </m:sub>
                            </m:sSub>
                          </m:e>
                        </m:eqArr>
                      </m:e>
                    </m:d>
                  </m:oMath>
                </a14:m>
                <a:endParaRPr lang="en-PH" sz="1600" i="1" baseline="-25000" dirty="0"/>
              </a:p>
              <a:p>
                <a:pPr marL="0" indent="0">
                  <a:buNone/>
                </a:pPr>
                <a:r>
                  <a:rPr lang="en-PH" sz="1600" dirty="0"/>
                  <a:t>Condition #3:  </a:t>
                </a:r>
                <a:r>
                  <a:rPr lang="en-PH" sz="1600" i="1" dirty="0"/>
                  <a:t>Associative Property of Addition</a:t>
                </a:r>
                <a:r>
                  <a:rPr lang="en-PH" sz="1600" dirty="0"/>
                  <a:t>. In any way you group the nx1 matrices the results will still be the same.</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5181600"/>
              </a:xfrm>
              <a:blipFill>
                <a:blip r:embed="rId2"/>
                <a:stretch>
                  <a:fillRect l="-370" t="-353" b="-471"/>
                </a:stretch>
              </a:blipFill>
            </p:spPr>
            <p:txBody>
              <a:bodyPr/>
              <a:lstStyle/>
              <a:p>
                <a:r>
                  <a:rPr lang="en-PH">
                    <a:noFill/>
                  </a:rPr>
                  <a:t> </a:t>
                </a:r>
              </a:p>
            </p:txBody>
          </p:sp>
        </mc:Fallback>
      </mc:AlternateContent>
    </p:spTree>
    <p:extLst>
      <p:ext uri="{BB962C8B-B14F-4D97-AF65-F5344CB8AC3E}">
        <p14:creationId xmlns:p14="http://schemas.microsoft.com/office/powerpoint/2010/main" val="2054702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4876800"/>
              </a:xfrm>
            </p:spPr>
            <p:txBody>
              <a:bodyPr>
                <a:normAutofit lnSpcReduction="10000"/>
              </a:bodyPr>
              <a:lstStyle/>
              <a:p>
                <a:pPr marL="0" indent="0" algn="ctr">
                  <a:buNone/>
                </a:pPr>
                <a14:m>
                  <m:oMath xmlns:m="http://schemas.openxmlformats.org/officeDocument/2006/math">
                    <m:d>
                      <m:dPr>
                        <m:ctrlPr>
                          <a:rPr lang="en-PH" sz="1600" i="1" smtClean="0">
                            <a:latin typeface="Cambria Math" panose="02040503050406030204" pitchFamily="18" charset="0"/>
                          </a:rPr>
                        </m:ctrlPr>
                      </m:dPr>
                      <m:e>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m:rPr>
                            <m:nor/>
                          </m:rPr>
                          <a:rPr lang="en-PH" sz="1600" dirty="0"/>
                          <m:t> +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e>
                            </m:eqArr>
                          </m:e>
                        </m:d>
                      </m:e>
                    </m:d>
                  </m:oMath>
                </a14:m>
                <a:r>
                  <a:rPr lang="en-PH" sz="16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𝑧</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𝑧</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𝑧</m:t>
                                </m:r>
                              </m:e>
                              <m:sub>
                                <m:r>
                                  <a:rPr lang="en-PH" sz="1600" i="1">
                                    <a:latin typeface="Cambria Math"/>
                                  </a:rPr>
                                  <m:t>𝑛</m:t>
                                </m:r>
                              </m:sub>
                            </m:sSub>
                          </m:e>
                        </m:eqArr>
                      </m:e>
                    </m:d>
                    <m:r>
                      <a:rPr lang="en-PH" sz="1600" i="1">
                        <a:latin typeface="Cambria Math"/>
                      </a:rPr>
                      <m:t> </m:t>
                    </m:r>
                  </m:oMath>
                </a14:m>
                <a:r>
                  <a:rPr lang="en-PH" sz="16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m:rPr>
                        <m:nor/>
                      </m:rPr>
                      <a:rPr lang="en-PH" sz="1600" dirty="0"/>
                      <m:t> + </m:t>
                    </m:r>
                  </m:oMath>
                </a14:m>
                <a:r>
                  <a:rPr lang="en-PH" sz="1600" dirty="0"/>
                  <a:t>  </a:t>
                </a:r>
                <a14:m>
                  <m:oMath xmlns:m="http://schemas.openxmlformats.org/officeDocument/2006/math">
                    <m:d>
                      <m:dPr>
                        <m:ctrlPr>
                          <a:rPr lang="en-PH" sz="1600" i="1">
                            <a:latin typeface="Cambria Math" panose="02040503050406030204" pitchFamily="18" charset="0"/>
                          </a:rPr>
                        </m:ctrlPr>
                      </m:dPr>
                      <m:e>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e>
                            </m:eqArr>
                          </m:e>
                        </m:d>
                        <m:r>
                          <m:rPr>
                            <m:nor/>
                          </m:rPr>
                          <a:rPr lang="en-PH" sz="1600" dirty="0"/>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𝑛</m:t>
                                    </m:r>
                                  </m:sub>
                                </m:sSub>
                              </m:e>
                            </m:eqArr>
                          </m:e>
                        </m:d>
                        <m:r>
                          <m:rPr>
                            <m:nor/>
                          </m:rPr>
                          <a:rPr lang="en-PH" sz="1600" dirty="0"/>
                          <m:t> </m:t>
                        </m:r>
                      </m:e>
                    </m:d>
                  </m:oMath>
                </a14:m>
                <a:endParaRPr lang="en-PH" sz="1600" i="1" dirty="0">
                  <a:latin typeface="Cambria Math"/>
                </a:endParaRPr>
              </a:p>
              <a:p>
                <a:pPr marL="0" indent="0" algn="ctr">
                  <a:buNone/>
                </a:pP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𝑥</m:t>
                                      </m:r>
                                    </m:e>
                                    <m:sub>
                                      <m:r>
                                        <a:rPr lang="en-PH" sz="1600" i="1">
                                          <a:latin typeface="Cambria Math"/>
                                        </a:rPr>
                                        <m:t>1</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1</m:t>
                                      </m:r>
                                    </m:sub>
                                  </m:sSub>
                                </m:e>
                              </m:mr>
                              <m:mr>
                                <m:e>
                                  <m:d>
                                    <m:dPr>
                                      <m:ctrlPr>
                                        <a:rPr lang="en-PH" sz="1600" b="0" i="1" smtClean="0">
                                          <a:latin typeface="Cambria Math" panose="02040503050406030204" pitchFamily="18" charset="0"/>
                                        </a:rPr>
                                      </m:ctrlPr>
                                    </m:dP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b="0" i="1" smtClean="0">
                                              <a:latin typeface="Cambria Math"/>
                                            </a:rPr>
                                            <m:t>2</m:t>
                                          </m:r>
                                        </m:sub>
                                      </m:sSub>
                                    </m:e>
                                  </m:d>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b="0" i="1" smtClean="0">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𝑥</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b="0" i="1" smtClean="0">
                                    <a:latin typeface="Cambria Math"/>
                                  </a:rPr>
                                  <m:t>𝑛</m:t>
                                </m:r>
                              </m:sub>
                            </m:sSub>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b="0" i="1" smtClean="0">
                                    <a:latin typeface="Cambria Math"/>
                                  </a:rPr>
                                  <m:t>𝑛</m:t>
                                </m:r>
                              </m:sub>
                            </m:sSub>
                          </m:e>
                        </m:eqArr>
                      </m:e>
                    </m:d>
                    <m:r>
                      <a:rPr lang="en-PH" sz="1600" b="0" i="1" smtClean="0">
                        <a:latin typeface="Cambria Math"/>
                      </a:rPr>
                      <m:t> =</m:t>
                    </m:r>
                  </m:oMath>
                </a14:m>
                <a:r>
                  <a:rPr lang="en-PH" sz="16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smtClean="0">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𝑦</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1</m:t>
                                      </m:r>
                                    </m:sub>
                                  </m:sSub>
                                  <m:r>
                                    <a:rPr lang="en-PH" sz="1600" b="0" i="1" smtClean="0">
                                      <a:latin typeface="Cambria Math"/>
                                    </a:rPr>
                                    <m:t>)</m:t>
                                  </m:r>
                                </m:e>
                              </m:mr>
                              <m:mr>
                                <m:e>
                                  <m:sSub>
                                    <m:sSubPr>
                                      <m:ctrlPr>
                                        <a:rPr lang="en-PH" sz="1600" i="1">
                                          <a:latin typeface="Cambria Math" panose="02040503050406030204" pitchFamily="18" charset="0"/>
                                        </a:rPr>
                                      </m:ctrlPr>
                                    </m:sSubPr>
                                    <m:e>
                                      <m:r>
                                        <a:rPr lang="en-PH" sz="1600" i="1">
                                          <a:latin typeface="Cambria Math"/>
                                        </a:rPr>
                                        <m:t> </m:t>
                                      </m:r>
                                      <m:r>
                                        <a:rPr lang="en-PH" sz="1600" i="1">
                                          <a:latin typeface="Cambria Math"/>
                                        </a:rPr>
                                        <m:t>𝑥</m:t>
                                      </m:r>
                                    </m:e>
                                    <m:sub>
                                      <m:r>
                                        <a:rPr lang="en-PH" sz="1600" i="1">
                                          <a:latin typeface="Cambria Math"/>
                                        </a:rPr>
                                        <m:t>2</m:t>
                                      </m:r>
                                    </m:sub>
                                  </m:sSub>
                                  <m:r>
                                    <a:rPr lang="en-PH" sz="1600" i="1">
                                      <a:latin typeface="Cambria Math"/>
                                    </a:rPr>
                                    <m:t>+</m:t>
                                  </m:r>
                                  <m:d>
                                    <m:dPr>
                                      <m:ctrlPr>
                                        <a:rPr lang="en-PH" sz="1600" i="1" smtClean="0">
                                          <a:latin typeface="Cambria Math" panose="02040503050406030204" pitchFamily="18" charset="0"/>
                                        </a:rPr>
                                      </m:ctrlPr>
                                    </m:dP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2</m:t>
                                          </m:r>
                                        </m:sub>
                                      </m:sSub>
                                    </m:e>
                                  </m:d>
                                </m:e>
                              </m:mr>
                            </m:m>
                          </m:e>
                          <m:e>
                            <m:r>
                              <a:rPr lang="en-PH" sz="1600" i="1">
                                <a:latin typeface="Cambria Math"/>
                              </a:rPr>
                              <m:t>⋮</m:t>
                            </m:r>
                          </m:e>
                          <m:e>
                            <m:sSub>
                              <m:sSubPr>
                                <m:ctrlPr>
                                  <a:rPr lang="en-PH" sz="1600" i="1" smtClean="0">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𝑦</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𝑛</m:t>
                                </m:r>
                              </m:sub>
                            </m:sSub>
                            <m:r>
                              <a:rPr lang="en-PH" sz="1600" b="0" i="1" smtClean="0">
                                <a:latin typeface="Cambria Math"/>
                              </a:rPr>
                              <m:t>)</m:t>
                            </m:r>
                          </m:e>
                        </m:eqArr>
                      </m:e>
                    </m:d>
                  </m:oMath>
                </a14:m>
                <a:endParaRPr lang="en-PH" sz="1600" dirty="0"/>
              </a:p>
              <a:p>
                <a:pPr marL="0" indent="0" algn="ctr">
                  <a:buNone/>
                </a:pP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𝑛</m:t>
                                </m:r>
                              </m:sub>
                            </m:sSub>
                          </m:e>
                        </m:eqArr>
                      </m:e>
                    </m:d>
                    <m:r>
                      <a:rPr lang="en-PH" sz="1600" i="1">
                        <a:latin typeface="Cambria Math"/>
                      </a:rPr>
                      <m:t> =</m:t>
                    </m:r>
                  </m:oMath>
                </a14:m>
                <a:r>
                  <a:rPr lang="en-PH" sz="16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 </m:t>
                                      </m:r>
                                      <m:r>
                                        <a:rPr lang="en-PH" sz="1600" i="1">
                                          <a:latin typeface="Cambria Math"/>
                                        </a:rPr>
                                        <m:t>𝑥</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𝑧</m:t>
                                </m:r>
                              </m:e>
                              <m:sub>
                                <m:r>
                                  <a:rPr lang="en-PH" sz="1600" i="1">
                                    <a:latin typeface="Cambria Math"/>
                                  </a:rPr>
                                  <m:t>𝑛</m:t>
                                </m:r>
                              </m:sub>
                            </m:sSub>
                          </m:e>
                        </m:eqArr>
                      </m:e>
                    </m:d>
                  </m:oMath>
                </a14:m>
                <a:endParaRPr lang="en-PH" sz="1600" dirty="0"/>
              </a:p>
              <a:p>
                <a:pPr marL="0" indent="0">
                  <a:buNone/>
                </a:pPr>
                <a:endParaRPr lang="en-PH" sz="1600" dirty="0"/>
              </a:p>
              <a:p>
                <a:pPr marL="0" indent="0">
                  <a:buNone/>
                </a:pPr>
                <a:r>
                  <a:rPr lang="en-PH" sz="1600" dirty="0"/>
                  <a:t>Condition #4. Existence of a  zero </a:t>
                </a:r>
                <a:r>
                  <a:rPr lang="en-PH" sz="1600" i="1" dirty="0"/>
                  <a:t>n x 1</a:t>
                </a:r>
                <a:r>
                  <a:rPr lang="en-PH" sz="1600" dirty="0"/>
                  <a:t> matrix.</a:t>
                </a:r>
              </a:p>
              <a:p>
                <a:pPr marL="0" indent="0" algn="ctr">
                  <a:buNone/>
                </a:pPr>
                <a14:m>
                  <m:oMath xmlns:m="http://schemas.openxmlformats.org/officeDocument/2006/math">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2</m:t>
                                      </m:r>
                                    </m:sub>
                                  </m:sSub>
                                </m:e>
                              </m:mr>
                            </m:m>
                          </m:e>
                          <m:e>
                            <m:r>
                              <a:rPr lang="en-PH" sz="2000" i="1">
                                <a:latin typeface="Cambria Math"/>
                              </a:rPr>
                              <m:t>⋮</m:t>
                            </m:r>
                          </m:e>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𝑛</m:t>
                                </m:r>
                              </m:sub>
                            </m:sSub>
                          </m:e>
                        </m:eqArr>
                      </m:e>
                    </m:d>
                    <m:r>
                      <m:rPr>
                        <m:nor/>
                      </m:rPr>
                      <a:rPr lang="en-PH" sz="2000" dirty="0"/>
                      <m:t> + </m:t>
                    </m:r>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r>
                                    <m:rPr>
                                      <m:brk m:alnAt="7"/>
                                    </m:rPr>
                                    <a:rPr lang="en-PH" sz="2000" b="0" i="1" smtClean="0">
                                      <a:latin typeface="Cambria Math"/>
                                    </a:rPr>
                                    <m:t>0</m:t>
                                  </m:r>
                                </m:e>
                              </m:mr>
                              <m:mr>
                                <m:e>
                                  <m:r>
                                    <a:rPr lang="en-PH" sz="2000" b="0" i="1" smtClean="0">
                                      <a:latin typeface="Cambria Math"/>
                                    </a:rPr>
                                    <m:t>0</m:t>
                                  </m:r>
                                </m:e>
                              </m:mr>
                            </m:m>
                          </m:e>
                          <m:e>
                            <m:r>
                              <a:rPr lang="en-PH" sz="2000" i="1">
                                <a:latin typeface="Cambria Math"/>
                              </a:rPr>
                              <m:t>⋮</m:t>
                            </m:r>
                          </m:e>
                          <m:e>
                            <m:r>
                              <a:rPr lang="en-PH" sz="2000" b="0" i="1" smtClean="0">
                                <a:latin typeface="Cambria Math"/>
                              </a:rPr>
                              <m:t>0</m:t>
                            </m:r>
                          </m:e>
                        </m:eqArr>
                      </m:e>
                    </m:d>
                    <m:r>
                      <a:rPr lang="en-PH" sz="2000" b="0" i="0" smtClean="0">
                        <a:latin typeface="Cambria Math"/>
                      </a:rPr>
                      <m:t> =</m:t>
                    </m:r>
                  </m:oMath>
                </a14:m>
                <a:r>
                  <a:rPr lang="en-PH" sz="2000" baseline="-25000" dirty="0"/>
                  <a:t> </a:t>
                </a:r>
                <a14:m>
                  <m:oMath xmlns:m="http://schemas.openxmlformats.org/officeDocument/2006/math">
                    <m:d>
                      <m:dPr>
                        <m:begChr m:val="["/>
                        <m:endChr m:val="]"/>
                        <m:ctrlPr>
                          <a:rPr lang="en-PH" sz="2000" i="1">
                            <a:latin typeface="Cambria Math" panose="02040503050406030204" pitchFamily="18" charset="0"/>
                          </a:rPr>
                        </m:ctrlPr>
                      </m:dPr>
                      <m:e>
                        <m:eqArr>
                          <m:eqArrPr>
                            <m:ctrlPr>
                              <a:rPr lang="en-PH" sz="2000" i="1">
                                <a:latin typeface="Cambria Math" panose="02040503050406030204" pitchFamily="18" charset="0"/>
                              </a:rPr>
                            </m:ctrlPr>
                          </m:eqArrPr>
                          <m:e>
                            <m:m>
                              <m:mPr>
                                <m:mcs>
                                  <m:mc>
                                    <m:mcPr>
                                      <m:count m:val="1"/>
                                      <m:mcJc m:val="center"/>
                                    </m:mcPr>
                                  </m:mc>
                                </m:mcs>
                                <m:ctrlPr>
                                  <a:rPr lang="en-PH"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1</m:t>
                                      </m:r>
                                    </m:sub>
                                  </m:sSub>
                                </m:e>
                              </m:mr>
                              <m:mr>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2</m:t>
                                      </m:r>
                                    </m:sub>
                                  </m:sSub>
                                </m:e>
                              </m:mr>
                            </m:m>
                          </m:e>
                          <m:e>
                            <m:r>
                              <a:rPr lang="en-PH" sz="2000" i="1">
                                <a:latin typeface="Cambria Math"/>
                              </a:rPr>
                              <m:t>⋮</m:t>
                            </m:r>
                          </m:e>
                          <m:e>
                            <m:sSub>
                              <m:sSubPr>
                                <m:ctrlPr>
                                  <a:rPr lang="en-PH" sz="2000" i="1">
                                    <a:latin typeface="Cambria Math" panose="02040503050406030204" pitchFamily="18" charset="0"/>
                                  </a:rPr>
                                </m:ctrlPr>
                              </m:sSubPr>
                              <m:e>
                                <m:r>
                                  <a:rPr lang="en-PH" sz="2000" i="1">
                                    <a:latin typeface="Cambria Math"/>
                                  </a:rPr>
                                  <m:t>𝑥</m:t>
                                </m:r>
                              </m:e>
                              <m:sub>
                                <m:r>
                                  <a:rPr lang="en-PH" sz="2000" i="1">
                                    <a:latin typeface="Cambria Math"/>
                                  </a:rPr>
                                  <m:t>𝑛</m:t>
                                </m:r>
                              </m:sub>
                            </m:sSub>
                          </m:e>
                        </m:eqArr>
                      </m:e>
                    </m:d>
                  </m:oMath>
                </a14:m>
                <a:endParaRPr lang="en-PH" sz="2000" baseline="-250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4876800"/>
              </a:xfrm>
              <a:blipFill>
                <a:blip r:embed="rId2"/>
                <a:stretch>
                  <a:fillRect l="-370"/>
                </a:stretch>
              </a:blipFill>
            </p:spPr>
            <p:txBody>
              <a:bodyPr/>
              <a:lstStyle/>
              <a:p>
                <a:r>
                  <a:rPr lang="en-PH">
                    <a:noFill/>
                  </a:rPr>
                  <a:t> </a:t>
                </a:r>
              </a:p>
            </p:txBody>
          </p:sp>
        </mc:Fallback>
      </mc:AlternateContent>
    </p:spTree>
    <p:extLst>
      <p:ext uri="{BB962C8B-B14F-4D97-AF65-F5344CB8AC3E}">
        <p14:creationId xmlns:p14="http://schemas.microsoft.com/office/powerpoint/2010/main" val="34428910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5181600"/>
              </a:xfrm>
            </p:spPr>
            <p:txBody>
              <a:bodyPr>
                <a:normAutofit/>
              </a:bodyPr>
              <a:lstStyle/>
              <a:p>
                <a:pPr marL="0" indent="0">
                  <a:buNone/>
                </a:pPr>
                <a:r>
                  <a:rPr lang="en-PH" sz="1600" dirty="0"/>
                  <a:t>Condition #5. Existence of a  negative </a:t>
                </a:r>
                <a:r>
                  <a:rPr lang="en-PH" sz="1600" i="1" dirty="0"/>
                  <a:t>nx1</a:t>
                </a:r>
                <a:r>
                  <a:rPr lang="en-PH" sz="1600" dirty="0"/>
                  <a:t> matrix, which can be obtained by multiplying the</a:t>
                </a:r>
                <a:r>
                  <a:rPr lang="en-PH" sz="1600" i="1" dirty="0"/>
                  <a:t> n x 1 </a:t>
                </a:r>
                <a:r>
                  <a:rPr lang="en-PH" sz="1600" dirty="0"/>
                  <a:t>matrix by -1.</a:t>
                </a:r>
                <a:endParaRPr lang="en-PH" sz="1600" i="1" dirty="0"/>
              </a:p>
              <a:p>
                <a:pPr marL="0" indent="0" algn="ctr">
                  <a:buNone/>
                </a:pPr>
                <a14:m>
                  <m:oMathPara xmlns:m="http://schemas.openxmlformats.org/officeDocument/2006/math">
                    <m:oMathParaPr>
                      <m:jc m:val="centerGroup"/>
                    </m:oMathParaPr>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m:rPr>
                          <m:nor/>
                        </m:rPr>
                        <a:rPr lang="en-PH" sz="1600" dirty="0"/>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m:t>
                                  </m:r>
                                  <m:r>
                                    <a:rPr lang="en-PH" sz="1600" i="1">
                                      <a:latin typeface="Cambria Math"/>
                                    </a:rPr>
                                    <m:t>𝑥</m:t>
                                  </m:r>
                                </m:e>
                                <m:sub>
                                  <m:r>
                                    <a:rPr lang="en-PH" sz="1600" i="1">
                                      <a:latin typeface="Cambria Math"/>
                                    </a:rPr>
                                    <m:t>𝑛</m:t>
                                  </m:r>
                                </m:sub>
                              </m:sSub>
                            </m:e>
                          </m:eqArr>
                        </m:e>
                      </m:d>
                      <m:r>
                        <a:rPr lang="en-PH" sz="1600">
                          <a:latin typeface="Cambria Math"/>
                        </a:rPr>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r>
                                      <m:rPr>
                                        <m:brk m:alnAt="7"/>
                                      </m:rPr>
                                      <a:rPr lang="en-PH" sz="1600" i="1">
                                        <a:latin typeface="Cambria Math"/>
                                      </a:rPr>
                                      <m:t>0</m:t>
                                    </m:r>
                                  </m:e>
                                </m:mr>
                                <m:mr>
                                  <m:e>
                                    <m:r>
                                      <a:rPr lang="en-PH" sz="1600" i="1">
                                        <a:latin typeface="Cambria Math"/>
                                      </a:rPr>
                                      <m:t>0</m:t>
                                    </m:r>
                                  </m:e>
                                </m:mr>
                              </m:m>
                            </m:e>
                            <m:e>
                              <m:r>
                                <a:rPr lang="en-PH" sz="1600" i="1">
                                  <a:latin typeface="Cambria Math"/>
                                </a:rPr>
                                <m:t>⋮</m:t>
                              </m:r>
                            </m:e>
                            <m:e>
                              <m:r>
                                <a:rPr lang="en-PH" sz="1600" i="1">
                                  <a:latin typeface="Cambria Math"/>
                                </a:rPr>
                                <m:t>0</m:t>
                              </m:r>
                            </m:e>
                          </m:eqArr>
                        </m:e>
                      </m:d>
                    </m:oMath>
                  </m:oMathPara>
                </a14:m>
                <a:endParaRPr lang="en-PH" sz="1600" baseline="-25000" dirty="0"/>
              </a:p>
              <a:p>
                <a:pPr marL="0" indent="0">
                  <a:buNone/>
                </a:pPr>
                <a:r>
                  <a:rPr lang="en-PH" sz="1600" dirty="0"/>
                  <a:t>Condition #6. </a:t>
                </a:r>
                <a:r>
                  <a:rPr lang="en-PH" sz="1600" i="1" dirty="0"/>
                  <a:t>Closure Property of Scalar Multiplication</a:t>
                </a:r>
                <a:r>
                  <a:rPr lang="en-PH" sz="1600" dirty="0"/>
                  <a:t>. Multiplying an  nx1 matrix by a scalar or a real number is still an nx1 matrix. </a:t>
                </a:r>
              </a:p>
              <a:p>
                <a:pPr marL="0" indent="0">
                  <a:buNone/>
                </a:pPr>
                <a:endParaRPr lang="en-PH" sz="1600" i="1" dirty="0">
                  <a:latin typeface="Cambria Math"/>
                </a:endParaRPr>
              </a:p>
              <a:p>
                <a:pPr marL="0" indent="0">
                  <a:buNone/>
                </a:pPr>
                <a:r>
                  <a:rPr lang="en-PH" sz="1600" dirty="0"/>
                  <a:t>Condition #7. </a:t>
                </a:r>
                <a:r>
                  <a:rPr lang="en-PH" sz="1600" i="1" dirty="0"/>
                  <a:t>Left Distributive Property. </a:t>
                </a:r>
              </a:p>
              <a:p>
                <a:pPr marL="0" indent="0">
                  <a:buNone/>
                </a:pPr>
                <a:r>
                  <a:rPr lang="en-PH" sz="2000" i="1" baseline="-25000" dirty="0"/>
                  <a:t>c</a:t>
                </a:r>
                <a:r>
                  <a:rPr lang="en-PH" sz="1600" dirty="0"/>
                  <a:t> </a:t>
                </a:r>
                <a14:m>
                  <m:oMath xmlns:m="http://schemas.openxmlformats.org/officeDocument/2006/math">
                    <m:d>
                      <m:dPr>
                        <m:ctrlPr>
                          <a:rPr lang="en-PH" sz="1600" i="1" smtClean="0">
                            <a:latin typeface="Cambria Math" panose="02040503050406030204" pitchFamily="18" charset="0"/>
                          </a:rPr>
                        </m:ctrlPr>
                      </m:dPr>
                      <m:e>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i="1">
                            <a:latin typeface="Cambria Math"/>
                          </a:rPr>
                          <m:t>+</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𝑦</m:t>
                                    </m:r>
                                  </m:e>
                                  <m:sub>
                                    <m:r>
                                      <a:rPr lang="en-PH" sz="1600" i="1">
                                        <a:latin typeface="Cambria Math"/>
                                      </a:rPr>
                                      <m:t>𝑛</m:t>
                                    </m:r>
                                  </m:sub>
                                </m:sSub>
                              </m:e>
                            </m:eqArr>
                          </m:e>
                        </m:d>
                      </m:e>
                    </m:d>
                    <m:r>
                      <a:rPr lang="en-PH" sz="1600" i="1">
                        <a:latin typeface="Cambria Math"/>
                      </a:rPr>
                      <m:t>=</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𝑐</m:t>
                                      </m:r>
                                      <m:r>
                                        <a:rPr lang="en-PH" sz="1600" b="0" i="1" smtClean="0">
                                          <a:latin typeface="Cambria Math"/>
                                        </a:rPr>
                                        <m:t>(</m:t>
                                      </m:r>
                                      <m:r>
                                        <a:rPr lang="en-PH" sz="1600" i="1">
                                          <a:latin typeface="Cambria Math"/>
                                        </a:rPr>
                                        <m:t>𝑥</m:t>
                                      </m:r>
                                    </m:e>
                                    <m:sub>
                                      <m:r>
                                        <a:rPr lang="en-PH" sz="1600" i="1">
                                          <a:latin typeface="Cambria Math"/>
                                        </a:rPr>
                                        <m:t>1</m:t>
                                      </m:r>
                                    </m:sub>
                                  </m:sSub>
                                  <m:r>
                                    <a:rPr lang="en-PH" sz="1600" b="0" i="1" smtClean="0">
                                      <a:latin typeface="Cambria Math"/>
                                    </a:rPr>
                                    <m:t>+ </m:t>
                                  </m:r>
                                  <m:sSub>
                                    <m:sSubPr>
                                      <m:ctrlPr>
                                        <a:rPr lang="en-PH" sz="1600" b="0" i="1" smtClean="0">
                                          <a:latin typeface="Cambria Math" panose="02040503050406030204" pitchFamily="18" charset="0"/>
                                        </a:rPr>
                                      </m:ctrlPr>
                                    </m:sSubPr>
                                    <m:e>
                                      <m:r>
                                        <a:rPr lang="en-PH" sz="1600" b="0" i="1" smtClean="0">
                                          <a:latin typeface="Cambria Math"/>
                                        </a:rPr>
                                        <m:t>𝑦</m:t>
                                      </m:r>
                                    </m:e>
                                    <m:sub>
                                      <m:r>
                                        <a:rPr lang="en-PH" sz="1600" b="0" i="1" smtClean="0">
                                          <a:latin typeface="Cambria Math"/>
                                        </a:rPr>
                                        <m:t>1</m:t>
                                      </m:r>
                                    </m:sub>
                                  </m:sSub>
                                  <m:r>
                                    <a:rPr lang="en-PH" sz="1600" b="0" i="1" smtClean="0">
                                      <a:latin typeface="Cambria Math"/>
                                    </a:rPr>
                                    <m:t>)</m:t>
                                  </m:r>
                                </m:e>
                              </m:mr>
                              <m:mr>
                                <m:e>
                                  <m:r>
                                    <a:rPr lang="en-PH" sz="1600" i="1">
                                      <a:latin typeface="Cambria Math"/>
                                    </a:rPr>
                                    <m:t>𝑐</m:t>
                                  </m:r>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b="0" i="1" smtClean="0">
                                      <a:latin typeface="Cambria Math"/>
                                    </a:rPr>
                                    <m:t>+</m:t>
                                  </m:r>
                                  <m:sSub>
                                    <m:sSubPr>
                                      <m:ctrlPr>
                                        <a:rPr lang="en-PH" sz="1600" b="0" i="1" smtClean="0">
                                          <a:latin typeface="Cambria Math" panose="02040503050406030204" pitchFamily="18" charset="0"/>
                                        </a:rPr>
                                      </m:ctrlPr>
                                    </m:sSubPr>
                                    <m:e>
                                      <m:r>
                                        <a:rPr lang="en-PH" sz="1600" b="0" i="1" smtClean="0">
                                          <a:latin typeface="Cambria Math"/>
                                        </a:rPr>
                                        <m:t>𝑦</m:t>
                                      </m:r>
                                    </m:e>
                                    <m:sub>
                                      <m:r>
                                        <a:rPr lang="en-PH" sz="1600" b="0" i="1" smtClean="0">
                                          <a:latin typeface="Cambria Math"/>
                                        </a:rPr>
                                        <m:t>2</m:t>
                                      </m:r>
                                    </m:sub>
                                  </m:sSub>
                                  <m:r>
                                    <a:rPr lang="en-PH" sz="1600" b="0" i="1" smtClean="0">
                                      <a:latin typeface="Cambria Math"/>
                                    </a:rPr>
                                    <m:t>)</m:t>
                                  </m:r>
                                </m:e>
                              </m:mr>
                            </m:m>
                          </m:e>
                          <m:e>
                            <m:r>
                              <a:rPr lang="en-PH" sz="1600" i="1">
                                <a:latin typeface="Cambria Math"/>
                              </a:rPr>
                              <m:t>⋮</m:t>
                            </m:r>
                          </m:e>
                          <m:e>
                            <m:r>
                              <a:rPr lang="en-PH" sz="1600" i="1">
                                <a:latin typeface="Cambria Math"/>
                              </a:rPr>
                              <m:t>𝑐</m:t>
                            </m:r>
                            <m:r>
                              <a:rPr lang="en-PH" sz="1600" b="0" i="1" smtClean="0">
                                <a:latin typeface="Cambria Math"/>
                              </a:rPr>
                              <m:t>(</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b="0" i="1" smtClean="0">
                                <a:latin typeface="Cambria Math"/>
                              </a:rPr>
                              <m:t>+ </m:t>
                            </m:r>
                            <m:sSub>
                              <m:sSubPr>
                                <m:ctrlPr>
                                  <a:rPr lang="en-PH" sz="1600" b="0" i="1" smtClean="0">
                                    <a:latin typeface="Cambria Math" panose="02040503050406030204" pitchFamily="18" charset="0"/>
                                  </a:rPr>
                                </m:ctrlPr>
                              </m:sSubPr>
                              <m:e>
                                <m:r>
                                  <a:rPr lang="en-PH" sz="1600" b="0" i="1" smtClean="0">
                                    <a:latin typeface="Cambria Math"/>
                                  </a:rPr>
                                  <m:t>𝑦</m:t>
                                </m:r>
                              </m:e>
                              <m:sub>
                                <m:r>
                                  <a:rPr lang="en-PH" sz="1600" b="0" i="1" smtClean="0">
                                    <a:latin typeface="Cambria Math"/>
                                  </a:rPr>
                                  <m:t>𝑛</m:t>
                                </m:r>
                              </m:sub>
                            </m:sSub>
                            <m:r>
                              <a:rPr lang="en-PH" sz="1600" b="0" i="1" smtClean="0">
                                <a:latin typeface="Cambria Math"/>
                              </a:rPr>
                              <m:t>)</m:t>
                            </m:r>
                          </m:e>
                        </m:eqArr>
                      </m:e>
                    </m:d>
                    <m:r>
                      <a:rPr lang="en-PH" sz="1600" b="0" i="1" smtClean="0">
                        <a:latin typeface="Cambria Math"/>
                      </a:rPr>
                      <m:t>= </m:t>
                    </m:r>
                  </m:oMath>
                </a14:m>
                <a:r>
                  <a:rPr lang="en-PH" sz="1600" i="1" baseline="-250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𝑐𝑥</m:t>
                                      </m:r>
                                    </m:e>
                                    <m:sub>
                                      <m:r>
                                        <a:rPr lang="en-PH" sz="1600" i="1">
                                          <a:latin typeface="Cambria Math"/>
                                        </a:rPr>
                                        <m:t>1</m:t>
                                      </m:r>
                                    </m:sub>
                                  </m:sSub>
                                  <m:r>
                                    <a:rPr lang="en-PH" sz="1600" i="1">
                                      <a:latin typeface="Cambria Math"/>
                                    </a:rPr>
                                    <m:t>+</m:t>
                                  </m:r>
                                  <m:r>
                                    <a:rPr lang="en-PH" sz="1600" b="0" i="1" smtClean="0">
                                      <a:latin typeface="Cambria Math"/>
                                    </a:rPr>
                                    <m:t>𝑐</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r>
                                    <a:rPr lang="en-PH" sz="1600" i="1">
                                      <a:latin typeface="Cambria Math"/>
                                    </a:rPr>
                                    <m:t>𝑐</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i="1">
                                      <a:latin typeface="Cambria Math"/>
                                    </a:rPr>
                                    <m:t>+</m:t>
                                  </m:r>
                                  <m:r>
                                    <a:rPr lang="en-PH" sz="1600" b="0" i="1" smtClean="0">
                                      <a:latin typeface="Cambria Math"/>
                                    </a:rPr>
                                    <m:t>𝑐</m:t>
                                  </m:r>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e>
                              </m:mr>
                            </m:m>
                          </m:e>
                          <m:e>
                            <m:r>
                              <a:rPr lang="en-PH" sz="1600" i="1">
                                <a:latin typeface="Cambria Math"/>
                              </a:rPr>
                              <m:t>⋮</m:t>
                            </m:r>
                          </m:e>
                          <m:e>
                            <m:r>
                              <a:rPr lang="en-PH" sz="1600" i="1">
                                <a:latin typeface="Cambria Math"/>
                              </a:rPr>
                              <m:t>𝑐</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 </m:t>
                            </m:r>
                            <m:sSub>
                              <m:sSubPr>
                                <m:ctrlPr>
                                  <a:rPr lang="en-PH" sz="1600" i="1">
                                    <a:latin typeface="Cambria Math" panose="02040503050406030204" pitchFamily="18" charset="0"/>
                                  </a:rPr>
                                </m:ctrlPr>
                              </m:sSubPr>
                              <m:e>
                                <m:r>
                                  <a:rPr lang="en-PH" sz="1600" b="0" i="1" smtClean="0">
                                    <a:latin typeface="Cambria Math"/>
                                  </a:rPr>
                                  <m:t>𝑐</m:t>
                                </m:r>
                                <m:r>
                                  <a:rPr lang="en-PH" sz="1600" i="1">
                                    <a:latin typeface="Cambria Math"/>
                                  </a:rPr>
                                  <m:t>𝑦</m:t>
                                </m:r>
                              </m:e>
                              <m:sub>
                                <m:r>
                                  <a:rPr lang="en-PH" sz="1600" i="1">
                                    <a:latin typeface="Cambria Math"/>
                                  </a:rPr>
                                  <m:t>𝑛</m:t>
                                </m:r>
                              </m:sub>
                            </m:sSub>
                          </m:e>
                        </m:eqArr>
                      </m:e>
                    </m:d>
                    <m:r>
                      <a:rPr lang="en-PH" sz="1600" b="0" i="1" smtClean="0">
                        <a:latin typeface="Cambria Math"/>
                      </a:rPr>
                      <m:t> =</m:t>
                    </m:r>
                    <m:r>
                      <a:rPr lang="en-PH" sz="1600" b="0" i="1" smtClean="0">
                        <a:latin typeface="Cambria Math"/>
                      </a:rPr>
                      <m:t>𝑐</m:t>
                    </m:r>
                    <m:r>
                      <a:rPr lang="en-PH" sz="1600" b="0" i="1" smtClean="0">
                        <a:latin typeface="Cambria Math"/>
                      </a:rPr>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i="1">
                        <a:latin typeface="Cambria Math"/>
                      </a:rPr>
                      <m:t>+</m:t>
                    </m:r>
                    <m:r>
                      <a:rPr lang="en-PH" sz="1600" b="0" i="1" smtClean="0">
                        <a:latin typeface="Cambria Math"/>
                      </a:rPr>
                      <m:t>𝑐</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𝑦</m:t>
                                </m:r>
                              </m:e>
                              <m:sub>
                                <m:r>
                                  <a:rPr lang="en-PH" sz="1600" i="1">
                                    <a:latin typeface="Cambria Math"/>
                                  </a:rPr>
                                  <m:t>𝑛</m:t>
                                </m:r>
                              </m:sub>
                            </m:sSub>
                          </m:e>
                        </m:eqArr>
                      </m:e>
                    </m:d>
                  </m:oMath>
                </a14:m>
                <a:r>
                  <a:rPr lang="en-PH" sz="1600" i="1" baseline="-25000" dirty="0"/>
                  <a:t> </a:t>
                </a:r>
              </a:p>
              <a:p>
                <a:pPr marL="0" indent="0">
                  <a:buNone/>
                </a:pPr>
                <a:endParaRPr lang="en-PH" sz="1600" i="1" dirty="0">
                  <a:latin typeface="Cambria Math"/>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5181600"/>
              </a:xfrm>
              <a:blipFill>
                <a:blip r:embed="rId2"/>
                <a:stretch>
                  <a:fillRect l="-370" t="-353"/>
                </a:stretch>
              </a:blipFill>
            </p:spPr>
            <p:txBody>
              <a:bodyPr/>
              <a:lstStyle/>
              <a:p>
                <a:r>
                  <a:rPr lang="en-PH">
                    <a:noFill/>
                  </a:rPr>
                  <a:t> </a:t>
                </a:r>
              </a:p>
            </p:txBody>
          </p:sp>
        </mc:Fallback>
      </mc:AlternateContent>
    </p:spTree>
    <p:extLst>
      <p:ext uri="{BB962C8B-B14F-4D97-AF65-F5344CB8AC3E}">
        <p14:creationId xmlns:p14="http://schemas.microsoft.com/office/powerpoint/2010/main" val="3451955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5181600"/>
              </a:xfrm>
            </p:spPr>
            <p:txBody>
              <a:bodyPr>
                <a:normAutofit/>
              </a:bodyPr>
              <a:lstStyle/>
              <a:p>
                <a:pPr marL="0" indent="0">
                  <a:buNone/>
                </a:pPr>
                <a:r>
                  <a:rPr lang="en-PH" sz="1600" dirty="0"/>
                  <a:t>Condition #8.  </a:t>
                </a:r>
                <a:r>
                  <a:rPr lang="en-PH" sz="1600" i="1" dirty="0"/>
                  <a:t>Right Distributive Property. </a:t>
                </a:r>
              </a:p>
              <a:p>
                <a:pPr marL="0" indent="0">
                  <a:buNone/>
                </a:pPr>
                <a:r>
                  <a:rPr lang="en-PH" sz="1600" dirty="0"/>
                  <a:t> </a:t>
                </a:r>
                <a14:m>
                  <m:oMath xmlns:m="http://schemas.openxmlformats.org/officeDocument/2006/math">
                    <m:d>
                      <m:dPr>
                        <m:ctrlPr>
                          <a:rPr lang="en-PH" sz="1600" i="1" smtClean="0">
                            <a:latin typeface="Cambria Math" panose="02040503050406030204" pitchFamily="18" charset="0"/>
                          </a:rPr>
                        </m:ctrlPr>
                      </m:dPr>
                      <m:e>
                        <m:r>
                          <a:rPr lang="en-PH" sz="1600" b="0" i="1" smtClean="0">
                            <a:latin typeface="Cambria Math"/>
                          </a:rPr>
                          <m:t>𝑐</m:t>
                        </m:r>
                        <m:r>
                          <a:rPr lang="en-PH" sz="1600" b="0" i="1" smtClean="0">
                            <a:latin typeface="Cambria Math"/>
                          </a:rPr>
                          <m:t>+</m:t>
                        </m:r>
                        <m:r>
                          <a:rPr lang="en-PH" sz="1600" b="0" i="1" smtClean="0">
                            <a:latin typeface="Cambria Math"/>
                          </a:rPr>
                          <m:t>𝑑</m:t>
                        </m:r>
                      </m:e>
                    </m:d>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i="1">
                        <a:latin typeface="Cambria Math"/>
                      </a:rPr>
                      <m:t>=</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m:t>
                                      </m:r>
                                      <m:r>
                                        <a:rPr lang="en-PH" sz="1600" b="0" i="1" smtClean="0">
                                          <a:latin typeface="Cambria Math"/>
                                        </a:rPr>
                                        <m:t>𝑐</m:t>
                                      </m:r>
                                      <m:r>
                                        <a:rPr lang="en-PH" sz="1600" b="0" i="1" smtClean="0">
                                          <a:latin typeface="Cambria Math"/>
                                        </a:rPr>
                                        <m:t>+</m:t>
                                      </m:r>
                                      <m:r>
                                        <a:rPr lang="en-PH" sz="1600" b="0" i="1" smtClean="0">
                                          <a:latin typeface="Cambria Math"/>
                                        </a:rPr>
                                        <m:t>𝑑</m:t>
                                      </m:r>
                                      <m:r>
                                        <a:rPr lang="en-PH" sz="1600" b="0" i="1" smtClean="0">
                                          <a:latin typeface="Cambria Math"/>
                                        </a:rPr>
                                        <m:t>)</m:t>
                                      </m:r>
                                      <m:r>
                                        <a:rPr lang="en-PH" sz="1600" i="1">
                                          <a:latin typeface="Cambria Math"/>
                                        </a:rPr>
                                        <m:t>𝑥</m:t>
                                      </m:r>
                                    </m:e>
                                    <m:sub>
                                      <m:r>
                                        <a:rPr lang="en-PH" sz="1600" i="1">
                                          <a:latin typeface="Cambria Math"/>
                                        </a:rPr>
                                        <m:t>1</m:t>
                                      </m:r>
                                    </m:sub>
                                  </m:sSub>
                                </m:e>
                              </m:mr>
                              <m:mr>
                                <m:e>
                                  <m:r>
                                    <a:rPr lang="en-PH" sz="1600" i="1">
                                      <a:latin typeface="Cambria Math"/>
                                    </a:rPr>
                                    <m:t>(</m:t>
                                  </m:r>
                                  <m:r>
                                    <a:rPr lang="en-PH" sz="1600" i="1">
                                      <a:latin typeface="Cambria Math"/>
                                    </a:rPr>
                                    <m:t>𝑐</m:t>
                                  </m:r>
                                  <m:r>
                                    <a:rPr lang="en-PH" sz="1600" i="1">
                                      <a:latin typeface="Cambria Math"/>
                                    </a:rPr>
                                    <m:t>+</m:t>
                                  </m:r>
                                  <m:r>
                                    <a:rPr lang="en-PH" sz="1600" i="1">
                                      <a:latin typeface="Cambria Math"/>
                                    </a:rPr>
                                    <m:t>𝑑</m:t>
                                  </m:r>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r>
                              <a:rPr lang="en-PH" sz="1600" i="1">
                                <a:latin typeface="Cambria Math"/>
                              </a:rPr>
                              <m:t>(</m:t>
                            </m:r>
                            <m:r>
                              <a:rPr lang="en-PH" sz="1600" i="1">
                                <a:latin typeface="Cambria Math"/>
                              </a:rPr>
                              <m:t>𝑐</m:t>
                            </m:r>
                            <m:r>
                              <a:rPr lang="en-PH" sz="1600" i="1">
                                <a:latin typeface="Cambria Math"/>
                              </a:rPr>
                              <m:t>+</m:t>
                            </m:r>
                            <m:r>
                              <a:rPr lang="en-PH" sz="1600" i="1">
                                <a:latin typeface="Cambria Math"/>
                              </a:rPr>
                              <m:t>𝑑</m:t>
                            </m:r>
                            <m:r>
                              <a:rPr lang="en-PH" sz="1600" i="1">
                                <a:latin typeface="Cambria Math"/>
                              </a:rPr>
                              <m:t>)</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b="0" i="1" smtClean="0">
                        <a:latin typeface="Cambria Math"/>
                      </a:rPr>
                      <m:t>= </m:t>
                    </m:r>
                  </m:oMath>
                </a14:m>
                <a:r>
                  <a:rPr lang="en-PH" sz="1600" i="1" baseline="-25000" dirty="0"/>
                  <a:t> </a:t>
                </a:r>
                <a14:m>
                  <m:oMath xmlns:m="http://schemas.openxmlformats.org/officeDocument/2006/math">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𝑐𝑥</m:t>
                                      </m:r>
                                    </m:e>
                                    <m:sub>
                                      <m:r>
                                        <a:rPr lang="en-PH" sz="1600" i="1">
                                          <a:latin typeface="Cambria Math"/>
                                        </a:rPr>
                                        <m:t>1</m:t>
                                      </m:r>
                                    </m:sub>
                                  </m:sSub>
                                  <m:r>
                                    <a:rPr lang="en-PH" sz="1600" i="1">
                                      <a:latin typeface="Cambria Math"/>
                                    </a:rPr>
                                    <m:t>+</m:t>
                                  </m:r>
                                  <m:r>
                                    <a:rPr lang="en-PH" sz="1600" b="0" i="1" smtClean="0">
                                      <a:latin typeface="Cambria Math"/>
                                    </a:rPr>
                                    <m:t>𝑑</m:t>
                                  </m:r>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1</m:t>
                                      </m:r>
                                    </m:sub>
                                  </m:sSub>
                                </m:e>
                              </m:mr>
                              <m:mr>
                                <m:e>
                                  <m:r>
                                    <a:rPr lang="en-PH" sz="1600" i="1">
                                      <a:latin typeface="Cambria Math"/>
                                    </a:rPr>
                                    <m:t>𝑐</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i="1">
                                      <a:latin typeface="Cambria Math"/>
                                    </a:rPr>
                                    <m:t>+</m:t>
                                  </m:r>
                                  <m:r>
                                    <a:rPr lang="en-PH" sz="1600" b="0" i="1" smtClean="0">
                                      <a:latin typeface="Cambria Math"/>
                                    </a:rPr>
                                    <m:t>𝑑</m:t>
                                  </m:r>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2</m:t>
                                      </m:r>
                                    </m:sub>
                                  </m:sSub>
                                </m:e>
                              </m:mr>
                            </m:m>
                          </m:e>
                          <m:e>
                            <m:r>
                              <a:rPr lang="en-PH" sz="1600" i="1">
                                <a:latin typeface="Cambria Math"/>
                              </a:rPr>
                              <m:t>⋮</m:t>
                            </m:r>
                          </m:e>
                          <m:e>
                            <m:r>
                              <a:rPr lang="en-PH" sz="1600" i="1">
                                <a:latin typeface="Cambria Math"/>
                              </a:rPr>
                              <m:t>𝑐</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i="1">
                                <a:latin typeface="Cambria Math"/>
                              </a:rPr>
                              <m:t>+ </m:t>
                            </m:r>
                            <m:sSub>
                              <m:sSubPr>
                                <m:ctrlPr>
                                  <a:rPr lang="en-PH" sz="1600" i="1">
                                    <a:latin typeface="Cambria Math" panose="02040503050406030204" pitchFamily="18" charset="0"/>
                                  </a:rPr>
                                </m:ctrlPr>
                              </m:sSubPr>
                              <m:e>
                                <m:r>
                                  <a:rPr lang="en-PH" sz="1600" b="0" i="1" smtClean="0">
                                    <a:latin typeface="Cambria Math"/>
                                  </a:rPr>
                                  <m:t>𝑑𝑥</m:t>
                                </m:r>
                              </m:e>
                              <m:sub>
                                <m:r>
                                  <a:rPr lang="en-PH" sz="1600" i="1">
                                    <a:latin typeface="Cambria Math"/>
                                  </a:rPr>
                                  <m:t>𝑛</m:t>
                                </m:r>
                              </m:sub>
                            </m:sSub>
                          </m:e>
                        </m:eqArr>
                      </m:e>
                    </m:d>
                    <m:r>
                      <a:rPr lang="en-PH" sz="1600" b="0" i="1" smtClean="0">
                        <a:latin typeface="Cambria Math"/>
                      </a:rPr>
                      <m:t> =</m:t>
                    </m:r>
                    <m:r>
                      <a:rPr lang="en-PH" sz="1600" b="0" i="1" smtClean="0">
                        <a:latin typeface="Cambria Math"/>
                      </a:rPr>
                      <m:t>𝑐</m:t>
                    </m:r>
                    <m:r>
                      <a:rPr lang="en-PH" sz="1600" b="0" i="1" smtClean="0">
                        <a:latin typeface="Cambria Math"/>
                      </a:rPr>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i="1">
                        <a:latin typeface="Cambria Math"/>
                      </a:rPr>
                      <m:t>+</m:t>
                    </m:r>
                    <m:r>
                      <a:rPr lang="en-PH" sz="1600" b="0" i="1" smtClean="0">
                        <a:latin typeface="Cambria Math"/>
                      </a:rPr>
                      <m:t>𝑑</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𝑥</m:t>
                                </m:r>
                              </m:e>
                              <m:sub>
                                <m:r>
                                  <a:rPr lang="en-PH" sz="1600" i="1">
                                    <a:latin typeface="Cambria Math"/>
                                  </a:rPr>
                                  <m:t>𝑛</m:t>
                                </m:r>
                              </m:sub>
                            </m:sSub>
                          </m:e>
                        </m:eqArr>
                      </m:e>
                    </m:d>
                  </m:oMath>
                </a14:m>
                <a:r>
                  <a:rPr lang="en-PH" sz="1600" i="1" baseline="-25000" dirty="0"/>
                  <a:t> </a:t>
                </a:r>
              </a:p>
              <a:p>
                <a:pPr marL="0" indent="0">
                  <a:buNone/>
                </a:pPr>
                <a:endParaRPr lang="en-PH" sz="1600" i="1" dirty="0">
                  <a:latin typeface="Cambria Math"/>
                </a:endParaRPr>
              </a:p>
              <a:p>
                <a:pPr marL="0" indent="0">
                  <a:buNone/>
                </a:pPr>
                <a:r>
                  <a:rPr lang="en-PH" sz="1600" dirty="0"/>
                  <a:t>Condition #9.  </a:t>
                </a:r>
                <a:r>
                  <a:rPr lang="en-PH" sz="1600" i="1" dirty="0"/>
                  <a:t>Associative Property of Multiplication. c(d</a:t>
                </a:r>
                <a:r>
                  <a:rPr lang="en-PH" sz="1600" b="1" dirty="0"/>
                  <a:t>u</a:t>
                </a:r>
                <a:r>
                  <a:rPr lang="en-PH" sz="1600" dirty="0"/>
                  <a:t>) = </a:t>
                </a:r>
                <a:r>
                  <a:rPr lang="en-PH" sz="1600" i="1" dirty="0"/>
                  <a:t>(cd)</a:t>
                </a:r>
                <a:r>
                  <a:rPr lang="en-PH" sz="1600" dirty="0"/>
                  <a:t> </a:t>
                </a:r>
                <a:r>
                  <a:rPr lang="en-PH" sz="1600" b="1" dirty="0"/>
                  <a:t>u</a:t>
                </a:r>
                <a:endParaRPr lang="en-PH" sz="1600" i="1" dirty="0"/>
              </a:p>
              <a:p>
                <a:pPr marL="0" indent="0">
                  <a:buNone/>
                </a:pPr>
                <a:r>
                  <a:rPr lang="en-PH" sz="1600" dirty="0"/>
                  <a:t>  </a:t>
                </a:r>
                <a14:m>
                  <m:oMath xmlns:m="http://schemas.openxmlformats.org/officeDocument/2006/math">
                    <m:r>
                      <m:rPr>
                        <m:sty m:val="p"/>
                      </m:rPr>
                      <a:rPr lang="en-PH" sz="1600" b="0" i="0" smtClean="0">
                        <a:latin typeface="Cambria Math"/>
                      </a:rPr>
                      <m:t>c</m:t>
                    </m:r>
                    <m:r>
                      <a:rPr lang="en-PH" sz="1600" b="0" i="0" smtClean="0">
                        <a:latin typeface="Cambria Math"/>
                      </a:rPr>
                      <m:t>  </m:t>
                    </m:r>
                    <m:d>
                      <m:dPr>
                        <m:ctrlPr>
                          <a:rPr lang="en-PH" sz="1600" b="0" i="1" smtClean="0">
                            <a:latin typeface="Cambria Math" panose="02040503050406030204" pitchFamily="18" charset="0"/>
                          </a:rPr>
                        </m:ctrlPr>
                      </m:dPr>
                      <m:e>
                        <m:r>
                          <a:rPr lang="en-PH" sz="1600" b="0" i="1" smtClean="0">
                            <a:latin typeface="Cambria Math"/>
                          </a:rPr>
                          <m:t>𝑑</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e>
                    </m:d>
                    <m:r>
                      <a:rPr lang="en-PH" sz="1600" i="1">
                        <a:latin typeface="Cambria Math"/>
                      </a:rPr>
                      <m:t>=</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𝑐</m:t>
                                      </m:r>
                                      <m:r>
                                        <a:rPr lang="en-PH" sz="1600" b="0" i="1" smtClean="0">
                                          <a:latin typeface="Cambria Math"/>
                                        </a:rPr>
                                        <m:t>(</m:t>
                                      </m:r>
                                      <m:r>
                                        <a:rPr lang="en-PH" sz="1600" b="0" i="1" smtClean="0">
                                          <a:latin typeface="Cambria Math"/>
                                        </a:rPr>
                                        <m:t>𝑑𝑥</m:t>
                                      </m:r>
                                    </m:e>
                                    <m:sub>
                                      <m:r>
                                        <a:rPr lang="en-PH" sz="1600" i="1">
                                          <a:latin typeface="Cambria Math"/>
                                        </a:rPr>
                                        <m:t>1</m:t>
                                      </m:r>
                                    </m:sub>
                                  </m:sSub>
                                  <m:r>
                                    <a:rPr lang="en-PH" sz="1600" b="0" i="1" smtClean="0">
                                      <a:latin typeface="Cambria Math"/>
                                    </a:rPr>
                                    <m:t>)</m:t>
                                  </m:r>
                                </m:e>
                              </m:mr>
                              <m:mr>
                                <m:e>
                                  <m:r>
                                    <a:rPr lang="en-PH" sz="1600" i="1">
                                      <a:latin typeface="Cambria Math"/>
                                    </a:rPr>
                                    <m:t>𝑐</m:t>
                                  </m:r>
                                  <m:r>
                                    <a:rPr lang="en-PH" sz="1600" b="0" i="1" smtClean="0">
                                      <a:latin typeface="Cambria Math"/>
                                    </a:rPr>
                                    <m:t>(</m:t>
                                  </m:r>
                                  <m:r>
                                    <a:rPr lang="en-PH" sz="1600" b="0" i="1" smtClean="0">
                                      <a:latin typeface="Cambria Math"/>
                                    </a:rPr>
                                    <m:t>𝑑</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r>
                                    <a:rPr lang="en-PH" sz="1600" b="0" i="1" smtClean="0">
                                      <a:latin typeface="Cambria Math"/>
                                    </a:rPr>
                                    <m:t>)</m:t>
                                  </m:r>
                                </m:e>
                              </m:mr>
                            </m:m>
                          </m:e>
                          <m:e>
                            <m:r>
                              <a:rPr lang="en-PH" sz="1600" i="1">
                                <a:latin typeface="Cambria Math"/>
                              </a:rPr>
                              <m:t>⋮</m:t>
                            </m:r>
                          </m:e>
                          <m:e>
                            <m:r>
                              <a:rPr lang="en-PH" sz="1600" i="1">
                                <a:latin typeface="Cambria Math"/>
                              </a:rPr>
                              <m:t>𝑐</m:t>
                            </m:r>
                            <m:r>
                              <a:rPr lang="en-PH" sz="1600" b="0" i="1" smtClean="0">
                                <a:latin typeface="Cambria Math"/>
                              </a:rPr>
                              <m:t>(</m:t>
                            </m:r>
                            <m:r>
                              <a:rPr lang="en-PH" sz="1600" b="0" i="1" smtClean="0">
                                <a:latin typeface="Cambria Math"/>
                              </a:rPr>
                              <m:t>𝑑</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r>
                              <a:rPr lang="en-PH" sz="1600" b="0" i="1" smtClean="0">
                                <a:latin typeface="Cambria Math"/>
                              </a:rPr>
                              <m:t>)</m:t>
                            </m:r>
                          </m:e>
                        </m:eqArr>
                      </m:e>
                    </m:d>
                    <m:r>
                      <a:rPr lang="en-PH" sz="1600" b="0" i="1" smtClean="0">
                        <a:latin typeface="Cambria Math"/>
                      </a:rPr>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𝑐𝑑</m:t>
                                      </m:r>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b="0" i="1" smtClean="0">
                                          <a:latin typeface="Cambria Math"/>
                                        </a:rPr>
                                        <m:t>𝑐𝑑</m:t>
                                      </m:r>
                                      <m:r>
                                        <a:rPr lang="en-PH" sz="1600" i="1">
                                          <a:latin typeface="Cambria Math"/>
                                        </a:rPr>
                                        <m:t>𝑥</m:t>
                                      </m:r>
                                    </m:e>
                                    <m:sub>
                                      <m:r>
                                        <a:rPr lang="en-PH" sz="1600" i="1">
                                          <a:latin typeface="Cambria Math"/>
                                        </a:rPr>
                                        <m:t>2</m:t>
                                      </m:r>
                                    </m:sub>
                                  </m:sSub>
                                </m:e>
                              </m:mr>
                            </m:m>
                          </m:e>
                          <m:e>
                            <m:r>
                              <a:rPr lang="en-PH" sz="1600" i="1">
                                <a:latin typeface="Cambria Math"/>
                              </a:rPr>
                              <m:t>⋮</m:t>
                            </m:r>
                          </m:e>
                          <m:e>
                            <m:r>
                              <a:rPr lang="en-PH" sz="1600" b="0" i="1" smtClean="0">
                                <a:latin typeface="Cambria Math"/>
                              </a:rPr>
                              <m:t>𝑐𝑑</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b="0" i="1" smtClean="0">
                        <a:latin typeface="Cambria Math"/>
                      </a:rPr>
                      <m:t> =  </m:t>
                    </m:r>
                    <m:d>
                      <m:dPr>
                        <m:ctrlPr>
                          <a:rPr lang="en-PH" sz="1600" b="0" i="1" smtClean="0">
                            <a:latin typeface="Cambria Math" panose="02040503050406030204" pitchFamily="18" charset="0"/>
                          </a:rPr>
                        </m:ctrlPr>
                      </m:dPr>
                      <m:e>
                        <m:r>
                          <a:rPr lang="en-PH" sz="1600" b="0" i="1" smtClean="0">
                            <a:latin typeface="Cambria Math"/>
                          </a:rPr>
                          <m:t>𝑐𝑑</m:t>
                        </m:r>
                      </m:e>
                    </m:d>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oMath>
                </a14:m>
                <a:endParaRPr lang="en-PH" sz="1600" i="1" dirty="0">
                  <a:latin typeface="Cambria Math"/>
                </a:endParaRPr>
              </a:p>
              <a:p>
                <a:pPr marL="0" indent="0">
                  <a:buNone/>
                </a:pPr>
                <a:endParaRPr lang="en-PH" sz="1600" i="1" dirty="0">
                  <a:latin typeface="Cambria Math"/>
                </a:endParaRPr>
              </a:p>
              <a:p>
                <a:pPr marL="0" indent="0">
                  <a:buNone/>
                </a:pPr>
                <a:r>
                  <a:rPr lang="en-PH" sz="1600" dirty="0"/>
                  <a:t>Condition #10.  </a:t>
                </a:r>
                <a:r>
                  <a:rPr lang="en-PH" sz="1600" i="1" dirty="0"/>
                  <a:t>Unitary or Identity.</a:t>
                </a:r>
              </a:p>
              <a:p>
                <a:pPr marL="0" indent="0">
                  <a:buNone/>
                </a:pPr>
                <a14:m>
                  <m:oMathPara xmlns:m="http://schemas.openxmlformats.org/officeDocument/2006/math">
                    <m:oMathParaPr>
                      <m:jc m:val="centerGroup"/>
                    </m:oMathParaPr>
                    <m:oMath xmlns:m="http://schemas.openxmlformats.org/officeDocument/2006/math">
                      <m:r>
                        <a:rPr lang="en-PH" sz="1600" b="0" i="1" smtClean="0">
                          <a:latin typeface="Cambria Math"/>
                        </a:rPr>
                        <m:t>1</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r>
                        <a:rPr lang="en-PH" sz="1600" b="0" i="1" smtClean="0">
                          <a:latin typeface="Cambria Math"/>
                        </a:rPr>
                        <m:t> =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b="0" i="1" smtClean="0">
                                            <a:latin typeface="Cambria Math"/>
                                          </a:rPr>
                                          <m:t>1</m:t>
                                        </m:r>
                                        <m:r>
                                          <a:rPr lang="en-PH" sz="1600" i="1">
                                            <a:latin typeface="Cambria Math"/>
                                          </a:rPr>
                                          <m:t>𝑥</m:t>
                                        </m:r>
                                      </m:e>
                                      <m:sub>
                                        <m:r>
                                          <a:rPr lang="en-PH" sz="1600" i="1">
                                            <a:latin typeface="Cambria Math"/>
                                          </a:rPr>
                                          <m:t>1</m:t>
                                        </m:r>
                                      </m:sub>
                                    </m:sSub>
                                  </m:e>
                                </m:mr>
                                <m:mr>
                                  <m:e>
                                    <m:r>
                                      <a:rPr lang="en-PH" sz="1600" b="0" i="1" smtClean="0">
                                        <a:latin typeface="Cambria Math"/>
                                      </a:rPr>
                                      <m:t>1</m:t>
                                    </m:r>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b="0" i="1" smtClean="0">
                                      <a:latin typeface="Cambria Math"/>
                                    </a:rPr>
                                    <m:t>1</m:t>
                                  </m:r>
                                  <m:r>
                                    <a:rPr lang="en-PH" sz="1600" i="1">
                                      <a:latin typeface="Cambria Math"/>
                                    </a:rPr>
                                    <m:t>𝑥</m:t>
                                  </m:r>
                                </m:e>
                                <m:sub>
                                  <m:r>
                                    <a:rPr lang="en-PH" sz="1600" i="1">
                                      <a:latin typeface="Cambria Math"/>
                                    </a:rPr>
                                    <m:t>𝑛</m:t>
                                  </m:r>
                                </m:sub>
                              </m:sSub>
                            </m:e>
                          </m:eqArr>
                        </m:e>
                      </m:d>
                      <m:r>
                        <a:rPr lang="en-PH" sz="1600" b="0" i="1" smtClean="0">
                          <a:latin typeface="Cambria Math"/>
                        </a:rPr>
                        <m:t> =</m:t>
                      </m:r>
                      <m:d>
                        <m:dPr>
                          <m:begChr m:val="["/>
                          <m:endChr m:val="]"/>
                          <m:ctrlPr>
                            <a:rPr lang="en-PH" sz="1600" i="1">
                              <a:latin typeface="Cambria Math" panose="02040503050406030204" pitchFamily="18" charset="0"/>
                            </a:rPr>
                          </m:ctrlPr>
                        </m:dPr>
                        <m:e>
                          <m:eqArr>
                            <m:eqArrPr>
                              <m:ctrlPr>
                                <a:rPr lang="en-PH" sz="1600" i="1">
                                  <a:latin typeface="Cambria Math" panose="02040503050406030204" pitchFamily="18" charset="0"/>
                                </a:rPr>
                              </m:ctrlPr>
                            </m:eqArrPr>
                            <m:e>
                              <m:m>
                                <m:mPr>
                                  <m:mcs>
                                    <m:mc>
                                      <m:mcPr>
                                        <m:count m:val="1"/>
                                        <m:mcJc m:val="center"/>
                                      </m:mcPr>
                                    </m:mc>
                                  </m:mcs>
                                  <m:ctrlPr>
                                    <a:rPr lang="en-PH" sz="1600" i="1">
                                      <a:latin typeface="Cambria Math" panose="02040503050406030204" pitchFamily="18" charset="0"/>
                                    </a:rPr>
                                  </m:ctrlPr>
                                </m:mP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1</m:t>
                                        </m:r>
                                      </m:sub>
                                    </m:sSub>
                                  </m:e>
                                </m:mr>
                                <m:mr>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2</m:t>
                                        </m:r>
                                      </m:sub>
                                    </m:sSub>
                                  </m:e>
                                </m:mr>
                              </m:m>
                            </m:e>
                            <m:e>
                              <m:r>
                                <a:rPr lang="en-PH" sz="1600" i="1">
                                  <a:latin typeface="Cambria Math"/>
                                </a:rPr>
                                <m:t>⋮</m:t>
                              </m:r>
                            </m:e>
                            <m:e>
                              <m:sSub>
                                <m:sSubPr>
                                  <m:ctrlPr>
                                    <a:rPr lang="en-PH" sz="1600" i="1">
                                      <a:latin typeface="Cambria Math" panose="02040503050406030204" pitchFamily="18" charset="0"/>
                                    </a:rPr>
                                  </m:ctrlPr>
                                </m:sSubPr>
                                <m:e>
                                  <m:r>
                                    <a:rPr lang="en-PH" sz="1600" i="1">
                                      <a:latin typeface="Cambria Math"/>
                                    </a:rPr>
                                    <m:t>𝑥</m:t>
                                  </m:r>
                                </m:e>
                                <m:sub>
                                  <m:r>
                                    <a:rPr lang="en-PH" sz="1600" i="1">
                                      <a:latin typeface="Cambria Math"/>
                                    </a:rPr>
                                    <m:t>𝑛</m:t>
                                  </m:r>
                                </m:sub>
                              </m:sSub>
                            </m:e>
                          </m:eqArr>
                        </m:e>
                      </m:d>
                    </m:oMath>
                  </m:oMathPara>
                </a14:m>
                <a:endParaRPr lang="en-PH" sz="1600" i="1" dirty="0">
                  <a:latin typeface="Cambria Math"/>
                </a:endParaRPr>
              </a:p>
              <a:p>
                <a:pPr marL="0" indent="0">
                  <a:buNone/>
                </a:pPr>
                <a:r>
                  <a:rPr lang="en-PH" sz="1600" i="1" dirty="0">
                    <a:latin typeface="Cambria Math"/>
                  </a:rPr>
                  <a:t>Since  all the 10  axioms are satisfied, therefore, the set of  nx1 matrix  is a vector space.</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5181600"/>
              </a:xfrm>
              <a:blipFill rotWithShape="1">
                <a:blip r:embed="rId2"/>
                <a:stretch>
                  <a:fillRect l="-370" t="-353"/>
                </a:stretch>
              </a:blipFill>
            </p:spPr>
            <p:txBody>
              <a:bodyPr/>
              <a:lstStyle/>
              <a:p>
                <a:r>
                  <a:rPr lang="en-PH">
                    <a:noFill/>
                  </a:rPr>
                  <a:t> </a:t>
                </a:r>
              </a:p>
            </p:txBody>
          </p:sp>
        </mc:Fallback>
      </mc:AlternateContent>
    </p:spTree>
    <p:extLst>
      <p:ext uri="{BB962C8B-B14F-4D97-AF65-F5344CB8AC3E}">
        <p14:creationId xmlns:p14="http://schemas.microsoft.com/office/powerpoint/2010/main" val="4062559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447800"/>
                <a:ext cx="8229600" cy="4876800"/>
              </a:xfrm>
            </p:spPr>
            <p:txBody>
              <a:bodyPr>
                <a:normAutofit/>
              </a:bodyPr>
              <a:lstStyle/>
              <a:p>
                <a:pPr marL="0" indent="0">
                  <a:buNone/>
                </a:pPr>
                <a:r>
                  <a:rPr lang="en-PH" sz="2800" baseline="-25000" dirty="0"/>
                  <a:t>Other Examples of  Vector Spaces:</a:t>
                </a:r>
              </a:p>
              <a:p>
                <a:pPr marL="0" indent="0">
                  <a:buNone/>
                </a:pPr>
                <a:endParaRPr lang="en-PH" sz="2800" baseline="-25000" dirty="0"/>
              </a:p>
              <a:p>
                <a:pPr marL="457200" indent="-457200">
                  <a:buAutoNum type="arabicPeriod"/>
                </a:pPr>
                <a:r>
                  <a:rPr lang="en-PH" sz="2000" dirty="0"/>
                  <a:t>Let V be the set of all polynomials of degree </a:t>
                </a:r>
                <a:r>
                  <a:rPr lang="en-PH" sz="2000" i="1" dirty="0"/>
                  <a:t>n</a:t>
                </a:r>
                <a:r>
                  <a:rPr lang="en-PH" sz="2000" dirty="0"/>
                  <a:t> with real coefficients, let the scalars be R (set of real nos.), and deﬁne vector addition and scalar multiplication as: </a:t>
                </a:r>
              </a:p>
              <a:p>
                <a:pPr marL="0" indent="0">
                  <a:buNone/>
                </a:pPr>
                <a:endParaRPr lang="en-PH" sz="2000" baseline="30000" dirty="0"/>
              </a:p>
              <a:p>
                <a:pPr marL="0" indent="0">
                  <a:buNone/>
                </a:pPr>
                <a:r>
                  <a:rPr lang="en-PH" sz="2000" baseline="30000" dirty="0"/>
                  <a:t> </a:t>
                </a:r>
                <a:r>
                  <a:rPr lang="en-PH" sz="2000" dirty="0"/>
                  <a:t>  </a:t>
                </a:r>
                <a14:m>
                  <m:oMath xmlns:m="http://schemas.openxmlformats.org/officeDocument/2006/math">
                    <m:d>
                      <m:dPr>
                        <m:ctrlPr>
                          <a:rPr lang="en-PH" sz="2000" i="1" smtClean="0">
                            <a:latin typeface="Cambria Math" panose="02040503050406030204" pitchFamily="18" charset="0"/>
                          </a:rPr>
                        </m:ctrlPr>
                      </m:dPr>
                      <m:e>
                        <m:sSub>
                          <m:sSubPr>
                            <m:ctrlPr>
                              <a:rPr lang="en-PH" sz="2000" i="1" smtClean="0">
                                <a:latin typeface="Cambria Math" panose="02040503050406030204" pitchFamily="18" charset="0"/>
                              </a:rPr>
                            </m:ctrlPr>
                          </m:sSubPr>
                          <m:e>
                            <m:r>
                              <a:rPr lang="en-PH" sz="2000" b="0" i="1" smtClean="0">
                                <a:latin typeface="Cambria Math"/>
                              </a:rPr>
                              <m:t>𝑎</m:t>
                            </m:r>
                          </m:e>
                          <m:sub>
                            <m:r>
                              <a:rPr lang="en-PH" sz="2000" b="0" i="1" smtClean="0">
                                <a:latin typeface="Cambria Math"/>
                              </a:rPr>
                              <m:t>0</m:t>
                            </m:r>
                          </m:sub>
                        </m:sSub>
                        <m:r>
                          <a:rPr lang="en-PH" sz="2000" b="0" i="1" smtClean="0">
                            <a:latin typeface="Cambria Math"/>
                          </a:rPr>
                          <m:t>+</m:t>
                        </m:r>
                        <m:sSub>
                          <m:sSubPr>
                            <m:ctrlPr>
                              <a:rPr lang="en-PH" sz="2000" b="0" i="1" smtClean="0">
                                <a:latin typeface="Cambria Math" panose="02040503050406030204" pitchFamily="18" charset="0"/>
                              </a:rPr>
                            </m:ctrlPr>
                          </m:sSubPr>
                          <m:e>
                            <m:r>
                              <a:rPr lang="en-PH" sz="2000" b="0" i="1" smtClean="0">
                                <a:latin typeface="Cambria Math"/>
                              </a:rPr>
                              <m:t>𝑎</m:t>
                            </m:r>
                          </m:e>
                          <m:sub>
                            <m:r>
                              <a:rPr lang="en-PH" sz="2000" b="0" i="1" smtClean="0">
                                <a:latin typeface="Cambria Math"/>
                              </a:rPr>
                              <m:t>1</m:t>
                            </m:r>
                          </m:sub>
                        </m:sSub>
                        <m:r>
                          <a:rPr lang="en-PH" sz="2000" b="0" i="1" smtClean="0">
                            <a:latin typeface="Cambria Math"/>
                          </a:rPr>
                          <m:t>𝑡</m:t>
                        </m:r>
                        <m:r>
                          <a:rPr lang="en-PH" sz="2000" b="0" i="1" smtClean="0">
                            <a:latin typeface="Cambria Math"/>
                          </a:rPr>
                          <m:t>+</m:t>
                        </m:r>
                        <m:sSub>
                          <m:sSubPr>
                            <m:ctrlPr>
                              <a:rPr lang="en-PH" sz="2000" i="1">
                                <a:latin typeface="Cambria Math" panose="02040503050406030204" pitchFamily="18" charset="0"/>
                              </a:rPr>
                            </m:ctrlPr>
                          </m:sSubPr>
                          <m:e>
                            <m:r>
                              <a:rPr lang="en-PH" sz="2000" b="0" i="1" smtClean="0">
                                <a:latin typeface="Cambria Math"/>
                              </a:rPr>
                              <m:t>𝑎</m:t>
                            </m:r>
                          </m:e>
                          <m:sub>
                            <m:r>
                              <a:rPr lang="en-PH" sz="2000" b="0" i="1" smtClean="0">
                                <a:latin typeface="Cambria Math"/>
                              </a:rPr>
                              <m:t>2</m:t>
                            </m:r>
                          </m:sub>
                        </m:sSub>
                        <m:sSup>
                          <m:sSupPr>
                            <m:ctrlPr>
                              <a:rPr lang="en-PH" sz="2000" i="1">
                                <a:latin typeface="Cambria Math" panose="02040503050406030204" pitchFamily="18" charset="0"/>
                              </a:rPr>
                            </m:ctrlPr>
                          </m:sSupPr>
                          <m:e>
                            <m:r>
                              <a:rPr lang="en-PH" sz="2000" b="0" i="1" smtClean="0">
                                <a:latin typeface="Cambria Math"/>
                              </a:rPr>
                              <m:t>𝑡</m:t>
                            </m:r>
                          </m:e>
                          <m:sup>
                            <m:r>
                              <a:rPr lang="en-PH" sz="2000" b="0" i="1" smtClean="0">
                                <a:latin typeface="Cambria Math"/>
                              </a:rPr>
                              <m:t>2</m:t>
                            </m:r>
                          </m:sup>
                        </m:sSup>
                        <m:r>
                          <a:rPr lang="en-PH" sz="2000" b="0" i="1" smtClean="0">
                            <a:latin typeface="Cambria Math"/>
                          </a:rPr>
                          <m:t>+ ⋯+</m:t>
                        </m:r>
                        <m:sSub>
                          <m:sSubPr>
                            <m:ctrlPr>
                              <a:rPr lang="en-PH" sz="2000" i="1">
                                <a:latin typeface="Cambria Math" panose="02040503050406030204" pitchFamily="18" charset="0"/>
                              </a:rPr>
                            </m:ctrlPr>
                          </m:sSubPr>
                          <m:e>
                            <m:r>
                              <a:rPr lang="en-PH" sz="2000" b="0" i="1" smtClean="0">
                                <a:latin typeface="Cambria Math"/>
                              </a:rPr>
                              <m:t>𝑎</m:t>
                            </m:r>
                          </m:e>
                          <m:sub>
                            <m:r>
                              <a:rPr lang="en-PH" sz="2000" b="0" i="1" smtClean="0">
                                <a:latin typeface="Cambria Math"/>
                              </a:rPr>
                              <m:t>𝑛</m:t>
                            </m:r>
                          </m:sub>
                        </m:sSub>
                        <m:sSup>
                          <m:sSupPr>
                            <m:ctrlPr>
                              <a:rPr lang="en-PH" sz="2000" i="1">
                                <a:latin typeface="Cambria Math" panose="02040503050406030204" pitchFamily="18" charset="0"/>
                              </a:rPr>
                            </m:ctrlPr>
                          </m:sSupPr>
                          <m:e>
                            <m:r>
                              <a:rPr lang="en-PH" sz="2000" b="0" i="1" smtClean="0">
                                <a:latin typeface="Cambria Math"/>
                              </a:rPr>
                              <m:t>𝑡</m:t>
                            </m:r>
                          </m:e>
                          <m:sup>
                            <m:r>
                              <a:rPr lang="en-PH" sz="2000" b="0" i="1" smtClean="0">
                                <a:latin typeface="Cambria Math"/>
                              </a:rPr>
                              <m:t>𝑛</m:t>
                            </m:r>
                          </m:sup>
                        </m:sSup>
                      </m:e>
                    </m:d>
                    <m:r>
                      <a:rPr lang="en-PH" sz="2000" b="0" i="1" smtClean="0">
                        <a:latin typeface="Cambria Math"/>
                      </a:rPr>
                      <m:t> +</m:t>
                    </m:r>
                    <m:d>
                      <m:dPr>
                        <m:ctrlPr>
                          <a:rPr lang="en-PH" sz="2000" i="1">
                            <a:latin typeface="Cambria Math" panose="02040503050406030204" pitchFamily="18" charset="0"/>
                          </a:rPr>
                        </m:ctrlPr>
                      </m:dPr>
                      <m:e>
                        <m:sSub>
                          <m:sSubPr>
                            <m:ctrlPr>
                              <a:rPr lang="en-PH" sz="2000" i="1">
                                <a:latin typeface="Cambria Math" panose="02040503050406030204" pitchFamily="18" charset="0"/>
                              </a:rPr>
                            </m:ctrlPr>
                          </m:sSubPr>
                          <m:e>
                            <m:r>
                              <a:rPr lang="en-PH" sz="2000" b="0" i="1" smtClean="0">
                                <a:latin typeface="Cambria Math"/>
                              </a:rPr>
                              <m:t>𝑏</m:t>
                            </m:r>
                          </m:e>
                          <m:sub>
                            <m:r>
                              <a:rPr lang="en-PH" sz="2000" i="1">
                                <a:latin typeface="Cambria Math"/>
                              </a:rPr>
                              <m:t>0</m:t>
                            </m:r>
                          </m:sub>
                        </m:sSub>
                        <m:r>
                          <a:rPr lang="en-PH" sz="2000" i="1">
                            <a:latin typeface="Cambria Math"/>
                          </a:rPr>
                          <m:t>+</m:t>
                        </m:r>
                        <m:sSub>
                          <m:sSubPr>
                            <m:ctrlPr>
                              <a:rPr lang="en-PH" sz="2000" i="1">
                                <a:latin typeface="Cambria Math" panose="02040503050406030204" pitchFamily="18" charset="0"/>
                              </a:rPr>
                            </m:ctrlPr>
                          </m:sSubPr>
                          <m:e>
                            <m:r>
                              <a:rPr lang="en-PH" sz="2000" b="0" i="1" smtClean="0">
                                <a:latin typeface="Cambria Math"/>
                              </a:rPr>
                              <m:t>𝑏</m:t>
                            </m:r>
                          </m:e>
                          <m:sub>
                            <m:r>
                              <a:rPr lang="en-PH" sz="2000" i="1">
                                <a:latin typeface="Cambria Math"/>
                              </a:rPr>
                              <m:t>1</m:t>
                            </m:r>
                          </m:sub>
                        </m:sSub>
                        <m:r>
                          <a:rPr lang="en-PH" sz="2000" i="1">
                            <a:latin typeface="Cambria Math"/>
                          </a:rPr>
                          <m:t>𝑡</m:t>
                        </m:r>
                        <m:r>
                          <a:rPr lang="en-PH" sz="2000" i="1">
                            <a:latin typeface="Cambria Math"/>
                          </a:rPr>
                          <m:t>+</m:t>
                        </m:r>
                        <m:sSub>
                          <m:sSubPr>
                            <m:ctrlPr>
                              <a:rPr lang="en-PH" sz="2000" i="1" smtClean="0">
                                <a:latin typeface="Cambria Math" panose="02040503050406030204" pitchFamily="18" charset="0"/>
                              </a:rPr>
                            </m:ctrlPr>
                          </m:sSubPr>
                          <m:e>
                            <m:r>
                              <a:rPr lang="en-PH" sz="2000" b="0" i="1" smtClean="0">
                                <a:latin typeface="Cambria Math"/>
                              </a:rPr>
                              <m:t>𝑏</m:t>
                            </m:r>
                          </m:e>
                          <m:sub>
                            <m:r>
                              <a:rPr lang="en-PH" sz="2000" i="1">
                                <a:latin typeface="Cambria Math"/>
                              </a:rPr>
                              <m:t>2</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2</m:t>
                            </m:r>
                          </m:sup>
                        </m:sSup>
                        <m:r>
                          <a:rPr lang="en-PH" sz="2000" i="1">
                            <a:latin typeface="Cambria Math"/>
                          </a:rPr>
                          <m:t>+ ⋯+</m:t>
                        </m:r>
                        <m:sSub>
                          <m:sSubPr>
                            <m:ctrlPr>
                              <a:rPr lang="en-PH" sz="2000" i="1">
                                <a:latin typeface="Cambria Math" panose="02040503050406030204" pitchFamily="18" charset="0"/>
                              </a:rPr>
                            </m:ctrlPr>
                          </m:sSubPr>
                          <m:e>
                            <m:r>
                              <a:rPr lang="en-PH" sz="2000" b="0" i="1" smtClean="0">
                                <a:latin typeface="Cambria Math"/>
                              </a:rPr>
                              <m:t>𝑏</m:t>
                            </m:r>
                          </m:e>
                          <m:sub>
                            <m:r>
                              <a:rPr lang="en-PH" sz="2000" i="1">
                                <a:latin typeface="Cambria Math"/>
                              </a:rPr>
                              <m:t>𝑛</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𝑛</m:t>
                            </m:r>
                          </m:sup>
                        </m:sSup>
                      </m:e>
                    </m:d>
                    <m:r>
                      <a:rPr lang="en-PH" sz="2000" b="0" i="1" smtClean="0">
                        <a:latin typeface="Cambria Math"/>
                      </a:rPr>
                      <m:t>=  </m:t>
                    </m:r>
                  </m:oMath>
                </a14:m>
                <a:endParaRPr lang="en-PH" sz="2000" b="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PH" sz="2000" b="0" i="1" smtClean="0">
                          <a:latin typeface="Cambria Math"/>
                        </a:rPr>
                        <m:t>  </m:t>
                      </m:r>
                    </m:oMath>
                  </m:oMathPara>
                </a14:m>
                <a:endParaRPr lang="en-PH" sz="2000" b="0"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en-PH" sz="2000" b="0" i="1" smtClean="0">
                          <a:latin typeface="Cambria Math"/>
                        </a:rPr>
                        <m:t>(</m:t>
                      </m:r>
                      <m:d>
                        <m:dPr>
                          <m:ctrlPr>
                            <a:rPr lang="en-PH" sz="2000" i="1">
                              <a:latin typeface="Cambria Math" panose="02040503050406030204" pitchFamily="18" charset="0"/>
                            </a:rPr>
                          </m:ctrlPr>
                        </m:dPr>
                        <m:e>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0</m:t>
                              </m:r>
                            </m:sub>
                          </m:sSub>
                          <m:r>
                            <a:rPr lang="en-PH" sz="2000" b="0" i="1" smtClean="0">
                              <a:latin typeface="Cambria Math"/>
                            </a:rPr>
                            <m:t>+</m:t>
                          </m:r>
                          <m:sSub>
                            <m:sSubPr>
                              <m:ctrlPr>
                                <a:rPr lang="en-PH" sz="2000" b="0" i="1" smtClean="0">
                                  <a:latin typeface="Cambria Math" panose="02040503050406030204" pitchFamily="18" charset="0"/>
                                </a:rPr>
                              </m:ctrlPr>
                            </m:sSubPr>
                            <m:e>
                              <m:r>
                                <a:rPr lang="en-PH" sz="2000" b="0" i="1" smtClean="0">
                                  <a:latin typeface="Cambria Math"/>
                                </a:rPr>
                                <m:t>𝑏</m:t>
                              </m:r>
                            </m:e>
                            <m:sub>
                              <m:r>
                                <a:rPr lang="en-PH" sz="2000" b="0" i="1" smtClean="0">
                                  <a:latin typeface="Cambria Math"/>
                                </a:rPr>
                                <m:t>0</m:t>
                              </m:r>
                            </m:sub>
                          </m:sSub>
                          <m:r>
                            <a:rPr lang="en-PH" sz="2000" b="0" i="1" smtClean="0">
                              <a:latin typeface="Cambria Math"/>
                            </a:rPr>
                            <m:t>)</m:t>
                          </m:r>
                          <m:r>
                            <a:rPr lang="en-PH" sz="2000" i="1">
                              <a:latin typeface="Cambria Math"/>
                            </a:rPr>
                            <m:t>+</m:t>
                          </m:r>
                          <m:sSub>
                            <m:sSubPr>
                              <m:ctrlPr>
                                <a:rPr lang="en-PH" sz="2000" i="1">
                                  <a:latin typeface="Cambria Math" panose="02040503050406030204" pitchFamily="18" charset="0"/>
                                </a:rPr>
                              </m:ctrlPr>
                            </m:sSubPr>
                            <m:e>
                              <m:r>
                                <a:rPr lang="en-PH" sz="2000" b="0" i="1" smtClean="0">
                                  <a:latin typeface="Cambria Math"/>
                                </a:rPr>
                                <m:t>(</m:t>
                              </m:r>
                              <m:r>
                                <a:rPr lang="en-PH" sz="2000" i="1">
                                  <a:latin typeface="Cambria Math"/>
                                </a:rPr>
                                <m:t>𝑎</m:t>
                              </m:r>
                            </m:e>
                            <m:sub>
                              <m:r>
                                <a:rPr lang="en-PH" sz="2000" b="0" i="1" smtClean="0">
                                  <a:latin typeface="Cambria Math"/>
                                </a:rPr>
                                <m:t>1</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𝑏</m:t>
                              </m:r>
                            </m:e>
                            <m:sub>
                              <m:r>
                                <a:rPr lang="en-PH" sz="2000" b="0" i="1" smtClean="0">
                                  <a:latin typeface="Cambria Math"/>
                                </a:rPr>
                                <m:t>1</m:t>
                              </m:r>
                            </m:sub>
                          </m:sSub>
                          <m:r>
                            <a:rPr lang="en-PH" sz="2000" i="1">
                              <a:latin typeface="Cambria Math"/>
                            </a:rPr>
                            <m:t>)</m:t>
                          </m:r>
                          <m:r>
                            <a:rPr lang="en-PH" sz="2000" i="1">
                              <a:latin typeface="Cambria Math"/>
                            </a:rPr>
                            <m:t>𝑡</m:t>
                          </m:r>
                          <m:r>
                            <a:rPr lang="en-PH" sz="2000" i="1">
                              <a:latin typeface="Cambria Math"/>
                            </a:rPr>
                            <m:t>+</m:t>
                          </m:r>
                          <m:sSub>
                            <m:sSubPr>
                              <m:ctrlPr>
                                <a:rPr lang="en-PH" sz="2000" i="1">
                                  <a:latin typeface="Cambria Math" panose="02040503050406030204" pitchFamily="18" charset="0"/>
                                </a:rPr>
                              </m:ctrlPr>
                            </m:sSubPr>
                            <m:e>
                              <m:r>
                                <a:rPr lang="en-PH" sz="2000" b="0" i="1" smtClean="0">
                                  <a:latin typeface="Cambria Math"/>
                                </a:rPr>
                                <m:t>(</m:t>
                              </m:r>
                              <m:r>
                                <a:rPr lang="en-PH" sz="2000" i="1">
                                  <a:latin typeface="Cambria Math"/>
                                </a:rPr>
                                <m:t>𝑎</m:t>
                              </m:r>
                            </m:e>
                            <m:sub>
                              <m:r>
                                <a:rPr lang="en-PH" sz="2000" b="0" i="1" smtClean="0">
                                  <a:latin typeface="Cambria Math"/>
                                </a:rPr>
                                <m:t>2</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𝑏</m:t>
                              </m:r>
                            </m:e>
                            <m:sub>
                              <m:r>
                                <a:rPr lang="en-PH" sz="2000" b="0" i="1" smtClean="0">
                                  <a:latin typeface="Cambria Math"/>
                                </a:rPr>
                                <m:t>2</m:t>
                              </m:r>
                            </m:sub>
                          </m:sSub>
                          <m:r>
                            <a:rPr lang="en-PH" sz="2000" i="1">
                              <a:latin typeface="Cambria Math"/>
                            </a:rPr>
                            <m:t>)</m:t>
                          </m:r>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2</m:t>
                              </m:r>
                            </m:sup>
                          </m:sSup>
                          <m:r>
                            <a:rPr lang="en-PH" sz="2000" i="1">
                              <a:latin typeface="Cambria Math"/>
                            </a:rPr>
                            <m:t>+ ⋯+</m:t>
                          </m:r>
                          <m:sSub>
                            <m:sSubPr>
                              <m:ctrlPr>
                                <a:rPr lang="en-PH" sz="2000" i="1">
                                  <a:latin typeface="Cambria Math" panose="02040503050406030204" pitchFamily="18" charset="0"/>
                                </a:rPr>
                              </m:ctrlPr>
                            </m:sSubPr>
                            <m:e>
                              <m:r>
                                <a:rPr lang="en-PH" sz="2000" b="0" i="1" smtClean="0">
                                  <a:latin typeface="Cambria Math"/>
                                </a:rPr>
                                <m:t>(</m:t>
                              </m:r>
                              <m:r>
                                <a:rPr lang="en-PH" sz="2000" i="1">
                                  <a:latin typeface="Cambria Math"/>
                                </a:rPr>
                                <m:t>𝑎</m:t>
                              </m:r>
                            </m:e>
                            <m:sub>
                              <m:r>
                                <a:rPr lang="en-PH" sz="2000" b="0" i="1" smtClean="0">
                                  <a:latin typeface="Cambria Math"/>
                                </a:rPr>
                                <m:t>𝑛</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𝑏</m:t>
                              </m:r>
                            </m:e>
                            <m:sub>
                              <m:r>
                                <a:rPr lang="en-PH" sz="2000" b="0" i="1" smtClean="0">
                                  <a:latin typeface="Cambria Math"/>
                                </a:rPr>
                                <m:t>𝑛</m:t>
                              </m:r>
                            </m:sub>
                          </m:sSub>
                          <m:r>
                            <a:rPr lang="en-PH" sz="2000" i="1">
                              <a:latin typeface="Cambria Math"/>
                            </a:rPr>
                            <m:t>)</m:t>
                          </m:r>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𝑛</m:t>
                              </m:r>
                            </m:sup>
                          </m:sSup>
                        </m:e>
                      </m:d>
                    </m:oMath>
                  </m:oMathPara>
                </a14:m>
                <a:endParaRPr lang="en-PH" baseline="-25000" dirty="0"/>
              </a:p>
              <a:p>
                <a:pPr marL="457200" indent="-457200">
                  <a:buAutoNum type="arabicPeriod"/>
                </a:pPr>
                <a:endParaRPr lang="en-PH" sz="2000" baseline="-25000" dirty="0"/>
              </a:p>
              <a:p>
                <a:pPr marL="0" indent="0" algn="ctr">
                  <a:buNone/>
                </a:pPr>
                <a:r>
                  <a:rPr lang="en-PH" sz="2000" dirty="0"/>
                  <a:t>		and</a:t>
                </a:r>
              </a:p>
              <a:p>
                <a:pPr marL="0" indent="0">
                  <a:buNone/>
                </a:pPr>
                <a14:m>
                  <m:oMathPara xmlns:m="http://schemas.openxmlformats.org/officeDocument/2006/math">
                    <m:oMathParaPr>
                      <m:jc m:val="centerGroup"/>
                    </m:oMathParaPr>
                    <m:oMath xmlns:m="http://schemas.openxmlformats.org/officeDocument/2006/math">
                      <m:r>
                        <a:rPr lang="en-PH" sz="2000" b="0" i="0" smtClean="0">
                          <a:latin typeface="Cambria Math"/>
                        </a:rPr>
                        <m:t>  </m:t>
                      </m:r>
                      <m:r>
                        <m:rPr>
                          <m:sty m:val="p"/>
                        </m:rPr>
                        <a:rPr lang="en-PH" sz="2000" b="0" i="0" smtClean="0">
                          <a:latin typeface="Cambria Math"/>
                        </a:rPr>
                        <m:t>c</m:t>
                      </m:r>
                      <m:d>
                        <m:dPr>
                          <m:ctrlPr>
                            <a:rPr lang="en-PH" sz="2000" i="1">
                              <a:latin typeface="Cambria Math" panose="02040503050406030204" pitchFamily="18" charset="0"/>
                            </a:rPr>
                          </m:ctrlPr>
                        </m:dPr>
                        <m:e>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0</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1</m:t>
                              </m:r>
                            </m:sub>
                          </m:sSub>
                          <m:r>
                            <a:rPr lang="en-PH" sz="2000" i="1">
                              <a:latin typeface="Cambria Math"/>
                            </a:rPr>
                            <m:t>𝑡</m:t>
                          </m:r>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2</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2</m:t>
                              </m:r>
                            </m:sup>
                          </m:sSup>
                          <m:r>
                            <a:rPr lang="en-PH" sz="2000" i="1">
                              <a:latin typeface="Cambria Math"/>
                            </a:rPr>
                            <m:t>+ ⋯+</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𝑛</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𝑛</m:t>
                              </m:r>
                            </m:sup>
                          </m:sSup>
                        </m:e>
                      </m:d>
                      <m:r>
                        <a:rPr lang="en-PH" sz="2000" b="0" i="0" smtClean="0">
                          <a:latin typeface="Cambria Math"/>
                        </a:rPr>
                        <m:t>=</m:t>
                      </m:r>
                      <m:r>
                        <m:rPr>
                          <m:sty m:val="p"/>
                        </m:rPr>
                        <a:rPr lang="en-PH" sz="2000" b="0" i="0" smtClean="0">
                          <a:latin typeface="Cambria Math"/>
                        </a:rPr>
                        <m:t>c</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0</m:t>
                          </m:r>
                        </m:sub>
                      </m:sSub>
                      <m:r>
                        <a:rPr lang="en-PH" sz="2000" i="1">
                          <a:latin typeface="Cambria Math"/>
                        </a:rPr>
                        <m:t>+</m:t>
                      </m:r>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1</m:t>
                          </m:r>
                        </m:sub>
                      </m:sSub>
                      <m:r>
                        <a:rPr lang="en-PH" sz="2000" i="1">
                          <a:latin typeface="Cambria Math"/>
                        </a:rPr>
                        <m:t>𝑡</m:t>
                      </m:r>
                      <m:r>
                        <a:rPr lang="en-PH" sz="2000" i="1">
                          <a:latin typeface="Cambria Math"/>
                        </a:rPr>
                        <m:t>+</m:t>
                      </m:r>
                      <m:sSub>
                        <m:sSubPr>
                          <m:ctrlPr>
                            <a:rPr lang="en-PH" sz="2000" i="1">
                              <a:latin typeface="Cambria Math" panose="02040503050406030204" pitchFamily="18" charset="0"/>
                            </a:rPr>
                          </m:ctrlPr>
                        </m:sSubPr>
                        <m:e>
                          <m:r>
                            <a:rPr lang="en-PH" sz="2000" b="0" i="1" smtClean="0">
                              <a:latin typeface="Cambria Math"/>
                            </a:rPr>
                            <m:t>𝑐</m:t>
                          </m:r>
                          <m:r>
                            <a:rPr lang="en-PH" sz="2000" i="1">
                              <a:latin typeface="Cambria Math"/>
                            </a:rPr>
                            <m:t>𝑎</m:t>
                          </m:r>
                        </m:e>
                        <m:sub>
                          <m:r>
                            <a:rPr lang="en-PH" sz="2000" i="1">
                              <a:latin typeface="Cambria Math"/>
                            </a:rPr>
                            <m:t>2</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2</m:t>
                          </m:r>
                        </m:sup>
                      </m:sSup>
                      <m:r>
                        <a:rPr lang="en-PH" sz="2000" i="1">
                          <a:latin typeface="Cambria Math"/>
                        </a:rPr>
                        <m:t>+ ⋯+</m:t>
                      </m:r>
                      <m:r>
                        <a:rPr lang="en-PH" sz="2000" b="0" i="1" smtClean="0">
                          <a:latin typeface="Cambria Math"/>
                        </a:rPr>
                        <m:t>𝑐</m:t>
                      </m:r>
                      <m:sSub>
                        <m:sSubPr>
                          <m:ctrlPr>
                            <a:rPr lang="en-PH" sz="2000" i="1">
                              <a:latin typeface="Cambria Math" panose="02040503050406030204" pitchFamily="18" charset="0"/>
                            </a:rPr>
                          </m:ctrlPr>
                        </m:sSubPr>
                        <m:e>
                          <m:r>
                            <a:rPr lang="en-PH" sz="2000" i="1">
                              <a:latin typeface="Cambria Math"/>
                            </a:rPr>
                            <m:t>𝑎</m:t>
                          </m:r>
                        </m:e>
                        <m:sub>
                          <m:r>
                            <a:rPr lang="en-PH" sz="2000" i="1">
                              <a:latin typeface="Cambria Math"/>
                            </a:rPr>
                            <m:t>𝑛</m:t>
                          </m:r>
                        </m:sub>
                      </m:sSub>
                      <m:sSup>
                        <m:sSupPr>
                          <m:ctrlPr>
                            <a:rPr lang="en-PH" sz="2000" i="1">
                              <a:latin typeface="Cambria Math" panose="02040503050406030204" pitchFamily="18" charset="0"/>
                            </a:rPr>
                          </m:ctrlPr>
                        </m:sSupPr>
                        <m:e>
                          <m:r>
                            <a:rPr lang="en-PH" sz="2000" i="1">
                              <a:latin typeface="Cambria Math"/>
                            </a:rPr>
                            <m:t>𝑡</m:t>
                          </m:r>
                        </m:e>
                        <m:sup>
                          <m:r>
                            <a:rPr lang="en-PH" sz="2000" i="1">
                              <a:latin typeface="Cambria Math"/>
                            </a:rPr>
                            <m:t>𝑛</m:t>
                          </m:r>
                        </m:sup>
                      </m:sSup>
                    </m:oMath>
                  </m:oMathPara>
                </a14:m>
                <a:endParaRPr lang="en-PH" sz="2000" dirty="0"/>
              </a:p>
              <a:p>
                <a:pPr marL="0" indent="0">
                  <a:buNone/>
                </a:pPr>
                <a:endParaRPr lang="en-PH" sz="2000" baseline="-250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447800"/>
                <a:ext cx="8229600" cy="4876800"/>
              </a:xfrm>
              <a:blipFill rotWithShape="1">
                <a:blip r:embed="rId2"/>
                <a:stretch>
                  <a:fillRect l="-593" r="-1333"/>
                </a:stretch>
              </a:blipFill>
            </p:spPr>
            <p:txBody>
              <a:bodyPr/>
              <a:lstStyle/>
              <a:p>
                <a:r>
                  <a:rPr lang="en-PH">
                    <a:noFill/>
                  </a:rPr>
                  <a:t> </a:t>
                </a:r>
              </a:p>
            </p:txBody>
          </p:sp>
        </mc:Fallback>
      </mc:AlternateContent>
    </p:spTree>
    <p:extLst>
      <p:ext uri="{BB962C8B-B14F-4D97-AF65-F5344CB8AC3E}">
        <p14:creationId xmlns:p14="http://schemas.microsoft.com/office/powerpoint/2010/main" val="60364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33400"/>
            <a:ext cx="8229600" cy="381000"/>
          </a:xfrm>
        </p:spPr>
        <p:txBody>
          <a:bodyPr>
            <a:normAutofit fontScale="90000"/>
          </a:bodyPr>
          <a:lstStyle/>
          <a:p>
            <a:r>
              <a:rPr lang="en-PH" dirty="0"/>
              <a:t>Vector Space Examples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074114"/>
                <a:ext cx="8229600" cy="5631486"/>
              </a:xfrm>
            </p:spPr>
            <p:txBody>
              <a:bodyPr>
                <a:normAutofit/>
              </a:bodyPr>
              <a:lstStyle/>
              <a:p>
                <a:pPr marL="0" indent="0">
                  <a:buNone/>
                </a:pPr>
                <a:r>
                  <a:rPr lang="en-PH" b="1" baseline="-25000" dirty="0"/>
                  <a:t>Examples:</a:t>
                </a:r>
                <a:r>
                  <a:rPr lang="en-PH" sz="2000" baseline="-25000" dirty="0"/>
                  <a:t> </a:t>
                </a:r>
              </a:p>
              <a:p>
                <a:pPr marL="0" indent="0">
                  <a:buNone/>
                </a:pPr>
                <a:endParaRPr lang="en-PH" sz="2000" baseline="-25000" dirty="0"/>
              </a:p>
              <a:p>
                <a:pPr marL="0" indent="0">
                  <a:buNone/>
                </a:pPr>
                <a:r>
                  <a:rPr lang="en-PH" sz="2000" baseline="-25000" dirty="0"/>
                  <a:t>1. Adding    </a:t>
                </a:r>
                <a:r>
                  <a:rPr lang="en-US" sz="1600" dirty="0"/>
                  <a:t>2</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3</m:t>
                        </m:r>
                      </m:sup>
                    </m:sSup>
                    <m:r>
                      <a:rPr lang="en-US" sz="1600" b="0" i="1" smtClean="0">
                        <a:latin typeface="Cambria Math" panose="02040503050406030204" pitchFamily="18" charset="0"/>
                      </a:rPr>
                      <m:t>−7</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𝑥</m:t>
                        </m:r>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−17</m:t>
                    </m:r>
                  </m:oMath>
                </a14:m>
                <a:r>
                  <a:rPr lang="en-PH" sz="2000" baseline="-25000" dirty="0"/>
                  <a:t>   and </a:t>
                </a:r>
                <a14:m>
                  <m:oMath xmlns:m="http://schemas.openxmlformats.org/officeDocument/2006/math">
                    <m:r>
                      <a:rPr lang="en-US" sz="1800" b="0" i="0" smtClean="0">
                        <a:latin typeface="Cambria Math" panose="02040503050406030204" pitchFamily="18" charset="0"/>
                      </a:rPr>
                      <m:t>  </m:t>
                    </m:r>
                    <m:sSup>
                      <m:sSupPr>
                        <m:ctrlPr>
                          <a:rPr lang="en-US" sz="1800" i="1">
                            <a:latin typeface="Cambria Math" panose="02040503050406030204" pitchFamily="18" charset="0"/>
                          </a:rPr>
                        </m:ctrlPr>
                      </m:sSupPr>
                      <m:e>
                        <m:r>
                          <a:rPr lang="en-US" sz="1800" i="1">
                            <a:latin typeface="Cambria Math" panose="02040503050406030204" pitchFamily="18" charset="0"/>
                          </a:rPr>
                          <m:t>𝑥</m:t>
                        </m:r>
                      </m:e>
                      <m:sup>
                        <m:r>
                          <a:rPr lang="en-US" sz="1800" i="1">
                            <a:latin typeface="Cambria Math" panose="02040503050406030204" pitchFamily="18" charset="0"/>
                          </a:rPr>
                          <m:t>3</m:t>
                        </m:r>
                      </m:sup>
                    </m:sSup>
                    <m:r>
                      <a:rPr lang="en-US" sz="1800" b="0" i="1" smtClean="0">
                        <a:latin typeface="Cambria Math" panose="02040503050406030204" pitchFamily="18" charset="0"/>
                      </a:rPr>
                      <m:t>−4</m:t>
                    </m:r>
                    <m:r>
                      <a:rPr lang="en-US" sz="1800" i="1">
                        <a:latin typeface="Cambria Math" panose="02040503050406030204" pitchFamily="18" charset="0"/>
                      </a:rPr>
                      <m:t>𝑥</m:t>
                    </m:r>
                    <m:r>
                      <a:rPr lang="en-US" sz="1800" b="0" i="1" smtClean="0">
                        <a:latin typeface="Cambria Math" panose="02040503050406030204" pitchFamily="18" charset="0"/>
                      </a:rPr>
                      <m:t>+9</m:t>
                    </m:r>
                  </m:oMath>
                </a14:m>
                <a:r>
                  <a:rPr lang="en-PH" sz="2000" baseline="-25000" dirty="0"/>
                  <a:t> </a:t>
                </a:r>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endParaRPr lang="en-PH" sz="2000" baseline="-25000" dirty="0"/>
              </a:p>
              <a:p>
                <a:pPr marL="0" indent="0">
                  <a:buNone/>
                </a:pPr>
                <a:r>
                  <a:rPr lang="en-PH" sz="2000" baseline="-25000" dirty="0"/>
                  <a:t>2.  Multiply    </a:t>
                </a:r>
                <a:r>
                  <a:rPr lang="en-US" sz="2000" dirty="0"/>
                  <a:t>2</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3</m:t>
                        </m:r>
                      </m:sup>
                    </m:sSup>
                    <m:r>
                      <a:rPr lang="en-US" sz="2000" b="0" i="1" smtClean="0">
                        <a:latin typeface="Cambria Math" panose="02040503050406030204" pitchFamily="18" charset="0"/>
                      </a:rPr>
                      <m:t>−7</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−17 </m:t>
                    </m:r>
                  </m:oMath>
                </a14:m>
                <a:r>
                  <a:rPr lang="en-PH" sz="2000" baseline="-25000" dirty="0"/>
                  <a:t> by 5 .</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074114"/>
                <a:ext cx="8229600" cy="5631486"/>
              </a:xfrm>
              <a:blipFill>
                <a:blip r:embed="rId2"/>
                <a:stretch>
                  <a:fillRect l="-370"/>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A234CA-3EC5-47E4-81EC-44B984E0A49A}"/>
                  </a:ext>
                </a:extLst>
              </p:cNvPr>
              <p:cNvSpPr txBox="1"/>
              <p:nvPr/>
            </p:nvSpPr>
            <p:spPr>
              <a:xfrm>
                <a:off x="609600" y="2667000"/>
                <a:ext cx="6781800" cy="2594941"/>
              </a:xfrm>
              <a:prstGeom prst="rect">
                <a:avLst/>
              </a:prstGeom>
              <a:noFill/>
            </p:spPr>
            <p:txBody>
              <a:bodyPr wrap="square" lIns="0" tIns="0" rIns="0" bIns="0" rtlCol="0">
                <a:spAutoFit/>
              </a:bodyPr>
              <a:lstStyle/>
              <a:p>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r>
                          <a:rPr lang="en-US" b="0" i="1" smtClean="0">
                            <a:latin typeface="Cambria Math" panose="02040503050406030204" pitchFamily="18" charset="0"/>
                          </a:rPr>
                          <m:t>𝑥</m:t>
                        </m:r>
                      </m:e>
                      <m:sup>
                        <m:r>
                          <a:rPr lang="en-US" b="0" i="1" smtClean="0">
                            <a:latin typeface="Cambria Math" panose="02040503050406030204" pitchFamily="18" charset="0"/>
                          </a:rPr>
                          <m:t>3</m:t>
                        </m:r>
                      </m:sup>
                    </m:sSup>
                    <m:r>
                      <a:rPr lang="en-US" b="0" i="1" smtClean="0">
                        <a:latin typeface="Cambria Math" panose="02040503050406030204" pitchFamily="18" charset="0"/>
                      </a:rPr>
                      <m:t>−7</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−17 </m:t>
                    </m:r>
                    <m:r>
                      <a:rPr lang="en-US" b="0" i="1" smtClean="0">
                        <a:latin typeface="Cambria Math" panose="02040503050406030204" pitchFamily="18" charset="0"/>
                      </a:rPr>
                      <m:t>𝑜𝑟</m:t>
                    </m:r>
                    <m:r>
                      <a:rPr lang="en-US" b="0" i="1" smtClean="0">
                        <a:latin typeface="Cambria Math" panose="02040503050406030204" pitchFamily="18" charset="0"/>
                      </a:rPr>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b="0" i="1" smtClean="0">
                                  <a:latin typeface="Cambria Math" panose="02040503050406030204" pitchFamily="18" charset="0"/>
                                </a:rPr>
                                <m:t>2</m:t>
                              </m:r>
                            </m:e>
                          </m:mr>
                          <m:mr>
                            <m:e>
                              <m:r>
                                <a:rPr lang="en-US" b="0" i="1" smtClean="0">
                                  <a:latin typeface="Cambria Math" panose="02040503050406030204" pitchFamily="18" charset="0"/>
                                </a:rPr>
                                <m:t>−7</m:t>
                              </m:r>
                            </m:e>
                          </m:mr>
                          <m:mr>
                            <m:e>
                              <m:eqArr>
                                <m:eqArrPr>
                                  <m:ctrlPr>
                                    <a:rPr lang="en-US" i="1">
                                      <a:latin typeface="Cambria Math" panose="02040503050406030204" pitchFamily="18" charset="0"/>
                                    </a:rPr>
                                  </m:ctrlPr>
                                </m:eqArrPr>
                                <m:e>
                                  <m:r>
                                    <a:rPr lang="en-US" i="1">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−17</m:t>
                                  </m:r>
                                </m:e>
                              </m:eqArr>
                            </m:e>
                          </m:mr>
                        </m:m>
                      </m:e>
                    </m:d>
                    <m:r>
                      <a:rPr lang="en-US" b="0" i="1" smtClean="0">
                        <a:latin typeface="Cambria Math" panose="02040503050406030204" pitchFamily="18" charset="0"/>
                      </a:rPr>
                      <m:t>     </m:t>
                    </m:r>
                    <m:r>
                      <a:rPr lang="en-US" b="0" i="1" smtClean="0">
                        <a:latin typeface="Cambria Math" panose="02040503050406030204" pitchFamily="18" charset="0"/>
                      </a:rPr>
                      <m:t>𝑎𝑛𝑑</m:t>
                    </m:r>
                    <m:sSup>
                      <m:sSupPr>
                        <m:ctrlPr>
                          <a:rPr lang="en-US" i="1">
                            <a:latin typeface="Cambria Math" panose="02040503050406030204" pitchFamily="18" charset="0"/>
                          </a:rPr>
                        </m:ctrlPr>
                      </m:sSupPr>
                      <m:e>
                        <m:r>
                          <a:rPr lang="en-US" b="0" i="1" smtClean="0">
                            <a:latin typeface="Cambria Math" panose="02040503050406030204" pitchFamily="18" charset="0"/>
                          </a:rPr>
                          <m:t>   </m:t>
                        </m:r>
                        <m:r>
                          <a:rPr lang="en-US" i="1">
                            <a:latin typeface="Cambria Math" panose="02040503050406030204" pitchFamily="18" charset="0"/>
                          </a:rPr>
                          <m:t>𝑥</m:t>
                        </m:r>
                      </m:e>
                      <m:sup>
                        <m:r>
                          <a:rPr lang="en-US" i="1">
                            <a:latin typeface="Cambria Math" panose="02040503050406030204" pitchFamily="18" charset="0"/>
                          </a:rPr>
                          <m:t>3</m:t>
                        </m:r>
                      </m:sup>
                    </m:sSup>
                    <m:r>
                      <a:rPr lang="en-US" b="0" i="1" smtClean="0">
                        <a:latin typeface="Cambria Math" panose="02040503050406030204" pitchFamily="18" charset="0"/>
                      </a:rPr>
                      <m:t>−</m:t>
                    </m:r>
                    <m:r>
                      <a:rPr lang="en-US" i="1">
                        <a:latin typeface="Cambria Math" panose="02040503050406030204" pitchFamily="18" charset="0"/>
                      </a:rPr>
                      <m:t>4</m:t>
                    </m:r>
                    <m:r>
                      <a:rPr lang="en-US" i="1">
                        <a:latin typeface="Cambria Math" panose="02040503050406030204" pitchFamily="18" charset="0"/>
                      </a:rPr>
                      <m:t>𝑥</m:t>
                    </m:r>
                    <m:r>
                      <a:rPr lang="en-US" i="1">
                        <a:latin typeface="Cambria Math" panose="02040503050406030204" pitchFamily="18" charset="0"/>
                      </a:rPr>
                      <m:t>+9</m:t>
                    </m:r>
                    <m:r>
                      <m:rPr>
                        <m:nor/>
                      </m:rPr>
                      <a:rPr lang="en-US" dirty="0"/>
                      <m:t>  </m:t>
                    </m:r>
                    <m:r>
                      <m:rPr>
                        <m:nor/>
                      </m:rPr>
                      <a:rPr lang="en-US" dirty="0"/>
                      <m:t>or</m:t>
                    </m:r>
                    <m:r>
                      <m:rPr>
                        <m:nor/>
                      </m:rPr>
                      <a:rPr lang="en-US" dirty="0"/>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eqArr>
                                <m:eqArrPr>
                                  <m:ctrlPr>
                                    <a:rPr lang="en-US" i="1">
                                      <a:latin typeface="Cambria Math" panose="02040503050406030204" pitchFamily="18" charset="0"/>
                                    </a:rPr>
                                  </m:ctrlPr>
                                </m:eqArrPr>
                                <m:e>
                                  <m:r>
                                    <a:rPr lang="en-US" b="0" i="1" smtClean="0">
                                      <a:latin typeface="Cambria Math" panose="02040503050406030204" pitchFamily="18" charset="0"/>
                                    </a:rPr>
                                    <m:t>−</m:t>
                                  </m:r>
                                  <m:r>
                                    <a:rPr lang="en-US" i="1">
                                      <a:latin typeface="Cambria Math" panose="02040503050406030204" pitchFamily="18" charset="0"/>
                                    </a:rPr>
                                    <m:t>4</m:t>
                                  </m:r>
                                </m:e>
                                <m:e>
                                  <m:r>
                                    <a:rPr lang="en-US" i="1">
                                      <a:latin typeface="Cambria Math" panose="02040503050406030204" pitchFamily="18" charset="0"/>
                                    </a:rPr>
                                    <m:t>9</m:t>
                                  </m:r>
                                </m:e>
                              </m:eqArr>
                            </m:e>
                          </m:mr>
                        </m:m>
                      </m:e>
                    </m:d>
                    <m:r>
                      <a:rPr lang="en-US" b="0" i="1" smtClean="0">
                        <a:latin typeface="Cambria Math" panose="02040503050406030204" pitchFamily="18" charset="0"/>
                      </a:rPr>
                      <m:t>    </m:t>
                    </m:r>
                    <m:r>
                      <a:rPr lang="en-US" b="0" i="1" smtClean="0">
                        <a:latin typeface="Cambria Math" panose="02040503050406030204" pitchFamily="18" charset="0"/>
                      </a:rPr>
                      <m:t>𝑡h𝑢𝑠</m:t>
                    </m:r>
                    <m:r>
                      <a:rPr lang="en-US" b="0" i="1" smtClean="0">
                        <a:latin typeface="Cambria Math" panose="02040503050406030204" pitchFamily="18" charset="0"/>
                      </a:rPr>
                      <m:t>  </m:t>
                    </m:r>
                  </m:oMath>
                </a14:m>
                <a:endParaRPr lang="en-US" b="0" i="1" dirty="0">
                  <a:latin typeface="Cambria Math" panose="02040503050406030204" pitchFamily="18" charset="0"/>
                </a:endParaRPr>
              </a:p>
              <a:p>
                <a:endParaRPr lang="en-US"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i="1">
                                    <a:latin typeface="Cambria Math" panose="02040503050406030204" pitchFamily="18" charset="0"/>
                                  </a:rPr>
                                  <m:t>2</m:t>
                                </m:r>
                              </m:e>
                            </m:mr>
                            <m:mr>
                              <m:e>
                                <m:r>
                                  <a:rPr lang="en-US" i="1">
                                    <a:latin typeface="Cambria Math" panose="02040503050406030204" pitchFamily="18" charset="0"/>
                                  </a:rPr>
                                  <m:t>−7</m:t>
                                </m:r>
                              </m:e>
                            </m:mr>
                            <m:mr>
                              <m:e>
                                <m:eqArr>
                                  <m:eqArrPr>
                                    <m:ctrlPr>
                                      <a:rPr lang="en-US" i="1">
                                        <a:latin typeface="Cambria Math" panose="02040503050406030204" pitchFamily="18" charset="0"/>
                                      </a:rPr>
                                    </m:ctrlPr>
                                  </m:eqArrPr>
                                  <m:e>
                                    <m:r>
                                      <a:rPr lang="en-US" i="1">
                                        <a:latin typeface="Cambria Math" panose="02040503050406030204" pitchFamily="18" charset="0"/>
                                      </a:rPr>
                                      <m:t>−1</m:t>
                                    </m:r>
                                  </m:e>
                                  <m:e>
                                    <m:r>
                                      <a:rPr lang="en-US" i="1">
                                        <a:latin typeface="Cambria Math" panose="02040503050406030204" pitchFamily="18" charset="0"/>
                                      </a:rPr>
                                      <m:t>−17</m:t>
                                    </m:r>
                                  </m:e>
                                </m:eqArr>
                              </m:e>
                            </m:mr>
                          </m:m>
                        </m:e>
                      </m:d>
                      <m:r>
                        <a:rPr lang="en-US" i="1">
                          <a:latin typeface="Cambria Math" panose="02040503050406030204" pitchFamily="18" charset="0"/>
                        </a:rPr>
                        <m:t>   </m:t>
                      </m:r>
                      <m:r>
                        <a:rPr lang="en-US" b="0" i="1" smtClean="0">
                          <a:latin typeface="Cambria Math" panose="02040503050406030204" pitchFamily="18" charset="0"/>
                        </a:rPr>
                        <m:t>+</m:t>
                      </m:r>
                      <m:r>
                        <m:rPr>
                          <m:nor/>
                        </m:rPr>
                        <a:rPr lang="en-US" dirty="0"/>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1</m:t>
                                </m:r>
                              </m:e>
                            </m:mr>
                            <m:mr>
                              <m:e>
                                <m:r>
                                  <a:rPr lang="en-US" i="1">
                                    <a:latin typeface="Cambria Math" panose="02040503050406030204" pitchFamily="18" charset="0"/>
                                  </a:rPr>
                                  <m:t>0</m:t>
                                </m:r>
                              </m:e>
                            </m:mr>
                            <m:mr>
                              <m:e>
                                <m:eqArr>
                                  <m:eqArrPr>
                                    <m:ctrlPr>
                                      <a:rPr lang="en-US" i="1">
                                        <a:latin typeface="Cambria Math" panose="02040503050406030204" pitchFamily="18" charset="0"/>
                                      </a:rPr>
                                    </m:ctrlPr>
                                  </m:eqArrPr>
                                  <m:e>
                                    <m:r>
                                      <a:rPr lang="en-US" i="1">
                                        <a:latin typeface="Cambria Math" panose="02040503050406030204" pitchFamily="18" charset="0"/>
                                      </a:rPr>
                                      <m:t>−4</m:t>
                                    </m:r>
                                  </m:e>
                                  <m:e>
                                    <m:r>
                                      <a:rPr lang="en-US" i="1">
                                        <a:latin typeface="Cambria Math" panose="02040503050406030204" pitchFamily="18" charset="0"/>
                                      </a:rPr>
                                      <m:t>9</m:t>
                                    </m:r>
                                  </m:e>
                                </m:eqArr>
                              </m:e>
                            </m:mr>
                          </m:m>
                        </m:e>
                      </m:d>
                      <m:r>
                        <a:rPr lang="en-US" b="0" i="0" smtClean="0">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m:rPr>
                                    <m:brk m:alnAt="7"/>
                                  </m:rPr>
                                  <a:rPr lang="en-US" b="0" i="1" smtClean="0">
                                    <a:latin typeface="Cambria Math" panose="02040503050406030204" pitchFamily="18" charset="0"/>
                                  </a:rPr>
                                  <m:t>3</m:t>
                                </m:r>
                              </m:e>
                            </m:mr>
                            <m:mr>
                              <m:e>
                                <m:r>
                                  <a:rPr lang="en-US" b="0" i="1" smtClean="0">
                                    <a:latin typeface="Cambria Math" panose="02040503050406030204" pitchFamily="18" charset="0"/>
                                  </a:rPr>
                                  <m:t>−7</m:t>
                                </m:r>
                              </m:e>
                            </m:mr>
                            <m:mr>
                              <m:e>
                                <m:eqArr>
                                  <m:eqArrPr>
                                    <m:ctrlPr>
                                      <a:rPr lang="en-US" i="1">
                                        <a:latin typeface="Cambria Math" panose="02040503050406030204" pitchFamily="18" charset="0"/>
                                      </a:rPr>
                                    </m:ctrlPr>
                                  </m:eqArrPr>
                                  <m:e>
                                    <m:r>
                                      <a:rPr lang="en-US" i="1">
                                        <a:latin typeface="Cambria Math" panose="02040503050406030204" pitchFamily="18" charset="0"/>
                                      </a:rPr>
                                      <m:t>−</m:t>
                                    </m:r>
                                    <m:r>
                                      <a:rPr lang="en-US" b="0" i="1" smtClean="0">
                                        <a:latin typeface="Cambria Math" panose="02040503050406030204" pitchFamily="18" charset="0"/>
                                      </a:rPr>
                                      <m:t>5</m:t>
                                    </m:r>
                                  </m:e>
                                  <m:e>
                                    <m:r>
                                      <a:rPr lang="en-US" b="0" i="1" smtClean="0">
                                        <a:latin typeface="Cambria Math" panose="02040503050406030204" pitchFamily="18" charset="0"/>
                                      </a:rPr>
                                      <m:t>−8</m:t>
                                    </m:r>
                                  </m:e>
                                </m:eqArr>
                              </m:e>
                            </m:mr>
                          </m:m>
                        </m:e>
                      </m:d>
                      <m:r>
                        <a:rPr lang="en-US" b="0" i="0" smtClean="0">
                          <a:latin typeface="Cambria Math" panose="02040503050406030204" pitchFamily="18" charset="0"/>
                        </a:rPr>
                        <m:t> </m:t>
                      </m:r>
                      <m:r>
                        <m:rPr>
                          <m:sty m:val="p"/>
                        </m:rPr>
                        <a:rPr lang="en-US" b="0" i="0" smtClean="0">
                          <a:latin typeface="Cambria Math" panose="02040503050406030204" pitchFamily="18" charset="0"/>
                        </a:rPr>
                        <m:t>or</m:t>
                      </m:r>
                      <m:r>
                        <a:rPr lang="en-US" b="0" i="0" smtClean="0">
                          <a:latin typeface="Cambria Math" panose="02040503050406030204" pitchFamily="18" charset="0"/>
                        </a:rPr>
                        <m:t>    </m:t>
                      </m:r>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𝟑</m:t>
                          </m:r>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𝟑</m:t>
                          </m:r>
                        </m:sup>
                      </m:sSup>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𝟕</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𝟐</m:t>
                          </m:r>
                        </m:sup>
                      </m:sSup>
                      <m:r>
                        <a:rPr lang="en-US" b="1" i="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𝟓</m:t>
                      </m:r>
                      <m:r>
                        <a:rPr lang="en-US" b="1" i="1">
                          <a:solidFill>
                            <a:srgbClr val="FF0000"/>
                          </a:solidFill>
                          <a:latin typeface="Cambria Math" panose="02040503050406030204" pitchFamily="18" charset="0"/>
                        </a:rPr>
                        <m:t>𝒙</m:t>
                      </m:r>
                      <m:r>
                        <a:rPr lang="en-US" b="1" i="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𝟖</m:t>
                      </m:r>
                    </m:oMath>
                  </m:oMathPara>
                </a14:m>
                <a:endParaRPr lang="en-US" b="1" dirty="0"/>
              </a:p>
              <a:p>
                <a:endParaRPr lang="en-US" dirty="0"/>
              </a:p>
            </p:txBody>
          </p:sp>
        </mc:Choice>
        <mc:Fallback xmlns="">
          <p:sp>
            <p:nvSpPr>
              <p:cNvPr id="6" name="TextBox 5">
                <a:extLst>
                  <a:ext uri="{FF2B5EF4-FFF2-40B4-BE49-F238E27FC236}">
                    <a16:creationId xmlns:a16="http://schemas.microsoft.com/office/drawing/2014/main" id="{C8A234CA-3EC5-47E4-81EC-44B984E0A49A}"/>
                  </a:ext>
                </a:extLst>
              </p:cNvPr>
              <p:cNvSpPr txBox="1">
                <a:spLocks noRot="1" noChangeAspect="1" noMove="1" noResize="1" noEditPoints="1" noAdjustHandles="1" noChangeArrowheads="1" noChangeShapeType="1" noTextEdit="1"/>
              </p:cNvSpPr>
              <p:nvPr/>
            </p:nvSpPr>
            <p:spPr>
              <a:xfrm>
                <a:off x="609600" y="2667000"/>
                <a:ext cx="6781800" cy="259494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98464A-0D49-406F-86E1-8CB5A0C04D90}"/>
                  </a:ext>
                </a:extLst>
              </p:cNvPr>
              <p:cNvSpPr txBox="1"/>
              <p:nvPr/>
            </p:nvSpPr>
            <p:spPr>
              <a:xfrm>
                <a:off x="1710906" y="5440395"/>
                <a:ext cx="5070894" cy="1112805"/>
              </a:xfrm>
              <a:prstGeom prst="rect">
                <a:avLst/>
              </a:prstGeom>
              <a:noFill/>
            </p:spPr>
            <p:txBody>
              <a:bodyPr wrap="square">
                <a:spAutoFit/>
              </a:bodyPr>
              <a:lstStyle/>
              <a:p>
                <a:r>
                  <a:rPr lang="en-US" dirty="0"/>
                  <a:t> 5 </a:t>
                </a: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b="0" i="1" smtClean="0">
                                  <a:latin typeface="Cambria Math" panose="02040503050406030204" pitchFamily="18" charset="0"/>
                                </a:rPr>
                                <m:t>2</m:t>
                              </m:r>
                            </m:e>
                          </m:mr>
                          <m:mr>
                            <m:e>
                              <m:r>
                                <a:rPr lang="en-US" b="0" i="1" smtClean="0">
                                  <a:latin typeface="Cambria Math" panose="02040503050406030204" pitchFamily="18" charset="0"/>
                                </a:rPr>
                                <m:t>−7</m:t>
                              </m:r>
                            </m:e>
                          </m:mr>
                          <m:mr>
                            <m:e>
                              <m:eqArr>
                                <m:eqArrPr>
                                  <m:ctrlPr>
                                    <a:rPr lang="en-US" i="1">
                                      <a:latin typeface="Cambria Math" panose="02040503050406030204" pitchFamily="18" charset="0"/>
                                    </a:rPr>
                                  </m:ctrlPr>
                                </m:eqArrPr>
                                <m:e>
                                  <m:r>
                                    <a:rPr lang="en-US" i="1">
                                      <a:latin typeface="Cambria Math" panose="02040503050406030204" pitchFamily="18" charset="0"/>
                                    </a:rPr>
                                    <m:t>−</m:t>
                                  </m:r>
                                  <m:r>
                                    <a:rPr lang="en-US" b="0" i="1" smtClean="0">
                                      <a:latin typeface="Cambria Math" panose="02040503050406030204" pitchFamily="18" charset="0"/>
                                    </a:rPr>
                                    <m:t>1</m:t>
                                  </m:r>
                                </m:e>
                                <m:e>
                                  <m:r>
                                    <a:rPr lang="en-US" b="0" i="1" smtClean="0">
                                      <a:latin typeface="Cambria Math" panose="02040503050406030204" pitchFamily="18" charset="0"/>
                                    </a:rPr>
                                    <m:t>−17</m:t>
                                  </m:r>
                                </m:e>
                              </m:eqArr>
                            </m:e>
                          </m:mr>
                        </m:m>
                      </m:e>
                    </m:d>
                  </m:oMath>
                </a14:m>
                <a:r>
                  <a:rPr lang="en-US" dirty="0"/>
                  <a:t> = </a:t>
                </a:r>
                <a14:m>
                  <m:oMath xmlns:m="http://schemas.openxmlformats.org/officeDocument/2006/math">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US" b="0" i="1" smtClean="0">
                                  <a:latin typeface="Cambria Math" panose="02040503050406030204" pitchFamily="18" charset="0"/>
                                </a:rPr>
                                <m:t>10</m:t>
                              </m:r>
                            </m:e>
                          </m:mr>
                          <m:mr>
                            <m:e>
                              <m:r>
                                <a:rPr lang="en-US" i="1">
                                  <a:latin typeface="Cambria Math" panose="02040503050406030204" pitchFamily="18" charset="0"/>
                                </a:rPr>
                                <m:t>−</m:t>
                              </m:r>
                              <m:r>
                                <a:rPr lang="en-US" b="0" i="1" smtClean="0">
                                  <a:latin typeface="Cambria Math" panose="02040503050406030204" pitchFamily="18" charset="0"/>
                                </a:rPr>
                                <m:t>35</m:t>
                              </m:r>
                            </m:e>
                          </m:mr>
                          <m:mr>
                            <m:e>
                              <m:eqArr>
                                <m:eqArrPr>
                                  <m:ctrlPr>
                                    <a:rPr lang="en-US" i="1">
                                      <a:latin typeface="Cambria Math" panose="02040503050406030204" pitchFamily="18" charset="0"/>
                                    </a:rPr>
                                  </m:ctrlPr>
                                </m:eqArrPr>
                                <m:e>
                                  <m:r>
                                    <a:rPr lang="en-US" i="1">
                                      <a:latin typeface="Cambria Math" panose="02040503050406030204" pitchFamily="18" charset="0"/>
                                    </a:rPr>
                                    <m:t>−</m:t>
                                  </m:r>
                                  <m:r>
                                    <a:rPr lang="en-US" b="0" i="1" smtClean="0">
                                      <a:latin typeface="Cambria Math" panose="02040503050406030204" pitchFamily="18" charset="0"/>
                                    </a:rPr>
                                    <m:t>5</m:t>
                                  </m:r>
                                </m:e>
                                <m:e>
                                  <m:r>
                                    <a:rPr lang="en-US" i="1">
                                      <a:latin typeface="Cambria Math" panose="02040503050406030204" pitchFamily="18" charset="0"/>
                                    </a:rPr>
                                    <m:t>−</m:t>
                                  </m:r>
                                  <m:r>
                                    <a:rPr lang="en-US" b="0" i="1" smtClean="0">
                                      <a:latin typeface="Cambria Math" panose="02040503050406030204" pitchFamily="18" charset="0"/>
                                    </a:rPr>
                                    <m:t>85</m:t>
                                  </m:r>
                                </m:e>
                              </m:eqArr>
                            </m:e>
                          </m:mr>
                        </m:m>
                      </m:e>
                    </m:d>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sSup>
                      <m:sSupPr>
                        <m:ctrlPr>
                          <a:rPr lang="en-US" b="1" i="1">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𝟏𝟎</m:t>
                        </m:r>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𝟑</m:t>
                        </m:r>
                      </m:sup>
                    </m:sSup>
                    <m:r>
                      <a:rPr lang="en-US" b="1" i="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𝟑𝟓</m:t>
                    </m:r>
                    <m:sSup>
                      <m:sSupPr>
                        <m:ctrlPr>
                          <a:rPr lang="en-US" b="1" i="1">
                            <a:solidFill>
                              <a:srgbClr val="FF0000"/>
                            </a:solidFill>
                            <a:latin typeface="Cambria Math" panose="02040503050406030204" pitchFamily="18" charset="0"/>
                          </a:rPr>
                        </m:ctrlPr>
                      </m:sSupPr>
                      <m:e>
                        <m:r>
                          <a:rPr lang="en-US" b="1" i="1">
                            <a:solidFill>
                              <a:srgbClr val="FF0000"/>
                            </a:solidFill>
                            <a:latin typeface="Cambria Math" panose="02040503050406030204" pitchFamily="18" charset="0"/>
                          </a:rPr>
                          <m:t>𝒙</m:t>
                        </m:r>
                      </m:e>
                      <m:sup>
                        <m:r>
                          <a:rPr lang="en-US" b="1" i="1">
                            <a:solidFill>
                              <a:srgbClr val="FF0000"/>
                            </a:solidFill>
                            <a:latin typeface="Cambria Math" panose="02040503050406030204" pitchFamily="18" charset="0"/>
                          </a:rPr>
                          <m:t>𝟐</m:t>
                        </m:r>
                      </m:sup>
                    </m:sSup>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𝟓</m:t>
                    </m:r>
                    <m:r>
                      <a:rPr lang="en-US" b="1" i="1">
                        <a:solidFill>
                          <a:srgbClr val="FF0000"/>
                        </a:solidFill>
                        <a:latin typeface="Cambria Math" panose="02040503050406030204" pitchFamily="18" charset="0"/>
                      </a:rPr>
                      <m:t>𝒙</m:t>
                    </m:r>
                    <m:r>
                      <a:rPr lang="en-US" b="1" i="1">
                        <a:solidFill>
                          <a:srgbClr val="FF0000"/>
                        </a:solidFill>
                        <a:latin typeface="Cambria Math" panose="02040503050406030204" pitchFamily="18" charset="0"/>
                      </a:rPr>
                      <m:t>−</m:t>
                    </m:r>
                    <m:r>
                      <a:rPr lang="en-US" b="1" i="1">
                        <a:solidFill>
                          <a:srgbClr val="FF0000"/>
                        </a:solidFill>
                        <a:latin typeface="Cambria Math" panose="02040503050406030204" pitchFamily="18" charset="0"/>
                      </a:rPr>
                      <m:t>𝟖𝟓</m:t>
                    </m:r>
                  </m:oMath>
                </a14:m>
                <a:endParaRPr lang="en-US" dirty="0"/>
              </a:p>
            </p:txBody>
          </p:sp>
        </mc:Choice>
        <mc:Fallback xmlns="">
          <p:sp>
            <p:nvSpPr>
              <p:cNvPr id="8" name="TextBox 7">
                <a:extLst>
                  <a:ext uri="{FF2B5EF4-FFF2-40B4-BE49-F238E27FC236}">
                    <a16:creationId xmlns:a16="http://schemas.microsoft.com/office/drawing/2014/main" id="{2B98464A-0D49-406F-86E1-8CB5A0C04D90}"/>
                  </a:ext>
                </a:extLst>
              </p:cNvPr>
              <p:cNvSpPr txBox="1">
                <a:spLocks noRot="1" noChangeAspect="1" noMove="1" noResize="1" noEditPoints="1" noAdjustHandles="1" noChangeArrowheads="1" noChangeShapeType="1" noTextEdit="1"/>
              </p:cNvSpPr>
              <p:nvPr/>
            </p:nvSpPr>
            <p:spPr>
              <a:xfrm>
                <a:off x="1710906" y="5440395"/>
                <a:ext cx="5070894" cy="111280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42217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Subspaces</a:t>
            </a:r>
          </a:p>
        </p:txBody>
      </p:sp>
      <p:sp>
        <p:nvSpPr>
          <p:cNvPr id="2" name="Content Placeholder 1"/>
          <p:cNvSpPr>
            <a:spLocks noGrp="1"/>
          </p:cNvSpPr>
          <p:nvPr>
            <p:ph idx="1"/>
          </p:nvPr>
        </p:nvSpPr>
        <p:spPr/>
        <p:txBody>
          <a:bodyPr>
            <a:normAutofit/>
          </a:bodyPr>
          <a:lstStyle/>
          <a:p>
            <a:pPr marL="0" indent="0">
              <a:buNone/>
            </a:pPr>
            <a:r>
              <a:rPr lang="en-PH" sz="2000" i="1" dirty="0"/>
              <a:t>Definition:</a:t>
            </a:r>
          </a:p>
          <a:p>
            <a:pPr marL="0" indent="0">
              <a:buNone/>
            </a:pPr>
            <a:r>
              <a:rPr lang="en-PH" sz="2000" i="1" dirty="0"/>
              <a:t>	</a:t>
            </a:r>
            <a:r>
              <a:rPr lang="en-PH" sz="2000" dirty="0"/>
              <a:t>A </a:t>
            </a:r>
            <a:r>
              <a:rPr lang="en-PH" sz="2000" b="1" dirty="0"/>
              <a:t>subspace</a:t>
            </a:r>
            <a:r>
              <a:rPr lang="en-PH" sz="2000" dirty="0"/>
              <a:t> of a vector </a:t>
            </a:r>
            <a:r>
              <a:rPr lang="en-PH" sz="2000" i="1" dirty="0"/>
              <a:t>V</a:t>
            </a:r>
            <a:r>
              <a:rPr lang="en-PH" sz="2000" dirty="0"/>
              <a:t> is a subset </a:t>
            </a:r>
            <a:r>
              <a:rPr lang="en-PH" sz="2000" i="1" dirty="0"/>
              <a:t>H</a:t>
            </a:r>
            <a:r>
              <a:rPr lang="en-PH" sz="2000" dirty="0"/>
              <a:t> of </a:t>
            </a:r>
            <a:r>
              <a:rPr lang="en-PH" sz="2000" i="1" dirty="0"/>
              <a:t>V</a:t>
            </a:r>
            <a:r>
              <a:rPr lang="en-PH" sz="2000" dirty="0"/>
              <a:t> that has three properties:</a:t>
            </a:r>
          </a:p>
          <a:p>
            <a:pPr marL="0" indent="0">
              <a:buNone/>
            </a:pPr>
            <a:endParaRPr lang="en-PH" sz="2000" i="1" dirty="0"/>
          </a:p>
          <a:p>
            <a:pPr marL="514350" indent="-514350">
              <a:buFont typeface="+mj-lt"/>
              <a:buAutoNum type="romanLcPeriod"/>
            </a:pPr>
            <a:r>
              <a:rPr lang="en-PH" sz="2000" i="1" dirty="0"/>
              <a:t>The zero vector of V is in H.</a:t>
            </a:r>
          </a:p>
          <a:p>
            <a:pPr marL="514350" indent="-514350">
              <a:buFont typeface="+mj-lt"/>
              <a:buAutoNum type="romanLcPeriod"/>
            </a:pPr>
            <a:r>
              <a:rPr lang="en-PH" sz="2000" i="1" dirty="0"/>
              <a:t>For each </a:t>
            </a:r>
            <a:r>
              <a:rPr lang="en-PH" sz="2000" b="1" dirty="0"/>
              <a:t>u</a:t>
            </a:r>
            <a:r>
              <a:rPr lang="en-PH" sz="2000" i="1" dirty="0"/>
              <a:t> and </a:t>
            </a:r>
            <a:r>
              <a:rPr lang="en-PH" sz="2000" b="1" dirty="0"/>
              <a:t>v</a:t>
            </a:r>
            <a:r>
              <a:rPr lang="en-PH" sz="2000" i="1" dirty="0"/>
              <a:t> are in H,  </a:t>
            </a:r>
            <a:r>
              <a:rPr lang="en-PH" sz="2000" b="1" dirty="0"/>
              <a:t>u</a:t>
            </a:r>
            <a:r>
              <a:rPr lang="en-PH" sz="2000" i="1" dirty="0"/>
              <a:t> + </a:t>
            </a:r>
            <a:r>
              <a:rPr lang="en-PH" sz="2000" b="1" dirty="0"/>
              <a:t>v</a:t>
            </a:r>
            <a:r>
              <a:rPr lang="en-PH" sz="2000" i="1" dirty="0"/>
              <a:t> is in H. </a:t>
            </a:r>
            <a:r>
              <a:rPr lang="en-PH" sz="2000" dirty="0"/>
              <a:t>( In this case we say that H is closed under vector addition.)</a:t>
            </a:r>
            <a:endParaRPr lang="en-PH" sz="2000" i="1" dirty="0"/>
          </a:p>
          <a:p>
            <a:pPr marL="514350" indent="-514350">
              <a:buFont typeface="+mj-lt"/>
              <a:buAutoNum type="romanLcPeriod"/>
            </a:pPr>
            <a:r>
              <a:rPr lang="en-PH" sz="2000" i="1" dirty="0"/>
              <a:t>For each </a:t>
            </a:r>
            <a:r>
              <a:rPr lang="en-PH" sz="2000" b="1" dirty="0"/>
              <a:t>u </a:t>
            </a:r>
            <a:r>
              <a:rPr lang="en-PH" sz="2000" dirty="0"/>
              <a:t>in H and each scalar </a:t>
            </a:r>
            <a:r>
              <a:rPr lang="en-PH" sz="2000" i="1" dirty="0"/>
              <a:t>c</a:t>
            </a:r>
            <a:r>
              <a:rPr lang="en-PH" sz="2000" dirty="0"/>
              <a:t>, c</a:t>
            </a:r>
            <a:r>
              <a:rPr lang="en-PH" sz="2000" b="1" dirty="0"/>
              <a:t>u</a:t>
            </a:r>
            <a:r>
              <a:rPr lang="en-PH" sz="2000" dirty="0"/>
              <a:t> is in H. ( In this case we say that H is closed under scalar multiplication.)</a:t>
            </a:r>
          </a:p>
          <a:p>
            <a:pPr marL="514350" indent="-514350">
              <a:buFont typeface="+mj-lt"/>
              <a:buAutoNum type="romanLcPeriod"/>
            </a:pPr>
            <a:endParaRPr lang="en-PH" sz="2000" dirty="0"/>
          </a:p>
          <a:p>
            <a:pPr marL="0" indent="0">
              <a:buNone/>
            </a:pPr>
            <a:r>
              <a:rPr lang="en-PH" sz="2000" dirty="0"/>
              <a:t>If the subset H satisfies these three properties, then H itself is a vector. </a:t>
            </a:r>
            <a:endParaRPr lang="en-PH" sz="2000" b="1" i="1" dirty="0"/>
          </a:p>
          <a:p>
            <a:pPr marL="514350" indent="-514350">
              <a:buFont typeface="+mj-lt"/>
              <a:buAutoNum type="romanLcPeriod"/>
            </a:pPr>
            <a:endParaRPr lang="en-PH" sz="2000" i="1" dirty="0"/>
          </a:p>
          <a:p>
            <a:pPr marL="0" indent="0">
              <a:buNone/>
            </a:pPr>
            <a:r>
              <a:rPr lang="en-US" sz="1600" b="1" dirty="0"/>
              <a:t>Section 2.8 Subspace</a:t>
            </a:r>
            <a:r>
              <a:rPr lang="en-US" sz="1600" dirty="0"/>
              <a:t> :https://www.youtube.com/watch?v=u4Og9zGParQes - YouTube</a:t>
            </a:r>
            <a:endParaRPr lang="en-PH" sz="2000" i="1" dirty="0"/>
          </a:p>
        </p:txBody>
      </p:sp>
    </p:spTree>
    <p:extLst>
      <p:ext uri="{BB962C8B-B14F-4D97-AF65-F5344CB8AC3E}">
        <p14:creationId xmlns:p14="http://schemas.microsoft.com/office/powerpoint/2010/main" val="27546631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Spanning sets</a:t>
            </a:r>
          </a:p>
        </p:txBody>
      </p:sp>
      <p:sp>
        <p:nvSpPr>
          <p:cNvPr id="4" name="Text Placeholder 3"/>
          <p:cNvSpPr>
            <a:spLocks noGrp="1"/>
          </p:cNvSpPr>
          <p:nvPr>
            <p:ph type="body" idx="1"/>
          </p:nvPr>
        </p:nvSpPr>
        <p:spPr/>
        <p:txBody>
          <a:bodyPr/>
          <a:lstStyle/>
          <a:p>
            <a:r>
              <a:rPr lang="en-PH" dirty="0"/>
              <a:t>Lesson 4</a:t>
            </a:r>
          </a:p>
        </p:txBody>
      </p:sp>
    </p:spTree>
    <p:extLst>
      <p:ext uri="{BB962C8B-B14F-4D97-AF65-F5344CB8AC3E}">
        <p14:creationId xmlns:p14="http://schemas.microsoft.com/office/powerpoint/2010/main" val="1619833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2000" i="1" dirty="0"/>
                  <a:t>Definition:</a:t>
                </a:r>
              </a:p>
              <a:p>
                <a:pPr marL="0" indent="0">
                  <a:buNone/>
                </a:pPr>
                <a:r>
                  <a:rPr lang="en-PH" sz="2000" i="1" dirty="0"/>
                  <a:t>	</a:t>
                </a:r>
                <a:r>
                  <a:rPr lang="en-PH" sz="2000" dirty="0"/>
                  <a:t>If </a:t>
                </a:r>
                <a14:m>
                  <m:oMath xmlns:m="http://schemas.openxmlformats.org/officeDocument/2006/math">
                    <m:r>
                      <a:rPr lang="en-PH" sz="2000" b="0" i="1" smtClean="0">
                        <a:latin typeface="Cambria Math"/>
                      </a:rPr>
                      <m:t>𝑆</m:t>
                    </m:r>
                    <m:r>
                      <a:rPr lang="en-PH" sz="2000" b="0" i="1" smtClean="0">
                        <a:latin typeface="Cambria Math"/>
                      </a:rPr>
                      <m:t>={</m:t>
                    </m:r>
                    <m:sSub>
                      <m:sSubPr>
                        <m:ctrlPr>
                          <a:rPr lang="en-PH" sz="2000" b="1" i="1" smtClean="0">
                            <a:latin typeface="Cambria Math" panose="02040503050406030204" pitchFamily="18" charset="0"/>
                          </a:rPr>
                        </m:ctrlPr>
                      </m:sSubPr>
                      <m:e>
                        <m:r>
                          <a:rPr lang="en-PH" sz="2000" b="1" i="0" smtClean="0">
                            <a:latin typeface="Cambria Math"/>
                          </a:rPr>
                          <m:t>𝐯</m:t>
                        </m:r>
                      </m:e>
                      <m:sub>
                        <m:r>
                          <a:rPr lang="en-PH" sz="2000" b="1" i="0" smtClean="0">
                            <a:latin typeface="Cambria Math"/>
                          </a:rPr>
                          <m:t>𝟏</m:t>
                        </m:r>
                      </m:sub>
                    </m:sSub>
                    <m:r>
                      <a:rPr lang="en-PH" sz="2000" b="1" i="0" smtClean="0">
                        <a:latin typeface="Cambria Math"/>
                      </a:rPr>
                      <m:t>, </m:t>
                    </m:r>
                    <m:sSub>
                      <m:sSubPr>
                        <m:ctrlPr>
                          <a:rPr lang="en-PH" sz="2000" b="1" i="1" smtClean="0">
                            <a:latin typeface="Cambria Math" panose="02040503050406030204" pitchFamily="18" charset="0"/>
                          </a:rPr>
                        </m:ctrlPr>
                      </m:sSubPr>
                      <m:e>
                        <m:r>
                          <a:rPr lang="en-PH" sz="2000" b="1" i="0" smtClean="0">
                            <a:latin typeface="Cambria Math"/>
                          </a:rPr>
                          <m:t>𝐯</m:t>
                        </m:r>
                        <m:r>
                          <a:rPr lang="en-PH" sz="2000" b="1" i="0" smtClean="0">
                            <a:latin typeface="Cambria Math"/>
                          </a:rPr>
                          <m:t> </m:t>
                        </m:r>
                      </m:e>
                      <m:sub>
                        <m:r>
                          <a:rPr lang="en-PH" sz="2000" b="1" i="0" smtClean="0">
                            <a:latin typeface="Cambria Math"/>
                          </a:rPr>
                          <m:t>𝟐</m:t>
                        </m:r>
                      </m:sub>
                    </m:sSub>
                    <m:r>
                      <a:rPr lang="en-PH" sz="2000" b="1" i="0" smtClean="0">
                        <a:latin typeface="Cambria Math"/>
                      </a:rPr>
                      <m:t>, …, </m:t>
                    </m:r>
                    <m:sSub>
                      <m:sSubPr>
                        <m:ctrlPr>
                          <a:rPr lang="en-PH" sz="2000" b="1" i="1" smtClean="0">
                            <a:latin typeface="Cambria Math" panose="02040503050406030204" pitchFamily="18" charset="0"/>
                          </a:rPr>
                        </m:ctrlPr>
                      </m:sSubPr>
                      <m:e>
                        <m:r>
                          <a:rPr lang="en-PH" sz="2000" b="1" i="0" smtClean="0">
                            <a:latin typeface="Cambria Math"/>
                          </a:rPr>
                          <m:t>𝐯</m:t>
                        </m:r>
                      </m:e>
                      <m:sub>
                        <m:r>
                          <a:rPr lang="en-PH" sz="2000" b="1" i="0" smtClean="0">
                            <a:latin typeface="Cambria Math"/>
                          </a:rPr>
                          <m:t>𝐤</m:t>
                        </m:r>
                      </m:sub>
                    </m:sSub>
                    <m:r>
                      <a:rPr lang="en-PH" sz="2000" b="0" i="1" smtClean="0">
                        <a:latin typeface="Cambria Math"/>
                      </a:rPr>
                      <m:t>}</m:t>
                    </m:r>
                  </m:oMath>
                </a14:m>
                <a:r>
                  <a:rPr lang="en-PH" sz="2000" dirty="0"/>
                  <a:t> is a set of vectors in a vector space </a:t>
                </a:r>
                <a:r>
                  <a:rPr lang="en-PH" sz="2000" i="1" dirty="0"/>
                  <a:t>V</a:t>
                </a:r>
                <a:r>
                  <a:rPr lang="en-PH" sz="2000" dirty="0"/>
                  <a:t>, then the set of all vectors in V that are linear combination of the vectors in S is denoted by </a:t>
                </a:r>
              </a:p>
              <a:p>
                <a:pPr marL="0" indent="0">
                  <a:buNone/>
                </a:pPr>
                <a:r>
                  <a:rPr lang="en-PH" sz="2000" i="1" dirty="0"/>
                  <a:t>		</a:t>
                </a:r>
                <a14:m>
                  <m:oMath xmlns:m="http://schemas.openxmlformats.org/officeDocument/2006/math">
                    <m:r>
                      <a:rPr lang="en-PH" sz="2000" b="0" i="1" smtClean="0">
                        <a:latin typeface="Cambria Math"/>
                      </a:rPr>
                      <m:t>𝑠𝑝𝑎𝑛</m:t>
                    </m:r>
                    <m:r>
                      <a:rPr lang="en-PH" sz="2000" b="0" i="1" smtClean="0">
                        <a:latin typeface="Cambria Math"/>
                      </a:rPr>
                      <m:t> </m:t>
                    </m:r>
                    <m:r>
                      <a:rPr lang="en-PH" sz="2000" b="0" i="1" smtClean="0">
                        <a:latin typeface="Cambria Math"/>
                      </a:rPr>
                      <m:t>𝑆</m:t>
                    </m:r>
                  </m:oMath>
                </a14:m>
                <a:r>
                  <a:rPr lang="en-PH" sz="2000" i="1" dirty="0"/>
                  <a:t>  or    </a:t>
                </a:r>
                <a14:m>
                  <m:oMath xmlns:m="http://schemas.openxmlformats.org/officeDocument/2006/math">
                    <m:r>
                      <a:rPr lang="en-PH" sz="2000" b="0" i="1" smtClean="0">
                        <a:latin typeface="Cambria Math"/>
                      </a:rPr>
                      <m:t>𝑠𝑝𝑎𝑛</m:t>
                    </m:r>
                    <m:r>
                      <a:rPr lang="en-PH" sz="2000" b="0" i="1" smtClean="0">
                        <a:latin typeface="Cambria Math"/>
                      </a:rPr>
                      <m:t> { </m:t>
                    </m:r>
                    <m:sSub>
                      <m:sSubPr>
                        <m:ctrlPr>
                          <a:rPr lang="en-PH" sz="2000" b="1" i="1" smtClean="0">
                            <a:latin typeface="Cambria Math" panose="02040503050406030204" pitchFamily="18" charset="0"/>
                          </a:rPr>
                        </m:ctrlPr>
                      </m:sSubPr>
                      <m:e>
                        <m:r>
                          <a:rPr lang="en-PH" sz="2000" b="1" i="0" smtClean="0">
                            <a:latin typeface="Cambria Math"/>
                          </a:rPr>
                          <m:t>𝐯</m:t>
                        </m:r>
                      </m:e>
                      <m:sub>
                        <m:r>
                          <a:rPr lang="en-PH" sz="2000" b="1" i="0" smtClean="0">
                            <a:latin typeface="Cambria Math"/>
                          </a:rPr>
                          <m:t>𝟏</m:t>
                        </m:r>
                      </m:sub>
                    </m:sSub>
                    <m:r>
                      <a:rPr lang="en-PH" sz="2000" b="1" i="0" smtClean="0">
                        <a:latin typeface="Cambria Math"/>
                      </a:rPr>
                      <m:t>, </m:t>
                    </m:r>
                    <m:sSub>
                      <m:sSubPr>
                        <m:ctrlPr>
                          <a:rPr lang="en-PH" sz="2000" b="1" i="1" smtClean="0">
                            <a:latin typeface="Cambria Math" panose="02040503050406030204" pitchFamily="18" charset="0"/>
                          </a:rPr>
                        </m:ctrlPr>
                      </m:sSubPr>
                      <m:e>
                        <m:r>
                          <a:rPr lang="en-PH" sz="2000" b="1" i="0" smtClean="0">
                            <a:latin typeface="Cambria Math"/>
                          </a:rPr>
                          <m:t>𝐯</m:t>
                        </m:r>
                      </m:e>
                      <m:sub>
                        <m:r>
                          <a:rPr lang="en-PH" sz="2000" b="1" i="0" smtClean="0">
                            <a:latin typeface="Cambria Math"/>
                          </a:rPr>
                          <m:t>𝟐</m:t>
                        </m:r>
                      </m:sub>
                    </m:sSub>
                    <m:r>
                      <a:rPr lang="en-PH" sz="2000" b="1" i="0" smtClean="0">
                        <a:latin typeface="Cambria Math"/>
                      </a:rPr>
                      <m:t>, …,</m:t>
                    </m:r>
                    <m:sSub>
                      <m:sSubPr>
                        <m:ctrlPr>
                          <a:rPr lang="en-PH" sz="2000" b="1" i="1" smtClean="0">
                            <a:latin typeface="Cambria Math" panose="02040503050406030204" pitchFamily="18" charset="0"/>
                          </a:rPr>
                        </m:ctrlPr>
                      </m:sSubPr>
                      <m:e>
                        <m:r>
                          <a:rPr lang="en-PH" sz="2000" b="1" i="0" smtClean="0">
                            <a:latin typeface="Cambria Math"/>
                          </a:rPr>
                          <m:t>𝐯</m:t>
                        </m:r>
                      </m:e>
                      <m:sub>
                        <m:r>
                          <a:rPr lang="en-PH" sz="2000" b="1" i="0" smtClean="0">
                            <a:latin typeface="Cambria Math"/>
                          </a:rPr>
                          <m:t>𝐤</m:t>
                        </m:r>
                      </m:sub>
                    </m:sSub>
                    <m:r>
                      <a:rPr lang="en-PH" sz="2000" b="0" i="1" smtClean="0">
                        <a:latin typeface="Cambria Math"/>
                      </a:rPr>
                      <m:t>}</m:t>
                    </m:r>
                  </m:oMath>
                </a14:m>
                <a:endParaRPr lang="en-PH" sz="2000" i="1" dirty="0"/>
              </a:p>
              <a:p>
                <a:pPr marL="0" indent="0">
                  <a:buNone/>
                </a:pPr>
                <a:endParaRPr lang="en-PH" sz="2000" i="1" dirty="0"/>
              </a:p>
              <a:p>
                <a:pPr marL="0" indent="0">
                  <a:buNone/>
                </a:pPr>
                <a:r>
                  <a:rPr lang="en-PH" sz="2000" i="1" dirty="0"/>
                  <a:t>Recall that a linear combination is of the form:</a:t>
                </a:r>
              </a:p>
              <a:p>
                <a:pPr marL="0" indent="0" algn="ctr">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sSub>
                      <m:sSubPr>
                        <m:ctrlPr>
                          <a:rPr lang="en-PH" sz="2000" b="1" i="1">
                            <a:latin typeface="Cambria Math" panose="02040503050406030204" pitchFamily="18" charset="0"/>
                          </a:rPr>
                        </m:ctrlPr>
                      </m:sSubPr>
                      <m:e>
                        <m:r>
                          <a:rPr lang="en-PH" sz="2000" b="1" i="0">
                            <a:latin typeface="Cambria Math"/>
                          </a:rPr>
                          <m:t>𝐯</m:t>
                        </m:r>
                      </m:e>
                      <m:sub>
                        <m:r>
                          <a:rPr lang="en-PH" sz="2000" b="1" i="0">
                            <a:latin typeface="Cambria Math"/>
                          </a:rPr>
                          <m:t>𝟏</m:t>
                        </m:r>
                      </m:sub>
                    </m:sSub>
                    <m:r>
                      <a:rPr lang="en-PH" sz="2000" i="1">
                        <a:latin typeface="Cambria Math"/>
                      </a:rPr>
                      <m:t>+</m:t>
                    </m:r>
                    <m:r>
                      <m:rPr>
                        <m:nor/>
                      </m:rPr>
                      <a:rPr lang="en-PH" sz="2000" dirty="0"/>
                      <m:t> </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2</m:t>
                        </m:r>
                      </m:sub>
                    </m:sSub>
                    <m:sSub>
                      <m:sSubPr>
                        <m:ctrlPr>
                          <a:rPr lang="en-PH" sz="2000" b="1" i="1">
                            <a:latin typeface="Cambria Math" panose="02040503050406030204" pitchFamily="18" charset="0"/>
                          </a:rPr>
                        </m:ctrlPr>
                      </m:sSubPr>
                      <m:e>
                        <m:r>
                          <a:rPr lang="en-PH" sz="2000" b="1" i="0">
                            <a:latin typeface="Cambria Math"/>
                          </a:rPr>
                          <m:t>𝐯</m:t>
                        </m:r>
                      </m:e>
                      <m:sub>
                        <m:r>
                          <a:rPr lang="en-PH" sz="2000" b="1" i="0">
                            <a:latin typeface="Cambria Math"/>
                          </a:rPr>
                          <m:t>𝟐</m:t>
                        </m:r>
                      </m:sub>
                    </m:sSub>
                    <m:r>
                      <a:rPr lang="en-PH" sz="2000" i="1">
                        <a:latin typeface="Cambria Math"/>
                      </a:rPr>
                      <m:t>+</m:t>
                    </m:r>
                    <m:r>
                      <a:rPr lang="en-PH" sz="2000" b="0" i="1" smtClean="0">
                        <a:latin typeface="Cambria Math"/>
                      </a:rPr>
                      <m:t>…+</m:t>
                    </m:r>
                    <m:r>
                      <m:rPr>
                        <m:nor/>
                      </m:rPr>
                      <a:rPr lang="en-PH" sz="2000" dirty="0"/>
                      <m:t> </m:t>
                    </m:r>
                    <m:sSub>
                      <m:sSubPr>
                        <m:ctrlPr>
                          <a:rPr lang="en-PH" sz="2000" i="1">
                            <a:latin typeface="Cambria Math" panose="02040503050406030204" pitchFamily="18" charset="0"/>
                          </a:rPr>
                        </m:ctrlPr>
                      </m:sSubPr>
                      <m:e>
                        <m:r>
                          <a:rPr lang="en-PH" sz="2000" i="1">
                            <a:latin typeface="Cambria Math"/>
                          </a:rPr>
                          <m:t>𝑐</m:t>
                        </m:r>
                      </m:e>
                      <m:sub>
                        <m:r>
                          <a:rPr lang="en-PH" sz="2000" b="0" i="1" smtClean="0">
                            <a:latin typeface="Cambria Math"/>
                          </a:rPr>
                          <m:t>𝑘</m:t>
                        </m:r>
                      </m:sub>
                    </m:sSub>
                    <m:sSub>
                      <m:sSubPr>
                        <m:ctrlPr>
                          <a:rPr lang="en-PH" sz="2000" b="1" i="1">
                            <a:latin typeface="Cambria Math" panose="02040503050406030204" pitchFamily="18" charset="0"/>
                          </a:rPr>
                        </m:ctrlPr>
                      </m:sSubPr>
                      <m:e>
                        <m:r>
                          <a:rPr lang="en-PH" sz="2000" b="1" i="0">
                            <a:latin typeface="Cambria Math"/>
                          </a:rPr>
                          <m:t>𝐯</m:t>
                        </m:r>
                      </m:e>
                      <m:sub>
                        <m:r>
                          <a:rPr lang="en-PH" sz="2000" b="1" i="0" smtClean="0">
                            <a:latin typeface="Cambria Math"/>
                          </a:rPr>
                          <m:t>𝐤</m:t>
                        </m:r>
                      </m:sub>
                    </m:sSub>
                  </m:oMath>
                </a14:m>
                <a:r>
                  <a:rPr lang="en-PH" sz="2000" i="1" dirty="0"/>
                  <a:t>  </a:t>
                </a:r>
              </a:p>
              <a:p>
                <a:pPr marL="0" indent="0">
                  <a:buNone/>
                </a:pPr>
                <a:endParaRPr lang="en-PH" sz="2000" i="1" dirty="0"/>
              </a:p>
              <a:p>
                <a:pPr marL="0" indent="0">
                  <a:buNone/>
                </a:pPr>
                <a:r>
                  <a:rPr lang="en-PH" sz="2000" i="1" dirty="0"/>
                  <a:t>where  each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𝑖</m:t>
                        </m:r>
                      </m:sub>
                    </m:sSub>
                  </m:oMath>
                </a14:m>
                <a:r>
                  <a:rPr lang="en-PH" sz="2000" i="1" dirty="0"/>
                  <a:t> is a real number scalar. </a:t>
                </a:r>
              </a:p>
              <a:p>
                <a:pPr marL="0" indent="0">
                  <a:buNone/>
                </a:pPr>
                <a:endParaRPr lang="en-PH" sz="20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741" t="-625" r="-1259"/>
                </a:stretch>
              </a:blipFill>
            </p:spPr>
            <p:txBody>
              <a:bodyPr/>
              <a:lstStyle/>
              <a:p>
                <a:r>
                  <a:rPr lang="en-PH">
                    <a:noFill/>
                  </a:rPr>
                  <a:t> </a:t>
                </a:r>
              </a:p>
            </p:txBody>
          </p:sp>
        </mc:Fallback>
      </mc:AlternateContent>
    </p:spTree>
    <p:extLst>
      <p:ext uri="{BB962C8B-B14F-4D97-AF65-F5344CB8AC3E}">
        <p14:creationId xmlns:p14="http://schemas.microsoft.com/office/powerpoint/2010/main" val="2074848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2000" i="1" dirty="0"/>
                  <a:t>Example 1:</a:t>
                </a:r>
              </a:p>
              <a:p>
                <a:pPr marL="0" indent="0">
                  <a:buNone/>
                </a:pPr>
                <a:r>
                  <a:rPr lang="en-PH" sz="2000" i="1" dirty="0"/>
                  <a:t>	Let V be the vector space </a:t>
                </a:r>
                <a14:m>
                  <m:oMath xmlns:m="http://schemas.openxmlformats.org/officeDocument/2006/math">
                    <m:sSup>
                      <m:sSupPr>
                        <m:ctrlPr>
                          <a:rPr lang="en-PH" sz="2000" i="1" smtClean="0">
                            <a:latin typeface="Cambria Math" panose="02040503050406030204" pitchFamily="18" charset="0"/>
                          </a:rPr>
                        </m:ctrlPr>
                      </m:sSupPr>
                      <m:e>
                        <m:r>
                          <a:rPr lang="en-PH" sz="2000" b="0" i="1" smtClean="0">
                            <a:latin typeface="Cambria Math"/>
                          </a:rPr>
                          <m:t>𝑅</m:t>
                        </m:r>
                      </m:e>
                      <m:sup>
                        <m:r>
                          <a:rPr lang="en-PH" sz="2000" b="0" i="1" smtClean="0">
                            <a:latin typeface="Cambria Math"/>
                          </a:rPr>
                          <m:t>3</m:t>
                        </m:r>
                      </m:sup>
                    </m:sSup>
                    <m:r>
                      <a:rPr lang="en-PH" sz="2000" b="0" i="1" smtClean="0">
                        <a:latin typeface="Cambria Math"/>
                      </a:rPr>
                      <m:t>, </m:t>
                    </m:r>
                  </m:oMath>
                </a14:m>
                <a:r>
                  <a:rPr lang="en-PH" sz="2000" i="1" dirty="0"/>
                  <a:t>Let</a:t>
                </a:r>
              </a:p>
              <a:p>
                <a:pPr marL="0" indent="0">
                  <a:buNone/>
                </a:pPr>
                <a:endParaRPr lang="en-PH" sz="2000" i="1" dirty="0"/>
              </a:p>
              <a:p>
                <a:pPr marL="0" indent="0" algn="ctr">
                  <a:buNone/>
                </a:pPr>
                <a14:m>
                  <m:oMath xmlns:m="http://schemas.openxmlformats.org/officeDocument/2006/math">
                    <m:sSub>
                      <m:sSubPr>
                        <m:ctrlPr>
                          <a:rPr lang="en-PH" sz="2000" i="1" smtClean="0">
                            <a:latin typeface="Cambria Math" panose="02040503050406030204" pitchFamily="18" charset="0"/>
                          </a:rPr>
                        </m:ctrlPr>
                      </m:sSubPr>
                      <m:e>
                        <m:r>
                          <a:rPr lang="en-PH" sz="2000" b="1" i="0" smtClean="0">
                            <a:latin typeface="Cambria Math"/>
                          </a:rPr>
                          <m:t>𝐯</m:t>
                        </m:r>
                      </m:e>
                      <m:sub>
                        <m:r>
                          <a:rPr lang="en-PH" sz="2000" b="0" i="1" smtClean="0">
                            <a:latin typeface="Cambria Math"/>
                          </a:rPr>
                          <m:t>1</m:t>
                        </m:r>
                      </m:sub>
                    </m:sSub>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1</m:t>
                              </m:r>
                            </m:e>
                          </m:mr>
                          <m:mr>
                            <m:e>
                              <m:r>
                                <a:rPr lang="en-PH" sz="2000" b="0" i="1" smtClean="0">
                                  <a:latin typeface="Cambria Math"/>
                                </a:rPr>
                                <m:t>2</m:t>
                              </m:r>
                            </m:e>
                          </m:mr>
                          <m:mr>
                            <m:e>
                              <m:r>
                                <a:rPr lang="en-PH" sz="2000" b="0" i="1" smtClean="0">
                                  <a:latin typeface="Cambria Math"/>
                                </a:rPr>
                                <m:t>1</m:t>
                              </m:r>
                            </m:e>
                          </m:mr>
                        </m:m>
                      </m:e>
                    </m:d>
                  </m:oMath>
                </a14:m>
                <a:r>
                  <a:rPr lang="en-PH" sz="2000" i="1" dirty="0"/>
                  <a:t>  , </a:t>
                </a:r>
                <a14:m>
                  <m:oMath xmlns:m="http://schemas.openxmlformats.org/officeDocument/2006/math">
                    <m:sSub>
                      <m:sSubPr>
                        <m:ctrlPr>
                          <a:rPr lang="en-PH" sz="2000" i="1">
                            <a:latin typeface="Cambria Math" panose="02040503050406030204" pitchFamily="18" charset="0"/>
                          </a:rPr>
                        </m:ctrlPr>
                      </m:sSubPr>
                      <m:e>
                        <m:r>
                          <a:rPr lang="en-PH" sz="2000" b="1" i="0">
                            <a:latin typeface="Cambria Math"/>
                          </a:rPr>
                          <m:t>𝐯</m:t>
                        </m:r>
                      </m:e>
                      <m:sub>
                        <m:r>
                          <a:rPr lang="en-PH" sz="2000" b="0" i="1" smtClean="0">
                            <a:latin typeface="Cambria Math"/>
                          </a:rPr>
                          <m:t>2</m:t>
                        </m:r>
                      </m:sub>
                    </m:sSub>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m:rPr>
                                  <m:brk m:alnAt="7"/>
                                </m:rPr>
                                <a:rPr lang="en-PH" sz="2000" i="1">
                                  <a:latin typeface="Cambria Math"/>
                                </a:rPr>
                                <m:t>1</m:t>
                              </m:r>
                            </m:e>
                          </m:mr>
                          <m:mr>
                            <m:e>
                              <m:r>
                                <a:rPr lang="en-PH" sz="2000" b="0" i="1" smtClean="0">
                                  <a:latin typeface="Cambria Math"/>
                                </a:rPr>
                                <m:t>0</m:t>
                              </m:r>
                            </m:e>
                          </m:mr>
                          <m:mr>
                            <m:e>
                              <m:r>
                                <a:rPr lang="en-PH" sz="2000" b="0" i="1" smtClean="0">
                                  <a:latin typeface="Cambria Math"/>
                                </a:rPr>
                                <m:t>2</m:t>
                              </m:r>
                            </m:e>
                          </m:mr>
                        </m:m>
                      </m:e>
                    </m:d>
                    <m:r>
                      <a:rPr lang="en-PH" sz="2000" b="0" i="1" smtClean="0">
                        <a:latin typeface="Cambria Math"/>
                      </a:rPr>
                      <m:t>, </m:t>
                    </m:r>
                  </m:oMath>
                </a14:m>
                <a:r>
                  <a:rPr lang="en-PH" sz="2000" i="1" dirty="0"/>
                  <a:t>  and </a:t>
                </a:r>
                <a14:m>
                  <m:oMath xmlns:m="http://schemas.openxmlformats.org/officeDocument/2006/math">
                    <m:sSub>
                      <m:sSubPr>
                        <m:ctrlPr>
                          <a:rPr lang="en-PH" sz="2000" i="1">
                            <a:latin typeface="Cambria Math" panose="02040503050406030204" pitchFamily="18" charset="0"/>
                          </a:rPr>
                        </m:ctrlPr>
                      </m:sSubPr>
                      <m:e>
                        <m:r>
                          <a:rPr lang="en-PH" sz="2000" b="1" i="0">
                            <a:latin typeface="Cambria Math"/>
                          </a:rPr>
                          <m:t>𝐯</m:t>
                        </m:r>
                      </m:e>
                      <m:sub>
                        <m:r>
                          <a:rPr lang="en-PH" sz="2000" b="0" i="1" smtClean="0">
                            <a:latin typeface="Cambria Math"/>
                          </a:rPr>
                          <m:t>3</m:t>
                        </m:r>
                      </m:sub>
                    </m:sSub>
                    <m:r>
                      <a:rPr lang="en-PH" sz="2000" i="1">
                        <a:latin typeface="Cambria Math"/>
                      </a:rPr>
                      <m:t>= </m:t>
                    </m:r>
                    <m:d>
                      <m:dPr>
                        <m:begChr m:val="["/>
                        <m:endChr m:val="]"/>
                        <m:ctrlPr>
                          <a:rPr lang="en-PH" sz="2000" i="1">
                            <a:latin typeface="Cambria Math" panose="02040503050406030204" pitchFamily="18" charset="0"/>
                          </a:rPr>
                        </m:ctrlPr>
                      </m:dPr>
                      <m:e>
                        <m:m>
                          <m:mPr>
                            <m:mcs>
                              <m:mc>
                                <m:mcPr>
                                  <m:count m:val="1"/>
                                  <m:mcJc m:val="center"/>
                                </m:mcPr>
                              </m:mc>
                            </m:mcs>
                            <m:ctrlPr>
                              <a:rPr lang="en-PH" sz="2000" i="1">
                                <a:latin typeface="Cambria Math" panose="02040503050406030204" pitchFamily="18" charset="0"/>
                              </a:rPr>
                            </m:ctrlPr>
                          </m:mPr>
                          <m:mr>
                            <m:e>
                              <m:r>
                                <m:rPr>
                                  <m:brk m:alnAt="7"/>
                                </m:rPr>
                                <a:rPr lang="en-PH" sz="2000" i="1">
                                  <a:latin typeface="Cambria Math"/>
                                </a:rPr>
                                <m:t>1</m:t>
                              </m:r>
                            </m:e>
                          </m:mr>
                          <m:mr>
                            <m:e>
                              <m:r>
                                <a:rPr lang="en-PH" sz="2000" b="0" i="1" smtClean="0">
                                  <a:latin typeface="Cambria Math"/>
                                </a:rPr>
                                <m:t>1</m:t>
                              </m:r>
                            </m:e>
                          </m:mr>
                          <m:mr>
                            <m:e>
                              <m:r>
                                <a:rPr lang="en-PH" sz="2000" b="0" i="1" smtClean="0">
                                  <a:latin typeface="Cambria Math"/>
                                </a:rPr>
                                <m:t>0</m:t>
                              </m:r>
                            </m:e>
                          </m:mr>
                        </m:m>
                      </m:e>
                    </m:d>
                  </m:oMath>
                </a14:m>
                <a:endParaRPr lang="en-PH" sz="2000" i="1" dirty="0"/>
              </a:p>
              <a:p>
                <a:pPr marL="0" indent="0">
                  <a:buNone/>
                </a:pPr>
                <a:endParaRPr lang="en-PH" sz="2000" i="1" dirty="0"/>
              </a:p>
              <a:p>
                <a:pPr marL="0" indent="0">
                  <a:buNone/>
                </a:pPr>
                <a:r>
                  <a:rPr lang="en-PH" sz="2000" dirty="0"/>
                  <a:t>To find  out whether </a:t>
                </a:r>
                <a:r>
                  <a:rPr lang="en-PH" sz="2000" i="1" dirty="0"/>
                  <a:t>v</a:t>
                </a:r>
                <a:r>
                  <a:rPr lang="en-PH" sz="2000" i="1" baseline="-25000" dirty="0"/>
                  <a:t>1</a:t>
                </a:r>
                <a:r>
                  <a:rPr lang="en-PH" sz="2000" i="1" dirty="0"/>
                  <a:t>, v</a:t>
                </a:r>
                <a:r>
                  <a:rPr lang="en-PH" sz="2000" i="1" baseline="-25000" dirty="0"/>
                  <a:t>2</a:t>
                </a:r>
                <a:r>
                  <a:rPr lang="en-PH" sz="2000" i="1" dirty="0"/>
                  <a:t>, v</a:t>
                </a:r>
                <a:r>
                  <a:rPr lang="en-PH" sz="2000" i="1" baseline="-25000" dirty="0"/>
                  <a:t>3</a:t>
                </a:r>
                <a:r>
                  <a:rPr lang="en-PH" sz="2000" i="1" dirty="0"/>
                  <a:t> span V</a:t>
                </a:r>
                <a:r>
                  <a:rPr lang="en-PH" sz="2000" dirty="0"/>
                  <a:t>, we pick any vector </a:t>
                </a:r>
                <a14:m>
                  <m:oMath xmlns:m="http://schemas.openxmlformats.org/officeDocument/2006/math">
                    <m:r>
                      <a:rPr lang="en-PH" sz="2000" b="1" i="0" smtClean="0">
                        <a:latin typeface="Cambria Math"/>
                      </a:rPr>
                      <m:t>𝐯</m:t>
                    </m:r>
                    <m:r>
                      <a:rPr lang="en-PH" sz="2000" b="0" i="1" smtClean="0">
                        <a:latin typeface="Cambria Math"/>
                      </a:rPr>
                      <m:t>= </m:t>
                    </m:r>
                    <m:d>
                      <m:dPr>
                        <m:begChr m:val="["/>
                        <m:endChr m:val="]"/>
                        <m:ctrlPr>
                          <a:rPr lang="en-PH" sz="2000" b="0" i="1" smtClean="0">
                            <a:latin typeface="Cambria Math" panose="02040503050406030204" pitchFamily="18" charset="0"/>
                          </a:rPr>
                        </m:ctrlPr>
                      </m:dPr>
                      <m:e>
                        <m:m>
                          <m:mPr>
                            <m:mcs>
                              <m:mc>
                                <m:mcPr>
                                  <m:count m:val="1"/>
                                  <m:mcJc m:val="center"/>
                                </m:mcPr>
                              </m:mc>
                            </m:mcs>
                            <m:ctrlPr>
                              <a:rPr lang="en-PH" sz="2000" b="0" i="1" smtClean="0">
                                <a:latin typeface="Cambria Math" panose="02040503050406030204" pitchFamily="18" charset="0"/>
                              </a:rPr>
                            </m:ctrlPr>
                          </m:mPr>
                          <m:mr>
                            <m:e>
                              <m:r>
                                <m:rPr>
                                  <m:brk m:alnAt="7"/>
                                </m:rPr>
                                <a:rPr lang="en-PH" sz="2000" b="0" i="1" smtClean="0">
                                  <a:latin typeface="Cambria Math"/>
                                </a:rPr>
                                <m:t>𝑎</m:t>
                              </m:r>
                            </m:e>
                          </m:mr>
                          <m:mr>
                            <m:e>
                              <m:r>
                                <a:rPr lang="en-PH" sz="2000" b="0" i="1" smtClean="0">
                                  <a:latin typeface="Cambria Math"/>
                                </a:rPr>
                                <m:t>𝑏</m:t>
                              </m:r>
                            </m:e>
                          </m:mr>
                          <m:mr>
                            <m:e>
                              <m:r>
                                <a:rPr lang="en-PH" sz="2000" b="0" i="1" smtClean="0">
                                  <a:latin typeface="Cambria Math"/>
                                </a:rPr>
                                <m:t>𝑐</m:t>
                              </m:r>
                            </m:e>
                          </m:mr>
                        </m:m>
                      </m:e>
                    </m:d>
                    <m:r>
                      <a:rPr lang="en-PH" sz="2000" b="0" i="1" smtClean="0">
                        <a:latin typeface="Cambria Math"/>
                      </a:rPr>
                      <m:t> </m:t>
                    </m:r>
                  </m:oMath>
                </a14:m>
                <a:r>
                  <a:rPr lang="en-PH" sz="2000" dirty="0"/>
                  <a:t>in V,  (a, b, and c are arbitrary real numbers) and must find out whether there are constants c</a:t>
                </a:r>
                <a:r>
                  <a:rPr lang="en-PH" sz="2000" baseline="-25000" dirty="0"/>
                  <a:t>1</a:t>
                </a:r>
                <a:r>
                  <a:rPr lang="en-PH" sz="2000" dirty="0"/>
                  <a:t>, c</a:t>
                </a:r>
                <a:r>
                  <a:rPr lang="en-PH" sz="2000" baseline="-25000" dirty="0"/>
                  <a:t>2</a:t>
                </a:r>
                <a:r>
                  <a:rPr lang="en-PH" sz="2000" dirty="0"/>
                  <a:t>, and c</a:t>
                </a:r>
                <a:r>
                  <a:rPr lang="en-PH" sz="2000" baseline="-25000" dirty="0"/>
                  <a:t>3</a:t>
                </a:r>
                <a:r>
                  <a:rPr lang="en-PH" sz="2000" dirty="0"/>
                  <a:t>, such that the vectors can be expressed as linear combination of the form:</a:t>
                </a:r>
              </a:p>
              <a:p>
                <a:pPr marL="0" indent="0" algn="ctr">
                  <a:buNone/>
                </a:pP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1</m:t>
                        </m:r>
                      </m:sub>
                    </m:sSub>
                    <m:sSub>
                      <m:sSubPr>
                        <m:ctrlPr>
                          <a:rPr lang="en-PH" sz="2000" i="1" smtClean="0">
                            <a:latin typeface="Cambria Math" panose="02040503050406030204" pitchFamily="18" charset="0"/>
                          </a:rPr>
                        </m:ctrlPr>
                      </m:sSubPr>
                      <m:e>
                        <m:r>
                          <a:rPr lang="en-PH" sz="2000" b="1">
                            <a:latin typeface="Cambria Math"/>
                          </a:rPr>
                          <m:t>𝐯</m:t>
                        </m:r>
                      </m:e>
                      <m:sub>
                        <m:r>
                          <a:rPr lang="en-PH" sz="2000" b="0" i="1" smtClean="0">
                            <a:latin typeface="Cambria Math"/>
                          </a:rPr>
                          <m:t>1</m:t>
                        </m:r>
                      </m:sub>
                    </m:sSub>
                    <m:r>
                      <a:rPr lang="en-PH" sz="2000" b="0" i="1" smtClean="0">
                        <a:latin typeface="Cambria Math"/>
                      </a:rPr>
                      <m:t>+</m:t>
                    </m:r>
                  </m:oMath>
                </a14:m>
                <a:r>
                  <a:rPr lang="en-PH" sz="2000" dirty="0"/>
                  <a:t> </a:t>
                </a:r>
                <a14:m>
                  <m:oMath xmlns:m="http://schemas.openxmlformats.org/officeDocument/2006/math">
                    <m:sSub>
                      <m:sSubPr>
                        <m:ctrlPr>
                          <a:rPr lang="en-PH" sz="2000" i="1">
                            <a:latin typeface="Cambria Math" panose="02040503050406030204" pitchFamily="18" charset="0"/>
                          </a:rPr>
                        </m:ctrlPr>
                      </m:sSubPr>
                      <m:e>
                        <m:r>
                          <a:rPr lang="en-PH" sz="2000" b="0" i="1" smtClean="0">
                            <a:latin typeface="Cambria Math"/>
                          </a:rPr>
                          <m:t>𝑐</m:t>
                        </m:r>
                      </m:e>
                      <m:sub>
                        <m:r>
                          <a:rPr lang="en-PH" sz="2000" b="0" i="1" smtClean="0">
                            <a:latin typeface="Cambria Math"/>
                          </a:rPr>
                          <m:t>2</m:t>
                        </m:r>
                      </m:sub>
                    </m:sSub>
                    <m:sSub>
                      <m:sSubPr>
                        <m:ctrlPr>
                          <a:rPr lang="en-PH" sz="2000" i="1">
                            <a:latin typeface="Cambria Math" panose="02040503050406030204" pitchFamily="18" charset="0"/>
                          </a:rPr>
                        </m:ctrlPr>
                      </m:sSubPr>
                      <m:e>
                        <m:r>
                          <a:rPr lang="en-PH" sz="2000" b="1">
                            <a:latin typeface="Cambria Math"/>
                          </a:rPr>
                          <m:t>𝐯</m:t>
                        </m:r>
                      </m:e>
                      <m:sub>
                        <m:r>
                          <a:rPr lang="en-PH" sz="2000" b="0" i="1" smtClean="0">
                            <a:latin typeface="Cambria Math"/>
                          </a:rPr>
                          <m:t>2</m:t>
                        </m:r>
                      </m:sub>
                    </m:sSub>
                    <m:r>
                      <a:rPr lang="en-PH" sz="2000" i="1">
                        <a:latin typeface="Cambria Math"/>
                      </a:rPr>
                      <m:t>+</m:t>
                    </m:r>
                  </m:oMath>
                </a14:m>
                <a:r>
                  <a:rPr lang="en-PH" sz="2000" dirty="0"/>
                  <a:t> </a:t>
                </a:r>
                <a14:m>
                  <m:oMath xmlns:m="http://schemas.openxmlformats.org/officeDocument/2006/math">
                    <m:sSub>
                      <m:sSubPr>
                        <m:ctrlPr>
                          <a:rPr lang="en-PH" sz="2000" i="1">
                            <a:latin typeface="Cambria Math" panose="02040503050406030204" pitchFamily="18" charset="0"/>
                          </a:rPr>
                        </m:ctrlPr>
                      </m:sSubPr>
                      <m:e>
                        <m:r>
                          <a:rPr lang="en-PH" sz="2000" b="0" i="1" smtClean="0">
                            <a:latin typeface="Cambria Math"/>
                          </a:rPr>
                          <m:t>𝑐</m:t>
                        </m:r>
                      </m:e>
                      <m:sub>
                        <m:r>
                          <a:rPr lang="en-PH" sz="2000" b="0" i="1" smtClean="0">
                            <a:latin typeface="Cambria Math"/>
                          </a:rPr>
                          <m:t>3</m:t>
                        </m:r>
                      </m:sub>
                    </m:sSub>
                    <m:sSub>
                      <m:sSubPr>
                        <m:ctrlPr>
                          <a:rPr lang="en-PH" sz="2000" i="1">
                            <a:latin typeface="Cambria Math" panose="02040503050406030204" pitchFamily="18" charset="0"/>
                          </a:rPr>
                        </m:ctrlPr>
                      </m:sSubPr>
                      <m:e>
                        <m:r>
                          <a:rPr lang="en-PH" sz="2000" b="1">
                            <a:latin typeface="Cambria Math"/>
                          </a:rPr>
                          <m:t>𝐯</m:t>
                        </m:r>
                      </m:e>
                      <m:sub>
                        <m:r>
                          <a:rPr lang="en-PH" sz="2000" b="0" i="1" smtClean="0">
                            <a:latin typeface="Cambria Math"/>
                          </a:rPr>
                          <m:t>3</m:t>
                        </m:r>
                      </m:sub>
                    </m:sSub>
                    <m:r>
                      <a:rPr lang="en-PH" sz="2000" b="0" i="1" smtClean="0">
                        <a:latin typeface="Cambria Math"/>
                      </a:rPr>
                      <m:t>=</m:t>
                    </m:r>
                    <m:r>
                      <a:rPr lang="en-PH" sz="2000" b="1" i="0" smtClean="0">
                        <a:latin typeface="Cambria Math"/>
                      </a:rPr>
                      <m:t>𝐯</m:t>
                    </m:r>
                  </m:oMath>
                </a14:m>
                <a:endParaRPr lang="en-PH" sz="2000" b="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l="-741" t="-500" r="-741"/>
                </a:stretch>
              </a:blipFill>
            </p:spPr>
            <p:txBody>
              <a:bodyPr/>
              <a:lstStyle/>
              <a:p>
                <a:r>
                  <a:rPr lang="en-PH">
                    <a:noFill/>
                  </a:rPr>
                  <a:t> </a:t>
                </a:r>
              </a:p>
            </p:txBody>
          </p:sp>
        </mc:Fallback>
      </mc:AlternateContent>
    </p:spTree>
    <p:extLst>
      <p:ext uri="{BB962C8B-B14F-4D97-AF65-F5344CB8AC3E}">
        <p14:creationId xmlns:p14="http://schemas.microsoft.com/office/powerpoint/2010/main" val="11305995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47800"/>
                <a:ext cx="8458200" cy="5181600"/>
              </a:xfrm>
            </p:spPr>
            <p:txBody>
              <a:bodyPr>
                <a:normAutofit lnSpcReduction="10000"/>
              </a:bodyPr>
              <a:lstStyle/>
              <a:p>
                <a:pPr marL="0" indent="0">
                  <a:buNone/>
                </a:pPr>
                <a:r>
                  <a:rPr lang="en-PH" sz="1800" i="1" dirty="0"/>
                  <a:t>Solution:</a:t>
                </a:r>
              </a:p>
              <a:p>
                <a:pPr marL="0" indent="0">
                  <a:buNone/>
                </a:pPr>
                <a:r>
                  <a:rPr lang="en-PH" sz="1800" i="1" dirty="0"/>
                  <a:t>Show that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sSub>
                      <m:sSubPr>
                        <m:ctrlPr>
                          <a:rPr lang="en-PH" sz="1800" i="1">
                            <a:latin typeface="Cambria Math" panose="02040503050406030204" pitchFamily="18" charset="0"/>
                          </a:rPr>
                        </m:ctrlPr>
                      </m:sSubPr>
                      <m:e>
                        <m:r>
                          <a:rPr lang="en-PH" sz="1800" b="1" i="0">
                            <a:latin typeface="Cambria Math"/>
                          </a:rPr>
                          <m:t>𝐯</m:t>
                        </m:r>
                      </m:e>
                      <m:sub>
                        <m:r>
                          <a:rPr lang="en-PH" sz="1800" i="1">
                            <a:latin typeface="Cambria Math"/>
                          </a:rPr>
                          <m:t>1</m:t>
                        </m:r>
                      </m:sub>
                    </m:sSub>
                    <m:r>
                      <a:rPr lang="en-PH" sz="1800" i="1">
                        <a:latin typeface="Cambria Math"/>
                      </a:rPr>
                      <m:t>+</m:t>
                    </m:r>
                  </m:oMath>
                </a14:m>
                <a:r>
                  <a:rPr lang="en-PH" sz="1800" dirty="0"/>
                  <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sSub>
                      <m:sSubPr>
                        <m:ctrlPr>
                          <a:rPr lang="en-PH" sz="1800" i="1">
                            <a:latin typeface="Cambria Math" panose="02040503050406030204" pitchFamily="18" charset="0"/>
                          </a:rPr>
                        </m:ctrlPr>
                      </m:sSubPr>
                      <m:e>
                        <m:r>
                          <a:rPr lang="en-PH" sz="1800" b="1" i="0">
                            <a:latin typeface="Cambria Math"/>
                          </a:rPr>
                          <m:t>𝐯</m:t>
                        </m:r>
                      </m:e>
                      <m:sub>
                        <m:r>
                          <a:rPr lang="en-PH" sz="1800" i="1">
                            <a:latin typeface="Cambria Math"/>
                          </a:rPr>
                          <m:t>2</m:t>
                        </m:r>
                      </m:sub>
                    </m:sSub>
                    <m:r>
                      <a:rPr lang="en-PH" sz="1800" i="1">
                        <a:latin typeface="Cambria Math"/>
                      </a:rPr>
                      <m:t>+</m:t>
                    </m:r>
                  </m:oMath>
                </a14:m>
                <a:r>
                  <a:rPr lang="en-PH" sz="1800" dirty="0"/>
                  <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sSub>
                      <m:sSubPr>
                        <m:ctrlPr>
                          <a:rPr lang="en-PH" sz="1800" b="1" i="1">
                            <a:latin typeface="Cambria Math" panose="02040503050406030204" pitchFamily="18" charset="0"/>
                          </a:rPr>
                        </m:ctrlPr>
                      </m:sSubPr>
                      <m:e>
                        <m:r>
                          <a:rPr lang="en-PH" sz="1800" b="1" i="0">
                            <a:latin typeface="Cambria Math"/>
                          </a:rPr>
                          <m:t>𝐯</m:t>
                        </m:r>
                      </m:e>
                      <m:sub>
                        <m:r>
                          <a:rPr lang="en-PH" sz="1800" b="0" i="0">
                            <a:latin typeface="Cambria Math"/>
                          </a:rPr>
                          <m:t>3</m:t>
                        </m:r>
                      </m:sub>
                    </m:sSub>
                    <m:r>
                      <a:rPr lang="en-PH" sz="1800" i="1">
                        <a:latin typeface="Cambria Math"/>
                      </a:rPr>
                      <m:t>=</m:t>
                    </m:r>
                    <m:r>
                      <a:rPr lang="en-PH" sz="1800" b="1">
                        <a:latin typeface="Cambria Math"/>
                      </a:rPr>
                      <m:t>𝐯</m:t>
                    </m:r>
                  </m:oMath>
                </a14:m>
                <a:r>
                  <a:rPr lang="en-PH" sz="1800" i="1" dirty="0"/>
                  <a:t>,  has a solution, that is</a:t>
                </a:r>
              </a:p>
              <a:p>
                <a:pPr marL="0" indent="0" algn="ctr">
                  <a:buNone/>
                </a:pP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1</m:t>
                        </m:r>
                      </m:sub>
                    </m:sSub>
                    <m:r>
                      <a:rPr lang="en-PH" sz="1800" b="0" i="1" smtClean="0">
                        <a:latin typeface="Cambria Math"/>
                      </a:rPr>
                      <m:t> </m:t>
                    </m:r>
                    <m:d>
                      <m:dPr>
                        <m:begChr m:val="["/>
                        <m:endChr m:val="]"/>
                        <m:ctrlPr>
                          <a:rPr lang="en-PH" sz="1800" b="0" i="1" smtClean="0">
                            <a:latin typeface="Cambria Math" panose="02040503050406030204" pitchFamily="18" charset="0"/>
                          </a:rPr>
                        </m:ctrlPr>
                      </m:dPr>
                      <m:e>
                        <m:m>
                          <m:mPr>
                            <m:mcs>
                              <m:mc>
                                <m:mcPr>
                                  <m:count m:val="1"/>
                                  <m:mcJc m:val="center"/>
                                </m:mcPr>
                              </m:mc>
                            </m:mcs>
                            <m:ctrlPr>
                              <a:rPr lang="en-PH" sz="1800" b="0" i="1" smtClean="0">
                                <a:latin typeface="Cambria Math" panose="02040503050406030204" pitchFamily="18" charset="0"/>
                              </a:rPr>
                            </m:ctrlPr>
                          </m:mPr>
                          <m:mr>
                            <m:e>
                              <m:r>
                                <m:rPr>
                                  <m:brk m:alnAt="7"/>
                                </m:rPr>
                                <a:rPr lang="en-PH" sz="1800" b="0" i="1" smtClean="0">
                                  <a:latin typeface="Cambria Math"/>
                                </a:rPr>
                                <m:t>1</m:t>
                              </m:r>
                            </m:e>
                          </m:mr>
                          <m:mr>
                            <m:e>
                              <m:r>
                                <a:rPr lang="en-PH" sz="1800" b="0" i="1" smtClean="0">
                                  <a:latin typeface="Cambria Math"/>
                                </a:rPr>
                                <m:t>2</m:t>
                              </m:r>
                            </m:e>
                          </m:mr>
                          <m:mr>
                            <m:e>
                              <m:r>
                                <a:rPr lang="en-PH" sz="1800" b="0" i="1" smtClean="0">
                                  <a:latin typeface="Cambria Math"/>
                                </a:rPr>
                                <m:t>1</m:t>
                              </m:r>
                            </m:e>
                          </m:mr>
                        </m:m>
                      </m:e>
                    </m:d>
                  </m:oMath>
                </a14:m>
                <a:r>
                  <a:rPr lang="en-PH" sz="1800" i="1" dirty="0"/>
                  <a:t>  + </a:t>
                </a:r>
                <a14:m>
                  <m:oMath xmlns:m="http://schemas.openxmlformats.org/officeDocument/2006/math">
                    <m:sSub>
                      <m:sSubPr>
                        <m:ctrlPr>
                          <a:rPr lang="en-PH" sz="1800" i="1">
                            <a:latin typeface="Cambria Math" panose="02040503050406030204" pitchFamily="18" charset="0"/>
                          </a:rPr>
                        </m:ctrlPr>
                      </m:sSubPr>
                      <m:e>
                        <m:r>
                          <a:rPr lang="en-PH" sz="1800" b="0" i="1" smtClean="0">
                            <a:latin typeface="Cambria Math"/>
                          </a:rPr>
                          <m:t>𝑐</m:t>
                        </m:r>
                      </m:e>
                      <m:sub>
                        <m:r>
                          <a:rPr lang="en-PH" sz="1800" b="0" i="1" smtClean="0">
                            <a:latin typeface="Cambria Math"/>
                          </a:rPr>
                          <m:t>2</m:t>
                        </m:r>
                      </m:sub>
                    </m:sSub>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b="0" i="1" smtClean="0">
                                  <a:latin typeface="Cambria Math"/>
                                </a:rPr>
                                <m:t>0</m:t>
                              </m:r>
                            </m:e>
                          </m:mr>
                          <m:mr>
                            <m:e>
                              <m:r>
                                <a:rPr lang="en-PH" sz="1800" b="0" i="1" smtClean="0">
                                  <a:latin typeface="Cambria Math"/>
                                </a:rPr>
                                <m:t>2</m:t>
                              </m:r>
                            </m:e>
                          </m:mr>
                        </m:m>
                      </m:e>
                    </m:d>
                    <m:r>
                      <a:rPr lang="en-PH" sz="1800" b="0" i="1" smtClean="0">
                        <a:latin typeface="Cambria Math"/>
                      </a:rPr>
                      <m:t> </m:t>
                    </m:r>
                  </m:oMath>
                </a14:m>
                <a:r>
                  <a:rPr lang="en-PH" sz="1800" i="1" dirty="0"/>
                  <a:t>+ </a:t>
                </a:r>
                <a14:m>
                  <m:oMath xmlns:m="http://schemas.openxmlformats.org/officeDocument/2006/math">
                    <m:sSub>
                      <m:sSubPr>
                        <m:ctrlPr>
                          <a:rPr lang="en-PH" sz="1800" i="1">
                            <a:latin typeface="Cambria Math" panose="02040503050406030204" pitchFamily="18" charset="0"/>
                          </a:rPr>
                        </m:ctrlPr>
                      </m:sSubPr>
                      <m:e>
                        <m:r>
                          <a:rPr lang="en-PH" sz="1800" b="0" i="1" smtClean="0">
                            <a:latin typeface="Cambria Math"/>
                          </a:rPr>
                          <m:t>𝑐</m:t>
                        </m:r>
                      </m:e>
                      <m:sub>
                        <m:r>
                          <a:rPr lang="en-PH" sz="1800" b="0" i="1" smtClean="0">
                            <a:latin typeface="Cambria Math"/>
                          </a:rPr>
                          <m:t>3</m:t>
                        </m:r>
                      </m:sub>
                    </m:sSub>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b="0" i="1" smtClean="0">
                                  <a:latin typeface="Cambria Math"/>
                                </a:rPr>
                                <m:t>1</m:t>
                              </m:r>
                            </m:e>
                          </m:mr>
                          <m:mr>
                            <m:e>
                              <m:r>
                                <a:rPr lang="en-PH" sz="1800" b="0" i="1" smtClean="0">
                                  <a:latin typeface="Cambria Math"/>
                                </a:rPr>
                                <m:t>0</m:t>
                              </m:r>
                            </m:e>
                          </m:mr>
                        </m:m>
                      </m:e>
                    </m:d>
                    <m:r>
                      <a:rPr lang="en-PH" sz="1800" b="0" i="1" smtClean="0">
                        <a:latin typeface="Cambria Math"/>
                      </a:rPr>
                      <m:t>=</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𝑎</m:t>
                              </m:r>
                            </m:e>
                          </m:mr>
                          <m:mr>
                            <m:e>
                              <m:r>
                                <a:rPr lang="en-PH" sz="1800" i="1">
                                  <a:latin typeface="Cambria Math"/>
                                </a:rPr>
                                <m:t>𝑏</m:t>
                              </m:r>
                            </m:e>
                          </m:mr>
                          <m:mr>
                            <m:e>
                              <m:r>
                                <a:rPr lang="en-PH" sz="1800" i="1">
                                  <a:latin typeface="Cambria Math"/>
                                </a:rPr>
                                <m:t>𝑐</m:t>
                              </m:r>
                            </m:e>
                          </m:mr>
                        </m:m>
                      </m:e>
                    </m:d>
                    <m:r>
                      <a:rPr lang="en-US" sz="1800" b="0" i="1" smtClean="0">
                        <a:latin typeface="Cambria Math" panose="02040503050406030204" pitchFamily="18" charset="0"/>
                      </a:rPr>
                      <m:t> </m:t>
                    </m:r>
                  </m:oMath>
                </a14:m>
                <a:r>
                  <a:rPr lang="en-PH" sz="1800" i="1" dirty="0"/>
                  <a:t>  or  </a:t>
                </a:r>
                <a14:m>
                  <m:oMath xmlns:m="http://schemas.openxmlformats.org/officeDocument/2006/math">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e>
                          </m:mr>
                          <m:mr>
                            <m:e>
                              <m:r>
                                <a:rPr lang="en-PH" sz="1800" i="1">
                                  <a:latin typeface="Cambria Math"/>
                                </a:rPr>
                                <m:t>2</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e>
                          </m:mr>
                          <m:mr>
                            <m:e>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e>
                          </m:mr>
                        </m:m>
                      </m:e>
                    </m:d>
                  </m:oMath>
                </a14:m>
                <a:r>
                  <a:rPr lang="en-PH" sz="1800" i="1" dirty="0"/>
                  <a:t> + </a:t>
                </a:r>
                <a14:m>
                  <m:oMath xmlns:m="http://schemas.openxmlformats.org/officeDocument/2006/math">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e>
                          </m:mr>
                          <m:mr>
                            <m:e>
                              <m:r>
                                <a:rPr lang="en-PH" sz="1800" i="1">
                                  <a:latin typeface="Cambria Math"/>
                                </a:rPr>
                                <m:t>0</m:t>
                              </m:r>
                            </m:e>
                          </m:mr>
                          <m:mr>
                            <m:e>
                              <m:r>
                                <a:rPr lang="en-PH" sz="1800" i="1">
                                  <a:latin typeface="Cambria Math"/>
                                </a:rPr>
                                <m:t>2</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e>
                          </m:mr>
                        </m:m>
                      </m:e>
                    </m:d>
                  </m:oMath>
                </a14:m>
                <a:r>
                  <a:rPr lang="en-PH" sz="1800" i="1" dirty="0"/>
                  <a:t>+ </a:t>
                </a:r>
                <a14:m>
                  <m:oMath xmlns:m="http://schemas.openxmlformats.org/officeDocument/2006/math">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e>
                          </m:mr>
                          <m:mr>
                            <m:e>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e>
                          </m:mr>
                          <m:mr>
                            <m:e>
                              <m:r>
                                <a:rPr lang="en-PH" sz="1800" i="1">
                                  <a:latin typeface="Cambria Math"/>
                                </a:rPr>
                                <m:t>0</m:t>
                              </m:r>
                            </m:e>
                          </m:mr>
                        </m:m>
                      </m:e>
                    </m:d>
                  </m:oMath>
                </a14:m>
                <a:r>
                  <a:rPr lang="en-PH" sz="1800" i="1" dirty="0"/>
                  <a:t>= </a:t>
                </a:r>
                <a14:m>
                  <m:oMath xmlns:m="http://schemas.openxmlformats.org/officeDocument/2006/math">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𝑎</m:t>
                              </m:r>
                            </m:e>
                          </m:mr>
                          <m:mr>
                            <m:e>
                              <m:r>
                                <a:rPr lang="en-PH" sz="1800" i="1">
                                  <a:latin typeface="Cambria Math"/>
                                </a:rPr>
                                <m:t>𝑏</m:t>
                              </m:r>
                            </m:e>
                          </m:mr>
                          <m:mr>
                            <m:e>
                              <m:r>
                                <a:rPr lang="en-PH" sz="1800" i="1">
                                  <a:latin typeface="Cambria Math"/>
                                </a:rPr>
                                <m:t>𝑐</m:t>
                              </m:r>
                            </m:e>
                          </m:mr>
                        </m:m>
                      </m:e>
                    </m:d>
                  </m:oMath>
                </a14:m>
                <a:endParaRPr lang="en-PH" sz="1800" i="1" dirty="0"/>
              </a:p>
              <a:p>
                <a:pPr marL="0" indent="0" algn="ctr">
                  <a:buNone/>
                </a:pPr>
                <a:endParaRPr lang="en-PH" sz="1800" i="1" dirty="0"/>
              </a:p>
              <a:p>
                <a:pPr marL="0" indent="0">
                  <a:buNone/>
                </a:pPr>
                <a:r>
                  <a:rPr lang="en-PH" sz="1800" i="1" dirty="0"/>
                  <a:t>This leads to linear system:</a:t>
                </a:r>
              </a:p>
              <a:p>
                <a:pPr marL="0" indent="0" algn="ctr">
                  <a:buNone/>
                </a:pP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1</m:t>
                        </m:r>
                      </m:sub>
                    </m:sSub>
                    <m:r>
                      <a:rPr lang="en-PH" sz="1800" b="0" i="1" smtClean="0">
                        <a:latin typeface="Cambria Math"/>
                      </a:rPr>
                      <m:t>+</m:t>
                    </m:r>
                    <m:sSub>
                      <m:sSubPr>
                        <m:ctrlPr>
                          <a:rPr lang="en-PH" sz="1800" b="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2</m:t>
                        </m:r>
                      </m:sub>
                    </m:sSub>
                    <m:r>
                      <a:rPr lang="en-PH" sz="1800" b="0" i="1" smtClean="0">
                        <a:latin typeface="Cambria Math"/>
                      </a:rPr>
                      <m:t>+</m:t>
                    </m:r>
                    <m:sSub>
                      <m:sSubPr>
                        <m:ctrlPr>
                          <a:rPr lang="en-PH" sz="1800" b="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3</m:t>
                        </m:r>
                      </m:sub>
                    </m:sSub>
                    <m:r>
                      <a:rPr lang="en-PH" sz="1800" b="0" i="1" smtClean="0">
                        <a:latin typeface="Cambria Math"/>
                      </a:rPr>
                      <m:t>=</m:t>
                    </m:r>
                    <m:r>
                      <a:rPr lang="en-PH" sz="1800" b="0" i="1" smtClean="0">
                        <a:latin typeface="Cambria Math"/>
                      </a:rPr>
                      <m:t>𝑎</m:t>
                    </m:r>
                  </m:oMath>
                </a14:m>
                <a:r>
                  <a:rPr lang="en-PH" sz="1800" i="1" dirty="0"/>
                  <a:t> </a:t>
                </a:r>
              </a:p>
              <a:p>
                <a:pPr marL="0" indent="0" algn="ctr">
                  <a:buNone/>
                </a:pPr>
                <a14:m>
                  <m:oMath xmlns:m="http://schemas.openxmlformats.org/officeDocument/2006/math">
                    <m:sSub>
                      <m:sSubPr>
                        <m:ctrlPr>
                          <a:rPr lang="en-PH" sz="1800" i="1">
                            <a:latin typeface="Cambria Math" panose="02040503050406030204" pitchFamily="18" charset="0"/>
                          </a:rPr>
                        </m:ctrlPr>
                      </m:sSubPr>
                      <m:e>
                        <m:r>
                          <a:rPr lang="en-PH" sz="1800" b="0" i="1" smtClean="0">
                            <a:latin typeface="Cambria Math"/>
                          </a:rPr>
                          <m:t>2</m:t>
                        </m:r>
                        <m:r>
                          <a:rPr lang="en-PH" sz="1800" i="1">
                            <a:latin typeface="Cambria Math"/>
                          </a:rPr>
                          <m:t>𝑐</m:t>
                        </m:r>
                      </m:e>
                      <m:sub>
                        <m:r>
                          <a:rPr lang="en-PH" sz="1800" i="1">
                            <a:latin typeface="Cambria Math"/>
                          </a:rPr>
                          <m:t>1</m:t>
                        </m:r>
                      </m:sub>
                    </m:sSub>
                    <m:r>
                      <a:rPr lang="en-PH" sz="1800" i="1">
                        <a:latin typeface="Cambria Math"/>
                      </a:rPr>
                      <m:t>+</m:t>
                    </m:r>
                    <m:sSub>
                      <m:sSubPr>
                        <m:ctrlPr>
                          <a:rPr lang="en-PH" sz="1800" i="1">
                            <a:latin typeface="Cambria Math" panose="02040503050406030204" pitchFamily="18" charset="0"/>
                          </a:rPr>
                        </m:ctrlPr>
                      </m:sSubPr>
                      <m:e>
                        <m:r>
                          <a:rPr lang="en-PH" sz="1800" b="0" i="1" smtClean="0">
                            <a:latin typeface="Cambria Math"/>
                          </a:rPr>
                          <m:t>0</m:t>
                        </m:r>
                        <m:r>
                          <a:rPr lang="en-PH" sz="1800" i="1">
                            <a:latin typeface="Cambria Math"/>
                          </a:rPr>
                          <m:t>𝑐</m:t>
                        </m:r>
                      </m:e>
                      <m:sub>
                        <m:r>
                          <a:rPr lang="en-PH" sz="1800" i="1">
                            <a:latin typeface="Cambria Math"/>
                          </a:rPr>
                          <m:t>2</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b="0" i="1" smtClean="0">
                        <a:latin typeface="Cambria Math"/>
                      </a:rPr>
                      <m:t>𝑏</m:t>
                    </m:r>
                  </m:oMath>
                </a14:m>
                <a:r>
                  <a:rPr lang="en-PH" sz="1800" i="1" dirty="0"/>
                  <a:t> </a:t>
                </a:r>
              </a:p>
              <a:p>
                <a:pPr marL="0" indent="0" algn="ctr">
                  <a:buNone/>
                </a:pPr>
                <a14:m>
                  <m:oMathPara xmlns:m="http://schemas.openxmlformats.org/officeDocument/2006/math">
                    <m:oMathParaPr>
                      <m:jc m:val="centerGroup"/>
                    </m:oMathParaPr>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a:rPr lang="en-PH" sz="1800" i="1">
                          <a:latin typeface="Cambria Math"/>
                        </a:rPr>
                        <m:t>+</m:t>
                      </m:r>
                      <m:sSub>
                        <m:sSubPr>
                          <m:ctrlPr>
                            <a:rPr lang="en-PH" sz="1800" i="1">
                              <a:latin typeface="Cambria Math" panose="02040503050406030204" pitchFamily="18" charset="0"/>
                            </a:rPr>
                          </m:ctrlPr>
                        </m:sSubPr>
                        <m:e>
                          <m:r>
                            <a:rPr lang="en-PH" sz="1800" b="0" i="1" smtClean="0">
                              <a:latin typeface="Cambria Math"/>
                            </a:rPr>
                            <m:t>2</m:t>
                          </m:r>
                          <m:r>
                            <a:rPr lang="en-PH" sz="1800" i="1">
                              <a:latin typeface="Cambria Math"/>
                            </a:rPr>
                            <m:t>𝑐</m:t>
                          </m:r>
                        </m:e>
                        <m:sub>
                          <m:r>
                            <a:rPr lang="en-PH" sz="1800" i="1">
                              <a:latin typeface="Cambria Math"/>
                            </a:rPr>
                            <m:t>2</m:t>
                          </m:r>
                        </m:sub>
                      </m:sSub>
                      <m:r>
                        <a:rPr lang="en-PH" sz="1800" i="1">
                          <a:latin typeface="Cambria Math"/>
                        </a:rPr>
                        <m:t>+</m:t>
                      </m:r>
                      <m:r>
                        <a:rPr lang="en-PH" sz="1800" b="0" i="1" smtClean="0">
                          <a:latin typeface="Cambria Math"/>
                        </a:rPr>
                        <m:t>0</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b="0" i="1" smtClean="0">
                          <a:latin typeface="Cambria Math"/>
                        </a:rPr>
                        <m:t>𝑐</m:t>
                      </m:r>
                    </m:oMath>
                  </m:oMathPara>
                </a14:m>
                <a:endParaRPr lang="en-PH" sz="1800" i="1" dirty="0"/>
              </a:p>
              <a:p>
                <a:pPr marL="0" indent="0">
                  <a:buNone/>
                </a:pPr>
                <a:r>
                  <a:rPr lang="en-PH" sz="1800" i="1" dirty="0"/>
                  <a:t>Then solve for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1</m:t>
                        </m:r>
                      </m:sub>
                    </m:sSub>
                    <m:r>
                      <a:rPr lang="en-PH" sz="1800" b="0" i="1" smtClean="0">
                        <a:latin typeface="Cambria Math"/>
                      </a:rPr>
                      <m:t>, </m:t>
                    </m:r>
                    <m:sSub>
                      <m:sSubPr>
                        <m:ctrlPr>
                          <a:rPr lang="en-PH" sz="1800" b="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2</m:t>
                        </m:r>
                      </m:sub>
                    </m:sSub>
                    <m:r>
                      <a:rPr lang="en-PH" sz="1800" b="0" i="1" smtClean="0">
                        <a:latin typeface="Cambria Math"/>
                      </a:rPr>
                      <m:t>, </m:t>
                    </m:r>
                    <m:r>
                      <a:rPr lang="en-PH" sz="1800" b="0" i="1" smtClean="0">
                        <a:latin typeface="Cambria Math"/>
                      </a:rPr>
                      <m:t>𝑎𝑛𝑑</m:t>
                    </m:r>
                    <m:r>
                      <a:rPr lang="en-PH" sz="1800" b="0" i="1" smtClean="0">
                        <a:latin typeface="Cambria Math"/>
                      </a:rPr>
                      <m:t> </m:t>
                    </m:r>
                    <m:sSub>
                      <m:sSubPr>
                        <m:ctrlPr>
                          <a:rPr lang="en-PH" sz="1800" b="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3</m:t>
                        </m:r>
                      </m:sub>
                    </m:sSub>
                    <m:r>
                      <a:rPr lang="en-PH" sz="1800" b="0" i="1" smtClean="0">
                        <a:latin typeface="Cambria Math"/>
                      </a:rPr>
                      <m:t> </m:t>
                    </m:r>
                  </m:oMath>
                </a14:m>
                <a:endParaRPr lang="en-PH" sz="1800" i="1" dirty="0"/>
              </a:p>
              <a:p>
                <a:pPr marL="0" indent="0">
                  <a:buNone/>
                </a:pPr>
                <a14:m>
                  <m:oMath xmlns:m="http://schemas.openxmlformats.org/officeDocument/2006/math">
                    <m:d>
                      <m:dPr>
                        <m:begChr m:val="["/>
                        <m:endChr m:val="]"/>
                        <m:ctrlPr>
                          <a:rPr lang="en-PH" sz="1800" i="1" smtClean="0">
                            <a:latin typeface="Cambria Math" panose="02040503050406030204" pitchFamily="18" charset="0"/>
                          </a:rPr>
                        </m:ctrlPr>
                      </m:dPr>
                      <m:e>
                        <m:m>
                          <m:mPr>
                            <m:mcs>
                              <m:mc>
                                <m:mcPr>
                                  <m:count m:val="3"/>
                                  <m:mcJc m:val="center"/>
                                </m:mcPr>
                              </m:mc>
                            </m:mcs>
                            <m:ctrlPr>
                              <a:rPr lang="en-PH" sz="1800" i="1" smtClean="0">
                                <a:latin typeface="Cambria Math" panose="02040503050406030204" pitchFamily="18" charset="0"/>
                              </a:rPr>
                            </m:ctrlPr>
                          </m:mPr>
                          <m:mr>
                            <m:e>
                              <m:r>
                                <m:rPr>
                                  <m:brk m:alnAt="7"/>
                                </m:rPr>
                                <a:rPr lang="en-PH" sz="1800" b="0" i="1" smtClean="0">
                                  <a:latin typeface="Cambria Math"/>
                                </a:rPr>
                                <m:t>1</m:t>
                              </m:r>
                            </m:e>
                            <m:e>
                              <m:r>
                                <a:rPr lang="en-PH" sz="1800" b="0" i="1" smtClean="0">
                                  <a:latin typeface="Cambria Math"/>
                                </a:rPr>
                                <m:t>1</m:t>
                              </m:r>
                            </m:e>
                            <m:e>
                              <m:r>
                                <a:rPr lang="en-PH" sz="1800" b="0" i="1" smtClean="0">
                                  <a:latin typeface="Cambria Math"/>
                                </a:rPr>
                                <m:t>1</m:t>
                              </m:r>
                            </m:e>
                          </m:mr>
                          <m:mr>
                            <m:e>
                              <m:r>
                                <a:rPr lang="en-PH" sz="1800" b="0" i="1" smtClean="0">
                                  <a:latin typeface="Cambria Math"/>
                                </a:rPr>
                                <m:t>2</m:t>
                              </m:r>
                            </m:e>
                            <m:e>
                              <m:r>
                                <a:rPr lang="en-PH" sz="1800" b="0" i="1" smtClean="0">
                                  <a:latin typeface="Cambria Math"/>
                                </a:rPr>
                                <m:t>0</m:t>
                              </m:r>
                            </m:e>
                            <m:e>
                              <m:r>
                                <a:rPr lang="en-PH" sz="1800" b="0" i="1" smtClean="0">
                                  <a:latin typeface="Cambria Math"/>
                                </a:rPr>
                                <m:t>1</m:t>
                              </m:r>
                            </m:e>
                          </m:mr>
                          <m:mr>
                            <m:e>
                              <m:r>
                                <a:rPr lang="en-PH" sz="1800" b="0" i="1" smtClean="0">
                                  <a:latin typeface="Cambria Math"/>
                                </a:rPr>
                                <m:t>1</m:t>
                              </m:r>
                            </m:e>
                            <m:e>
                              <m:r>
                                <a:rPr lang="en-PH" sz="1800" b="0" i="1" smtClean="0">
                                  <a:latin typeface="Cambria Math"/>
                                </a:rPr>
                                <m:t>2</m:t>
                              </m:r>
                            </m:e>
                            <m:e>
                              <m:r>
                                <a:rPr lang="en-PH" sz="1800" b="0" i="1" smtClean="0">
                                  <a:latin typeface="Cambria Math"/>
                                </a:rPr>
                                <m:t>0</m:t>
                              </m:r>
                            </m:e>
                          </m:mr>
                        </m:m>
                        <m:r>
                          <a:rPr lang="en-PH" sz="1800" b="0" i="1" smtClean="0">
                            <a:latin typeface="Cambria Math"/>
                          </a:rPr>
                          <m:t>  </m:t>
                        </m:r>
                        <m:m>
                          <m:mPr>
                            <m:mcs>
                              <m:mc>
                                <m:mcPr>
                                  <m:count m:val="2"/>
                                  <m:mcJc m:val="center"/>
                                </m:mcPr>
                              </m:mc>
                            </m:mcs>
                            <m:ctrlPr>
                              <a:rPr lang="en-PH" sz="1800" b="0" i="1" smtClean="0">
                                <a:latin typeface="Cambria Math" panose="02040503050406030204" pitchFamily="18" charset="0"/>
                              </a:rPr>
                            </m:ctrlPr>
                          </m:mPr>
                          <m:mr>
                            <m:e>
                              <m:r>
                                <m:rPr>
                                  <m:brk m:alnAt="7"/>
                                </m:rPr>
                                <a:rPr lang="en-PH" sz="1800" b="0" i="1" smtClean="0">
                                  <a:latin typeface="Cambria Math"/>
                                </a:rPr>
                                <m:t>:</m:t>
                              </m:r>
                            </m:e>
                            <m:e>
                              <m:r>
                                <a:rPr lang="en-PH" sz="1800" b="0" i="1" smtClean="0">
                                  <a:latin typeface="Cambria Math"/>
                                </a:rPr>
                                <m:t>𝑎</m:t>
                              </m:r>
                            </m:e>
                          </m:mr>
                          <m:mr>
                            <m:e>
                              <m:r>
                                <a:rPr lang="en-PH" sz="1800" b="0" i="1" smtClean="0">
                                  <a:latin typeface="Cambria Math"/>
                                </a:rPr>
                                <m:t>:</m:t>
                              </m:r>
                            </m:e>
                            <m:e>
                              <m:r>
                                <a:rPr lang="en-PH" sz="1800" b="0" i="1" smtClean="0">
                                  <a:latin typeface="Cambria Math"/>
                                </a:rPr>
                                <m:t>𝑏</m:t>
                              </m:r>
                            </m:e>
                          </m:mr>
                          <m:mr>
                            <m:e>
                              <m:r>
                                <a:rPr lang="en-PH" sz="1800" b="0" i="1" smtClean="0">
                                  <a:latin typeface="Cambria Math"/>
                                </a:rPr>
                                <m:t>:</m:t>
                              </m:r>
                            </m:e>
                            <m:e>
                              <m:r>
                                <a:rPr lang="en-PH" sz="1800" b="0" i="1" smtClean="0">
                                  <a:latin typeface="Cambria Math"/>
                                </a:rPr>
                                <m:t>𝑐</m:t>
                              </m:r>
                            </m:e>
                          </m:mr>
                        </m:m>
                      </m:e>
                    </m:d>
                    <m:r>
                      <a:rPr lang="en-PH" sz="1800" b="0" i="1" smtClean="0">
                        <a:latin typeface="Cambria Math"/>
                      </a:rPr>
                      <m:t>  </m:t>
                    </m:r>
                    <m:r>
                      <a:rPr lang="en-PH" sz="1800" b="0" i="1" smtClean="0">
                        <a:latin typeface="Cambria Math"/>
                        <a:ea typeface="Cambria Math"/>
                      </a:rPr>
                      <m:t>≈</m:t>
                    </m:r>
                    <m:d>
                      <m:dPr>
                        <m:begChr m:val="["/>
                        <m:endChr m:val="]"/>
                        <m:ctrlPr>
                          <a:rPr lang="en-PH" sz="1800" i="1">
                            <a:latin typeface="Cambria Math" panose="02040503050406030204" pitchFamily="18" charset="0"/>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1</m:t>
                              </m:r>
                            </m:e>
                            <m:e>
                              <m:r>
                                <a:rPr lang="en-PH" sz="1800" i="1">
                                  <a:latin typeface="Cambria Math"/>
                                </a:rPr>
                                <m:t>1</m:t>
                              </m:r>
                            </m:e>
                          </m:mr>
                          <m:mr>
                            <m:e>
                              <m:r>
                                <a:rPr lang="en-PH" sz="1800" b="0" i="1" smtClean="0">
                                  <a:latin typeface="Cambria Math"/>
                                </a:rPr>
                                <m:t>0</m:t>
                              </m:r>
                            </m:e>
                            <m:e>
                              <m:r>
                                <a:rPr lang="en-PH" sz="1800" b="0" i="1" smtClean="0">
                                  <a:latin typeface="Cambria Math"/>
                                </a:rPr>
                                <m:t>−2</m:t>
                              </m:r>
                            </m:e>
                            <m:e>
                              <m:r>
                                <a:rPr lang="en-PH" sz="1800" b="0" i="1" smtClean="0">
                                  <a:latin typeface="Cambria Math"/>
                                </a:rPr>
                                <m:t>−</m:t>
                              </m:r>
                              <m:r>
                                <a:rPr lang="en-PH" sz="1800" i="1">
                                  <a:latin typeface="Cambria Math"/>
                                </a:rPr>
                                <m:t>1</m:t>
                              </m:r>
                            </m:e>
                          </m:mr>
                          <m:mr>
                            <m:e>
                              <m:r>
                                <a:rPr lang="en-PH" sz="1800" b="0" i="1" smtClean="0">
                                  <a:latin typeface="Cambria Math"/>
                                </a:rPr>
                                <m:t>0</m:t>
                              </m:r>
                            </m:e>
                            <m:e>
                              <m:r>
                                <a:rPr lang="en-PH" sz="1800" b="0" i="1" smtClean="0">
                                  <a:latin typeface="Cambria Math"/>
                                </a:rPr>
                                <m:t>1</m:t>
                              </m:r>
                            </m:e>
                            <m:e>
                              <m:r>
                                <a:rPr lang="en-PH" sz="1800" b="0" i="1" smtClean="0">
                                  <a:latin typeface="Cambria Math"/>
                                </a:rPr>
                                <m:t>−1</m:t>
                              </m:r>
                            </m:e>
                          </m:mr>
                        </m:m>
                        <m:r>
                          <a:rPr lang="en-PH" sz="1800" i="1">
                            <a:latin typeface="Cambria Math"/>
                          </a:rPr>
                          <m:t>  </m:t>
                        </m:r>
                        <m:m>
                          <m:mPr>
                            <m:mcs>
                              <m:mc>
                                <m:mcPr>
                                  <m:count m:val="2"/>
                                  <m:mcJc m:val="center"/>
                                </m:mcPr>
                              </m:mc>
                            </m:mcs>
                            <m:ctrlPr>
                              <a:rPr lang="en-PH" sz="1800" i="1">
                                <a:latin typeface="Cambria Math" panose="02040503050406030204" pitchFamily="18" charset="0"/>
                              </a:rPr>
                            </m:ctrlPr>
                          </m:mPr>
                          <m:mr>
                            <m:e>
                              <m:r>
                                <m:rPr>
                                  <m:brk m:alnAt="7"/>
                                </m:rPr>
                                <a:rPr lang="en-PH" sz="1800" i="1">
                                  <a:latin typeface="Cambria Math"/>
                                </a:rPr>
                                <m:t>:</m:t>
                              </m:r>
                            </m:e>
                            <m:e>
                              <m:r>
                                <a:rPr lang="en-PH" sz="1800" i="1">
                                  <a:latin typeface="Cambria Math"/>
                                </a:rPr>
                                <m:t>𝑎</m:t>
                              </m:r>
                            </m:e>
                          </m:mr>
                          <m:mr>
                            <m:e>
                              <m:r>
                                <a:rPr lang="en-PH" sz="1800" i="1">
                                  <a:latin typeface="Cambria Math"/>
                                </a:rPr>
                                <m:t>:</m:t>
                              </m:r>
                            </m:e>
                            <m:e>
                              <m:r>
                                <a:rPr lang="en-PH" sz="1800" b="0" i="1" smtClean="0">
                                  <a:latin typeface="Cambria Math"/>
                                </a:rPr>
                                <m:t>−2</m:t>
                              </m:r>
                              <m:r>
                                <a:rPr lang="en-PH" sz="1800" b="0" i="1" smtClean="0">
                                  <a:latin typeface="Cambria Math"/>
                                </a:rPr>
                                <m:t>𝑎</m:t>
                              </m:r>
                              <m:r>
                                <a:rPr lang="en-PH" sz="1800" b="0" i="1" smtClean="0">
                                  <a:latin typeface="Cambria Math"/>
                                </a:rPr>
                                <m:t>+</m:t>
                              </m:r>
                              <m:r>
                                <a:rPr lang="en-PH" sz="1800" i="1">
                                  <a:latin typeface="Cambria Math"/>
                                </a:rPr>
                                <m:t>𝑏</m:t>
                              </m:r>
                            </m:e>
                          </m:mr>
                          <m:mr>
                            <m:e>
                              <m:r>
                                <a:rPr lang="en-PH" sz="1800" i="1">
                                  <a:latin typeface="Cambria Math"/>
                                </a:rPr>
                                <m:t>:</m:t>
                              </m:r>
                            </m:e>
                            <m:e>
                              <m:r>
                                <a:rPr lang="en-PH" sz="1800" b="0" i="1" smtClean="0">
                                  <a:latin typeface="Cambria Math"/>
                                </a:rPr>
                                <m:t>−</m:t>
                              </m:r>
                              <m:r>
                                <a:rPr lang="en-PH" sz="1800" b="0" i="1" smtClean="0">
                                  <a:latin typeface="Cambria Math"/>
                                </a:rPr>
                                <m:t>𝑎</m:t>
                              </m:r>
                              <m:r>
                                <a:rPr lang="en-PH" sz="1800" b="0" i="1" smtClean="0">
                                  <a:latin typeface="Cambria Math"/>
                                </a:rPr>
                                <m:t>+</m:t>
                              </m:r>
                              <m:r>
                                <a:rPr lang="en-PH" sz="1800" i="1">
                                  <a:latin typeface="Cambria Math"/>
                                </a:rPr>
                                <m:t>𝑐</m:t>
                              </m:r>
                            </m:e>
                          </m:mr>
                        </m:m>
                      </m:e>
                    </m:d>
                    <m:r>
                      <a:rPr lang="en-PH" sz="1800" b="0" i="1" smtClean="0">
                        <a:latin typeface="Cambria Math"/>
                      </a:rPr>
                      <m:t>  </m:t>
                    </m:r>
                    <m:r>
                      <a:rPr lang="en-PH" sz="1800" b="0" i="1" smtClean="0">
                        <a:latin typeface="Cambria Math"/>
                        <a:ea typeface="Cambria Math"/>
                      </a:rPr>
                      <m:t>≈</m:t>
                    </m:r>
                  </m:oMath>
                </a14:m>
                <a:r>
                  <a:rPr lang="en-PH" sz="1800" i="1" dirty="0"/>
                  <a:t> </a:t>
                </a:r>
                <a14:m>
                  <m:oMath xmlns:m="http://schemas.openxmlformats.org/officeDocument/2006/math">
                    <m:d>
                      <m:dPr>
                        <m:begChr m:val="["/>
                        <m:endChr m:val="]"/>
                        <m:ctrlPr>
                          <a:rPr lang="en-PH" sz="1800" i="1">
                            <a:latin typeface="Cambria Math" panose="02040503050406030204" pitchFamily="18" charset="0"/>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1</m:t>
                              </m:r>
                            </m:e>
                            <m:e>
                              <m:r>
                                <a:rPr lang="en-PH" sz="1800" i="1">
                                  <a:latin typeface="Cambria Math"/>
                                </a:rPr>
                                <m:t>1</m:t>
                              </m:r>
                            </m:e>
                          </m:mr>
                          <m:mr>
                            <m:e>
                              <m:r>
                                <a:rPr lang="en-PH" sz="1800" i="1">
                                  <a:latin typeface="Cambria Math"/>
                                </a:rPr>
                                <m:t>0</m:t>
                              </m:r>
                            </m:e>
                            <m:e>
                              <m:r>
                                <a:rPr lang="en-PH" sz="1800" b="0" i="1" smtClean="0">
                                  <a:latin typeface="Cambria Math"/>
                                </a:rPr>
                                <m:t>1</m:t>
                              </m:r>
                            </m:e>
                            <m:e>
                              <m:r>
                                <a:rPr lang="en-PH" sz="1800" i="1">
                                  <a:latin typeface="Cambria Math"/>
                                </a:rPr>
                                <m:t>−1</m:t>
                              </m:r>
                            </m:e>
                          </m:mr>
                          <m:mr>
                            <m:e>
                              <m:r>
                                <a:rPr lang="en-PH" sz="1800" i="1">
                                  <a:latin typeface="Cambria Math"/>
                                </a:rPr>
                                <m:t>0</m:t>
                              </m:r>
                            </m:e>
                            <m:e>
                              <m:r>
                                <a:rPr lang="en-PH" sz="1800" b="0" i="1" smtClean="0">
                                  <a:latin typeface="Cambria Math"/>
                                </a:rPr>
                                <m:t>−2</m:t>
                              </m:r>
                            </m:e>
                            <m:e>
                              <m:r>
                                <a:rPr lang="en-PH" sz="1800" i="1">
                                  <a:latin typeface="Cambria Math"/>
                                </a:rPr>
                                <m:t>−1</m:t>
                              </m:r>
                            </m:e>
                          </m:mr>
                        </m:m>
                        <m:r>
                          <a:rPr lang="en-PH" sz="1800" i="1">
                            <a:latin typeface="Cambria Math"/>
                          </a:rPr>
                          <m:t>  </m:t>
                        </m:r>
                        <m:m>
                          <m:mPr>
                            <m:mcs>
                              <m:mc>
                                <m:mcPr>
                                  <m:count m:val="2"/>
                                  <m:mcJc m:val="center"/>
                                </m:mcPr>
                              </m:mc>
                            </m:mcs>
                            <m:ctrlPr>
                              <a:rPr lang="en-PH" sz="1800" i="1">
                                <a:latin typeface="Cambria Math" panose="02040503050406030204" pitchFamily="18" charset="0"/>
                              </a:rPr>
                            </m:ctrlPr>
                          </m:mPr>
                          <m:mr>
                            <m:e>
                              <m:r>
                                <m:rPr>
                                  <m:brk m:alnAt="7"/>
                                </m:rPr>
                                <a:rPr lang="en-PH" sz="1800" i="1">
                                  <a:latin typeface="Cambria Math"/>
                                </a:rPr>
                                <m:t>:</m:t>
                              </m:r>
                            </m:e>
                            <m:e>
                              <m:r>
                                <a:rPr lang="en-PH" sz="1800" i="1">
                                  <a:latin typeface="Cambria Math"/>
                                </a:rPr>
                                <m:t>𝑎</m:t>
                              </m:r>
                            </m:e>
                          </m:mr>
                          <m:mr>
                            <m:e>
                              <m:r>
                                <a:rPr lang="en-PH" sz="1800" i="1">
                                  <a:latin typeface="Cambria Math"/>
                                </a:rPr>
                                <m:t>:</m:t>
                              </m:r>
                            </m:e>
                            <m:e>
                              <m:r>
                                <a:rPr lang="en-PH" sz="1800" i="1">
                                  <a:latin typeface="Cambria Math"/>
                                </a:rPr>
                                <m:t>−</m:t>
                              </m:r>
                              <m:r>
                                <a:rPr lang="en-PH" sz="1800" i="1">
                                  <a:latin typeface="Cambria Math"/>
                                </a:rPr>
                                <m:t>𝑎</m:t>
                              </m:r>
                              <m:r>
                                <a:rPr lang="en-PH" sz="1800" i="1">
                                  <a:latin typeface="Cambria Math"/>
                                </a:rPr>
                                <m:t>+</m:t>
                              </m:r>
                              <m:r>
                                <a:rPr lang="en-PH" sz="1800" b="0" i="1" smtClean="0">
                                  <a:latin typeface="Cambria Math"/>
                                </a:rPr>
                                <m:t>𝑐</m:t>
                              </m:r>
                            </m:e>
                          </m:mr>
                          <m:mr>
                            <m:e>
                              <m:r>
                                <a:rPr lang="en-PH" sz="1800" i="1">
                                  <a:latin typeface="Cambria Math"/>
                                </a:rPr>
                                <m:t>:</m:t>
                              </m:r>
                            </m:e>
                            <m:e>
                              <m:r>
                                <a:rPr lang="en-PH" sz="1800" i="1">
                                  <a:latin typeface="Cambria Math"/>
                                </a:rPr>
                                <m:t>−</m:t>
                              </m:r>
                              <m:r>
                                <a:rPr lang="en-PH" sz="1800" b="0" i="1" smtClean="0">
                                  <a:latin typeface="Cambria Math"/>
                                </a:rPr>
                                <m:t>2</m:t>
                              </m:r>
                              <m:r>
                                <a:rPr lang="en-PH" sz="1800" i="1">
                                  <a:latin typeface="Cambria Math"/>
                                </a:rPr>
                                <m:t>𝑎</m:t>
                              </m:r>
                              <m:r>
                                <a:rPr lang="en-PH" sz="1800" i="1">
                                  <a:latin typeface="Cambria Math"/>
                                </a:rPr>
                                <m:t>+</m:t>
                              </m:r>
                              <m:r>
                                <a:rPr lang="en-PH" sz="1800" b="0" i="1" smtClean="0">
                                  <a:latin typeface="Cambria Math"/>
                                </a:rPr>
                                <m:t>𝑏</m:t>
                              </m:r>
                            </m:e>
                          </m:mr>
                        </m:m>
                      </m:e>
                    </m:d>
                    <m:r>
                      <a:rPr lang="en-PH" sz="1800" i="1">
                        <a:latin typeface="Cambria Math"/>
                      </a:rPr>
                      <m:t>  </m:t>
                    </m:r>
                  </m:oMath>
                </a14:m>
                <a:endParaRPr lang="en-PH" sz="1800" i="1" dirty="0"/>
              </a:p>
              <a:p>
                <a:pPr marL="0" indent="0">
                  <a:buNone/>
                </a:pPr>
                <a:r>
                  <a:rPr lang="en-PH" sz="1800" i="1" dirty="0"/>
                  <a:t>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2</m:t>
                        </m:r>
                      </m:sub>
                    </m:sSub>
                    <m:r>
                      <a:rPr lang="en-PH" sz="1800" b="0" i="1" smtClean="0">
                        <a:latin typeface="Cambria Math"/>
                      </a:rPr>
                      <m:t>=−2</m:t>
                    </m:r>
                    <m:sSub>
                      <m:sSubPr>
                        <m:ctrlPr>
                          <a:rPr lang="en-PH" sz="1800" b="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1</m:t>
                        </m:r>
                      </m:sub>
                    </m:sSub>
                    <m:r>
                      <a:rPr lang="en-PH" sz="1800" b="0" i="1" smtClean="0">
                        <a:latin typeface="Cambria Math"/>
                      </a:rPr>
                      <m:t>+</m:t>
                    </m:r>
                    <m:sSub>
                      <m:sSubPr>
                        <m:ctrlPr>
                          <a:rPr lang="en-PH" sz="1800" b="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2</m:t>
                        </m:r>
                      </m:sub>
                    </m:sSub>
                  </m:oMath>
                </a14:m>
                <a:r>
                  <a:rPr lang="en-PH" sz="1800" b="0" i="1" dirty="0"/>
                  <a:t>              </a:t>
                </a:r>
                <a14:m>
                  <m:oMath xmlns:m="http://schemas.openxmlformats.org/officeDocument/2006/math">
                    <m:sSub>
                      <m:sSubPr>
                        <m:ctrlPr>
                          <a:rPr lang="en-PH" sz="1800" b="0" i="1" dirty="0" smtClean="0">
                            <a:latin typeface="Cambria Math" panose="02040503050406030204" pitchFamily="18" charset="0"/>
                          </a:rPr>
                        </m:ctrlPr>
                      </m:sSubPr>
                      <m:e>
                        <m:r>
                          <a:rPr lang="en-PH" sz="1800" b="0" i="1" dirty="0" smtClean="0">
                            <a:latin typeface="Cambria Math"/>
                          </a:rPr>
                          <m:t>𝑅</m:t>
                        </m:r>
                      </m:e>
                      <m:sub>
                        <m:r>
                          <a:rPr lang="en-PH" sz="1800" b="0" i="1" dirty="0" smtClean="0">
                            <a:latin typeface="Cambria Math"/>
                          </a:rPr>
                          <m:t>2</m:t>
                        </m:r>
                      </m:sub>
                    </m:sSub>
                    <m:r>
                      <a:rPr lang="en-PH" sz="1800" b="0" i="1" dirty="0" smtClean="0">
                        <a:latin typeface="Cambria Math"/>
                      </a:rPr>
                      <m:t> </m:t>
                    </m:r>
                    <m:r>
                      <a:rPr lang="en-PH" sz="1800" b="0" i="1" dirty="0" smtClean="0">
                        <a:latin typeface="Cambria Math"/>
                        <a:ea typeface="Cambria Math"/>
                      </a:rPr>
                      <m:t>↔ </m:t>
                    </m:r>
                    <m:sSub>
                      <m:sSubPr>
                        <m:ctrlPr>
                          <a:rPr lang="en-PH" sz="1800" b="0" i="1" dirty="0" smtClean="0">
                            <a:latin typeface="Cambria Math" panose="02040503050406030204" pitchFamily="18" charset="0"/>
                            <a:ea typeface="Cambria Math"/>
                          </a:rPr>
                        </m:ctrlPr>
                      </m:sSubPr>
                      <m:e>
                        <m:r>
                          <a:rPr lang="en-PH" sz="1800" b="0" i="1" dirty="0" smtClean="0">
                            <a:latin typeface="Cambria Math"/>
                            <a:ea typeface="Cambria Math"/>
                          </a:rPr>
                          <m:t>𝑅</m:t>
                        </m:r>
                      </m:e>
                      <m:sub>
                        <m:r>
                          <a:rPr lang="en-PH" sz="1800" b="0" i="1" dirty="0" smtClean="0">
                            <a:latin typeface="Cambria Math"/>
                            <a:ea typeface="Cambria Math"/>
                          </a:rPr>
                          <m:t>3</m:t>
                        </m:r>
                      </m:sub>
                    </m:sSub>
                  </m:oMath>
                </a14:m>
                <a:r>
                  <a:rPr lang="en-PH" sz="1800" b="0" i="1" dirty="0"/>
                  <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𝑅</m:t>
                        </m:r>
                      </m:e>
                      <m:sub>
                        <m:r>
                          <a:rPr lang="en-PH" sz="1800" i="1">
                            <a:latin typeface="Cambria Math"/>
                          </a:rPr>
                          <m:t>3</m:t>
                        </m:r>
                      </m:sub>
                    </m:sSub>
                    <m:r>
                      <a:rPr lang="en-PH" sz="1800" i="1">
                        <a:latin typeface="Cambria Math"/>
                      </a:rPr>
                      <m:t>=</m:t>
                    </m:r>
                    <m:r>
                      <a:rPr lang="en-PH" sz="1800" b="0" i="1" smtClean="0">
                        <a:latin typeface="Cambria Math"/>
                      </a:rPr>
                      <m:t>2</m:t>
                    </m:r>
                    <m:sSub>
                      <m:sSubPr>
                        <m:ctrlPr>
                          <a:rPr lang="en-PH" sz="1800" i="1">
                            <a:latin typeface="Cambria Math" panose="02040503050406030204" pitchFamily="18" charset="0"/>
                          </a:rPr>
                        </m:ctrlPr>
                      </m:sSubPr>
                      <m:e>
                        <m:r>
                          <a:rPr lang="en-PH" sz="1800" i="1">
                            <a:latin typeface="Cambria Math"/>
                          </a:rPr>
                          <m:t>𝑅</m:t>
                        </m:r>
                      </m:e>
                      <m:sub>
                        <m:r>
                          <a:rPr lang="en-PH" sz="1800" b="0" i="1" smtClean="0">
                            <a:latin typeface="Cambria Math"/>
                          </a:rPr>
                          <m:t>2</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𝑅</m:t>
                        </m:r>
                      </m:e>
                      <m:sub>
                        <m:r>
                          <a:rPr lang="en-PH" sz="1800" i="1">
                            <a:latin typeface="Cambria Math"/>
                          </a:rPr>
                          <m:t>3</m:t>
                        </m:r>
                      </m:sub>
                    </m:sSub>
                  </m:oMath>
                </a14:m>
                <a:endParaRPr lang="en-PH" sz="1800" b="0" i="1" dirty="0"/>
              </a:p>
              <a:p>
                <a:pPr marL="0" indent="0">
                  <a:buNone/>
                </a:pPr>
                <a:r>
                  <a:rPr lang="en-PH" sz="1800" i="1" dirty="0"/>
                  <a:t>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3</m:t>
                        </m:r>
                      </m:sub>
                    </m:sSub>
                    <m:r>
                      <a:rPr lang="en-PH" sz="1800" b="0" i="1" smtClean="0">
                        <a:latin typeface="Cambria Math"/>
                      </a:rPr>
                      <m:t>=−</m:t>
                    </m:r>
                    <m:sSub>
                      <m:sSubPr>
                        <m:ctrlPr>
                          <a:rPr lang="en-PH" sz="1800" b="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1</m:t>
                        </m:r>
                      </m:sub>
                    </m:sSub>
                    <m:r>
                      <a:rPr lang="en-PH" sz="1800" b="0" i="1" smtClean="0">
                        <a:latin typeface="Cambria Math"/>
                      </a:rPr>
                      <m:t>+</m:t>
                    </m:r>
                    <m:sSub>
                      <m:sSubPr>
                        <m:ctrlPr>
                          <a:rPr lang="en-PH" sz="1800" b="0" i="1" smtClean="0">
                            <a:latin typeface="Cambria Math" panose="02040503050406030204" pitchFamily="18" charset="0"/>
                          </a:rPr>
                        </m:ctrlPr>
                      </m:sSubPr>
                      <m:e>
                        <m:r>
                          <a:rPr lang="en-PH" sz="1800" b="0" i="1" smtClean="0">
                            <a:latin typeface="Cambria Math"/>
                          </a:rPr>
                          <m:t>𝑅</m:t>
                        </m:r>
                      </m:e>
                      <m:sub>
                        <m:r>
                          <a:rPr lang="en-PH" sz="1800" b="0" i="1" smtClean="0">
                            <a:latin typeface="Cambria Math"/>
                          </a:rPr>
                          <m:t>3</m:t>
                        </m:r>
                      </m:sub>
                    </m:sSub>
                  </m:oMath>
                </a14:m>
                <a:r>
                  <a:rPr lang="en-PH" sz="1800" i="1" dirty="0"/>
                  <a:t> </a:t>
                </a:r>
              </a:p>
              <a:p>
                <a:pPr marL="0" indent="0">
                  <a:buNone/>
                </a:pPr>
                <a:r>
                  <a:rPr lang="en-PH" sz="1800" i="1"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47800"/>
                <a:ext cx="8458200" cy="5181600"/>
              </a:xfrm>
              <a:blipFill>
                <a:blip r:embed="rId2"/>
                <a:stretch>
                  <a:fillRect l="-576" t="-1176"/>
                </a:stretch>
              </a:blipFill>
            </p:spPr>
            <p:txBody>
              <a:bodyPr/>
              <a:lstStyle/>
              <a:p>
                <a:r>
                  <a:rPr lang="en-US">
                    <a:noFill/>
                  </a:rPr>
                  <a:t> </a:t>
                </a:r>
              </a:p>
            </p:txBody>
          </p:sp>
        </mc:Fallback>
      </mc:AlternateContent>
    </p:spTree>
    <p:extLst>
      <p:ext uri="{BB962C8B-B14F-4D97-AF65-F5344CB8AC3E}">
        <p14:creationId xmlns:p14="http://schemas.microsoft.com/office/powerpoint/2010/main" val="539924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47800"/>
                <a:ext cx="8458200" cy="5181600"/>
              </a:xfrm>
            </p:spPr>
            <p:txBody>
              <a:bodyPr>
                <a:normAutofit/>
              </a:bodyPr>
              <a:lstStyle/>
              <a:p>
                <a:pPr marL="0" indent="0">
                  <a:buNone/>
                </a:pPr>
                <a:r>
                  <a:rPr lang="en-PH" sz="1800" dirty="0"/>
                  <a:t>Cont.</a:t>
                </a:r>
                <a14:m>
                  <m:oMath xmlns:m="http://schemas.openxmlformats.org/officeDocument/2006/math">
                    <m:r>
                      <a:rPr lang="en-PH" sz="1800" b="0" i="1" smtClean="0">
                        <a:latin typeface="Cambria Math"/>
                      </a:rPr>
                      <m:t> </m:t>
                    </m:r>
                  </m:oMath>
                </a14:m>
                <a:endParaRPr lang="en-PH" sz="1800" i="1" dirty="0"/>
              </a:p>
              <a:p>
                <a:pPr marL="0" indent="0">
                  <a:buNone/>
                </a:pPr>
                <a14:m>
                  <m:oMath xmlns:m="http://schemas.openxmlformats.org/officeDocument/2006/math">
                    <m:r>
                      <a:rPr lang="en-PH" sz="1800" b="0" i="1" smtClean="0">
                        <a:latin typeface="Cambria Math"/>
                        <a:ea typeface="Cambria Math"/>
                      </a:rPr>
                      <m:t>≈</m:t>
                    </m:r>
                  </m:oMath>
                </a14:m>
                <a:r>
                  <a:rPr lang="en-PH" sz="1800" i="1" dirty="0"/>
                  <a:t> </a:t>
                </a:r>
                <a14:m>
                  <m:oMath xmlns:m="http://schemas.openxmlformats.org/officeDocument/2006/math">
                    <m:d>
                      <m:dPr>
                        <m:begChr m:val="["/>
                        <m:endChr m:val="]"/>
                        <m:ctrlPr>
                          <a:rPr lang="en-PH" sz="1800" i="1">
                            <a:latin typeface="Cambria Math" panose="02040503050406030204" pitchFamily="18" charset="0"/>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1</m:t>
                              </m:r>
                            </m:e>
                            <m:e>
                              <m:r>
                                <a:rPr lang="en-PH" sz="1800" i="1">
                                  <a:latin typeface="Cambria Math"/>
                                </a:rPr>
                                <m:t>1</m:t>
                              </m:r>
                            </m:e>
                          </m:mr>
                          <m:mr>
                            <m:e>
                              <m:r>
                                <a:rPr lang="en-PH" sz="1800" i="1">
                                  <a:latin typeface="Cambria Math"/>
                                </a:rPr>
                                <m:t>0</m:t>
                              </m:r>
                            </m:e>
                            <m:e>
                              <m:r>
                                <a:rPr lang="en-PH" sz="1800" b="0" i="1" smtClean="0">
                                  <a:latin typeface="Cambria Math"/>
                                </a:rPr>
                                <m:t>1</m:t>
                              </m:r>
                            </m:e>
                            <m:e>
                              <m:r>
                                <a:rPr lang="en-PH" sz="1800" i="1">
                                  <a:latin typeface="Cambria Math"/>
                                </a:rPr>
                                <m:t>−1</m:t>
                              </m:r>
                            </m:e>
                          </m:mr>
                          <m:mr>
                            <m:e>
                              <m:r>
                                <a:rPr lang="en-PH" sz="1800" i="1">
                                  <a:latin typeface="Cambria Math"/>
                                </a:rPr>
                                <m:t>0</m:t>
                              </m:r>
                            </m:e>
                            <m:e>
                              <m:r>
                                <a:rPr lang="en-PH" sz="1800" b="0" i="1" smtClean="0">
                                  <a:latin typeface="Cambria Math"/>
                                </a:rPr>
                                <m:t>0</m:t>
                              </m:r>
                            </m:e>
                            <m:e>
                              <m:r>
                                <a:rPr lang="en-PH" sz="1800" i="1">
                                  <a:latin typeface="Cambria Math"/>
                                </a:rPr>
                                <m:t>−</m:t>
                              </m:r>
                              <m:r>
                                <a:rPr lang="en-PH" sz="1800" b="0" i="1" smtClean="0">
                                  <a:latin typeface="Cambria Math"/>
                                </a:rPr>
                                <m:t>3</m:t>
                              </m:r>
                            </m:e>
                          </m:mr>
                        </m:m>
                        <m:r>
                          <a:rPr lang="en-PH" sz="1800" i="1">
                            <a:latin typeface="Cambria Math"/>
                          </a:rPr>
                          <m:t>  </m:t>
                        </m:r>
                        <m:m>
                          <m:mPr>
                            <m:mcs>
                              <m:mc>
                                <m:mcPr>
                                  <m:count m:val="2"/>
                                  <m:mcJc m:val="center"/>
                                </m:mcPr>
                              </m:mc>
                            </m:mcs>
                            <m:ctrlPr>
                              <a:rPr lang="en-PH" sz="1800" i="1">
                                <a:latin typeface="Cambria Math" panose="02040503050406030204" pitchFamily="18" charset="0"/>
                              </a:rPr>
                            </m:ctrlPr>
                          </m:mPr>
                          <m:mr>
                            <m:e>
                              <m:r>
                                <m:rPr>
                                  <m:brk m:alnAt="7"/>
                                </m:rPr>
                                <a:rPr lang="en-PH" sz="1800" i="1">
                                  <a:latin typeface="Cambria Math"/>
                                </a:rPr>
                                <m:t>:</m:t>
                              </m:r>
                            </m:e>
                            <m:e>
                              <m:r>
                                <a:rPr lang="en-PH" sz="1800" i="1">
                                  <a:latin typeface="Cambria Math"/>
                                </a:rPr>
                                <m:t>𝑎</m:t>
                              </m:r>
                            </m:e>
                          </m:mr>
                          <m:mr>
                            <m:e>
                              <m:r>
                                <a:rPr lang="en-PH" sz="1800" i="1">
                                  <a:latin typeface="Cambria Math"/>
                                </a:rPr>
                                <m:t>:</m:t>
                              </m:r>
                            </m:e>
                            <m:e>
                              <m:r>
                                <a:rPr lang="en-PH" sz="1800" i="1">
                                  <a:latin typeface="Cambria Math"/>
                                </a:rPr>
                                <m:t>−</m:t>
                              </m:r>
                              <m:r>
                                <a:rPr lang="en-PH" sz="1800" i="1">
                                  <a:latin typeface="Cambria Math"/>
                                </a:rPr>
                                <m:t>𝑎</m:t>
                              </m:r>
                              <m:r>
                                <a:rPr lang="en-PH" sz="1800" i="1">
                                  <a:latin typeface="Cambria Math"/>
                                </a:rPr>
                                <m:t>+</m:t>
                              </m:r>
                              <m:r>
                                <a:rPr lang="en-PH" sz="1800" b="0" i="1" smtClean="0">
                                  <a:latin typeface="Cambria Math"/>
                                </a:rPr>
                                <m:t>𝑐</m:t>
                              </m:r>
                            </m:e>
                          </m:mr>
                          <m:mr>
                            <m:e>
                              <m:r>
                                <a:rPr lang="en-PH" sz="1800" i="1">
                                  <a:latin typeface="Cambria Math"/>
                                </a:rPr>
                                <m:t>:</m:t>
                              </m:r>
                            </m:e>
                            <m:e>
                              <m:r>
                                <a:rPr lang="en-PH" sz="1800" i="1">
                                  <a:latin typeface="Cambria Math"/>
                                </a:rPr>
                                <m:t>−</m:t>
                              </m:r>
                              <m:r>
                                <a:rPr lang="en-PH" sz="1800" b="0" i="1" smtClean="0">
                                  <a:latin typeface="Cambria Math"/>
                                </a:rPr>
                                <m:t>4</m:t>
                              </m:r>
                              <m:r>
                                <a:rPr lang="en-PH" sz="1800" i="1">
                                  <a:latin typeface="Cambria Math"/>
                                </a:rPr>
                                <m:t>𝑎</m:t>
                              </m:r>
                              <m:r>
                                <a:rPr lang="en-PH" sz="1800" i="1">
                                  <a:latin typeface="Cambria Math"/>
                                </a:rPr>
                                <m:t>+</m:t>
                              </m:r>
                              <m:r>
                                <a:rPr lang="en-PH" sz="1800" b="0" i="1" smtClean="0">
                                  <a:latin typeface="Cambria Math"/>
                                </a:rPr>
                                <m:t>𝑏</m:t>
                              </m:r>
                              <m:r>
                                <a:rPr lang="en-PH" sz="1800" b="0" i="1" smtClean="0">
                                  <a:latin typeface="Cambria Math"/>
                                </a:rPr>
                                <m:t>+2</m:t>
                              </m:r>
                              <m:r>
                                <a:rPr lang="en-PH" sz="1800" b="0" i="1" smtClean="0">
                                  <a:latin typeface="Cambria Math"/>
                                </a:rPr>
                                <m:t>𝑐</m:t>
                              </m:r>
                            </m:e>
                          </m:mr>
                        </m:m>
                        <m:r>
                          <a:rPr lang="en-PH" sz="1800" b="0" i="1" smtClean="0">
                            <a:latin typeface="Cambria Math"/>
                          </a:rPr>
                          <m:t> </m:t>
                        </m:r>
                      </m:e>
                    </m:d>
                    <m:r>
                      <a:rPr lang="en-PH" sz="1800" b="0" i="1" smtClean="0">
                        <a:latin typeface="Cambria Math"/>
                      </a:rPr>
                      <m:t>  </m:t>
                    </m:r>
                    <m:r>
                      <a:rPr lang="en-PH" sz="1800" b="0" i="1" smtClean="0">
                        <a:latin typeface="Cambria Math"/>
                        <a:ea typeface="Cambria Math"/>
                      </a:rPr>
                      <m:t>≈ </m:t>
                    </m:r>
                    <m:d>
                      <m:dPr>
                        <m:begChr m:val="["/>
                        <m:endChr m:val="]"/>
                        <m:ctrlPr>
                          <a:rPr lang="en-PH" sz="1800" i="1" smtClean="0">
                            <a:solidFill>
                              <a:srgbClr val="C00000"/>
                            </a:solidFill>
                            <a:latin typeface="Cambria Math" panose="02040503050406030204" pitchFamily="18" charset="0"/>
                          </a:rPr>
                        </m:ctrlPr>
                      </m:dPr>
                      <m:e>
                        <m:m>
                          <m:mPr>
                            <m:mcs>
                              <m:mc>
                                <m:mcPr>
                                  <m:count m:val="3"/>
                                  <m:mcJc m:val="center"/>
                                </m:mcPr>
                              </m:mc>
                            </m:mcs>
                            <m:ctrlPr>
                              <a:rPr lang="en-PH" sz="1800" i="1">
                                <a:solidFill>
                                  <a:srgbClr val="C00000"/>
                                </a:solidFill>
                                <a:latin typeface="Cambria Math" panose="02040503050406030204" pitchFamily="18" charset="0"/>
                              </a:rPr>
                            </m:ctrlPr>
                          </m:mPr>
                          <m:mr>
                            <m:e>
                              <m:r>
                                <m:rPr>
                                  <m:brk m:alnAt="7"/>
                                </m:rPr>
                                <a:rPr lang="en-PH" sz="1800" i="1">
                                  <a:solidFill>
                                    <a:srgbClr val="C00000"/>
                                  </a:solidFill>
                                  <a:latin typeface="Cambria Math"/>
                                </a:rPr>
                                <m:t>1</m:t>
                              </m:r>
                            </m:e>
                            <m:e>
                              <m:r>
                                <a:rPr lang="en-PH" sz="1800" i="1">
                                  <a:solidFill>
                                    <a:srgbClr val="C00000"/>
                                  </a:solidFill>
                                  <a:latin typeface="Cambria Math"/>
                                </a:rPr>
                                <m:t>1</m:t>
                              </m:r>
                            </m:e>
                            <m:e>
                              <m:r>
                                <a:rPr lang="en-PH" sz="1800" i="1">
                                  <a:solidFill>
                                    <a:srgbClr val="C00000"/>
                                  </a:solidFill>
                                  <a:latin typeface="Cambria Math"/>
                                </a:rPr>
                                <m:t>1</m:t>
                              </m:r>
                            </m:e>
                          </m:mr>
                          <m:mr>
                            <m:e>
                              <m:r>
                                <a:rPr lang="en-PH" sz="1800" i="1">
                                  <a:solidFill>
                                    <a:srgbClr val="C00000"/>
                                  </a:solidFill>
                                  <a:latin typeface="Cambria Math"/>
                                </a:rPr>
                                <m:t>0</m:t>
                              </m:r>
                            </m:e>
                            <m:e>
                              <m:r>
                                <a:rPr lang="en-PH" sz="1800" i="1">
                                  <a:solidFill>
                                    <a:srgbClr val="C00000"/>
                                  </a:solidFill>
                                  <a:latin typeface="Cambria Math"/>
                                </a:rPr>
                                <m:t>1</m:t>
                              </m:r>
                            </m:e>
                            <m:e>
                              <m:r>
                                <a:rPr lang="en-PH" sz="1800" i="1">
                                  <a:solidFill>
                                    <a:srgbClr val="C00000"/>
                                  </a:solidFill>
                                  <a:latin typeface="Cambria Math"/>
                                </a:rPr>
                                <m:t>−1</m:t>
                              </m:r>
                            </m:e>
                          </m:mr>
                          <m:mr>
                            <m:e>
                              <m:r>
                                <a:rPr lang="en-PH" sz="1800" i="1">
                                  <a:solidFill>
                                    <a:srgbClr val="C00000"/>
                                  </a:solidFill>
                                  <a:latin typeface="Cambria Math"/>
                                </a:rPr>
                                <m:t>0</m:t>
                              </m:r>
                            </m:e>
                            <m:e>
                              <m:r>
                                <a:rPr lang="en-PH" sz="1800" i="1">
                                  <a:solidFill>
                                    <a:srgbClr val="C00000"/>
                                  </a:solidFill>
                                  <a:latin typeface="Cambria Math"/>
                                </a:rPr>
                                <m:t>0</m:t>
                              </m:r>
                            </m:e>
                            <m:e>
                              <m:r>
                                <a:rPr lang="en-PH" sz="1800" b="0" i="1" smtClean="0">
                                  <a:solidFill>
                                    <a:srgbClr val="C00000"/>
                                  </a:solidFill>
                                  <a:latin typeface="Cambria Math"/>
                                </a:rPr>
                                <m:t>1</m:t>
                              </m:r>
                            </m:e>
                          </m:mr>
                        </m:m>
                        <m:r>
                          <a:rPr lang="en-PH" sz="1800" i="1">
                            <a:solidFill>
                              <a:srgbClr val="C00000"/>
                            </a:solidFill>
                            <a:latin typeface="Cambria Math"/>
                          </a:rPr>
                          <m:t>  </m:t>
                        </m:r>
                        <m:m>
                          <m:mPr>
                            <m:mcs>
                              <m:mc>
                                <m:mcPr>
                                  <m:count m:val="2"/>
                                  <m:mcJc m:val="center"/>
                                </m:mcPr>
                              </m:mc>
                            </m:mcs>
                            <m:ctrlPr>
                              <a:rPr lang="en-PH" sz="1800" i="1">
                                <a:solidFill>
                                  <a:srgbClr val="C00000"/>
                                </a:solidFill>
                                <a:latin typeface="Cambria Math" panose="02040503050406030204" pitchFamily="18" charset="0"/>
                              </a:rPr>
                            </m:ctrlPr>
                          </m:mPr>
                          <m:mr>
                            <m:e>
                              <m:r>
                                <m:rPr>
                                  <m:brk m:alnAt="7"/>
                                </m:rPr>
                                <a:rPr lang="en-PH" sz="1800" i="1">
                                  <a:solidFill>
                                    <a:srgbClr val="C00000"/>
                                  </a:solidFill>
                                  <a:latin typeface="Cambria Math"/>
                                </a:rPr>
                                <m:t>:</m:t>
                              </m:r>
                            </m:e>
                            <m:e>
                              <m:r>
                                <a:rPr lang="en-PH" sz="1800" i="1">
                                  <a:solidFill>
                                    <a:srgbClr val="C00000"/>
                                  </a:solidFill>
                                  <a:latin typeface="Cambria Math"/>
                                </a:rPr>
                                <m:t>𝑎</m:t>
                              </m:r>
                            </m:e>
                          </m:mr>
                          <m:mr>
                            <m:e>
                              <m:r>
                                <a:rPr lang="en-PH" sz="1800" i="1">
                                  <a:solidFill>
                                    <a:srgbClr val="C00000"/>
                                  </a:solidFill>
                                  <a:latin typeface="Cambria Math"/>
                                </a:rPr>
                                <m:t>:</m:t>
                              </m:r>
                            </m:e>
                            <m:e>
                              <m:r>
                                <a:rPr lang="en-PH" sz="1800" i="1">
                                  <a:solidFill>
                                    <a:srgbClr val="C00000"/>
                                  </a:solidFill>
                                  <a:latin typeface="Cambria Math"/>
                                </a:rPr>
                                <m:t>−</m:t>
                              </m:r>
                              <m:r>
                                <a:rPr lang="en-PH" sz="1800" i="1">
                                  <a:solidFill>
                                    <a:srgbClr val="C00000"/>
                                  </a:solidFill>
                                  <a:latin typeface="Cambria Math"/>
                                </a:rPr>
                                <m:t>𝑎</m:t>
                              </m:r>
                              <m:r>
                                <a:rPr lang="en-PH" sz="1800" i="1">
                                  <a:solidFill>
                                    <a:srgbClr val="C00000"/>
                                  </a:solidFill>
                                  <a:latin typeface="Cambria Math"/>
                                </a:rPr>
                                <m:t>+</m:t>
                              </m:r>
                              <m:r>
                                <a:rPr lang="en-PH" sz="1800" i="1">
                                  <a:solidFill>
                                    <a:srgbClr val="C00000"/>
                                  </a:solidFill>
                                  <a:latin typeface="Cambria Math"/>
                                </a:rPr>
                                <m:t>𝑐</m:t>
                              </m:r>
                            </m:e>
                          </m:mr>
                          <m:mr>
                            <m:e>
                              <m:r>
                                <a:rPr lang="en-PH" sz="1800" i="1">
                                  <a:solidFill>
                                    <a:srgbClr val="C00000"/>
                                  </a:solidFill>
                                  <a:latin typeface="Cambria Math"/>
                                </a:rPr>
                                <m:t>:</m:t>
                              </m:r>
                            </m:e>
                            <m:e>
                              <m:f>
                                <m:fPr>
                                  <m:ctrlPr>
                                    <a:rPr lang="en-PH" sz="1800" i="1" smtClean="0">
                                      <a:solidFill>
                                        <a:srgbClr val="C00000"/>
                                      </a:solidFill>
                                      <a:latin typeface="Cambria Math" panose="02040503050406030204" pitchFamily="18" charset="0"/>
                                    </a:rPr>
                                  </m:ctrlPr>
                                </m:fPr>
                                <m:num>
                                  <m:r>
                                    <a:rPr lang="en-PH" sz="1800" i="1">
                                      <a:solidFill>
                                        <a:srgbClr val="C00000"/>
                                      </a:solidFill>
                                      <a:latin typeface="Cambria Math"/>
                                    </a:rPr>
                                    <m:t>4</m:t>
                                  </m:r>
                                  <m:r>
                                    <a:rPr lang="en-PH" sz="1800" i="1">
                                      <a:solidFill>
                                        <a:srgbClr val="C00000"/>
                                      </a:solidFill>
                                      <a:latin typeface="Cambria Math"/>
                                    </a:rPr>
                                    <m:t>𝑎</m:t>
                                  </m:r>
                                  <m:r>
                                    <a:rPr lang="en-PH" sz="1800" i="1">
                                      <a:solidFill>
                                        <a:srgbClr val="C00000"/>
                                      </a:solidFill>
                                      <a:latin typeface="Cambria Math"/>
                                    </a:rPr>
                                    <m:t>−</m:t>
                                  </m:r>
                                  <m:r>
                                    <a:rPr lang="en-PH" sz="1800" i="1">
                                      <a:solidFill>
                                        <a:srgbClr val="C00000"/>
                                      </a:solidFill>
                                      <a:latin typeface="Cambria Math"/>
                                    </a:rPr>
                                    <m:t>𝑏</m:t>
                                  </m:r>
                                  <m:r>
                                    <a:rPr lang="en-PH" sz="1800" i="1">
                                      <a:solidFill>
                                        <a:srgbClr val="C00000"/>
                                      </a:solidFill>
                                      <a:latin typeface="Cambria Math"/>
                                    </a:rPr>
                                    <m:t>−2</m:t>
                                  </m:r>
                                  <m:r>
                                    <a:rPr lang="en-PH" sz="1800" i="1">
                                      <a:solidFill>
                                        <a:srgbClr val="C00000"/>
                                      </a:solidFill>
                                      <a:latin typeface="Cambria Math"/>
                                    </a:rPr>
                                    <m:t>𝑐</m:t>
                                  </m:r>
                                </m:num>
                                <m:den>
                                  <m:r>
                                    <a:rPr lang="en-PH" sz="1800" b="0" i="1" smtClean="0">
                                      <a:solidFill>
                                        <a:srgbClr val="C00000"/>
                                      </a:solidFill>
                                      <a:latin typeface="Cambria Math"/>
                                    </a:rPr>
                                    <m:t>3</m:t>
                                  </m:r>
                                </m:den>
                              </m:f>
                            </m:e>
                          </m:mr>
                        </m:m>
                        <m:r>
                          <a:rPr lang="en-PH" sz="1800" i="1">
                            <a:solidFill>
                              <a:srgbClr val="C00000"/>
                            </a:solidFill>
                            <a:latin typeface="Cambria Math"/>
                          </a:rPr>
                          <m:t> </m:t>
                        </m:r>
                      </m:e>
                    </m:d>
                  </m:oMath>
                </a14:m>
                <a:endParaRPr lang="en-PH" sz="1800" i="1" dirty="0"/>
              </a:p>
              <a:p>
                <a:pPr marL="0" indent="0">
                  <a:buNone/>
                </a:pPr>
                <a:r>
                  <a:rPr lang="en-PH" sz="1800" i="1" dirty="0"/>
                  <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𝑅</m:t>
                        </m:r>
                      </m:e>
                      <m:sub>
                        <m:r>
                          <a:rPr lang="en-PH" sz="1800" i="1">
                            <a:latin typeface="Cambria Math"/>
                          </a:rPr>
                          <m:t>3</m:t>
                        </m:r>
                      </m:sub>
                    </m:sSub>
                    <m:r>
                      <a:rPr lang="en-PH" sz="1800" i="1">
                        <a:latin typeface="Cambria Math"/>
                      </a:rPr>
                      <m:t>=</m:t>
                    </m:r>
                    <m:r>
                      <a:rPr lang="en-PH" sz="1800" b="0" i="1" smtClean="0">
                        <a:latin typeface="Cambria Math"/>
                      </a:rPr>
                      <m:t>−</m:t>
                    </m:r>
                    <m:f>
                      <m:fPr>
                        <m:ctrlPr>
                          <a:rPr lang="en-PH" sz="1800" b="0" i="1" smtClean="0">
                            <a:latin typeface="Cambria Math" panose="02040503050406030204" pitchFamily="18" charset="0"/>
                          </a:rPr>
                        </m:ctrlPr>
                      </m:fPr>
                      <m:num>
                        <m:r>
                          <a:rPr lang="en-PH" sz="1800" b="0" i="1" smtClean="0">
                            <a:latin typeface="Cambria Math"/>
                          </a:rPr>
                          <m:t>1</m:t>
                        </m:r>
                      </m:num>
                      <m:den>
                        <m:r>
                          <a:rPr lang="en-PH" sz="1800" b="0" i="1" smtClean="0">
                            <a:latin typeface="Cambria Math"/>
                          </a:rPr>
                          <m:t>3</m:t>
                        </m:r>
                      </m:den>
                    </m:f>
                    <m:sSub>
                      <m:sSubPr>
                        <m:ctrlPr>
                          <a:rPr lang="en-PH" sz="1800" i="1">
                            <a:latin typeface="Cambria Math" panose="02040503050406030204" pitchFamily="18" charset="0"/>
                          </a:rPr>
                        </m:ctrlPr>
                      </m:sSubPr>
                      <m:e>
                        <m:r>
                          <a:rPr lang="en-PH" sz="1800" i="1">
                            <a:latin typeface="Cambria Math"/>
                          </a:rPr>
                          <m:t>𝑅</m:t>
                        </m:r>
                      </m:e>
                      <m:sub>
                        <m:r>
                          <a:rPr lang="en-PH" sz="1800" i="1">
                            <a:latin typeface="Cambria Math"/>
                          </a:rPr>
                          <m:t>3</m:t>
                        </m:r>
                      </m:sub>
                    </m:sSub>
                  </m:oMath>
                </a14:m>
                <a:endParaRPr lang="en-PH" sz="1800" i="1" dirty="0"/>
              </a:p>
              <a:p>
                <a:pPr marL="0" indent="0">
                  <a:buNone/>
                </a:pPr>
                <a:r>
                  <a:rPr lang="en-PH" sz="1800" i="1" dirty="0"/>
                  <a:t> Reduce to system of linear the resulting matrix</a:t>
                </a:r>
              </a:p>
              <a:p>
                <a:pPr marL="0" indent="0" algn="ctr">
                  <a:buNone/>
                </a:pP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i="1">
                        <a:latin typeface="Cambria Math"/>
                      </a:rPr>
                      <m:t>𝑎</m:t>
                    </m:r>
                  </m:oMath>
                </a14:m>
                <a:r>
                  <a:rPr lang="en-PH" sz="1800" i="1" dirty="0"/>
                  <a:t> </a:t>
                </a:r>
              </a:p>
              <a:p>
                <a:pPr marL="0" indent="0" algn="ctr">
                  <a:buNone/>
                </a:pPr>
                <a14:m>
                  <m:oMath xmlns:m="http://schemas.openxmlformats.org/officeDocument/2006/math">
                    <m:r>
                      <a:rPr lang="en-PH" sz="1800" b="0" i="1" smtClean="0">
                        <a:latin typeface="Cambria Math"/>
                      </a:rPr>
                      <m:t>      </m:t>
                    </m:r>
                    <m:sSub>
                      <m:sSubPr>
                        <m:ctrlPr>
                          <a:rPr lang="en-PH" sz="1800" i="1">
                            <a:latin typeface="Cambria Math" panose="02040503050406030204" pitchFamily="18" charset="0"/>
                          </a:rPr>
                        </m:ctrlPr>
                      </m:sSubPr>
                      <m:e>
                        <m:r>
                          <a:rPr lang="en-PH" sz="1800" b="0" i="1" smtClean="0">
                            <a:latin typeface="Cambria Math"/>
                          </a:rPr>
                          <m:t> </m:t>
                        </m:r>
                        <m:r>
                          <a:rPr lang="en-PH" sz="1800" i="1">
                            <a:latin typeface="Cambria Math"/>
                          </a:rPr>
                          <m:t>𝑐</m:t>
                        </m:r>
                      </m:e>
                      <m:sub>
                        <m:r>
                          <a:rPr lang="en-PH" sz="1800" i="1">
                            <a:latin typeface="Cambria Math"/>
                          </a:rPr>
                          <m:t>2</m:t>
                        </m:r>
                      </m:sub>
                    </m:sSub>
                    <m:r>
                      <a:rPr lang="en-PH" sz="1800" b="0" i="1" smtClean="0">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b="0" i="1" smtClean="0">
                        <a:latin typeface="Cambria Math"/>
                      </a:rPr>
                      <m:t>−</m:t>
                    </m:r>
                    <m:r>
                      <a:rPr lang="en-PH" sz="1800" b="0" i="1" smtClean="0">
                        <a:latin typeface="Cambria Math"/>
                      </a:rPr>
                      <m:t>𝑎</m:t>
                    </m:r>
                  </m:oMath>
                </a14:m>
                <a:r>
                  <a:rPr lang="en-PH" sz="1800" i="1" dirty="0"/>
                  <a:t>+c </a:t>
                </a:r>
              </a:p>
              <a:p>
                <a:pPr marL="0" indent="0" algn="ctr">
                  <a:buNone/>
                </a:pPr>
                <a14:m>
                  <m:oMathPara xmlns:m="http://schemas.openxmlformats.org/officeDocument/2006/math">
                    <m:oMathParaPr>
                      <m:jc m:val="centerGroup"/>
                    </m:oMathParaPr>
                    <m:oMath xmlns:m="http://schemas.openxmlformats.org/officeDocument/2006/math">
                      <m:r>
                        <a:rPr lang="en-PH" sz="1800" b="0" i="1" smtClean="0">
                          <a:latin typeface="Cambria Math"/>
                        </a:rPr>
                        <m:t>                          </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f>
                        <m:fPr>
                          <m:ctrlPr>
                            <a:rPr lang="en-PH" sz="1800" i="1">
                              <a:latin typeface="Cambria Math" panose="02040503050406030204" pitchFamily="18" charset="0"/>
                            </a:rPr>
                          </m:ctrlPr>
                        </m:fPr>
                        <m:num>
                          <m:r>
                            <a:rPr lang="en-PH" sz="1800" i="1">
                              <a:latin typeface="Cambria Math"/>
                            </a:rPr>
                            <m:t>4</m:t>
                          </m:r>
                          <m:r>
                            <a:rPr lang="en-PH" sz="1800" i="1">
                              <a:latin typeface="Cambria Math"/>
                            </a:rPr>
                            <m:t>𝑎</m:t>
                          </m:r>
                          <m:r>
                            <a:rPr lang="en-PH" sz="1800" i="1">
                              <a:latin typeface="Cambria Math"/>
                            </a:rPr>
                            <m:t>−</m:t>
                          </m:r>
                          <m:r>
                            <a:rPr lang="en-PH" sz="1800" i="1">
                              <a:latin typeface="Cambria Math"/>
                            </a:rPr>
                            <m:t>𝑏</m:t>
                          </m:r>
                          <m:r>
                            <a:rPr lang="en-PH" sz="1800" i="1">
                              <a:latin typeface="Cambria Math"/>
                            </a:rPr>
                            <m:t>−2</m:t>
                          </m:r>
                          <m:r>
                            <a:rPr lang="en-PH" sz="1800" i="1">
                              <a:latin typeface="Cambria Math"/>
                            </a:rPr>
                            <m:t>𝑐</m:t>
                          </m:r>
                        </m:num>
                        <m:den>
                          <m:r>
                            <a:rPr lang="en-PH" sz="1800" i="1">
                              <a:latin typeface="Cambria Math"/>
                            </a:rPr>
                            <m:t>3</m:t>
                          </m:r>
                        </m:den>
                      </m:f>
                    </m:oMath>
                  </m:oMathPara>
                </a14:m>
                <a:endParaRPr lang="en-PH" sz="1800" i="1" dirty="0"/>
              </a:p>
              <a:p>
                <a:pPr marL="0" indent="0">
                  <a:buNone/>
                </a:pPr>
                <a:r>
                  <a:rPr lang="en-PH" sz="1800" i="1" dirty="0"/>
                  <a:t>Solve for c</a:t>
                </a:r>
                <a:r>
                  <a:rPr lang="en-PH" sz="1800" i="1" baseline="-25000" dirty="0"/>
                  <a:t>2</a:t>
                </a:r>
              </a:p>
              <a:p>
                <a:pPr marL="0" indent="0">
                  <a:buNone/>
                </a:pP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 </m:t>
                        </m:r>
                        <m:r>
                          <a:rPr lang="en-PH" sz="1800" i="1">
                            <a:latin typeface="Cambria Math"/>
                          </a:rPr>
                          <m:t>𝑐</m:t>
                        </m:r>
                      </m:e>
                      <m:sub>
                        <m:r>
                          <a:rPr lang="en-PH" sz="1800" i="1">
                            <a:latin typeface="Cambria Math"/>
                          </a:rPr>
                          <m:t>2</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i="1">
                        <a:latin typeface="Cambria Math"/>
                      </a:rPr>
                      <m:t>𝑎</m:t>
                    </m:r>
                  </m:oMath>
                </a14:m>
                <a:r>
                  <a:rPr lang="en-PH" sz="1800" i="1" dirty="0"/>
                  <a:t>+c</a:t>
                </a:r>
              </a:p>
              <a:p>
                <a:pPr marL="0" indent="0">
                  <a:buNone/>
                </a:pP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 </m:t>
                        </m:r>
                        <m:r>
                          <a:rPr lang="en-PH" sz="1800" i="1">
                            <a:latin typeface="Cambria Math"/>
                          </a:rPr>
                          <m:t>𝑐</m:t>
                        </m:r>
                      </m:e>
                      <m:sub>
                        <m:r>
                          <a:rPr lang="en-PH" sz="1800" i="1">
                            <a:latin typeface="Cambria Math"/>
                          </a:rPr>
                          <m:t>2</m:t>
                        </m:r>
                      </m:sub>
                    </m:sSub>
                    <m:r>
                      <a:rPr lang="en-PH" sz="1800" i="1">
                        <a:latin typeface="Cambria Math"/>
                      </a:rPr>
                      <m:t>=−</m:t>
                    </m:r>
                    <m:r>
                      <a:rPr lang="en-PH" sz="1800" i="1">
                        <a:latin typeface="Cambria Math"/>
                      </a:rPr>
                      <m:t>𝑎</m:t>
                    </m:r>
                  </m:oMath>
                </a14:m>
                <a:r>
                  <a:rPr lang="en-PH" sz="1800" i="1" dirty="0"/>
                  <a:t>+c +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b="0" i="1" smtClean="0">
                        <a:latin typeface="Cambria Math"/>
                      </a:rPr>
                      <m:t>=−</m:t>
                    </m:r>
                    <m:r>
                      <a:rPr lang="en-PH" sz="1800" b="0" i="1" smtClean="0">
                        <a:latin typeface="Cambria Math"/>
                      </a:rPr>
                      <m:t>𝑎</m:t>
                    </m:r>
                    <m:r>
                      <a:rPr lang="en-PH" sz="1800" b="0" i="1" smtClean="0">
                        <a:latin typeface="Cambria Math"/>
                      </a:rPr>
                      <m:t>+</m:t>
                    </m:r>
                    <m:r>
                      <a:rPr lang="en-PH" sz="1800" b="0" i="1" smtClean="0">
                        <a:latin typeface="Cambria Math"/>
                      </a:rPr>
                      <m:t>𝑐</m:t>
                    </m:r>
                    <m:r>
                      <a:rPr lang="en-PH" sz="1800" b="0" i="1" smtClean="0">
                        <a:latin typeface="Cambria Math"/>
                      </a:rPr>
                      <m:t> + </m:t>
                    </m:r>
                    <m:f>
                      <m:fPr>
                        <m:ctrlPr>
                          <a:rPr lang="en-PH" sz="1800" i="1">
                            <a:latin typeface="Cambria Math" panose="02040503050406030204" pitchFamily="18" charset="0"/>
                          </a:rPr>
                        </m:ctrlPr>
                      </m:fPr>
                      <m:num>
                        <m:r>
                          <a:rPr lang="en-PH" sz="1800" i="1">
                            <a:latin typeface="Cambria Math"/>
                          </a:rPr>
                          <m:t>4</m:t>
                        </m:r>
                        <m:r>
                          <a:rPr lang="en-PH" sz="1800" i="1">
                            <a:latin typeface="Cambria Math"/>
                          </a:rPr>
                          <m:t>𝑎</m:t>
                        </m:r>
                        <m:r>
                          <a:rPr lang="en-PH" sz="1800" i="1">
                            <a:latin typeface="Cambria Math"/>
                          </a:rPr>
                          <m:t>−</m:t>
                        </m:r>
                        <m:r>
                          <a:rPr lang="en-PH" sz="1800" i="1">
                            <a:latin typeface="Cambria Math"/>
                          </a:rPr>
                          <m:t>𝑏</m:t>
                        </m:r>
                        <m:r>
                          <a:rPr lang="en-PH" sz="1800" i="1">
                            <a:latin typeface="Cambria Math"/>
                          </a:rPr>
                          <m:t>−2</m:t>
                        </m:r>
                        <m:r>
                          <a:rPr lang="en-PH" sz="1800" i="1">
                            <a:latin typeface="Cambria Math"/>
                          </a:rPr>
                          <m:t>𝑐</m:t>
                        </m:r>
                      </m:num>
                      <m:den>
                        <m:r>
                          <a:rPr lang="en-PH" sz="1800" i="1">
                            <a:latin typeface="Cambria Math"/>
                          </a:rPr>
                          <m:t>3</m:t>
                        </m:r>
                      </m:den>
                    </m:f>
                    <m:r>
                      <a:rPr lang="en-PH" sz="1800" b="0" i="1" smtClean="0">
                        <a:latin typeface="Cambria Math"/>
                      </a:rPr>
                      <m:t> = </m:t>
                    </m:r>
                    <m:f>
                      <m:fPr>
                        <m:ctrlPr>
                          <a:rPr lang="en-PH" sz="1800" b="0" i="1" smtClean="0">
                            <a:latin typeface="Cambria Math" panose="02040503050406030204" pitchFamily="18" charset="0"/>
                          </a:rPr>
                        </m:ctrlPr>
                      </m:fPr>
                      <m:num>
                        <m:r>
                          <a:rPr lang="en-PH" sz="1800" b="0" i="1" smtClean="0">
                            <a:latin typeface="Cambria Math"/>
                          </a:rPr>
                          <m:t>−3</m:t>
                        </m:r>
                        <m:r>
                          <a:rPr lang="en-PH" sz="1800" b="0" i="1" smtClean="0">
                            <a:latin typeface="Cambria Math"/>
                          </a:rPr>
                          <m:t>𝑎</m:t>
                        </m:r>
                        <m:r>
                          <a:rPr lang="en-PH" sz="1800" b="0" i="1" smtClean="0">
                            <a:latin typeface="Cambria Math"/>
                          </a:rPr>
                          <m:t>+3</m:t>
                        </m:r>
                        <m:r>
                          <a:rPr lang="en-PH" sz="1800" b="0" i="1" smtClean="0">
                            <a:latin typeface="Cambria Math"/>
                          </a:rPr>
                          <m:t>𝑐</m:t>
                        </m:r>
                        <m:r>
                          <a:rPr lang="en-PH" sz="1800" b="0" i="1" smtClean="0">
                            <a:latin typeface="Cambria Math"/>
                          </a:rPr>
                          <m:t>+4</m:t>
                        </m:r>
                        <m:r>
                          <a:rPr lang="en-PH" sz="1800" b="0" i="1" smtClean="0">
                            <a:latin typeface="Cambria Math"/>
                          </a:rPr>
                          <m:t>𝑎</m:t>
                        </m:r>
                        <m:r>
                          <a:rPr lang="en-PH" sz="1800" b="0" i="1" smtClean="0">
                            <a:latin typeface="Cambria Math"/>
                          </a:rPr>
                          <m:t>−</m:t>
                        </m:r>
                        <m:r>
                          <a:rPr lang="en-PH" sz="1800" b="0" i="1" smtClean="0">
                            <a:latin typeface="Cambria Math"/>
                          </a:rPr>
                          <m:t>𝑏</m:t>
                        </m:r>
                        <m:r>
                          <a:rPr lang="en-PH" sz="1800" b="0" i="1" smtClean="0">
                            <a:latin typeface="Cambria Math"/>
                          </a:rPr>
                          <m:t>−2</m:t>
                        </m:r>
                        <m:r>
                          <a:rPr lang="en-PH" sz="1800" b="0" i="1" smtClean="0">
                            <a:latin typeface="Cambria Math"/>
                          </a:rPr>
                          <m:t>𝑐</m:t>
                        </m:r>
                      </m:num>
                      <m:den>
                        <m:r>
                          <a:rPr lang="en-PH" sz="1800" b="0" i="1" smtClean="0">
                            <a:latin typeface="Cambria Math"/>
                          </a:rPr>
                          <m:t>3</m:t>
                        </m:r>
                      </m:den>
                    </m:f>
                    <m:r>
                      <a:rPr lang="en-PH" sz="1800" b="0" i="1" smtClean="0">
                        <a:latin typeface="Cambria Math"/>
                      </a:rPr>
                      <m:t> = </m:t>
                    </m:r>
                    <m:f>
                      <m:fPr>
                        <m:ctrlPr>
                          <a:rPr lang="en-PH" sz="1800" b="0" i="1" smtClean="0">
                            <a:latin typeface="Cambria Math" panose="02040503050406030204" pitchFamily="18" charset="0"/>
                          </a:rPr>
                        </m:ctrlPr>
                      </m:fPr>
                      <m:num>
                        <m:r>
                          <a:rPr lang="en-PH" sz="1800" b="0" i="1" smtClean="0">
                            <a:latin typeface="Cambria Math"/>
                          </a:rPr>
                          <m:t>𝑎</m:t>
                        </m:r>
                        <m:r>
                          <a:rPr lang="en-PH" sz="1800" b="0" i="1" smtClean="0">
                            <a:latin typeface="Cambria Math"/>
                          </a:rPr>
                          <m:t>−</m:t>
                        </m:r>
                        <m:r>
                          <a:rPr lang="en-PH" sz="1800" b="0" i="1" smtClean="0">
                            <a:latin typeface="Cambria Math"/>
                          </a:rPr>
                          <m:t>𝑏</m:t>
                        </m:r>
                        <m:r>
                          <a:rPr lang="en-PH" sz="1800" b="0" i="1" smtClean="0">
                            <a:latin typeface="Cambria Math"/>
                          </a:rPr>
                          <m:t>+</m:t>
                        </m:r>
                        <m:r>
                          <a:rPr lang="en-PH" sz="1800" b="0" i="1" smtClean="0">
                            <a:latin typeface="Cambria Math"/>
                          </a:rPr>
                          <m:t>𝑐</m:t>
                        </m:r>
                      </m:num>
                      <m:den>
                        <m:r>
                          <a:rPr lang="en-PH" sz="1800" b="0" i="1" smtClean="0">
                            <a:latin typeface="Cambria Math"/>
                          </a:rPr>
                          <m:t>3</m:t>
                        </m:r>
                      </m:den>
                    </m:f>
                  </m:oMath>
                </a14:m>
                <a:r>
                  <a:rPr lang="en-PH" sz="1800" i="1" dirty="0"/>
                  <a:t>   </a:t>
                </a:r>
              </a:p>
              <a:p>
                <a:pPr marL="0" indent="0">
                  <a:buNone/>
                </a:pPr>
                <a:endParaRPr lang="en-PH" sz="1800" i="1" dirty="0"/>
              </a:p>
              <a:p>
                <a:pPr marL="0" indent="0">
                  <a:buNone/>
                </a:pPr>
                <a:endParaRPr lang="en-PH" sz="18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47800"/>
                <a:ext cx="8458200" cy="5181600"/>
              </a:xfrm>
              <a:blipFill rotWithShape="1">
                <a:blip r:embed="rId2"/>
                <a:stretch>
                  <a:fillRect l="-576" t="-588"/>
                </a:stretch>
              </a:blipFill>
            </p:spPr>
            <p:txBody>
              <a:bodyPr/>
              <a:lstStyle/>
              <a:p>
                <a:r>
                  <a:rPr lang="en-PH">
                    <a:noFill/>
                  </a:rPr>
                  <a:t> </a:t>
                </a:r>
              </a:p>
            </p:txBody>
          </p:sp>
        </mc:Fallback>
      </mc:AlternateContent>
    </p:spTree>
    <p:extLst>
      <p:ext uri="{BB962C8B-B14F-4D97-AF65-F5344CB8AC3E}">
        <p14:creationId xmlns:p14="http://schemas.microsoft.com/office/powerpoint/2010/main" val="25105029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447800"/>
                <a:ext cx="8458200" cy="5181600"/>
              </a:xfrm>
            </p:spPr>
            <p:txBody>
              <a:bodyPr>
                <a:normAutofit/>
              </a:bodyPr>
              <a:lstStyle/>
              <a:p>
                <a:pPr marL="0" indent="0">
                  <a:buNone/>
                </a:pPr>
                <a:r>
                  <a:rPr lang="en-PH" sz="1800" dirty="0"/>
                  <a:t>Cont.</a:t>
                </a:r>
                <a14:m>
                  <m:oMath xmlns:m="http://schemas.openxmlformats.org/officeDocument/2006/math">
                    <m:r>
                      <a:rPr lang="en-PH" sz="1800" b="0" i="1" smtClean="0">
                        <a:latin typeface="Cambria Math"/>
                      </a:rPr>
                      <m:t> </m:t>
                    </m:r>
                  </m:oMath>
                </a14:m>
                <a:endParaRPr lang="en-PH" sz="1800" i="1" dirty="0"/>
              </a:p>
              <a:p>
                <a:pPr marL="0" indent="0" algn="ctr">
                  <a:buNone/>
                </a:pPr>
                <a:endParaRPr lang="en-PH" sz="1800" i="1" dirty="0"/>
              </a:p>
              <a:p>
                <a:pPr marL="0" indent="0">
                  <a:buNone/>
                </a:pPr>
                <a:r>
                  <a:rPr lang="en-PH" sz="1800" i="1" dirty="0"/>
                  <a:t>Solve for c</a:t>
                </a:r>
                <a:r>
                  <a:rPr lang="en-PH" sz="1800" i="1" baseline="-25000" dirty="0"/>
                  <a:t>1</a:t>
                </a:r>
              </a:p>
              <a:p>
                <a:pPr marL="0" indent="0">
                  <a:buNone/>
                </a:pP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r>
                      <a:rPr lang="en-PH" sz="1800" i="1">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r>
                      <a:rPr lang="en-PH" sz="1800" i="1">
                        <a:latin typeface="Cambria Math"/>
                      </a:rPr>
                      <m:t>𝑎</m:t>
                    </m:r>
                  </m:oMath>
                </a14:m>
                <a:r>
                  <a:rPr lang="en-PH" sz="1800" i="1" dirty="0"/>
                  <a:t> </a:t>
                </a:r>
              </a:p>
              <a:p>
                <a:pPr marL="0" indent="0">
                  <a:buNone/>
                </a:pPr>
                <a:r>
                  <a:rPr lang="en-PH" sz="1800" dirty="0"/>
                  <a:t>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a:rPr lang="en-PH" sz="1800" i="1">
                        <a:latin typeface="Cambria Math"/>
                      </a:rPr>
                      <m:t>=</m:t>
                    </m:r>
                    <m:r>
                      <a:rPr lang="en-PH" sz="1800" i="1">
                        <a:latin typeface="Cambria Math"/>
                      </a:rPr>
                      <m:t>𝑎</m:t>
                    </m:r>
                    <m:r>
                      <a:rPr lang="en-PH" sz="1800" b="0" i="1" smtClean="0">
                        <a:latin typeface="Cambria Math"/>
                      </a:rPr>
                      <m:t> −</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r>
                      <a:rPr lang="en-PH" sz="1800" b="0" i="1" smtClean="0">
                        <a:latin typeface="Cambria Math"/>
                      </a:rPr>
                      <m:t>−</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oMath>
                </a14:m>
                <a:r>
                  <a:rPr lang="en-PH" sz="1800" i="1" dirty="0"/>
                  <a:t>  =  </a:t>
                </a:r>
                <a14:m>
                  <m:oMath xmlns:m="http://schemas.openxmlformats.org/officeDocument/2006/math">
                    <m:r>
                      <a:rPr lang="en-PH" sz="1800" b="0" i="1" smtClean="0">
                        <a:latin typeface="Cambria Math"/>
                      </a:rPr>
                      <m:t>𝑎</m:t>
                    </m:r>
                    <m:r>
                      <a:rPr lang="en-PH" sz="1800" b="0" i="1" smtClean="0">
                        <a:latin typeface="Cambria Math"/>
                      </a:rPr>
                      <m:t> −</m:t>
                    </m:r>
                    <m:f>
                      <m:fPr>
                        <m:ctrlPr>
                          <a:rPr lang="en-PH" sz="1800" i="1">
                            <a:latin typeface="Cambria Math" panose="02040503050406030204" pitchFamily="18" charset="0"/>
                          </a:rPr>
                        </m:ctrlPr>
                      </m:fPr>
                      <m:num>
                        <m:r>
                          <a:rPr lang="en-PH" sz="1800" i="1">
                            <a:latin typeface="Cambria Math"/>
                          </a:rPr>
                          <m:t>𝑎</m:t>
                        </m:r>
                        <m:r>
                          <a:rPr lang="en-PH" sz="1800" i="1">
                            <a:latin typeface="Cambria Math"/>
                          </a:rPr>
                          <m:t>−</m:t>
                        </m:r>
                        <m:r>
                          <a:rPr lang="en-PH" sz="1800" i="1">
                            <a:latin typeface="Cambria Math"/>
                          </a:rPr>
                          <m:t>𝑏</m:t>
                        </m:r>
                        <m:r>
                          <a:rPr lang="en-PH" sz="1800" i="1">
                            <a:latin typeface="Cambria Math"/>
                          </a:rPr>
                          <m:t>+</m:t>
                        </m:r>
                        <m:r>
                          <a:rPr lang="en-PH" sz="1800" i="1">
                            <a:latin typeface="Cambria Math"/>
                          </a:rPr>
                          <m:t>𝑐</m:t>
                        </m:r>
                      </m:num>
                      <m:den>
                        <m:r>
                          <a:rPr lang="en-PH" sz="1800" i="1">
                            <a:latin typeface="Cambria Math"/>
                          </a:rPr>
                          <m:t>3</m:t>
                        </m:r>
                      </m:den>
                    </m:f>
                    <m:r>
                      <a:rPr lang="en-PH" sz="1800" b="0" i="1" smtClean="0">
                        <a:latin typeface="Cambria Math"/>
                      </a:rPr>
                      <m:t>  −</m:t>
                    </m:r>
                  </m:oMath>
                </a14:m>
                <a:r>
                  <a:rPr lang="en-PH" sz="1800" i="1" dirty="0"/>
                  <a:t> </a:t>
                </a:r>
                <a14:m>
                  <m:oMath xmlns:m="http://schemas.openxmlformats.org/officeDocument/2006/math">
                    <m:f>
                      <m:fPr>
                        <m:ctrlPr>
                          <a:rPr lang="en-PH" sz="1800" i="1">
                            <a:latin typeface="Cambria Math" panose="02040503050406030204" pitchFamily="18" charset="0"/>
                          </a:rPr>
                        </m:ctrlPr>
                      </m:fPr>
                      <m:num>
                        <m:r>
                          <a:rPr lang="en-PH" sz="1800" i="1">
                            <a:latin typeface="Cambria Math"/>
                          </a:rPr>
                          <m:t>4</m:t>
                        </m:r>
                        <m:r>
                          <a:rPr lang="en-PH" sz="1800" i="1">
                            <a:latin typeface="Cambria Math"/>
                          </a:rPr>
                          <m:t>𝑎</m:t>
                        </m:r>
                        <m:r>
                          <a:rPr lang="en-PH" sz="1800" i="1">
                            <a:latin typeface="Cambria Math"/>
                          </a:rPr>
                          <m:t>−</m:t>
                        </m:r>
                        <m:r>
                          <a:rPr lang="en-PH" sz="1800" i="1">
                            <a:latin typeface="Cambria Math"/>
                          </a:rPr>
                          <m:t>𝑏</m:t>
                        </m:r>
                        <m:r>
                          <a:rPr lang="en-PH" sz="1800" i="1">
                            <a:latin typeface="Cambria Math"/>
                          </a:rPr>
                          <m:t>−2</m:t>
                        </m:r>
                        <m:r>
                          <a:rPr lang="en-PH" sz="1800" i="1">
                            <a:latin typeface="Cambria Math"/>
                          </a:rPr>
                          <m:t>𝑐</m:t>
                        </m:r>
                      </m:num>
                      <m:den>
                        <m:r>
                          <a:rPr lang="en-PH" sz="1800" i="1">
                            <a:latin typeface="Cambria Math"/>
                          </a:rPr>
                          <m:t>3</m:t>
                        </m:r>
                      </m:den>
                    </m:f>
                  </m:oMath>
                </a14:m>
                <a:r>
                  <a:rPr lang="en-PH" sz="1800" i="1" dirty="0"/>
                  <a:t>  = </a:t>
                </a:r>
                <a14:m>
                  <m:oMath xmlns:m="http://schemas.openxmlformats.org/officeDocument/2006/math">
                    <m:f>
                      <m:fPr>
                        <m:ctrlPr>
                          <a:rPr lang="en-PH" sz="1800" i="1" smtClean="0">
                            <a:latin typeface="Cambria Math" panose="02040503050406030204" pitchFamily="18" charset="0"/>
                          </a:rPr>
                        </m:ctrlPr>
                      </m:fPr>
                      <m:num>
                        <m:r>
                          <a:rPr lang="en-PH" sz="1800" b="0" i="1" smtClean="0">
                            <a:latin typeface="Cambria Math"/>
                          </a:rPr>
                          <m:t>3</m:t>
                        </m:r>
                        <m:r>
                          <a:rPr lang="en-PH" sz="1800" b="0" i="1" smtClean="0">
                            <a:latin typeface="Cambria Math"/>
                          </a:rPr>
                          <m:t>𝑎</m:t>
                        </m:r>
                        <m:r>
                          <a:rPr lang="en-PH" sz="1800" b="0" i="1" smtClean="0">
                            <a:latin typeface="Cambria Math"/>
                          </a:rPr>
                          <m:t> −</m:t>
                        </m:r>
                        <m:r>
                          <a:rPr lang="en-PH" sz="1800" b="0" i="1" smtClean="0">
                            <a:latin typeface="Cambria Math"/>
                          </a:rPr>
                          <m:t>𝑎</m:t>
                        </m:r>
                        <m:r>
                          <a:rPr lang="en-PH" sz="1800" b="0" i="1" smtClean="0">
                            <a:latin typeface="Cambria Math"/>
                          </a:rPr>
                          <m:t>+</m:t>
                        </m:r>
                        <m:r>
                          <a:rPr lang="en-PH" sz="1800" b="0" i="1" smtClean="0">
                            <a:latin typeface="Cambria Math"/>
                          </a:rPr>
                          <m:t>𝑏</m:t>
                        </m:r>
                        <m:r>
                          <a:rPr lang="en-PH" sz="1800" b="0" i="1" smtClean="0">
                            <a:latin typeface="Cambria Math"/>
                          </a:rPr>
                          <m:t>−</m:t>
                        </m:r>
                        <m:r>
                          <a:rPr lang="en-PH" sz="1800" b="0" i="1" smtClean="0">
                            <a:latin typeface="Cambria Math"/>
                          </a:rPr>
                          <m:t>𝑐</m:t>
                        </m:r>
                        <m:r>
                          <a:rPr lang="en-PH" sz="1800" b="0" i="1" smtClean="0">
                            <a:latin typeface="Cambria Math"/>
                          </a:rPr>
                          <m:t>−4</m:t>
                        </m:r>
                        <m:r>
                          <a:rPr lang="en-PH" sz="1800" b="0" i="1" smtClean="0">
                            <a:latin typeface="Cambria Math"/>
                          </a:rPr>
                          <m:t>𝑎</m:t>
                        </m:r>
                        <m:r>
                          <a:rPr lang="en-PH" sz="1800" b="0" i="1" smtClean="0">
                            <a:latin typeface="Cambria Math"/>
                          </a:rPr>
                          <m:t>+</m:t>
                        </m:r>
                        <m:r>
                          <a:rPr lang="en-PH" sz="1800" b="0" i="1" smtClean="0">
                            <a:latin typeface="Cambria Math"/>
                          </a:rPr>
                          <m:t>𝑏</m:t>
                        </m:r>
                        <m:r>
                          <a:rPr lang="en-PH" sz="1800" b="0" i="1" smtClean="0">
                            <a:latin typeface="Cambria Math"/>
                          </a:rPr>
                          <m:t>+2</m:t>
                        </m:r>
                        <m:r>
                          <a:rPr lang="en-PH" sz="1800" b="0" i="1" smtClean="0">
                            <a:latin typeface="Cambria Math"/>
                          </a:rPr>
                          <m:t>𝑐</m:t>
                        </m:r>
                      </m:num>
                      <m:den>
                        <m:r>
                          <a:rPr lang="en-PH" sz="1800" b="0" i="1" smtClean="0">
                            <a:latin typeface="Cambria Math"/>
                          </a:rPr>
                          <m:t>3</m:t>
                        </m:r>
                      </m:den>
                    </m:f>
                    <m:r>
                      <a:rPr lang="en-PH" sz="1800" b="0" i="1" smtClean="0">
                        <a:latin typeface="Cambria Math"/>
                      </a:rPr>
                      <m:t> = </m:t>
                    </m:r>
                    <m:f>
                      <m:fPr>
                        <m:ctrlPr>
                          <a:rPr lang="en-PH" sz="1800" b="0" i="1" smtClean="0">
                            <a:latin typeface="Cambria Math" panose="02040503050406030204" pitchFamily="18" charset="0"/>
                          </a:rPr>
                        </m:ctrlPr>
                      </m:fPr>
                      <m:num>
                        <m:r>
                          <a:rPr lang="en-PH" sz="1800" b="0" i="1" smtClean="0">
                            <a:latin typeface="Cambria Math"/>
                          </a:rPr>
                          <m:t>−2</m:t>
                        </m:r>
                        <m:r>
                          <a:rPr lang="en-PH" sz="1800" b="0" i="1" smtClean="0">
                            <a:latin typeface="Cambria Math"/>
                          </a:rPr>
                          <m:t>𝑎</m:t>
                        </m:r>
                        <m:r>
                          <a:rPr lang="en-PH" sz="1800" b="0" i="1" smtClean="0">
                            <a:latin typeface="Cambria Math"/>
                          </a:rPr>
                          <m:t>+2</m:t>
                        </m:r>
                        <m:r>
                          <a:rPr lang="en-PH" sz="1800" b="0" i="1" smtClean="0">
                            <a:latin typeface="Cambria Math"/>
                          </a:rPr>
                          <m:t>𝑏</m:t>
                        </m:r>
                        <m:r>
                          <a:rPr lang="en-PH" sz="1800" b="0" i="1" smtClean="0">
                            <a:latin typeface="Cambria Math"/>
                          </a:rPr>
                          <m:t>+</m:t>
                        </m:r>
                        <m:r>
                          <a:rPr lang="en-PH" sz="1800" b="0" i="1" smtClean="0">
                            <a:latin typeface="Cambria Math"/>
                          </a:rPr>
                          <m:t>𝑐</m:t>
                        </m:r>
                      </m:num>
                      <m:den>
                        <m:r>
                          <a:rPr lang="en-PH" sz="1800" b="0" i="1" smtClean="0">
                            <a:latin typeface="Cambria Math"/>
                          </a:rPr>
                          <m:t>3</m:t>
                        </m:r>
                      </m:den>
                    </m:f>
                  </m:oMath>
                </a14:m>
                <a:r>
                  <a:rPr lang="en-PH" sz="1800" i="1" dirty="0"/>
                  <a:t> </a:t>
                </a:r>
              </a:p>
              <a:p>
                <a:pPr marL="0" indent="0">
                  <a:buNone/>
                </a:pPr>
                <a:endParaRPr lang="en-PH" sz="1800" i="1" dirty="0"/>
              </a:p>
              <a:p>
                <a:pPr marL="0" indent="0">
                  <a:buNone/>
                </a:pPr>
                <a:r>
                  <a:rPr lang="en-PH" sz="1800" b="1" i="1" dirty="0"/>
                  <a:t>The solution is:    </a:t>
                </a:r>
                <a14:m>
                  <m:oMath xmlns:m="http://schemas.openxmlformats.org/officeDocument/2006/math">
                    <m:sSub>
                      <m:sSubPr>
                        <m:ctrlPr>
                          <a:rPr lang="en-PH" sz="1800" b="1" i="1" smtClean="0">
                            <a:latin typeface="Cambria Math" panose="02040503050406030204" pitchFamily="18" charset="0"/>
                          </a:rPr>
                        </m:ctrlPr>
                      </m:sSubPr>
                      <m:e>
                        <m:r>
                          <a:rPr lang="en-PH" sz="1800" b="1" i="1" smtClean="0">
                            <a:latin typeface="Cambria Math"/>
                          </a:rPr>
                          <m:t>𝒄</m:t>
                        </m:r>
                      </m:e>
                      <m:sub>
                        <m:r>
                          <a:rPr lang="en-PH" sz="1800" b="1" i="1" smtClean="0">
                            <a:latin typeface="Cambria Math"/>
                          </a:rPr>
                          <m:t>𝟏</m:t>
                        </m:r>
                      </m:sub>
                    </m:sSub>
                    <m:r>
                      <a:rPr lang="en-PH" sz="1800" b="1" i="1" smtClean="0">
                        <a:latin typeface="Cambria Math"/>
                      </a:rPr>
                      <m:t>=</m:t>
                    </m:r>
                    <m:f>
                      <m:fPr>
                        <m:ctrlPr>
                          <a:rPr lang="en-PH" sz="1800" b="1" i="1">
                            <a:latin typeface="Cambria Math" panose="02040503050406030204" pitchFamily="18" charset="0"/>
                          </a:rPr>
                        </m:ctrlPr>
                      </m:fPr>
                      <m:num>
                        <m:r>
                          <a:rPr lang="en-PH" sz="1800" b="1" i="1">
                            <a:latin typeface="Cambria Math"/>
                          </a:rPr>
                          <m:t>−</m:t>
                        </m:r>
                        <m:r>
                          <a:rPr lang="en-PH" sz="1800" b="1" i="1">
                            <a:latin typeface="Cambria Math"/>
                          </a:rPr>
                          <m:t>𝟐</m:t>
                        </m:r>
                        <m:r>
                          <a:rPr lang="en-PH" sz="1800" b="1" i="1">
                            <a:latin typeface="Cambria Math"/>
                          </a:rPr>
                          <m:t>𝒂</m:t>
                        </m:r>
                        <m:r>
                          <a:rPr lang="en-PH" sz="1800" b="1" i="1">
                            <a:latin typeface="Cambria Math"/>
                          </a:rPr>
                          <m:t>+</m:t>
                        </m:r>
                        <m:r>
                          <a:rPr lang="en-PH" sz="1800" b="1" i="1">
                            <a:latin typeface="Cambria Math"/>
                          </a:rPr>
                          <m:t>𝟐</m:t>
                        </m:r>
                        <m:r>
                          <a:rPr lang="en-PH" sz="1800" b="1" i="1">
                            <a:latin typeface="Cambria Math"/>
                          </a:rPr>
                          <m:t>𝒃</m:t>
                        </m:r>
                        <m:r>
                          <a:rPr lang="en-PH" sz="1800" b="1" i="1">
                            <a:latin typeface="Cambria Math"/>
                          </a:rPr>
                          <m:t>+</m:t>
                        </m:r>
                        <m:r>
                          <a:rPr lang="en-PH" sz="1800" b="1" i="1">
                            <a:latin typeface="Cambria Math"/>
                          </a:rPr>
                          <m:t>𝒄</m:t>
                        </m:r>
                      </m:num>
                      <m:den>
                        <m:r>
                          <a:rPr lang="en-PH" sz="1800" b="1" i="1">
                            <a:latin typeface="Cambria Math"/>
                          </a:rPr>
                          <m:t>𝟑</m:t>
                        </m:r>
                      </m:den>
                    </m:f>
                  </m:oMath>
                </a14:m>
                <a:r>
                  <a:rPr lang="en-PH" sz="1800" b="1" i="1" dirty="0"/>
                  <a:t>  ,    </a:t>
                </a:r>
                <a14:m>
                  <m:oMath xmlns:m="http://schemas.openxmlformats.org/officeDocument/2006/math">
                    <m:sSub>
                      <m:sSubPr>
                        <m:ctrlPr>
                          <a:rPr lang="en-PH" sz="1800" b="1" i="1" smtClean="0">
                            <a:latin typeface="Cambria Math" panose="02040503050406030204" pitchFamily="18" charset="0"/>
                          </a:rPr>
                        </m:ctrlPr>
                      </m:sSubPr>
                      <m:e>
                        <m:r>
                          <a:rPr lang="en-PH" sz="1800" b="1" i="1" smtClean="0">
                            <a:latin typeface="Cambria Math"/>
                          </a:rPr>
                          <m:t>𝒄</m:t>
                        </m:r>
                      </m:e>
                      <m:sub>
                        <m:r>
                          <a:rPr lang="en-PH" sz="1800" b="1" i="1" smtClean="0">
                            <a:latin typeface="Cambria Math"/>
                          </a:rPr>
                          <m:t>𝟐</m:t>
                        </m:r>
                      </m:sub>
                    </m:sSub>
                    <m:r>
                      <a:rPr lang="en-PH" sz="1800" b="1" i="1" smtClean="0">
                        <a:latin typeface="Cambria Math"/>
                      </a:rPr>
                      <m:t>=</m:t>
                    </m:r>
                    <m:f>
                      <m:fPr>
                        <m:ctrlPr>
                          <a:rPr lang="en-PH" sz="1800" b="1" i="1">
                            <a:latin typeface="Cambria Math" panose="02040503050406030204" pitchFamily="18" charset="0"/>
                          </a:rPr>
                        </m:ctrlPr>
                      </m:fPr>
                      <m:num>
                        <m:r>
                          <a:rPr lang="en-PH" sz="1800" b="1" i="1">
                            <a:latin typeface="Cambria Math"/>
                          </a:rPr>
                          <m:t>𝒂</m:t>
                        </m:r>
                        <m:r>
                          <a:rPr lang="en-PH" sz="1800" b="1" i="1">
                            <a:latin typeface="Cambria Math"/>
                          </a:rPr>
                          <m:t>−</m:t>
                        </m:r>
                        <m:r>
                          <a:rPr lang="en-PH" sz="1800" b="1" i="1">
                            <a:latin typeface="Cambria Math"/>
                          </a:rPr>
                          <m:t>𝒃</m:t>
                        </m:r>
                        <m:r>
                          <a:rPr lang="en-PH" sz="1800" b="1" i="1">
                            <a:latin typeface="Cambria Math"/>
                          </a:rPr>
                          <m:t>+</m:t>
                        </m:r>
                        <m:r>
                          <a:rPr lang="en-PH" sz="1800" b="1" i="1">
                            <a:latin typeface="Cambria Math"/>
                          </a:rPr>
                          <m:t>𝒄</m:t>
                        </m:r>
                      </m:num>
                      <m:den>
                        <m:r>
                          <a:rPr lang="en-PH" sz="1800" b="1" i="1">
                            <a:latin typeface="Cambria Math"/>
                          </a:rPr>
                          <m:t>𝟑</m:t>
                        </m:r>
                      </m:den>
                    </m:f>
                  </m:oMath>
                </a14:m>
                <a:r>
                  <a:rPr lang="en-PH" sz="1800" b="1" i="1" dirty="0"/>
                  <a:t>   ,  and  </a:t>
                </a:r>
                <a14:m>
                  <m:oMath xmlns:m="http://schemas.openxmlformats.org/officeDocument/2006/math">
                    <m:sSub>
                      <m:sSubPr>
                        <m:ctrlPr>
                          <a:rPr lang="en-PH" sz="1800" b="1" i="1" smtClean="0">
                            <a:latin typeface="Cambria Math" panose="02040503050406030204" pitchFamily="18" charset="0"/>
                          </a:rPr>
                        </m:ctrlPr>
                      </m:sSubPr>
                      <m:e>
                        <m:r>
                          <a:rPr lang="en-PH" sz="1800" b="1" i="1" smtClean="0">
                            <a:latin typeface="Cambria Math"/>
                          </a:rPr>
                          <m:t>𝒄</m:t>
                        </m:r>
                      </m:e>
                      <m:sub>
                        <m:r>
                          <a:rPr lang="en-PH" sz="1800" b="1" i="1" smtClean="0">
                            <a:latin typeface="Cambria Math"/>
                          </a:rPr>
                          <m:t>𝟑</m:t>
                        </m:r>
                      </m:sub>
                    </m:sSub>
                    <m:r>
                      <a:rPr lang="en-PH" sz="1800" b="1" i="1" smtClean="0">
                        <a:latin typeface="Cambria Math"/>
                      </a:rPr>
                      <m:t>=</m:t>
                    </m:r>
                    <m:f>
                      <m:fPr>
                        <m:ctrlPr>
                          <a:rPr lang="en-PH" sz="1800" b="1" i="1">
                            <a:latin typeface="Cambria Math" panose="02040503050406030204" pitchFamily="18" charset="0"/>
                          </a:rPr>
                        </m:ctrlPr>
                      </m:fPr>
                      <m:num>
                        <m:r>
                          <a:rPr lang="en-PH" sz="1800" b="1" i="1">
                            <a:latin typeface="Cambria Math"/>
                          </a:rPr>
                          <m:t>𝟒</m:t>
                        </m:r>
                        <m:r>
                          <a:rPr lang="en-PH" sz="1800" b="1" i="1">
                            <a:latin typeface="Cambria Math"/>
                          </a:rPr>
                          <m:t>𝒂</m:t>
                        </m:r>
                        <m:r>
                          <a:rPr lang="en-PH" sz="1800" b="1" i="1">
                            <a:latin typeface="Cambria Math"/>
                          </a:rPr>
                          <m:t>−</m:t>
                        </m:r>
                        <m:r>
                          <a:rPr lang="en-PH" sz="1800" b="1" i="1">
                            <a:latin typeface="Cambria Math"/>
                          </a:rPr>
                          <m:t>𝒃</m:t>
                        </m:r>
                        <m:r>
                          <a:rPr lang="en-PH" sz="1800" b="1" i="1">
                            <a:latin typeface="Cambria Math"/>
                          </a:rPr>
                          <m:t>−</m:t>
                        </m:r>
                        <m:r>
                          <a:rPr lang="en-PH" sz="1800" b="1" i="1">
                            <a:latin typeface="Cambria Math"/>
                          </a:rPr>
                          <m:t>𝟐</m:t>
                        </m:r>
                        <m:r>
                          <a:rPr lang="en-PH" sz="1800" b="1" i="1">
                            <a:latin typeface="Cambria Math"/>
                          </a:rPr>
                          <m:t>𝒄</m:t>
                        </m:r>
                      </m:num>
                      <m:den>
                        <m:r>
                          <a:rPr lang="en-PH" sz="1800" b="1" i="1">
                            <a:latin typeface="Cambria Math"/>
                          </a:rPr>
                          <m:t>𝟑</m:t>
                        </m:r>
                      </m:den>
                    </m:f>
                  </m:oMath>
                </a14:m>
                <a:endParaRPr lang="en-PH" sz="1800" b="1" i="1" dirty="0"/>
              </a:p>
              <a:p>
                <a:pPr marL="0" indent="0">
                  <a:buNone/>
                </a:pPr>
                <a:endParaRPr lang="en-PH" sz="1800" b="1" i="1" dirty="0"/>
              </a:p>
              <a:p>
                <a:pPr marL="0" indent="0">
                  <a:buNone/>
                </a:pPr>
                <a:r>
                  <a:rPr lang="en-PH" sz="1800" i="1" dirty="0"/>
                  <a:t>	Since the linear combination  has a solution ,then we conclude that        v</a:t>
                </a:r>
                <a:r>
                  <a:rPr lang="en-PH" sz="1800" i="1" baseline="-25000" dirty="0"/>
                  <a:t>1</a:t>
                </a:r>
                <a:r>
                  <a:rPr lang="en-PH" sz="1800" i="1" dirty="0"/>
                  <a:t>, v</a:t>
                </a:r>
                <a:r>
                  <a:rPr lang="en-PH" sz="1800" i="1" baseline="-25000" dirty="0"/>
                  <a:t>2</a:t>
                </a:r>
                <a:r>
                  <a:rPr lang="en-PH" sz="1800" i="1" dirty="0"/>
                  <a:t>, v</a:t>
                </a:r>
                <a:r>
                  <a:rPr lang="en-PH" sz="1800" i="1" baseline="-25000" dirty="0"/>
                  <a:t>3</a:t>
                </a:r>
                <a:r>
                  <a:rPr lang="en-PH" sz="1800" i="1" dirty="0"/>
                  <a:t> span V  or we say that  </a:t>
                </a:r>
                <a14:m>
                  <m:oMath xmlns:m="http://schemas.openxmlformats.org/officeDocument/2006/math">
                    <m:r>
                      <a:rPr lang="en-PH" sz="1800" b="0" i="1" smtClean="0">
                        <a:latin typeface="Cambria Math"/>
                      </a:rPr>
                      <m:t>𝑠𝑝𝑎𝑛</m:t>
                    </m:r>
                    <m:r>
                      <a:rPr lang="en-PH" sz="1800" b="0" i="1" smtClean="0">
                        <a:latin typeface="Cambria Math"/>
                      </a:rPr>
                      <m:t> </m:t>
                    </m:r>
                    <m:d>
                      <m:dPr>
                        <m:begChr m:val="{"/>
                        <m:endChr m:val="}"/>
                        <m:ctrlPr>
                          <a:rPr lang="en-PH" sz="1800" b="0" i="1" smtClean="0">
                            <a:latin typeface="Cambria Math" panose="02040503050406030204" pitchFamily="18" charset="0"/>
                          </a:rPr>
                        </m:ctrlPr>
                      </m:dPr>
                      <m:e>
                        <m:sSub>
                          <m:sSubPr>
                            <m:ctrlPr>
                              <a:rPr lang="en-PH" sz="1800" b="1" i="1" smtClean="0">
                                <a:latin typeface="Cambria Math" panose="02040503050406030204" pitchFamily="18" charset="0"/>
                              </a:rPr>
                            </m:ctrlPr>
                          </m:sSubPr>
                          <m:e>
                            <m:r>
                              <a:rPr lang="en-PH" sz="1800" b="1" i="0" smtClean="0">
                                <a:latin typeface="Cambria Math"/>
                              </a:rPr>
                              <m:t>𝐯</m:t>
                            </m:r>
                          </m:e>
                          <m:sub>
                            <m:r>
                              <a:rPr lang="en-PH" sz="1800" b="1" i="0" smtClean="0">
                                <a:latin typeface="Cambria Math"/>
                              </a:rPr>
                              <m:t>𝟏</m:t>
                            </m:r>
                          </m:sub>
                        </m:sSub>
                        <m:r>
                          <a:rPr lang="en-PH" sz="1800" b="1" i="0" smtClean="0">
                            <a:latin typeface="Cambria Math"/>
                          </a:rPr>
                          <m:t>, </m:t>
                        </m:r>
                        <m:sSub>
                          <m:sSubPr>
                            <m:ctrlPr>
                              <a:rPr lang="en-PH" sz="1800" b="1" i="1" smtClean="0">
                                <a:latin typeface="Cambria Math" panose="02040503050406030204" pitchFamily="18" charset="0"/>
                              </a:rPr>
                            </m:ctrlPr>
                          </m:sSubPr>
                          <m:e>
                            <m:r>
                              <a:rPr lang="en-PH" sz="1800" b="1" i="0" smtClean="0">
                                <a:latin typeface="Cambria Math"/>
                              </a:rPr>
                              <m:t>𝐯</m:t>
                            </m:r>
                          </m:e>
                          <m:sub>
                            <m:r>
                              <a:rPr lang="en-PH" sz="1800" b="1" i="0" smtClean="0">
                                <a:latin typeface="Cambria Math"/>
                              </a:rPr>
                              <m:t>𝟐</m:t>
                            </m:r>
                          </m:sub>
                        </m:sSub>
                        <m:r>
                          <a:rPr lang="en-PH" sz="1800" b="1" i="0" smtClean="0">
                            <a:latin typeface="Cambria Math"/>
                          </a:rPr>
                          <m:t>, </m:t>
                        </m:r>
                        <m:sSub>
                          <m:sSubPr>
                            <m:ctrlPr>
                              <a:rPr lang="en-PH" sz="1800" b="1" i="1" smtClean="0">
                                <a:latin typeface="Cambria Math" panose="02040503050406030204" pitchFamily="18" charset="0"/>
                              </a:rPr>
                            </m:ctrlPr>
                          </m:sSubPr>
                          <m:e>
                            <m:r>
                              <a:rPr lang="en-PH" sz="1800" b="1" i="0" smtClean="0">
                                <a:latin typeface="Cambria Math"/>
                              </a:rPr>
                              <m:t>𝐯</m:t>
                            </m:r>
                          </m:e>
                          <m:sub>
                            <m:r>
                              <a:rPr lang="en-PH" sz="1800" b="1" i="0" smtClean="0">
                                <a:latin typeface="Cambria Math"/>
                              </a:rPr>
                              <m:t>𝟑</m:t>
                            </m:r>
                          </m:sub>
                        </m:sSub>
                        <m:r>
                          <a:rPr lang="en-PH" sz="1800" b="0" i="1" smtClean="0">
                            <a:latin typeface="Cambria Math"/>
                          </a:rPr>
                          <m:t> </m:t>
                        </m:r>
                      </m:e>
                    </m:d>
                    <m:r>
                      <a:rPr lang="en-PH" sz="1800" b="0" i="1" smtClean="0">
                        <a:latin typeface="Cambria Math"/>
                      </a:rPr>
                      <m:t>= </m:t>
                    </m:r>
                    <m:sSup>
                      <m:sSupPr>
                        <m:ctrlPr>
                          <a:rPr lang="en-PH" sz="1800" b="0" i="1" smtClean="0">
                            <a:latin typeface="Cambria Math" panose="02040503050406030204" pitchFamily="18" charset="0"/>
                          </a:rPr>
                        </m:ctrlPr>
                      </m:sSupPr>
                      <m:e>
                        <m:r>
                          <a:rPr lang="en-PH" sz="1800" b="0" i="1" smtClean="0">
                            <a:latin typeface="Cambria Math"/>
                          </a:rPr>
                          <m:t>𝑅</m:t>
                        </m:r>
                      </m:e>
                      <m:sup>
                        <m:r>
                          <a:rPr lang="en-PH" sz="1800" b="0" i="1" smtClean="0">
                            <a:latin typeface="Cambria Math"/>
                          </a:rPr>
                          <m:t>3</m:t>
                        </m:r>
                      </m:sup>
                    </m:sSup>
                    <m:r>
                      <a:rPr lang="en-PH" sz="1800" b="0" i="1" smtClean="0">
                        <a:latin typeface="Cambria Math"/>
                      </a:rPr>
                      <m:t>.</m:t>
                    </m:r>
                  </m:oMath>
                </a14:m>
                <a:endParaRPr lang="en-PH" sz="1800" i="1" dirty="0"/>
              </a:p>
              <a:p>
                <a:pPr marL="0" indent="0">
                  <a:buNone/>
                </a:pPr>
                <a:endParaRPr lang="en-PH" sz="1800" i="1" dirty="0"/>
              </a:p>
              <a:p>
                <a:pPr marL="0" indent="0">
                  <a:buNone/>
                </a:pPr>
                <a:r>
                  <a:rPr lang="en-PH" sz="1800" i="1" dirty="0"/>
                  <a:t>To illustrate the concept of spanning  see next slide.</a:t>
                </a:r>
              </a:p>
              <a:p>
                <a:pPr marL="0" indent="0">
                  <a:buNone/>
                </a:pPr>
                <a:r>
                  <a:rPr lang="en-PH" sz="1800" i="1"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447800"/>
                <a:ext cx="8458200" cy="5181600"/>
              </a:xfrm>
              <a:blipFill>
                <a:blip r:embed="rId2"/>
                <a:stretch>
                  <a:fillRect l="-576" t="-706"/>
                </a:stretch>
              </a:blipFill>
            </p:spPr>
            <p:txBody>
              <a:bodyPr/>
              <a:lstStyle/>
              <a:p>
                <a:r>
                  <a:rPr lang="en-PH">
                    <a:noFill/>
                  </a:rPr>
                  <a:t> </a:t>
                </a:r>
              </a:p>
            </p:txBody>
          </p:sp>
        </mc:Fallback>
      </mc:AlternateContent>
    </p:spTree>
    <p:extLst>
      <p:ext uri="{BB962C8B-B14F-4D97-AF65-F5344CB8AC3E}">
        <p14:creationId xmlns:p14="http://schemas.microsoft.com/office/powerpoint/2010/main" val="3543267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457200"/>
            <a:ext cx="8229600" cy="381000"/>
          </a:xfrm>
        </p:spPr>
        <p:txBody>
          <a:bodyPr>
            <a:noAutofit/>
          </a:bodyPr>
          <a:lstStyle/>
          <a:p>
            <a:r>
              <a:rPr lang="en-PH" sz="2000"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838200"/>
                <a:ext cx="8458200" cy="5791200"/>
              </a:xfrm>
            </p:spPr>
            <p:txBody>
              <a:bodyPr>
                <a:normAutofit fontScale="92500" lnSpcReduction="10000"/>
              </a:bodyPr>
              <a:lstStyle/>
              <a:p>
                <a:pPr marL="0" indent="0">
                  <a:buNone/>
                </a:pPr>
                <a:r>
                  <a:rPr lang="en-PH" sz="1800" i="1" dirty="0"/>
                  <a:t>To illustrate spanning, let say we have a vector  </a:t>
                </a:r>
                <a14:m>
                  <m:oMath xmlns:m="http://schemas.openxmlformats.org/officeDocument/2006/math">
                    <m:r>
                      <a:rPr lang="en-PH" sz="1800" b="1" i="0" smtClean="0">
                        <a:latin typeface="Cambria Math"/>
                      </a:rPr>
                      <m:t>𝐯</m:t>
                    </m:r>
                    <m:r>
                      <a:rPr lang="en-PH" sz="1800" b="1" i="0" smtClean="0">
                        <a:latin typeface="Cambria Math"/>
                      </a:rPr>
                      <m:t>= </m:t>
                    </m:r>
                    <m:d>
                      <m:dPr>
                        <m:begChr m:val="["/>
                        <m:endChr m:val="]"/>
                        <m:ctrlPr>
                          <a:rPr lang="en-PH" sz="1800" b="1" i="1" smtClean="0">
                            <a:latin typeface="Cambria Math" panose="02040503050406030204" pitchFamily="18" charset="0"/>
                          </a:rPr>
                        </m:ctrlPr>
                      </m:dPr>
                      <m:e>
                        <m:m>
                          <m:mPr>
                            <m:mcs>
                              <m:mc>
                                <m:mcPr>
                                  <m:count m:val="1"/>
                                  <m:mcJc m:val="center"/>
                                </m:mcPr>
                              </m:mc>
                            </m:mcs>
                            <m:ctrlPr>
                              <a:rPr lang="en-PH" sz="1800" b="1" i="1" smtClean="0">
                                <a:latin typeface="Cambria Math" panose="02040503050406030204" pitchFamily="18" charset="0"/>
                              </a:rPr>
                            </m:ctrlPr>
                          </m:mPr>
                          <m:mr>
                            <m:e>
                              <m:r>
                                <m:rPr>
                                  <m:brk m:alnAt="7"/>
                                </m:rPr>
                                <a:rPr lang="en-US" sz="1800" b="1" i="1" smtClean="0">
                                  <a:latin typeface="Cambria Math" panose="02040503050406030204" pitchFamily="18" charset="0"/>
                                </a:rPr>
                                <m:t>𝒂</m:t>
                              </m:r>
                              <m:r>
                                <a:rPr lang="en-US" sz="1800" b="1" i="1" smtClean="0">
                                  <a:latin typeface="Cambria Math" panose="02040503050406030204" pitchFamily="18" charset="0"/>
                                </a:rPr>
                                <m:t>=</m:t>
                              </m:r>
                              <m:r>
                                <a:rPr lang="en-PH" sz="1800" b="1" i="1" smtClean="0">
                                  <a:latin typeface="Cambria Math"/>
                                </a:rPr>
                                <m:t>𝟑</m:t>
                              </m:r>
                            </m:e>
                          </m:mr>
                          <m:mr>
                            <m:e>
                              <m:r>
                                <a:rPr lang="en-US" sz="1800" b="1" i="1" smtClean="0">
                                  <a:latin typeface="Cambria Math" panose="02040503050406030204" pitchFamily="18" charset="0"/>
                                </a:rPr>
                                <m:t>𝒃</m:t>
                              </m:r>
                              <m:r>
                                <a:rPr lang="en-US" sz="1800" b="1" i="1" smtClean="0">
                                  <a:latin typeface="Cambria Math" panose="02040503050406030204" pitchFamily="18" charset="0"/>
                                </a:rPr>
                                <m:t>=−</m:t>
                              </m:r>
                              <m:r>
                                <a:rPr lang="en-PH" sz="1800" b="1" i="1" smtClean="0">
                                  <a:latin typeface="Cambria Math"/>
                                </a:rPr>
                                <m:t>𝟏</m:t>
                              </m:r>
                            </m:e>
                          </m:mr>
                          <m:mr>
                            <m:e>
                              <m:r>
                                <a:rPr lang="en-US" sz="1800" b="1" i="1" smtClean="0">
                                  <a:latin typeface="Cambria Math" panose="02040503050406030204" pitchFamily="18" charset="0"/>
                                </a:rPr>
                                <m:t>𝒄</m:t>
                              </m:r>
                              <m:r>
                                <a:rPr lang="en-US" sz="1800" b="1" i="1" smtClean="0">
                                  <a:latin typeface="Cambria Math" panose="02040503050406030204" pitchFamily="18" charset="0"/>
                                </a:rPr>
                                <m:t>= </m:t>
                              </m:r>
                              <m:r>
                                <a:rPr lang="en-PH" sz="1800" b="1" i="1" smtClean="0">
                                  <a:latin typeface="Cambria Math"/>
                                </a:rPr>
                                <m:t>𝟓</m:t>
                              </m:r>
                            </m:e>
                          </m:mr>
                        </m:m>
                      </m:e>
                    </m:d>
                  </m:oMath>
                </a14:m>
                <a:endParaRPr lang="en-PH" sz="1800" b="1" dirty="0"/>
              </a:p>
              <a:p>
                <a:pPr marL="0" indent="0">
                  <a:buNone/>
                </a:pPr>
                <a:endParaRPr lang="en-PH" sz="1800" i="1" dirty="0"/>
              </a:p>
              <a:p>
                <a:pPr marL="0" indent="0">
                  <a:buNone/>
                </a:pPr>
                <a:r>
                  <a:rPr lang="en-PH" sz="2000" b="1" dirty="0"/>
                  <a:t>Solve for: </a:t>
                </a:r>
                <a14:m>
                  <m:oMath xmlns:m="http://schemas.openxmlformats.org/officeDocument/2006/math">
                    <m:sSub>
                      <m:sSubPr>
                        <m:ctrlPr>
                          <a:rPr lang="en-PH" sz="2000" b="1" i="1" smtClean="0">
                            <a:latin typeface="Cambria Math" panose="02040503050406030204" pitchFamily="18" charset="0"/>
                          </a:rPr>
                        </m:ctrlPr>
                      </m:sSubPr>
                      <m:e>
                        <m:r>
                          <a:rPr lang="en-PH" sz="2000" b="1" i="0" smtClean="0">
                            <a:latin typeface="Cambria Math"/>
                          </a:rPr>
                          <m:t>𝐜</m:t>
                        </m:r>
                      </m:e>
                      <m:sub>
                        <m:r>
                          <a:rPr lang="en-PH" sz="2000" b="1" i="0" smtClean="0">
                            <a:latin typeface="Cambria Math"/>
                          </a:rPr>
                          <m:t>𝟏</m:t>
                        </m:r>
                      </m:sub>
                    </m:sSub>
                    <m:r>
                      <a:rPr lang="en-PH" sz="2000" b="1" i="0" smtClean="0">
                        <a:latin typeface="Cambria Math"/>
                      </a:rPr>
                      <m:t>=</m:t>
                    </m:r>
                    <m:f>
                      <m:fPr>
                        <m:ctrlPr>
                          <a:rPr lang="en-PH" sz="2000" b="1" i="1">
                            <a:latin typeface="Cambria Math" panose="02040503050406030204" pitchFamily="18" charset="0"/>
                          </a:rPr>
                        </m:ctrlPr>
                      </m:fPr>
                      <m:num>
                        <m:r>
                          <a:rPr lang="en-PH" sz="2000" b="1" i="0">
                            <a:latin typeface="Cambria Math"/>
                          </a:rPr>
                          <m:t>−</m:t>
                        </m:r>
                        <m:r>
                          <a:rPr lang="en-PH" sz="2000" b="1" i="0">
                            <a:latin typeface="Cambria Math"/>
                          </a:rPr>
                          <m:t>𝟐𝐚</m:t>
                        </m:r>
                        <m:r>
                          <a:rPr lang="en-US" sz="2000" b="1" i="0" smtClean="0">
                            <a:latin typeface="Cambria Math" panose="02040503050406030204" pitchFamily="18" charset="0"/>
                          </a:rPr>
                          <m:t> </m:t>
                        </m:r>
                        <m:r>
                          <a:rPr lang="en-PH" sz="2000" b="1" i="0">
                            <a:latin typeface="Cambria Math"/>
                          </a:rPr>
                          <m:t>+</m:t>
                        </m:r>
                        <m:r>
                          <a:rPr lang="en-US" sz="2000" b="1" i="0" smtClean="0">
                            <a:latin typeface="Cambria Math" panose="02040503050406030204" pitchFamily="18" charset="0"/>
                          </a:rPr>
                          <m:t> </m:t>
                        </m:r>
                        <m:r>
                          <a:rPr lang="en-PH" sz="2000" b="1" i="0">
                            <a:latin typeface="Cambria Math"/>
                          </a:rPr>
                          <m:t>𝟐𝐛</m:t>
                        </m:r>
                        <m:r>
                          <a:rPr lang="en-US" sz="2000" b="1" i="0" smtClean="0">
                            <a:latin typeface="Cambria Math" panose="02040503050406030204" pitchFamily="18" charset="0"/>
                          </a:rPr>
                          <m:t> </m:t>
                        </m:r>
                        <m:r>
                          <a:rPr lang="en-PH" sz="2000" b="1" i="0">
                            <a:latin typeface="Cambria Math"/>
                          </a:rPr>
                          <m:t>+</m:t>
                        </m:r>
                        <m:r>
                          <a:rPr lang="en-US" sz="2000" b="1" i="0" smtClean="0">
                            <a:latin typeface="Cambria Math" panose="02040503050406030204" pitchFamily="18" charset="0"/>
                          </a:rPr>
                          <m:t> </m:t>
                        </m:r>
                        <m:r>
                          <a:rPr lang="en-PH" sz="2000" b="1" i="0">
                            <a:latin typeface="Cambria Math"/>
                          </a:rPr>
                          <m:t>𝐜</m:t>
                        </m:r>
                      </m:num>
                      <m:den>
                        <m:r>
                          <a:rPr lang="en-PH" sz="2000" b="1" i="0">
                            <a:latin typeface="Cambria Math"/>
                          </a:rPr>
                          <m:t>𝟑</m:t>
                        </m:r>
                      </m:den>
                    </m:f>
                  </m:oMath>
                </a14:m>
                <a:r>
                  <a:rPr lang="en-PH" sz="2000" b="1" dirty="0"/>
                  <a:t>  ,    </a:t>
                </a:r>
                <a14:m>
                  <m:oMath xmlns:m="http://schemas.openxmlformats.org/officeDocument/2006/math">
                    <m:sSub>
                      <m:sSubPr>
                        <m:ctrlPr>
                          <a:rPr lang="en-PH" sz="2000" b="1" i="1" smtClean="0">
                            <a:latin typeface="Cambria Math" panose="02040503050406030204" pitchFamily="18" charset="0"/>
                          </a:rPr>
                        </m:ctrlPr>
                      </m:sSubPr>
                      <m:e>
                        <m:r>
                          <a:rPr lang="en-PH" sz="2000" b="1" i="0" smtClean="0">
                            <a:latin typeface="Cambria Math"/>
                          </a:rPr>
                          <m:t>𝐜</m:t>
                        </m:r>
                      </m:e>
                      <m:sub>
                        <m:r>
                          <a:rPr lang="en-PH" sz="2000" b="1" i="0" smtClean="0">
                            <a:latin typeface="Cambria Math"/>
                          </a:rPr>
                          <m:t>𝟐</m:t>
                        </m:r>
                      </m:sub>
                    </m:sSub>
                    <m:r>
                      <a:rPr lang="en-PH" sz="2000" b="1" i="0" smtClean="0">
                        <a:latin typeface="Cambria Math"/>
                      </a:rPr>
                      <m:t>=</m:t>
                    </m:r>
                    <m:f>
                      <m:fPr>
                        <m:ctrlPr>
                          <a:rPr lang="en-PH" sz="2000" b="1" i="1">
                            <a:latin typeface="Cambria Math" panose="02040503050406030204" pitchFamily="18" charset="0"/>
                          </a:rPr>
                        </m:ctrlPr>
                      </m:fPr>
                      <m:num>
                        <m:r>
                          <a:rPr lang="en-PH" sz="2000" b="1" i="0">
                            <a:latin typeface="Cambria Math"/>
                          </a:rPr>
                          <m:t>𝐚</m:t>
                        </m:r>
                        <m:r>
                          <a:rPr lang="en-US" sz="2000" b="1" i="0" smtClean="0">
                            <a:latin typeface="Cambria Math" panose="02040503050406030204" pitchFamily="18" charset="0"/>
                          </a:rPr>
                          <m:t> </m:t>
                        </m:r>
                        <m:r>
                          <a:rPr lang="en-PH" sz="2000" b="1" i="0">
                            <a:latin typeface="Cambria Math"/>
                          </a:rPr>
                          <m:t>−</m:t>
                        </m:r>
                        <m:r>
                          <a:rPr lang="en-US" sz="2000" b="1" i="0" smtClean="0">
                            <a:latin typeface="Cambria Math" panose="02040503050406030204" pitchFamily="18" charset="0"/>
                          </a:rPr>
                          <m:t> </m:t>
                        </m:r>
                        <m:r>
                          <a:rPr lang="en-PH" sz="2000" b="1" i="0">
                            <a:latin typeface="Cambria Math"/>
                          </a:rPr>
                          <m:t>𝐛</m:t>
                        </m:r>
                        <m:r>
                          <a:rPr lang="en-US" sz="2000" b="1" i="0" smtClean="0">
                            <a:latin typeface="Cambria Math" panose="02040503050406030204" pitchFamily="18" charset="0"/>
                          </a:rPr>
                          <m:t> </m:t>
                        </m:r>
                        <m:r>
                          <a:rPr lang="en-PH" sz="2000" b="1" i="0">
                            <a:latin typeface="Cambria Math"/>
                          </a:rPr>
                          <m:t>+</m:t>
                        </m:r>
                        <m:r>
                          <a:rPr lang="en-US" sz="2000" b="1" i="0" smtClean="0">
                            <a:latin typeface="Cambria Math" panose="02040503050406030204" pitchFamily="18" charset="0"/>
                          </a:rPr>
                          <m:t> </m:t>
                        </m:r>
                        <m:r>
                          <a:rPr lang="en-PH" sz="2000" b="1" i="0">
                            <a:latin typeface="Cambria Math"/>
                          </a:rPr>
                          <m:t>𝐜</m:t>
                        </m:r>
                      </m:num>
                      <m:den>
                        <m:r>
                          <a:rPr lang="en-PH" sz="2000" b="1" i="0">
                            <a:latin typeface="Cambria Math"/>
                          </a:rPr>
                          <m:t>𝟑</m:t>
                        </m:r>
                      </m:den>
                    </m:f>
                  </m:oMath>
                </a14:m>
                <a:r>
                  <a:rPr lang="en-PH" sz="2000" b="1" dirty="0"/>
                  <a:t>   ,  and  </a:t>
                </a:r>
                <a14:m>
                  <m:oMath xmlns:m="http://schemas.openxmlformats.org/officeDocument/2006/math">
                    <m:sSub>
                      <m:sSubPr>
                        <m:ctrlPr>
                          <a:rPr lang="en-PH" sz="2000" b="1" i="1" smtClean="0">
                            <a:latin typeface="Cambria Math" panose="02040503050406030204" pitchFamily="18" charset="0"/>
                          </a:rPr>
                        </m:ctrlPr>
                      </m:sSubPr>
                      <m:e>
                        <m:r>
                          <a:rPr lang="en-PH" sz="2000" b="1" i="0" smtClean="0">
                            <a:latin typeface="Cambria Math"/>
                          </a:rPr>
                          <m:t>𝐜</m:t>
                        </m:r>
                      </m:e>
                      <m:sub>
                        <m:r>
                          <a:rPr lang="en-PH" sz="2000" b="1" i="0" smtClean="0">
                            <a:latin typeface="Cambria Math"/>
                          </a:rPr>
                          <m:t>𝟑</m:t>
                        </m:r>
                      </m:sub>
                    </m:sSub>
                    <m:r>
                      <a:rPr lang="en-PH" sz="2000" b="1" i="0" smtClean="0">
                        <a:latin typeface="Cambria Math"/>
                      </a:rPr>
                      <m:t>=</m:t>
                    </m:r>
                    <m:f>
                      <m:fPr>
                        <m:ctrlPr>
                          <a:rPr lang="en-PH" sz="2000" b="1" i="1">
                            <a:latin typeface="Cambria Math" panose="02040503050406030204" pitchFamily="18" charset="0"/>
                          </a:rPr>
                        </m:ctrlPr>
                      </m:fPr>
                      <m:num>
                        <m:r>
                          <a:rPr lang="en-PH" sz="2000" b="1" i="0">
                            <a:latin typeface="Cambria Math"/>
                          </a:rPr>
                          <m:t>𝟒𝐚</m:t>
                        </m:r>
                        <m:r>
                          <a:rPr lang="en-US" sz="2000" b="1" i="0" smtClean="0">
                            <a:latin typeface="Cambria Math" panose="02040503050406030204" pitchFamily="18" charset="0"/>
                          </a:rPr>
                          <m:t> </m:t>
                        </m:r>
                        <m:r>
                          <a:rPr lang="en-PH" sz="2000" b="1" i="0">
                            <a:latin typeface="Cambria Math"/>
                          </a:rPr>
                          <m:t>−</m:t>
                        </m:r>
                        <m:r>
                          <a:rPr lang="en-PH" sz="2000" b="1" i="0">
                            <a:latin typeface="Cambria Math"/>
                          </a:rPr>
                          <m:t>𝐛</m:t>
                        </m:r>
                        <m:r>
                          <a:rPr lang="en-US" sz="2000" b="1" i="0" smtClean="0">
                            <a:latin typeface="Cambria Math" panose="02040503050406030204" pitchFamily="18" charset="0"/>
                          </a:rPr>
                          <m:t> </m:t>
                        </m:r>
                        <m:r>
                          <a:rPr lang="en-PH" sz="2000" b="1" i="0">
                            <a:latin typeface="Cambria Math"/>
                          </a:rPr>
                          <m:t>−</m:t>
                        </m:r>
                        <m:r>
                          <a:rPr lang="en-PH" sz="2000" b="1" i="0">
                            <a:latin typeface="Cambria Math"/>
                          </a:rPr>
                          <m:t>𝟐𝐜</m:t>
                        </m:r>
                      </m:num>
                      <m:den>
                        <m:r>
                          <a:rPr lang="en-PH" sz="2000" b="1" i="0">
                            <a:latin typeface="Cambria Math"/>
                          </a:rPr>
                          <m:t>𝟑</m:t>
                        </m:r>
                      </m:den>
                    </m:f>
                  </m:oMath>
                </a14:m>
                <a:endParaRPr lang="en-PH" sz="2000" b="1" dirty="0"/>
              </a:p>
              <a:p>
                <a:pPr marL="0" indent="0">
                  <a:buNone/>
                </a:pPr>
                <a:endParaRPr lang="en-PH" sz="2000" i="1" dirty="0"/>
              </a:p>
              <a:p>
                <a:pPr marL="0" indent="0">
                  <a:buNone/>
                </a:pPr>
                <a:r>
                  <a:rPr lang="en-PH" sz="2000" i="1" dirty="0"/>
                  <a:t>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1</m:t>
                        </m:r>
                      </m:sub>
                    </m:sSub>
                    <m:r>
                      <a:rPr lang="en-PH" sz="2000" b="0" i="1" smtClean="0">
                        <a:latin typeface="Cambria Math"/>
                      </a:rPr>
                      <m:t>=</m:t>
                    </m:r>
                    <m:f>
                      <m:fPr>
                        <m:ctrlPr>
                          <a:rPr lang="en-PH" sz="2000" i="1">
                            <a:latin typeface="Cambria Math" panose="02040503050406030204" pitchFamily="18" charset="0"/>
                          </a:rPr>
                        </m:ctrlPr>
                      </m:fPr>
                      <m:num>
                        <m:r>
                          <a:rPr lang="en-PH" sz="2000" i="1">
                            <a:latin typeface="Cambria Math"/>
                          </a:rPr>
                          <m:t>−2</m:t>
                        </m:r>
                        <m:r>
                          <a:rPr lang="en-PH" sz="2000" b="0" i="1" smtClean="0">
                            <a:latin typeface="Cambria Math"/>
                          </a:rPr>
                          <m:t>(3)</m:t>
                        </m:r>
                        <m:r>
                          <a:rPr lang="en-PH" sz="2000" i="1">
                            <a:latin typeface="Cambria Math"/>
                          </a:rPr>
                          <m:t>+2</m:t>
                        </m:r>
                        <m:r>
                          <a:rPr lang="en-PH" sz="2000" b="0" i="1" smtClean="0">
                            <a:latin typeface="Cambria Math"/>
                          </a:rPr>
                          <m:t>(−1)</m:t>
                        </m:r>
                        <m:r>
                          <a:rPr lang="en-PH" sz="2000" i="1">
                            <a:latin typeface="Cambria Math"/>
                          </a:rPr>
                          <m:t>+</m:t>
                        </m:r>
                        <m:r>
                          <a:rPr lang="en-PH" sz="2000" b="0" i="1" smtClean="0">
                            <a:latin typeface="Cambria Math"/>
                          </a:rPr>
                          <m:t>5</m:t>
                        </m:r>
                      </m:num>
                      <m:den>
                        <m:r>
                          <a:rPr lang="en-PH" sz="2000" i="1">
                            <a:latin typeface="Cambria Math"/>
                          </a:rPr>
                          <m:t>3</m:t>
                        </m:r>
                      </m:den>
                    </m:f>
                    <m:r>
                      <a:rPr lang="en-PH" sz="2000" b="0" i="1" smtClean="0">
                        <a:latin typeface="Cambria Math"/>
                      </a:rPr>
                      <m:t>=−1</m:t>
                    </m:r>
                  </m:oMath>
                </a14:m>
                <a:r>
                  <a:rPr lang="en-PH" sz="2000" i="1" dirty="0"/>
                  <a:t>  ,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2</m:t>
                        </m:r>
                      </m:sub>
                    </m:sSub>
                    <m:r>
                      <a:rPr lang="en-PH" sz="2000" b="0" i="1" smtClean="0">
                        <a:latin typeface="Cambria Math"/>
                      </a:rPr>
                      <m:t>=</m:t>
                    </m:r>
                    <m:f>
                      <m:fPr>
                        <m:ctrlPr>
                          <a:rPr lang="en-PH" sz="2000" i="1">
                            <a:latin typeface="Cambria Math" panose="02040503050406030204" pitchFamily="18" charset="0"/>
                          </a:rPr>
                        </m:ctrlPr>
                      </m:fPr>
                      <m:num>
                        <m:r>
                          <a:rPr lang="en-PH" sz="2000" b="0" i="1" smtClean="0">
                            <a:latin typeface="Cambria Math"/>
                          </a:rPr>
                          <m:t>3</m:t>
                        </m:r>
                        <m:r>
                          <a:rPr lang="en-PH" sz="2000" i="1">
                            <a:latin typeface="Cambria Math"/>
                          </a:rPr>
                          <m:t>−</m:t>
                        </m:r>
                        <m:r>
                          <a:rPr lang="en-PH" sz="2000" b="0" i="1" smtClean="0">
                            <a:latin typeface="Cambria Math"/>
                          </a:rPr>
                          <m:t>(−1)</m:t>
                        </m:r>
                        <m:r>
                          <a:rPr lang="en-PH" sz="2000" i="1">
                            <a:latin typeface="Cambria Math"/>
                          </a:rPr>
                          <m:t>+</m:t>
                        </m:r>
                        <m:r>
                          <a:rPr lang="en-PH" sz="2000" b="0" i="1" smtClean="0">
                            <a:latin typeface="Cambria Math"/>
                          </a:rPr>
                          <m:t>5</m:t>
                        </m:r>
                      </m:num>
                      <m:den>
                        <m:r>
                          <a:rPr lang="en-PH" sz="2000" i="1">
                            <a:latin typeface="Cambria Math"/>
                          </a:rPr>
                          <m:t>3</m:t>
                        </m:r>
                      </m:den>
                    </m:f>
                    <m:r>
                      <a:rPr lang="en-PH" sz="2000" b="0" i="1" smtClean="0">
                        <a:latin typeface="Cambria Math"/>
                      </a:rPr>
                      <m:t>=3</m:t>
                    </m:r>
                  </m:oMath>
                </a14:m>
                <a:r>
                  <a:rPr lang="en-PH" sz="2000" i="1" dirty="0"/>
                  <a:t> , and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3</m:t>
                        </m:r>
                      </m:sub>
                    </m:sSub>
                    <m:r>
                      <a:rPr lang="en-PH" sz="2000" b="0" i="1" smtClean="0">
                        <a:latin typeface="Cambria Math"/>
                      </a:rPr>
                      <m:t>=</m:t>
                    </m:r>
                    <m:f>
                      <m:fPr>
                        <m:ctrlPr>
                          <a:rPr lang="en-PH" sz="2000" i="1">
                            <a:latin typeface="Cambria Math" panose="02040503050406030204" pitchFamily="18" charset="0"/>
                          </a:rPr>
                        </m:ctrlPr>
                      </m:fPr>
                      <m:num>
                        <m:r>
                          <a:rPr lang="en-PH" sz="2000" i="1">
                            <a:latin typeface="Cambria Math"/>
                          </a:rPr>
                          <m:t>4</m:t>
                        </m:r>
                        <m:d>
                          <m:dPr>
                            <m:ctrlPr>
                              <a:rPr lang="en-PH" sz="2000" b="0" i="1" smtClean="0">
                                <a:latin typeface="Cambria Math" panose="02040503050406030204" pitchFamily="18" charset="0"/>
                              </a:rPr>
                            </m:ctrlPr>
                          </m:dPr>
                          <m:e>
                            <m:r>
                              <a:rPr lang="en-PH" sz="2000" b="0" i="1" smtClean="0">
                                <a:latin typeface="Cambria Math"/>
                              </a:rPr>
                              <m:t>3</m:t>
                            </m:r>
                          </m:e>
                        </m:d>
                        <m:r>
                          <a:rPr lang="en-PH" sz="2000" i="1">
                            <a:latin typeface="Cambria Math"/>
                          </a:rPr>
                          <m:t>−</m:t>
                        </m:r>
                        <m:d>
                          <m:dPr>
                            <m:ctrlPr>
                              <a:rPr lang="en-PH" sz="2000" b="0" i="1" smtClean="0">
                                <a:latin typeface="Cambria Math" panose="02040503050406030204" pitchFamily="18" charset="0"/>
                              </a:rPr>
                            </m:ctrlPr>
                          </m:dPr>
                          <m:e>
                            <m:r>
                              <a:rPr lang="en-PH" sz="2000" b="0" i="1" smtClean="0">
                                <a:latin typeface="Cambria Math"/>
                              </a:rPr>
                              <m:t>−1</m:t>
                            </m:r>
                          </m:e>
                        </m:d>
                        <m:r>
                          <a:rPr lang="en-PH" sz="2000" b="0" i="1" smtClean="0">
                            <a:latin typeface="Cambria Math"/>
                          </a:rPr>
                          <m:t>−</m:t>
                        </m:r>
                        <m:r>
                          <a:rPr lang="en-PH" sz="2000" i="1">
                            <a:latin typeface="Cambria Math"/>
                          </a:rPr>
                          <m:t>2</m:t>
                        </m:r>
                        <m:r>
                          <a:rPr lang="en-PH" sz="2000" b="0" i="1" smtClean="0">
                            <a:latin typeface="Cambria Math"/>
                          </a:rPr>
                          <m:t>(5)</m:t>
                        </m:r>
                      </m:num>
                      <m:den>
                        <m:r>
                          <a:rPr lang="en-PH" sz="2000" i="1">
                            <a:latin typeface="Cambria Math"/>
                          </a:rPr>
                          <m:t>3</m:t>
                        </m:r>
                      </m:den>
                    </m:f>
                    <m:r>
                      <a:rPr lang="en-PH" sz="2000" b="0" i="1" smtClean="0">
                        <a:latin typeface="Cambria Math"/>
                      </a:rPr>
                      <m:t>=1</m:t>
                    </m:r>
                  </m:oMath>
                </a14:m>
                <a:endParaRPr lang="en-PH" sz="2000" i="1" dirty="0"/>
              </a:p>
              <a:p>
                <a:pPr marL="0" indent="0">
                  <a:buNone/>
                </a:pPr>
                <a:endParaRPr lang="en-PH" sz="2000" i="1" dirty="0"/>
              </a:p>
              <a:p>
                <a:pPr marL="0" indent="0">
                  <a:buNone/>
                </a:pPr>
                <a:r>
                  <a:rPr lang="en-PH" sz="1800" i="1" dirty="0"/>
                  <a:t>Hence, we have a linear combination  in this </a:t>
                </a:r>
                <a:r>
                  <a:rPr lang="en-PH" sz="1800" b="1" i="1" dirty="0"/>
                  <a:t>v </a:t>
                </a:r>
                <a:r>
                  <a:rPr lang="en-PH" sz="1800" i="1" dirty="0"/>
                  <a:t>as:</a:t>
                </a:r>
              </a:p>
              <a:p>
                <a:pPr marL="0" indent="0">
                  <a:buNone/>
                </a:pPr>
                <a:r>
                  <a:rPr lang="en-PH" sz="1800" i="1" dirty="0"/>
                  <a:t>			</a:t>
                </a:r>
                <a14:m>
                  <m:oMath xmlns:m="http://schemas.openxmlformats.org/officeDocument/2006/math">
                    <m:r>
                      <a:rPr lang="en-PH" sz="1800" b="0" i="1" smtClean="0">
                        <a:latin typeface="Cambria Math"/>
                      </a:rPr>
                      <m:t>−</m:t>
                    </m:r>
                    <m:sSub>
                      <m:sSubPr>
                        <m:ctrlPr>
                          <a:rPr lang="en-PH" sz="1800" i="1">
                            <a:latin typeface="Cambria Math" panose="02040503050406030204" pitchFamily="18" charset="0"/>
                          </a:rPr>
                        </m:ctrlPr>
                      </m:sSubPr>
                      <m:e>
                        <m:r>
                          <a:rPr lang="en-PH" sz="1800" b="1">
                            <a:latin typeface="Cambria Math"/>
                          </a:rPr>
                          <m:t>𝐯</m:t>
                        </m:r>
                      </m:e>
                      <m:sub>
                        <m:r>
                          <a:rPr lang="en-PH" sz="1800" i="1">
                            <a:latin typeface="Cambria Math"/>
                          </a:rPr>
                          <m:t>1</m:t>
                        </m:r>
                      </m:sub>
                    </m:sSub>
                    <m:r>
                      <a:rPr lang="en-PH" sz="1800" i="1">
                        <a:latin typeface="Cambria Math"/>
                      </a:rPr>
                      <m:t>+</m:t>
                    </m:r>
                  </m:oMath>
                </a14:m>
                <a:r>
                  <a:rPr lang="en-PH" sz="1800" dirty="0"/>
                  <a:t> </a:t>
                </a:r>
                <a14:m>
                  <m:oMath xmlns:m="http://schemas.openxmlformats.org/officeDocument/2006/math">
                    <m:r>
                      <a:rPr lang="en-PH" sz="1800" b="0" i="1" smtClean="0">
                        <a:latin typeface="Cambria Math"/>
                      </a:rPr>
                      <m:t>3</m:t>
                    </m:r>
                    <m:sSub>
                      <m:sSubPr>
                        <m:ctrlPr>
                          <a:rPr lang="en-PH" sz="1800" i="1">
                            <a:latin typeface="Cambria Math" panose="02040503050406030204" pitchFamily="18" charset="0"/>
                          </a:rPr>
                        </m:ctrlPr>
                      </m:sSubPr>
                      <m:e>
                        <m:r>
                          <a:rPr lang="en-PH" sz="1800" b="1">
                            <a:latin typeface="Cambria Math"/>
                          </a:rPr>
                          <m:t>𝐯</m:t>
                        </m:r>
                      </m:e>
                      <m:sub>
                        <m:r>
                          <a:rPr lang="en-PH" sz="1800" i="1">
                            <a:latin typeface="Cambria Math"/>
                          </a:rPr>
                          <m:t>2</m:t>
                        </m:r>
                      </m:sub>
                    </m:sSub>
                    <m:r>
                      <a:rPr lang="en-PH" sz="1800" i="1">
                        <a:latin typeface="Cambria Math"/>
                      </a:rPr>
                      <m:t>+</m:t>
                    </m:r>
                  </m:oMath>
                </a14:m>
                <a:r>
                  <a:rPr lang="en-PH" sz="1800" dirty="0"/>
                  <a:t> </a:t>
                </a:r>
                <a14:m>
                  <m:oMath xmlns:m="http://schemas.openxmlformats.org/officeDocument/2006/math">
                    <m:sSub>
                      <m:sSubPr>
                        <m:ctrlPr>
                          <a:rPr lang="en-PH" sz="1800" b="1" i="1">
                            <a:latin typeface="Cambria Math" panose="02040503050406030204" pitchFamily="18" charset="0"/>
                          </a:rPr>
                        </m:ctrlPr>
                      </m:sSubPr>
                      <m:e>
                        <m:r>
                          <a:rPr lang="en-PH" sz="1800" b="1">
                            <a:latin typeface="Cambria Math"/>
                          </a:rPr>
                          <m:t>𝐯</m:t>
                        </m:r>
                      </m:e>
                      <m:sub>
                        <m:r>
                          <a:rPr lang="en-PH" sz="1800">
                            <a:latin typeface="Cambria Math"/>
                          </a:rPr>
                          <m:t>3</m:t>
                        </m:r>
                      </m:sub>
                    </m:sSub>
                    <m:r>
                      <a:rPr lang="en-PH" sz="1800" i="1">
                        <a:latin typeface="Cambria Math"/>
                      </a:rPr>
                      <m:t>=</m:t>
                    </m:r>
                    <m:r>
                      <a:rPr lang="en-PH" sz="1800" b="1">
                        <a:latin typeface="Cambria Math"/>
                      </a:rPr>
                      <m:t>𝐯</m:t>
                    </m:r>
                  </m:oMath>
                </a14:m>
                <a:endParaRPr lang="en-PH" sz="1800" i="1" dirty="0"/>
              </a:p>
              <a:p>
                <a:pPr marL="0" indent="0">
                  <a:buNone/>
                </a:pPr>
                <a:r>
                  <a:rPr lang="en-PH" sz="1800" i="1" dirty="0"/>
                  <a:t>or</a:t>
                </a:r>
              </a:p>
              <a:p>
                <a:pPr marL="0" indent="0" algn="ctr">
                  <a:buNone/>
                </a:pPr>
                <a14:m>
                  <m:oMath xmlns:m="http://schemas.openxmlformats.org/officeDocument/2006/math">
                    <m:r>
                      <a:rPr lang="en-PH" sz="1800" b="0" i="1" smtClean="0">
                        <a:latin typeface="Cambria Math"/>
                      </a:rPr>
                      <m:t>−1</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2</m:t>
                              </m:r>
                            </m:e>
                          </m:mr>
                          <m:mr>
                            <m:e>
                              <m:r>
                                <a:rPr lang="en-PH" sz="1800" i="1">
                                  <a:latin typeface="Cambria Math"/>
                                </a:rPr>
                                <m:t>1</m:t>
                              </m:r>
                            </m:e>
                          </m:mr>
                        </m:m>
                      </m:e>
                    </m:d>
                  </m:oMath>
                </a14:m>
                <a:r>
                  <a:rPr lang="en-PH" sz="1800" i="1" dirty="0"/>
                  <a:t>  + </a:t>
                </a:r>
                <a14:m>
                  <m:oMath xmlns:m="http://schemas.openxmlformats.org/officeDocument/2006/math">
                    <m:r>
                      <a:rPr lang="en-PH" sz="1800" b="0" i="1" smtClean="0">
                        <a:latin typeface="Cambria Math"/>
                      </a:rPr>
                      <m:t>3</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0</m:t>
                              </m:r>
                            </m:e>
                          </m:mr>
                          <m:mr>
                            <m:e>
                              <m:r>
                                <a:rPr lang="en-PH" sz="1800" i="1">
                                  <a:latin typeface="Cambria Math"/>
                                </a:rPr>
                                <m:t>2</m:t>
                              </m:r>
                            </m:e>
                          </m:mr>
                        </m:m>
                      </m:e>
                    </m:d>
                    <m:r>
                      <a:rPr lang="en-PH" sz="1800" i="1">
                        <a:latin typeface="Cambria Math"/>
                      </a:rPr>
                      <m:t> </m:t>
                    </m:r>
                  </m:oMath>
                </a14:m>
                <a:r>
                  <a:rPr lang="en-PH" sz="1800" i="1" dirty="0"/>
                  <a:t>+ </a:t>
                </a:r>
                <a14:m>
                  <m:oMath xmlns:m="http://schemas.openxmlformats.org/officeDocument/2006/math">
                    <m:r>
                      <a:rPr lang="en-PH" sz="1800" b="0" i="1" smtClean="0">
                        <a:latin typeface="Cambria Math"/>
                      </a:rPr>
                      <m:t>1</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1</m:t>
                              </m:r>
                            </m:e>
                          </m:mr>
                          <m:mr>
                            <m:e>
                              <m:r>
                                <a:rPr lang="en-PH" sz="1800" i="1">
                                  <a:latin typeface="Cambria Math"/>
                                </a:rPr>
                                <m:t>0</m:t>
                              </m:r>
                            </m:e>
                          </m:mr>
                        </m:m>
                      </m:e>
                    </m:d>
                    <m:r>
                      <a:rPr lang="en-PH" sz="1800" i="1">
                        <a:latin typeface="Cambria Math"/>
                      </a:rPr>
                      <m:t>=</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a:rPr lang="en-PH" sz="1800" b="0" i="1" smtClean="0">
                                  <a:latin typeface="Cambria Math"/>
                                </a:rPr>
                                <m:t>3</m:t>
                              </m:r>
                            </m:e>
                          </m:mr>
                          <m:mr>
                            <m:e>
                              <m:r>
                                <a:rPr lang="en-PH" sz="1800" b="0" i="1" smtClean="0">
                                  <a:latin typeface="Cambria Math"/>
                                </a:rPr>
                                <m:t>−1</m:t>
                              </m:r>
                            </m:e>
                          </m:mr>
                          <m:mr>
                            <m:e>
                              <m:r>
                                <a:rPr lang="en-PH" sz="1800" b="0" i="1" smtClean="0">
                                  <a:latin typeface="Cambria Math"/>
                                </a:rPr>
                                <m:t>5</m:t>
                              </m:r>
                            </m:e>
                          </m:mr>
                        </m:m>
                      </m:e>
                    </m:d>
                  </m:oMath>
                </a14:m>
                <a:r>
                  <a:rPr lang="en-PH" sz="1800" i="1" dirty="0"/>
                  <a:t> </a:t>
                </a:r>
                <a:r>
                  <a:rPr lang="en-PH" sz="1600" i="1" dirty="0"/>
                  <a:t>which is true, since</a:t>
                </a:r>
              </a:p>
              <a:p>
                <a:pPr marL="0" indent="0" algn="ctr">
                  <a:buNone/>
                </a:pPr>
                <a:endParaRPr lang="en-PH" sz="1600" i="1" dirty="0"/>
              </a:p>
              <a:p>
                <a:pPr marL="0" indent="0" algn="ctr">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+3</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=3</m:t>
                      </m:r>
                    </m:oMath>
                  </m:oMathPara>
                </a14:m>
                <a:endParaRPr lang="en-PH" sz="1800" i="1" dirty="0"/>
              </a:p>
              <a:p>
                <a:pPr marL="0" indent="0" algn="ctr">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m:t>
                          </m:r>
                        </m:e>
                      </m:d>
                      <m:r>
                        <a:rPr lang="en-US" sz="1800" b="0" i="1" smtClean="0">
                          <a:latin typeface="Cambria Math" panose="02040503050406030204" pitchFamily="18" charset="0"/>
                        </a:rPr>
                        <m:t>+3</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m:t>
                          </m:r>
                        </m:e>
                      </m:d>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=−1</m:t>
                      </m:r>
                    </m:oMath>
                  </m:oMathPara>
                </a14:m>
                <a:endParaRPr lang="en-PH" sz="1800" i="1" dirty="0"/>
              </a:p>
              <a:p>
                <a:pPr marL="0" indent="0" algn="ctr">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+3</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m:t>
                          </m:r>
                        </m:e>
                      </m:d>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m:t>
                          </m:r>
                        </m:e>
                      </m:d>
                      <m:r>
                        <a:rPr lang="en-US" sz="1800" b="0" i="1" smtClean="0">
                          <a:latin typeface="Cambria Math" panose="02040503050406030204" pitchFamily="18" charset="0"/>
                        </a:rPr>
                        <m:t>=5</m:t>
                      </m:r>
                    </m:oMath>
                  </m:oMathPara>
                </a14:m>
                <a:endParaRPr lang="en-PH" sz="1800" i="1" dirty="0"/>
              </a:p>
              <a:p>
                <a:pPr marL="0" indent="0">
                  <a:buNone/>
                </a:pPr>
                <a:r>
                  <a:rPr lang="en-PH" sz="1800" i="1" dirty="0"/>
                  <a:t>	 .</a:t>
                </a:r>
                <a:endParaRPr lang="en-PH" sz="1800" i="1" baseline="300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838200"/>
                <a:ext cx="8458200" cy="5791200"/>
              </a:xfrm>
              <a:blipFill>
                <a:blip r:embed="rId2"/>
                <a:stretch>
                  <a:fillRect l="-648"/>
                </a:stretch>
              </a:blipFill>
            </p:spPr>
            <p:txBody>
              <a:bodyPr/>
              <a:lstStyle/>
              <a:p>
                <a:r>
                  <a:rPr lang="en-PH">
                    <a:noFill/>
                  </a:rPr>
                  <a:t> </a:t>
                </a:r>
              </a:p>
            </p:txBody>
          </p:sp>
        </mc:Fallback>
      </mc:AlternateContent>
    </p:spTree>
    <p:extLst>
      <p:ext uri="{BB962C8B-B14F-4D97-AF65-F5344CB8AC3E}">
        <p14:creationId xmlns:p14="http://schemas.microsoft.com/office/powerpoint/2010/main" val="1446323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 y="0"/>
            <a:ext cx="8229600" cy="609600"/>
          </a:xfrm>
        </p:spPr>
        <p:txBody>
          <a:bodyPr>
            <a:normAutofit fontScale="90000"/>
          </a:bodyPr>
          <a:lstStyle/>
          <a:p>
            <a:r>
              <a:rPr lang="en-PH" dirty="0"/>
              <a:t>Spanning Sets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609600"/>
                <a:ext cx="8458200" cy="6019800"/>
              </a:xfrm>
            </p:spPr>
            <p:txBody>
              <a:bodyPr>
                <a:normAutofit lnSpcReduction="10000"/>
              </a:bodyPr>
              <a:lstStyle/>
              <a:p>
                <a:pPr marL="0" indent="0">
                  <a:buNone/>
                </a:pPr>
                <a:r>
                  <a:rPr lang="en-PH" sz="1800" i="1" dirty="0"/>
                  <a:t>What is the linear combination if  vector  </a:t>
                </a:r>
                <a14:m>
                  <m:oMath xmlns:m="http://schemas.openxmlformats.org/officeDocument/2006/math">
                    <m:r>
                      <a:rPr lang="en-PH" sz="1800" b="1" i="0" smtClean="0">
                        <a:latin typeface="Cambria Math"/>
                      </a:rPr>
                      <m:t>𝐯</m:t>
                    </m:r>
                    <m:r>
                      <a:rPr lang="en-PH" sz="1800" b="1" i="0" smtClean="0">
                        <a:latin typeface="Cambria Math"/>
                      </a:rPr>
                      <m:t>= </m:t>
                    </m:r>
                    <m:d>
                      <m:dPr>
                        <m:begChr m:val="["/>
                        <m:endChr m:val="]"/>
                        <m:ctrlPr>
                          <a:rPr lang="en-PH" sz="1800" b="1" i="1" smtClean="0">
                            <a:latin typeface="Cambria Math" panose="02040503050406030204" pitchFamily="18" charset="0"/>
                          </a:rPr>
                        </m:ctrlPr>
                      </m:dPr>
                      <m:e>
                        <m:m>
                          <m:mPr>
                            <m:mcs>
                              <m:mc>
                                <m:mcPr>
                                  <m:count m:val="1"/>
                                  <m:mcJc m:val="center"/>
                                </m:mcPr>
                              </m:mc>
                            </m:mcs>
                            <m:ctrlPr>
                              <a:rPr lang="en-PH" sz="1800" b="1" i="1" smtClean="0">
                                <a:latin typeface="Cambria Math" panose="02040503050406030204" pitchFamily="18" charset="0"/>
                              </a:rPr>
                            </m:ctrlPr>
                          </m:mPr>
                          <m:mr>
                            <m:e>
                              <m:r>
                                <a:rPr lang="en-US" sz="1800" b="1" i="1" smtClean="0">
                                  <a:latin typeface="Cambria Math" panose="02040503050406030204" pitchFamily="18" charset="0"/>
                                </a:rPr>
                                <m:t>𝟐</m:t>
                              </m:r>
                            </m:e>
                          </m:mr>
                          <m:mr>
                            <m:e>
                              <m:r>
                                <a:rPr lang="en-US" sz="1800" b="1" i="1" smtClean="0">
                                  <a:latin typeface="Cambria Math" panose="02040503050406030204" pitchFamily="18" charset="0"/>
                                </a:rPr>
                                <m:t>𝟒</m:t>
                              </m:r>
                            </m:e>
                          </m:mr>
                          <m:mr>
                            <m:e>
                              <m:r>
                                <a:rPr lang="en-US" sz="1800" b="1" i="1" smtClean="0">
                                  <a:latin typeface="Cambria Math" panose="02040503050406030204" pitchFamily="18" charset="0"/>
                                </a:rPr>
                                <m:t>−</m:t>
                              </m:r>
                              <m:r>
                                <a:rPr lang="en-US" sz="1800" b="1" i="1" smtClean="0">
                                  <a:latin typeface="Cambria Math" panose="02040503050406030204" pitchFamily="18" charset="0"/>
                                </a:rPr>
                                <m:t>𝟑</m:t>
                              </m:r>
                            </m:e>
                          </m:mr>
                        </m:m>
                      </m:e>
                    </m:d>
                  </m:oMath>
                </a14:m>
                <a:endParaRPr lang="en-PH" sz="1800" b="1" dirty="0"/>
              </a:p>
              <a:p>
                <a:pPr marL="0" indent="0">
                  <a:buNone/>
                </a:pPr>
                <a:endParaRPr lang="en-PH" sz="1800" i="1" dirty="0"/>
              </a:p>
              <a:p>
                <a:pPr marL="0" indent="0">
                  <a:buNone/>
                </a:pPr>
                <a:r>
                  <a:rPr lang="en-PH" sz="1800" i="1" dirty="0"/>
                  <a:t>Solve for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a:rPr lang="en-PH" sz="1800" i="1">
                        <a:latin typeface="Cambria Math"/>
                      </a:rPr>
                      <m:t>=</m:t>
                    </m:r>
                    <m:f>
                      <m:fPr>
                        <m:ctrlPr>
                          <a:rPr lang="en-PH" sz="1800" i="1">
                            <a:latin typeface="Cambria Math" panose="02040503050406030204" pitchFamily="18" charset="0"/>
                          </a:rPr>
                        </m:ctrlPr>
                      </m:fPr>
                      <m:num>
                        <m:r>
                          <a:rPr lang="en-PH" sz="1800" i="1">
                            <a:latin typeface="Cambria Math"/>
                          </a:rPr>
                          <m:t>−2</m:t>
                        </m:r>
                        <m:r>
                          <a:rPr lang="en-PH" sz="1800" i="1">
                            <a:latin typeface="Cambria Math"/>
                          </a:rPr>
                          <m:t>𝑎</m:t>
                        </m:r>
                        <m:r>
                          <a:rPr lang="en-PH" sz="1800" i="1">
                            <a:latin typeface="Cambria Math"/>
                          </a:rPr>
                          <m:t>+2</m:t>
                        </m:r>
                        <m:r>
                          <a:rPr lang="en-PH" sz="1800" i="1">
                            <a:latin typeface="Cambria Math"/>
                          </a:rPr>
                          <m:t>𝑏</m:t>
                        </m:r>
                        <m:r>
                          <a:rPr lang="en-PH" sz="1800" i="1">
                            <a:latin typeface="Cambria Math"/>
                          </a:rPr>
                          <m:t>+</m:t>
                        </m:r>
                        <m:r>
                          <a:rPr lang="en-PH" sz="1800" i="1">
                            <a:latin typeface="Cambria Math"/>
                          </a:rPr>
                          <m:t>𝑐</m:t>
                        </m:r>
                      </m:num>
                      <m:den>
                        <m:r>
                          <a:rPr lang="en-PH" sz="1800" i="1">
                            <a:latin typeface="Cambria Math"/>
                          </a:rPr>
                          <m:t>3</m:t>
                        </m:r>
                      </m:den>
                    </m:f>
                  </m:oMath>
                </a14:m>
                <a:r>
                  <a:rPr lang="en-PH" sz="1800" i="1" dirty="0"/>
                  <a:t>  ,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r>
                      <a:rPr lang="en-PH" sz="1800" i="1">
                        <a:latin typeface="Cambria Math"/>
                      </a:rPr>
                      <m:t>=</m:t>
                    </m:r>
                    <m:f>
                      <m:fPr>
                        <m:ctrlPr>
                          <a:rPr lang="en-PH" sz="1800" i="1">
                            <a:latin typeface="Cambria Math" panose="02040503050406030204" pitchFamily="18" charset="0"/>
                          </a:rPr>
                        </m:ctrlPr>
                      </m:fPr>
                      <m:num>
                        <m:r>
                          <a:rPr lang="en-PH" sz="1800" i="1">
                            <a:latin typeface="Cambria Math"/>
                          </a:rPr>
                          <m:t>𝑎</m:t>
                        </m:r>
                        <m:r>
                          <a:rPr lang="en-PH" sz="1800" i="1">
                            <a:latin typeface="Cambria Math"/>
                          </a:rPr>
                          <m:t>−</m:t>
                        </m:r>
                        <m:r>
                          <a:rPr lang="en-PH" sz="1800" i="1">
                            <a:latin typeface="Cambria Math"/>
                          </a:rPr>
                          <m:t>𝑏</m:t>
                        </m:r>
                        <m:r>
                          <a:rPr lang="en-PH" sz="1800" i="1">
                            <a:latin typeface="Cambria Math"/>
                          </a:rPr>
                          <m:t>+</m:t>
                        </m:r>
                        <m:r>
                          <a:rPr lang="en-PH" sz="1800" i="1">
                            <a:latin typeface="Cambria Math"/>
                          </a:rPr>
                          <m:t>𝑐</m:t>
                        </m:r>
                      </m:num>
                      <m:den>
                        <m:r>
                          <a:rPr lang="en-PH" sz="1800" i="1">
                            <a:latin typeface="Cambria Math"/>
                          </a:rPr>
                          <m:t>3</m:t>
                        </m:r>
                      </m:den>
                    </m:f>
                  </m:oMath>
                </a14:m>
                <a:r>
                  <a:rPr lang="en-PH" sz="1800" i="1" dirty="0"/>
                  <a:t>   ,  and  </a:t>
                </a:r>
                <a14:m>
                  <m:oMath xmlns:m="http://schemas.openxmlformats.org/officeDocument/2006/math">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r>
                      <a:rPr lang="en-PH" sz="1800" i="1">
                        <a:latin typeface="Cambria Math"/>
                      </a:rPr>
                      <m:t>=</m:t>
                    </m:r>
                    <m:f>
                      <m:fPr>
                        <m:ctrlPr>
                          <a:rPr lang="en-PH" sz="1800" i="1">
                            <a:latin typeface="Cambria Math" panose="02040503050406030204" pitchFamily="18" charset="0"/>
                          </a:rPr>
                        </m:ctrlPr>
                      </m:fPr>
                      <m:num>
                        <m:r>
                          <a:rPr lang="en-PH" sz="1800" i="1">
                            <a:latin typeface="Cambria Math"/>
                          </a:rPr>
                          <m:t>4</m:t>
                        </m:r>
                        <m:r>
                          <a:rPr lang="en-PH" sz="1800" i="1">
                            <a:latin typeface="Cambria Math"/>
                          </a:rPr>
                          <m:t>𝑎</m:t>
                        </m:r>
                        <m:r>
                          <a:rPr lang="en-PH" sz="1800" i="1">
                            <a:latin typeface="Cambria Math"/>
                          </a:rPr>
                          <m:t>−</m:t>
                        </m:r>
                        <m:r>
                          <a:rPr lang="en-PH" sz="1800" i="1">
                            <a:latin typeface="Cambria Math"/>
                          </a:rPr>
                          <m:t>𝑏</m:t>
                        </m:r>
                        <m:r>
                          <a:rPr lang="en-PH" sz="1800" i="1">
                            <a:latin typeface="Cambria Math"/>
                          </a:rPr>
                          <m:t>−2</m:t>
                        </m:r>
                        <m:r>
                          <a:rPr lang="en-PH" sz="1800" i="1">
                            <a:latin typeface="Cambria Math"/>
                          </a:rPr>
                          <m:t>𝑐</m:t>
                        </m:r>
                      </m:num>
                      <m:den>
                        <m:r>
                          <a:rPr lang="en-PH" sz="1800" i="1">
                            <a:latin typeface="Cambria Math"/>
                          </a:rPr>
                          <m:t>3</m:t>
                        </m:r>
                      </m:den>
                    </m:f>
                  </m:oMath>
                </a14:m>
                <a:r>
                  <a:rPr lang="en-PH" sz="1800" i="1" dirty="0"/>
                  <a:t>  </a:t>
                </a:r>
              </a:p>
              <a:p>
                <a:pPr marL="0" indent="0">
                  <a:buNone/>
                </a:pPr>
                <a:endParaRPr lang="en-PH" sz="1800" i="1" dirty="0"/>
              </a:p>
              <a:p>
                <a:pPr marL="0" indent="0">
                  <a:buNone/>
                </a:pPr>
                <a:r>
                  <a:rPr lang="en-PH" sz="1800" i="1" dirty="0"/>
                  <a:t>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1</m:t>
                        </m:r>
                      </m:sub>
                    </m:sSub>
                    <m:r>
                      <a:rPr lang="en-PH" sz="1800" b="0" i="1" smtClean="0">
                        <a:latin typeface="Cambria Math"/>
                      </a:rPr>
                      <m:t>=</m:t>
                    </m:r>
                    <m:f>
                      <m:fPr>
                        <m:ctrlPr>
                          <a:rPr lang="en-PH" sz="1800" i="1">
                            <a:latin typeface="Cambria Math" panose="02040503050406030204" pitchFamily="18" charset="0"/>
                          </a:rPr>
                        </m:ctrlPr>
                      </m:fPr>
                      <m:num>
                        <m:r>
                          <a:rPr lang="en-PH" sz="1800" i="1">
                            <a:latin typeface="Cambria Math"/>
                          </a:rPr>
                          <m:t>−2</m:t>
                        </m:r>
                        <m:r>
                          <a:rPr lang="en-PH" sz="1800" b="0" i="1" smtClean="0">
                            <a:latin typeface="Cambria Math"/>
                          </a:rPr>
                          <m:t>(</m:t>
                        </m:r>
                        <m:r>
                          <a:rPr lang="en-US" sz="1800" b="0" i="1" smtClean="0">
                            <a:latin typeface="Cambria Math" panose="02040503050406030204" pitchFamily="18" charset="0"/>
                          </a:rPr>
                          <m:t>2</m:t>
                        </m:r>
                        <m:r>
                          <a:rPr lang="en-PH" sz="1800" b="0" i="1" smtClean="0">
                            <a:latin typeface="Cambria Math"/>
                          </a:rPr>
                          <m:t>)</m:t>
                        </m:r>
                        <m:r>
                          <a:rPr lang="en-PH" sz="1800" i="1">
                            <a:latin typeface="Cambria Math"/>
                          </a:rPr>
                          <m:t>+2</m:t>
                        </m:r>
                        <m:r>
                          <a:rPr lang="en-PH" sz="1800" b="0" i="1" smtClean="0">
                            <a:latin typeface="Cambria Math"/>
                          </a:rPr>
                          <m:t>(</m:t>
                        </m:r>
                        <m:r>
                          <a:rPr lang="en-US" sz="1800" b="0" i="1" smtClean="0">
                            <a:latin typeface="Cambria Math" panose="02040503050406030204" pitchFamily="18" charset="0"/>
                          </a:rPr>
                          <m:t>4</m:t>
                        </m:r>
                        <m:r>
                          <a:rPr lang="en-PH" sz="1800" b="0" i="1" smtClean="0">
                            <a:latin typeface="Cambria Math"/>
                          </a:rPr>
                          <m:t>)</m:t>
                        </m:r>
                        <m:r>
                          <a:rPr lang="en-PH" sz="1800" i="1">
                            <a:latin typeface="Cambria Math"/>
                          </a:rPr>
                          <m:t>+</m:t>
                        </m:r>
                        <m:r>
                          <a:rPr lang="en-US" sz="1800" b="0" i="1" smtClean="0">
                            <a:latin typeface="Cambria Math" panose="02040503050406030204" pitchFamily="18" charset="0"/>
                          </a:rPr>
                          <m:t>(−3)</m:t>
                        </m:r>
                      </m:num>
                      <m:den>
                        <m:r>
                          <a:rPr lang="en-PH" sz="1800" i="1">
                            <a:latin typeface="Cambria Math"/>
                          </a:rPr>
                          <m:t>3</m:t>
                        </m:r>
                      </m:den>
                    </m:f>
                    <m:r>
                      <a:rPr lang="en-PH" sz="1800" b="0" i="1" smtClean="0">
                        <a:latin typeface="Cambria Math"/>
                      </a:rPr>
                      <m:t>=</m:t>
                    </m:r>
                    <m:f>
                      <m:fPr>
                        <m:ctrlPr>
                          <a:rPr lang="en-PH"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3</m:t>
                        </m:r>
                      </m:den>
                    </m:f>
                  </m:oMath>
                </a14:m>
                <a:r>
                  <a:rPr lang="en-PH" sz="1800" i="1" dirty="0"/>
                  <a:t>  ,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2</m:t>
                        </m:r>
                      </m:sub>
                    </m:sSub>
                    <m:r>
                      <a:rPr lang="en-PH" sz="1800" b="0" i="1" smtClean="0">
                        <a:latin typeface="Cambria Math"/>
                      </a:rPr>
                      <m:t>=</m:t>
                    </m:r>
                    <m:f>
                      <m:fPr>
                        <m:ctrlPr>
                          <a:rPr lang="en-PH" sz="1800" i="1">
                            <a:latin typeface="Cambria Math" panose="02040503050406030204" pitchFamily="18" charset="0"/>
                          </a:rPr>
                        </m:ctrlPr>
                      </m:fPr>
                      <m:num>
                        <m:r>
                          <a:rPr lang="en-US" sz="1800" b="0" i="1" smtClean="0">
                            <a:latin typeface="Cambria Math" panose="02040503050406030204" pitchFamily="18" charset="0"/>
                          </a:rPr>
                          <m:t>2</m:t>
                        </m:r>
                        <m:r>
                          <a:rPr lang="en-PH" sz="1800" i="1">
                            <a:latin typeface="Cambria Math"/>
                          </a:rPr>
                          <m:t>−</m:t>
                        </m:r>
                        <m:r>
                          <a:rPr lang="en-US" sz="1800" b="0" i="1" smtClean="0">
                            <a:latin typeface="Cambria Math" panose="02040503050406030204" pitchFamily="18" charset="0"/>
                          </a:rPr>
                          <m:t>4+(−3)</m:t>
                        </m:r>
                      </m:num>
                      <m:den>
                        <m:r>
                          <a:rPr lang="en-PH" sz="1800" i="1">
                            <a:latin typeface="Cambria Math"/>
                          </a:rPr>
                          <m:t>3</m:t>
                        </m:r>
                      </m:den>
                    </m:f>
                    <m:r>
                      <a:rPr lang="en-PH" sz="1800" b="0" i="1" smtClean="0">
                        <a:latin typeface="Cambria Math"/>
                      </a:rPr>
                      <m:t>=</m:t>
                    </m:r>
                    <m:f>
                      <m:fPr>
                        <m:ctrlPr>
                          <a:rPr lang="en-PH" sz="1800" b="0" i="1" smtClean="0">
                            <a:latin typeface="Cambria Math" panose="02040503050406030204" pitchFamily="18" charset="0"/>
                          </a:rPr>
                        </m:ctrlPr>
                      </m:fPr>
                      <m:num>
                        <m:r>
                          <a:rPr lang="en-US" sz="1800" b="0" i="1" smtClean="0">
                            <a:latin typeface="Cambria Math" panose="02040503050406030204" pitchFamily="18" charset="0"/>
                          </a:rPr>
                          <m:t>−5</m:t>
                        </m:r>
                      </m:num>
                      <m:den>
                        <m:r>
                          <a:rPr lang="en-US" sz="1800" b="0" i="1" smtClean="0">
                            <a:latin typeface="Cambria Math" panose="02040503050406030204" pitchFamily="18" charset="0"/>
                          </a:rPr>
                          <m:t>3</m:t>
                        </m:r>
                      </m:den>
                    </m:f>
                  </m:oMath>
                </a14:m>
                <a:r>
                  <a:rPr lang="en-PH" sz="1800" i="1" dirty="0"/>
                  <a:t> , and  </a:t>
                </a:r>
                <a14:m>
                  <m:oMath xmlns:m="http://schemas.openxmlformats.org/officeDocument/2006/math">
                    <m:sSub>
                      <m:sSubPr>
                        <m:ctrlPr>
                          <a:rPr lang="en-PH" sz="1800" i="1" smtClean="0">
                            <a:latin typeface="Cambria Math" panose="02040503050406030204" pitchFamily="18" charset="0"/>
                          </a:rPr>
                        </m:ctrlPr>
                      </m:sSubPr>
                      <m:e>
                        <m:r>
                          <a:rPr lang="en-PH" sz="1800" b="0" i="1" smtClean="0">
                            <a:latin typeface="Cambria Math"/>
                          </a:rPr>
                          <m:t>𝑐</m:t>
                        </m:r>
                      </m:e>
                      <m:sub>
                        <m:r>
                          <a:rPr lang="en-PH" sz="1800" b="0" i="1" smtClean="0">
                            <a:latin typeface="Cambria Math"/>
                          </a:rPr>
                          <m:t>3</m:t>
                        </m:r>
                      </m:sub>
                    </m:sSub>
                    <m:r>
                      <a:rPr lang="en-PH" sz="1800" b="0" i="1" smtClean="0">
                        <a:latin typeface="Cambria Math"/>
                      </a:rPr>
                      <m:t>=</m:t>
                    </m:r>
                    <m:f>
                      <m:fPr>
                        <m:ctrlPr>
                          <a:rPr lang="en-PH" sz="1800" i="1">
                            <a:latin typeface="Cambria Math" panose="02040503050406030204" pitchFamily="18" charset="0"/>
                          </a:rPr>
                        </m:ctrlPr>
                      </m:fPr>
                      <m:num>
                        <m:r>
                          <a:rPr lang="en-PH" sz="1800" i="1">
                            <a:latin typeface="Cambria Math"/>
                          </a:rPr>
                          <m:t>4</m:t>
                        </m:r>
                        <m:d>
                          <m:dPr>
                            <m:ctrlPr>
                              <a:rPr lang="en-PH" sz="1800" b="0" i="1" smtClean="0">
                                <a:latin typeface="Cambria Math" panose="02040503050406030204" pitchFamily="18" charset="0"/>
                              </a:rPr>
                            </m:ctrlPr>
                          </m:dPr>
                          <m:e>
                            <m:r>
                              <a:rPr lang="en-US" sz="1800" b="0" i="1" smtClean="0">
                                <a:latin typeface="Cambria Math" panose="02040503050406030204" pitchFamily="18" charset="0"/>
                              </a:rPr>
                              <m:t>2</m:t>
                            </m:r>
                          </m:e>
                        </m:d>
                        <m:r>
                          <a:rPr lang="en-PH" sz="1800" i="1">
                            <a:latin typeface="Cambria Math"/>
                          </a:rPr>
                          <m:t>−</m:t>
                        </m:r>
                        <m:r>
                          <a:rPr lang="en-US" sz="1800" b="0" i="1" smtClean="0">
                            <a:latin typeface="Cambria Math" panose="02040503050406030204" pitchFamily="18" charset="0"/>
                          </a:rPr>
                          <m:t>4</m:t>
                        </m:r>
                        <m:r>
                          <a:rPr lang="en-PH" sz="1800" b="0" i="1" smtClean="0">
                            <a:latin typeface="Cambria Math"/>
                          </a:rPr>
                          <m:t>−</m:t>
                        </m:r>
                        <m:r>
                          <a:rPr lang="en-PH" sz="1800" i="1">
                            <a:latin typeface="Cambria Math"/>
                          </a:rPr>
                          <m:t>2</m:t>
                        </m:r>
                        <m:r>
                          <a:rPr lang="en-PH" sz="1800" b="0" i="1" smtClean="0">
                            <a:latin typeface="Cambria Math"/>
                          </a:rPr>
                          <m:t>(</m:t>
                        </m:r>
                        <m:r>
                          <a:rPr lang="en-US" sz="1800" b="0" i="1" smtClean="0">
                            <a:latin typeface="Cambria Math" panose="02040503050406030204" pitchFamily="18" charset="0"/>
                          </a:rPr>
                          <m:t>−3</m:t>
                        </m:r>
                        <m:r>
                          <a:rPr lang="en-PH" sz="1800" b="0" i="1" smtClean="0">
                            <a:latin typeface="Cambria Math"/>
                          </a:rPr>
                          <m:t>)</m:t>
                        </m:r>
                      </m:num>
                      <m:den>
                        <m:r>
                          <a:rPr lang="en-PH" sz="1800" i="1">
                            <a:latin typeface="Cambria Math"/>
                          </a:rPr>
                          <m:t>3</m:t>
                        </m:r>
                      </m:den>
                    </m:f>
                    <m:r>
                      <a:rPr lang="en-PH" sz="1800" b="0" i="1" smtClean="0">
                        <a:latin typeface="Cambria Math"/>
                      </a:rPr>
                      <m:t>=</m:t>
                    </m:r>
                    <m:f>
                      <m:fPr>
                        <m:ctrlPr>
                          <a:rPr lang="en-PH" sz="1800" b="0" i="1" smtClean="0">
                            <a:latin typeface="Cambria Math" panose="02040503050406030204" pitchFamily="18" charset="0"/>
                          </a:rPr>
                        </m:ctrlPr>
                      </m:fPr>
                      <m:num>
                        <m:r>
                          <a:rPr lang="en-US" sz="1800" b="0" i="1" smtClean="0">
                            <a:latin typeface="Cambria Math" panose="02040503050406030204" pitchFamily="18" charset="0"/>
                          </a:rPr>
                          <m:t>10</m:t>
                        </m:r>
                      </m:num>
                      <m:den>
                        <m:r>
                          <a:rPr lang="en-US" sz="1800" b="0" i="1" smtClean="0">
                            <a:latin typeface="Cambria Math" panose="02040503050406030204" pitchFamily="18" charset="0"/>
                          </a:rPr>
                          <m:t>3</m:t>
                        </m:r>
                      </m:den>
                    </m:f>
                  </m:oMath>
                </a14:m>
                <a:endParaRPr lang="en-PH" sz="1800" i="1" dirty="0"/>
              </a:p>
              <a:p>
                <a:pPr marL="0" indent="0">
                  <a:buNone/>
                </a:pPr>
                <a:endParaRPr lang="en-PH" sz="1800" i="1" dirty="0"/>
              </a:p>
              <a:p>
                <a:pPr marL="0" indent="0">
                  <a:buNone/>
                </a:pPr>
                <a:r>
                  <a:rPr lang="en-PH" sz="1800" i="1" dirty="0"/>
                  <a:t>Hence, we have a linear combination  in this </a:t>
                </a:r>
                <a:r>
                  <a:rPr lang="en-PH" sz="1800" b="1" i="1" dirty="0"/>
                  <a:t>v </a:t>
                </a:r>
                <a:r>
                  <a:rPr lang="en-PH" sz="1800" i="1" dirty="0"/>
                  <a:t>as:</a:t>
                </a:r>
              </a:p>
              <a:p>
                <a:pPr marL="0" indent="0">
                  <a:buNone/>
                </a:pPr>
                <a:r>
                  <a:rPr lang="en-PH" sz="1800" i="1" dirty="0"/>
                  <a:t>		</a:t>
                </a:r>
                <a:r>
                  <a:rPr lang="en-PH" sz="1800" b="1" i="1" dirty="0"/>
                  <a:t>	</a:t>
                </a:r>
                <a14:m>
                  <m:oMath xmlns:m="http://schemas.openxmlformats.org/officeDocument/2006/math">
                    <m:f>
                      <m:fPr>
                        <m:ctrlPr>
                          <a:rPr lang="en-PH" sz="1800" b="1" i="1" smtClean="0">
                            <a:latin typeface="Cambria Math" panose="02040503050406030204" pitchFamily="18" charset="0"/>
                          </a:rPr>
                        </m:ctrlPr>
                      </m:fPr>
                      <m:num>
                        <m:r>
                          <a:rPr lang="en-US" sz="1800" b="1" i="1" smtClean="0">
                            <a:latin typeface="Cambria Math" panose="02040503050406030204" pitchFamily="18" charset="0"/>
                          </a:rPr>
                          <m:t>𝟏</m:t>
                        </m:r>
                      </m:num>
                      <m:den>
                        <m:r>
                          <a:rPr lang="en-US" sz="1800" b="1" i="1" smtClean="0">
                            <a:latin typeface="Cambria Math" panose="02040503050406030204" pitchFamily="18" charset="0"/>
                          </a:rPr>
                          <m:t>𝟑</m:t>
                        </m:r>
                      </m:den>
                    </m:f>
                    <m:sSub>
                      <m:sSubPr>
                        <m:ctrlPr>
                          <a:rPr lang="en-PH" sz="1800" b="1" i="1">
                            <a:latin typeface="Cambria Math" panose="02040503050406030204" pitchFamily="18" charset="0"/>
                          </a:rPr>
                        </m:ctrlPr>
                      </m:sSubPr>
                      <m:e>
                        <m:r>
                          <a:rPr lang="en-PH" sz="1800" b="1">
                            <a:latin typeface="Cambria Math"/>
                          </a:rPr>
                          <m:t>𝐯</m:t>
                        </m:r>
                      </m:e>
                      <m:sub>
                        <m:r>
                          <a:rPr lang="en-PH" sz="1800" b="1" i="1">
                            <a:latin typeface="Cambria Math"/>
                          </a:rPr>
                          <m:t>𝟏</m:t>
                        </m:r>
                      </m:sub>
                    </m:sSub>
                    <m:r>
                      <a:rPr lang="en-US" sz="1800" b="1" i="1" smtClean="0">
                        <a:latin typeface="Cambria Math" panose="02040503050406030204" pitchFamily="18" charset="0"/>
                      </a:rPr>
                      <m:t>−</m:t>
                    </m:r>
                  </m:oMath>
                </a14:m>
                <a:r>
                  <a:rPr lang="en-PH" sz="1800" b="1" dirty="0"/>
                  <a:t> </a:t>
                </a:r>
                <a14:m>
                  <m:oMath xmlns:m="http://schemas.openxmlformats.org/officeDocument/2006/math">
                    <m:f>
                      <m:fPr>
                        <m:ctrlPr>
                          <a:rPr lang="en-PH" sz="1800" b="1" i="1" smtClean="0">
                            <a:latin typeface="Cambria Math" panose="02040503050406030204" pitchFamily="18" charset="0"/>
                          </a:rPr>
                        </m:ctrlPr>
                      </m:fPr>
                      <m:num>
                        <m:r>
                          <a:rPr lang="en-US" sz="1800" b="1" i="1" smtClean="0">
                            <a:latin typeface="Cambria Math" panose="02040503050406030204" pitchFamily="18" charset="0"/>
                          </a:rPr>
                          <m:t>𝟓</m:t>
                        </m:r>
                      </m:num>
                      <m:den>
                        <m:r>
                          <a:rPr lang="en-US" sz="1800" b="1" i="1" smtClean="0">
                            <a:latin typeface="Cambria Math" panose="02040503050406030204" pitchFamily="18" charset="0"/>
                          </a:rPr>
                          <m:t>𝟑</m:t>
                        </m:r>
                      </m:den>
                    </m:f>
                    <m:sSub>
                      <m:sSubPr>
                        <m:ctrlPr>
                          <a:rPr lang="en-PH" sz="1800" b="1" i="1">
                            <a:latin typeface="Cambria Math" panose="02040503050406030204" pitchFamily="18" charset="0"/>
                          </a:rPr>
                        </m:ctrlPr>
                      </m:sSubPr>
                      <m:e>
                        <m:r>
                          <a:rPr lang="en-PH" sz="1800" b="1">
                            <a:latin typeface="Cambria Math"/>
                          </a:rPr>
                          <m:t>𝐯</m:t>
                        </m:r>
                      </m:e>
                      <m:sub>
                        <m:r>
                          <a:rPr lang="en-PH" sz="1800" b="1" i="1">
                            <a:latin typeface="Cambria Math"/>
                          </a:rPr>
                          <m:t>𝟐</m:t>
                        </m:r>
                      </m:sub>
                    </m:sSub>
                    <m:r>
                      <a:rPr lang="en-PH" sz="1800" b="1" i="1">
                        <a:latin typeface="Cambria Math"/>
                      </a:rPr>
                      <m:t>+</m:t>
                    </m:r>
                  </m:oMath>
                </a14:m>
                <a:r>
                  <a:rPr lang="en-PH" sz="1800" b="1" dirty="0"/>
                  <a:t> </a:t>
                </a:r>
                <a14:m>
                  <m:oMath xmlns:m="http://schemas.openxmlformats.org/officeDocument/2006/math">
                    <m:f>
                      <m:fPr>
                        <m:ctrlPr>
                          <a:rPr lang="en-PH" sz="1800" b="1" i="1" smtClean="0">
                            <a:latin typeface="Cambria Math" panose="02040503050406030204" pitchFamily="18" charset="0"/>
                          </a:rPr>
                        </m:ctrlPr>
                      </m:fPr>
                      <m:num>
                        <m:r>
                          <a:rPr lang="en-US" sz="1800" b="1" i="1" smtClean="0">
                            <a:latin typeface="Cambria Math" panose="02040503050406030204" pitchFamily="18" charset="0"/>
                          </a:rPr>
                          <m:t>𝟏𝟎</m:t>
                        </m:r>
                      </m:num>
                      <m:den>
                        <m:r>
                          <a:rPr lang="en-US" sz="1800" b="1" i="1" smtClean="0">
                            <a:latin typeface="Cambria Math" panose="02040503050406030204" pitchFamily="18" charset="0"/>
                          </a:rPr>
                          <m:t>𝟑</m:t>
                        </m:r>
                      </m:den>
                    </m:f>
                    <m:sSub>
                      <m:sSubPr>
                        <m:ctrlPr>
                          <a:rPr lang="en-PH" sz="1800" b="1" i="1">
                            <a:latin typeface="Cambria Math" panose="02040503050406030204" pitchFamily="18" charset="0"/>
                          </a:rPr>
                        </m:ctrlPr>
                      </m:sSubPr>
                      <m:e>
                        <m:r>
                          <a:rPr lang="en-PH" sz="1800" b="1">
                            <a:latin typeface="Cambria Math"/>
                          </a:rPr>
                          <m:t>𝐯</m:t>
                        </m:r>
                      </m:e>
                      <m:sub>
                        <m:r>
                          <a:rPr lang="en-PH" sz="1800" b="1" i="1">
                            <a:latin typeface="Cambria Math"/>
                          </a:rPr>
                          <m:t>𝟑</m:t>
                        </m:r>
                      </m:sub>
                    </m:sSub>
                    <m:r>
                      <a:rPr lang="en-PH" sz="1800" b="1" i="1">
                        <a:latin typeface="Cambria Math"/>
                      </a:rPr>
                      <m:t>=</m:t>
                    </m:r>
                    <m:r>
                      <a:rPr lang="en-PH" sz="1800" b="1">
                        <a:latin typeface="Cambria Math"/>
                      </a:rPr>
                      <m:t>𝐯</m:t>
                    </m:r>
                  </m:oMath>
                </a14:m>
                <a:r>
                  <a:rPr lang="en-PH" sz="1800" b="1" i="1" dirty="0"/>
                  <a:t>    </a:t>
                </a:r>
                <a:r>
                  <a:rPr lang="en-PH" sz="1800" b="1" i="1" dirty="0">
                    <a:sym typeface="Wingdings" panose="05000000000000000000" pitchFamily="2" charset="2"/>
                  </a:rPr>
                  <a:t> </a:t>
                </a:r>
                <a:r>
                  <a:rPr lang="en-PH" sz="1800" b="1" dirty="0">
                    <a:sym typeface="Wingdings" panose="05000000000000000000" pitchFamily="2" charset="2"/>
                  </a:rPr>
                  <a:t> </a:t>
                </a:r>
                <a14:m>
                  <m:oMath xmlns:m="http://schemas.openxmlformats.org/officeDocument/2006/math">
                    <m:sSub>
                      <m:sSubPr>
                        <m:ctrlPr>
                          <a:rPr lang="en-PH" sz="1800" b="1" i="1" smtClean="0">
                            <a:latin typeface="Cambria Math" panose="02040503050406030204" pitchFamily="18" charset="0"/>
                            <a:sym typeface="Wingdings" panose="05000000000000000000" pitchFamily="2" charset="2"/>
                          </a:rPr>
                        </m:ctrlPr>
                      </m:sSubPr>
                      <m:e>
                        <m:r>
                          <a:rPr lang="en-US" sz="1800" b="1" i="0" smtClean="0">
                            <a:latin typeface="Cambria Math" panose="02040503050406030204" pitchFamily="18" charset="0"/>
                            <a:sym typeface="Wingdings" panose="05000000000000000000" pitchFamily="2" charset="2"/>
                          </a:rPr>
                          <m:t>𝐯</m:t>
                        </m:r>
                      </m:e>
                      <m:sub>
                        <m:r>
                          <a:rPr lang="en-US" sz="1800" b="1" i="0" smtClean="0">
                            <a:latin typeface="Cambria Math" panose="02040503050406030204" pitchFamily="18" charset="0"/>
                            <a:sym typeface="Wingdings" panose="05000000000000000000" pitchFamily="2" charset="2"/>
                          </a:rPr>
                          <m:t>𝟏</m:t>
                        </m:r>
                      </m:sub>
                    </m:sSub>
                    <m:r>
                      <a:rPr lang="en-US" sz="1800" b="1" i="0" smtClean="0">
                        <a:latin typeface="Cambria Math" panose="02040503050406030204" pitchFamily="18" charset="0"/>
                        <a:sym typeface="Wingdings" panose="05000000000000000000" pitchFamily="2" charset="2"/>
                      </a:rPr>
                      <m:t>−</m:t>
                    </m:r>
                    <m:r>
                      <a:rPr lang="en-US" sz="1800" b="1" i="0" smtClean="0">
                        <a:latin typeface="Cambria Math" panose="02040503050406030204" pitchFamily="18" charset="0"/>
                        <a:sym typeface="Wingdings" panose="05000000000000000000" pitchFamily="2" charset="2"/>
                      </a:rPr>
                      <m:t>𝟓</m:t>
                    </m:r>
                    <m:sSub>
                      <m:sSubPr>
                        <m:ctrlPr>
                          <a:rPr lang="en-US" sz="1800" b="1" i="1" smtClean="0">
                            <a:latin typeface="Cambria Math" panose="02040503050406030204" pitchFamily="18" charset="0"/>
                            <a:sym typeface="Wingdings" panose="05000000000000000000" pitchFamily="2" charset="2"/>
                          </a:rPr>
                        </m:ctrlPr>
                      </m:sSubPr>
                      <m:e>
                        <m:r>
                          <a:rPr lang="en-US" sz="1800" b="1" i="0" smtClean="0">
                            <a:latin typeface="Cambria Math" panose="02040503050406030204" pitchFamily="18" charset="0"/>
                            <a:sym typeface="Wingdings" panose="05000000000000000000" pitchFamily="2" charset="2"/>
                          </a:rPr>
                          <m:t>𝐯</m:t>
                        </m:r>
                      </m:e>
                      <m:sub>
                        <m:r>
                          <a:rPr lang="en-US" sz="1800" b="1" i="0" smtClean="0">
                            <a:latin typeface="Cambria Math" panose="02040503050406030204" pitchFamily="18" charset="0"/>
                            <a:sym typeface="Wingdings" panose="05000000000000000000" pitchFamily="2" charset="2"/>
                          </a:rPr>
                          <m:t>𝟐</m:t>
                        </m:r>
                      </m:sub>
                    </m:sSub>
                    <m:r>
                      <a:rPr lang="en-US" sz="1800" b="1" i="0" smtClean="0">
                        <a:latin typeface="Cambria Math" panose="02040503050406030204" pitchFamily="18" charset="0"/>
                        <a:sym typeface="Wingdings" panose="05000000000000000000" pitchFamily="2" charset="2"/>
                      </a:rPr>
                      <m:t>+</m:t>
                    </m:r>
                    <m:r>
                      <a:rPr lang="en-US" sz="1800" b="1" i="0" smtClean="0">
                        <a:latin typeface="Cambria Math" panose="02040503050406030204" pitchFamily="18" charset="0"/>
                        <a:sym typeface="Wingdings" panose="05000000000000000000" pitchFamily="2" charset="2"/>
                      </a:rPr>
                      <m:t>𝟏𝟎</m:t>
                    </m:r>
                    <m:sSub>
                      <m:sSubPr>
                        <m:ctrlPr>
                          <a:rPr lang="en-US" sz="1800" b="1" i="1" smtClean="0">
                            <a:latin typeface="Cambria Math" panose="02040503050406030204" pitchFamily="18" charset="0"/>
                            <a:sym typeface="Wingdings" panose="05000000000000000000" pitchFamily="2" charset="2"/>
                          </a:rPr>
                        </m:ctrlPr>
                      </m:sSubPr>
                      <m:e>
                        <m:r>
                          <a:rPr lang="en-US" sz="1800" b="1" i="0" smtClean="0">
                            <a:latin typeface="Cambria Math" panose="02040503050406030204" pitchFamily="18" charset="0"/>
                            <a:sym typeface="Wingdings" panose="05000000000000000000" pitchFamily="2" charset="2"/>
                          </a:rPr>
                          <m:t>𝐯</m:t>
                        </m:r>
                      </m:e>
                      <m:sub>
                        <m:r>
                          <a:rPr lang="en-US" sz="1800" b="1" i="0" smtClean="0">
                            <a:latin typeface="Cambria Math" panose="02040503050406030204" pitchFamily="18" charset="0"/>
                            <a:sym typeface="Wingdings" panose="05000000000000000000" pitchFamily="2" charset="2"/>
                          </a:rPr>
                          <m:t>𝟑</m:t>
                        </m:r>
                      </m:sub>
                    </m:sSub>
                    <m:r>
                      <a:rPr lang="en-US" sz="1800" b="1" i="1" smtClean="0">
                        <a:latin typeface="Cambria Math" panose="02040503050406030204" pitchFamily="18" charset="0"/>
                        <a:sym typeface="Wingdings" panose="05000000000000000000" pitchFamily="2" charset="2"/>
                      </a:rPr>
                      <m:t>=</m:t>
                    </m:r>
                    <m:r>
                      <a:rPr lang="en-US" sz="1800" b="1" i="1" smtClean="0">
                        <a:latin typeface="Cambria Math" panose="02040503050406030204" pitchFamily="18" charset="0"/>
                        <a:sym typeface="Wingdings" panose="05000000000000000000" pitchFamily="2" charset="2"/>
                      </a:rPr>
                      <m:t>𝟑</m:t>
                    </m:r>
                    <m:r>
                      <a:rPr lang="en-US" sz="1800" b="1" i="0" smtClean="0">
                        <a:latin typeface="Cambria Math" panose="02040503050406030204" pitchFamily="18" charset="0"/>
                        <a:sym typeface="Wingdings" panose="05000000000000000000" pitchFamily="2" charset="2"/>
                      </a:rPr>
                      <m:t>𝐯</m:t>
                    </m:r>
                  </m:oMath>
                </a14:m>
                <a:endParaRPr lang="en-PH" sz="1800" b="1" dirty="0"/>
              </a:p>
              <a:p>
                <a:pPr marL="0" indent="0">
                  <a:buNone/>
                </a:pPr>
                <a:r>
                  <a:rPr lang="en-PH" sz="1800" b="1" i="1" dirty="0"/>
                  <a:t>or</a:t>
                </a:r>
              </a:p>
              <a:p>
                <a:pPr marL="0" indent="0" algn="ctr">
                  <a:buNone/>
                </a:pPr>
                <a14:m>
                  <m:oMath xmlns:m="http://schemas.openxmlformats.org/officeDocument/2006/math">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2</m:t>
                              </m:r>
                            </m:e>
                          </m:mr>
                          <m:mr>
                            <m:e>
                              <m:r>
                                <a:rPr lang="en-PH" sz="1800" i="1">
                                  <a:latin typeface="Cambria Math"/>
                                </a:rPr>
                                <m:t>1</m:t>
                              </m:r>
                            </m:e>
                          </m:mr>
                        </m:m>
                      </m:e>
                    </m:d>
                  </m:oMath>
                </a14:m>
                <a:r>
                  <a:rPr lang="en-PH" sz="1800" i="1" dirty="0"/>
                  <a:t>  - </a:t>
                </a:r>
                <a14:m>
                  <m:oMath xmlns:m="http://schemas.openxmlformats.org/officeDocument/2006/math">
                    <m:r>
                      <a:rPr lang="en-US" sz="1800" b="0" i="1" smtClean="0">
                        <a:latin typeface="Cambria Math" panose="02040503050406030204" pitchFamily="18" charset="0"/>
                      </a:rPr>
                      <m:t>5</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0</m:t>
                              </m:r>
                            </m:e>
                          </m:mr>
                          <m:mr>
                            <m:e>
                              <m:r>
                                <a:rPr lang="en-PH" sz="1800" i="1">
                                  <a:latin typeface="Cambria Math"/>
                                </a:rPr>
                                <m:t>2</m:t>
                              </m:r>
                            </m:e>
                          </m:mr>
                        </m:m>
                      </m:e>
                    </m:d>
                    <m:r>
                      <a:rPr lang="en-PH" sz="1800" i="1">
                        <a:latin typeface="Cambria Math"/>
                      </a:rPr>
                      <m:t> </m:t>
                    </m:r>
                  </m:oMath>
                </a14:m>
                <a:r>
                  <a:rPr lang="en-PH" sz="1800" i="1" dirty="0"/>
                  <a:t>+ </a:t>
                </a:r>
                <a14:m>
                  <m:oMath xmlns:m="http://schemas.openxmlformats.org/officeDocument/2006/math">
                    <m:r>
                      <a:rPr lang="en-PH" sz="1800" b="0" i="1" smtClean="0">
                        <a:latin typeface="Cambria Math"/>
                      </a:rPr>
                      <m:t>1</m:t>
                    </m:r>
                    <m:r>
                      <a:rPr lang="en-US" sz="1800" b="0" i="1" smtClean="0">
                        <a:latin typeface="Cambria Math" panose="02040503050406030204" pitchFamily="18" charset="0"/>
                      </a:rPr>
                      <m:t>0</m:t>
                    </m:r>
                    <m:r>
                      <a:rPr lang="en-PH" sz="1800" i="1">
                        <a:latin typeface="Cambria Math"/>
                      </a:rPr>
                      <m:t> </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PH" sz="1800" i="1">
                                  <a:latin typeface="Cambria Math"/>
                                </a:rPr>
                                <m:t>1</m:t>
                              </m:r>
                            </m:e>
                          </m:mr>
                          <m:mr>
                            <m:e>
                              <m:r>
                                <a:rPr lang="en-PH" sz="1800" i="1">
                                  <a:latin typeface="Cambria Math"/>
                                </a:rPr>
                                <m:t>1</m:t>
                              </m:r>
                            </m:e>
                          </m:mr>
                          <m:mr>
                            <m:e>
                              <m:r>
                                <a:rPr lang="en-PH" sz="1800" i="1">
                                  <a:latin typeface="Cambria Math"/>
                                </a:rPr>
                                <m:t>0</m:t>
                              </m:r>
                            </m:e>
                          </m:mr>
                        </m:m>
                      </m:e>
                    </m:d>
                    <m:r>
                      <a:rPr lang="en-PH" sz="1800" i="1">
                        <a:latin typeface="Cambria Math"/>
                      </a:rPr>
                      <m:t>=</m:t>
                    </m:r>
                    <m:r>
                      <a:rPr lang="en-US" sz="1800" b="0" i="1" smtClean="0">
                        <a:latin typeface="Cambria Math" panose="02040503050406030204" pitchFamily="18" charset="0"/>
                      </a:rPr>
                      <m:t>3</m:t>
                    </m:r>
                    <m:d>
                      <m:dPr>
                        <m:begChr m:val="["/>
                        <m:endChr m:val="]"/>
                        <m:ctrlPr>
                          <a:rPr lang="en-PH" sz="1800" i="1">
                            <a:latin typeface="Cambria Math" panose="02040503050406030204" pitchFamily="18" charset="0"/>
                          </a:rPr>
                        </m:ctrlPr>
                      </m:dPr>
                      <m:e>
                        <m:m>
                          <m:mPr>
                            <m:mcs>
                              <m:mc>
                                <m:mcPr>
                                  <m:count m:val="1"/>
                                  <m:mcJc m:val="center"/>
                                </m:mcPr>
                              </m:mc>
                            </m:mcs>
                            <m:ctrlPr>
                              <a:rPr lang="en-PH" sz="1800" i="1">
                                <a:latin typeface="Cambria Math" panose="02040503050406030204" pitchFamily="18" charset="0"/>
                              </a:rPr>
                            </m:ctrlPr>
                          </m:mPr>
                          <m:mr>
                            <m:e>
                              <m:r>
                                <m:rPr>
                                  <m:brk m:alnAt="7"/>
                                </m:rPr>
                                <a:rPr lang="en-US" sz="1800" b="0" i="1" smtClean="0">
                                  <a:latin typeface="Cambria Math" panose="02040503050406030204" pitchFamily="18" charset="0"/>
                                </a:rPr>
                                <m:t>2</m:t>
                              </m:r>
                            </m:e>
                          </m:mr>
                          <m:mr>
                            <m:e>
                              <m:r>
                                <a:rPr lang="en-US" sz="1800" b="0" i="1" smtClean="0">
                                  <a:latin typeface="Cambria Math" panose="02040503050406030204" pitchFamily="18" charset="0"/>
                                </a:rPr>
                                <m:t>4</m:t>
                              </m:r>
                            </m:e>
                          </m:mr>
                          <m:mr>
                            <m:e>
                              <m:r>
                                <a:rPr lang="en-US" sz="1800" b="0" i="1" smtClean="0">
                                  <a:latin typeface="Cambria Math" panose="02040503050406030204" pitchFamily="18" charset="0"/>
                                </a:rPr>
                                <m:t>−3</m:t>
                              </m:r>
                            </m:e>
                          </m:mr>
                        </m:m>
                      </m:e>
                    </m:d>
                  </m:oMath>
                </a14:m>
                <a:endParaRPr lang="en-PH" sz="1600" i="1" dirty="0"/>
              </a:p>
              <a:p>
                <a:pPr marL="0" indent="0" algn="ctr">
                  <a:buNone/>
                </a:pPr>
                <a:endParaRPr lang="en-US" sz="1800" b="0" dirty="0"/>
              </a:p>
              <a:p>
                <a:pPr marL="0" indent="0" algn="ctr">
                  <a:buNone/>
                </a:pPr>
                <a:r>
                  <a:rPr lang="en-US" sz="1800" b="0" dirty="0"/>
                  <a:t>To check                  </a:t>
                </a:r>
                <a14:m>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+10</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=3(2)</m:t>
                    </m:r>
                  </m:oMath>
                </a14:m>
                <a:endParaRPr lang="en-PH" sz="1800" i="1" dirty="0"/>
              </a:p>
              <a:p>
                <a:pPr marL="0" indent="0" algn="ctr">
                  <a:buNone/>
                </a:pPr>
                <a:r>
                  <a:rPr lang="en-US" sz="1800" b="0" dirty="0"/>
                  <a:t>                                </a:t>
                </a:r>
                <a14:m>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m:t>
                        </m:r>
                      </m:e>
                    </m:d>
                    <m:r>
                      <a:rPr lang="en-US" sz="1800" b="0" i="1" smtClean="0">
                        <a:latin typeface="Cambria Math" panose="02040503050406030204" pitchFamily="18" charset="0"/>
                      </a:rPr>
                      <m:t>−5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m:t>
                        </m:r>
                      </m:e>
                    </m:d>
                    <m:r>
                      <a:rPr lang="en-US" sz="1800" b="0" i="1" smtClean="0">
                        <a:latin typeface="Cambria Math" panose="02040503050406030204" pitchFamily="18" charset="0"/>
                      </a:rPr>
                      <m:t>+10</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=3(</m:t>
                    </m:r>
                  </m:oMath>
                </a14:m>
                <a:r>
                  <a:rPr lang="en-PH" sz="1800" i="1" dirty="0"/>
                  <a:t>4)</a:t>
                </a:r>
              </a:p>
              <a:p>
                <a:pPr marL="0" indent="0" algn="ctr">
                  <a:buNone/>
                </a:pPr>
                <a:r>
                  <a:rPr lang="en-US" sz="1800" b="0" dirty="0"/>
                  <a:t>                                    </a:t>
                </a:r>
                <a14:m>
                  <m:oMath xmlns:m="http://schemas.openxmlformats.org/officeDocument/2006/math">
                    <m:r>
                      <a:rPr lang="en-US" sz="1800" b="0" i="1" smtClean="0">
                        <a:latin typeface="Cambria Math" panose="02040503050406030204" pitchFamily="18" charset="0"/>
                      </a:rPr>
                      <m:t>1</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e>
                    </m:d>
                    <m:r>
                      <a:rPr lang="en-US" sz="1800" b="0" i="1" smtClean="0">
                        <a:latin typeface="Cambria Math" panose="02040503050406030204" pitchFamily="18" charset="0"/>
                      </a:rPr>
                      <m:t>−5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2</m:t>
                        </m:r>
                      </m:e>
                    </m:d>
                    <m:r>
                      <a:rPr lang="en-US" sz="1800" b="0" i="1" smtClean="0">
                        <a:latin typeface="Cambria Math" panose="02040503050406030204" pitchFamily="18" charset="0"/>
                      </a:rPr>
                      <m:t>+10</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0</m:t>
                        </m:r>
                      </m:e>
                    </m:d>
                    <m:r>
                      <a:rPr lang="en-US" sz="1800" b="0" i="1" smtClean="0">
                        <a:latin typeface="Cambria Math" panose="02040503050406030204" pitchFamily="18" charset="0"/>
                      </a:rPr>
                      <m:t>=3(−</m:t>
                    </m:r>
                  </m:oMath>
                </a14:m>
                <a:r>
                  <a:rPr lang="en-PH" sz="1800" i="1" dirty="0"/>
                  <a:t>3)</a:t>
                </a:r>
              </a:p>
              <a:p>
                <a:pPr marL="0" indent="0">
                  <a:buNone/>
                </a:pPr>
                <a:r>
                  <a:rPr lang="en-PH" sz="1800" i="1" dirty="0"/>
                  <a:t>	 .</a:t>
                </a:r>
                <a:endParaRPr lang="en-PH" sz="1800" i="1" baseline="300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609600"/>
                <a:ext cx="8458200" cy="6019800"/>
              </a:xfrm>
              <a:blipFill>
                <a:blip r:embed="rId2"/>
                <a:stretch>
                  <a:fillRect l="-576"/>
                </a:stretch>
              </a:blipFill>
            </p:spPr>
            <p:txBody>
              <a:bodyPr/>
              <a:lstStyle/>
              <a:p>
                <a:r>
                  <a:rPr lang="en-PH">
                    <a:noFill/>
                  </a:rPr>
                  <a:t> </a:t>
                </a:r>
              </a:p>
            </p:txBody>
          </p:sp>
        </mc:Fallback>
      </mc:AlternateContent>
    </p:spTree>
    <p:extLst>
      <p:ext uri="{BB962C8B-B14F-4D97-AF65-F5344CB8AC3E}">
        <p14:creationId xmlns:p14="http://schemas.microsoft.com/office/powerpoint/2010/main" val="21263162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828800"/>
                <a:ext cx="8686800" cy="4648200"/>
              </a:xfrm>
            </p:spPr>
            <p:txBody>
              <a:bodyPr>
                <a:normAutofit/>
              </a:bodyPr>
              <a:lstStyle/>
              <a:p>
                <a:pPr marL="0" indent="0">
                  <a:buNone/>
                </a:pPr>
                <a:r>
                  <a:rPr lang="en-US" sz="2000" dirty="0"/>
                  <a:t>Example 2: </a:t>
                </a:r>
              </a:p>
              <a:p>
                <a:pPr marL="0" indent="0">
                  <a:buNone/>
                </a:pPr>
                <a:r>
                  <a:rPr lang="en-US" sz="2000" dirty="0"/>
                  <a:t>Are vectors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      </m:t>
                        </m:r>
                        <m:r>
                          <a:rPr lang="en-US" sz="2000" b="1">
                            <a:latin typeface="Cambria Math" panose="02040503050406030204" pitchFamily="18" charset="0"/>
                          </a:rPr>
                          <m:t>𝐯</m:t>
                        </m:r>
                      </m:e>
                      <m:sub>
                        <m:r>
                          <a:rPr lang="en-US" sz="2000" b="1" i="1">
                            <a:latin typeface="Cambria Math" panose="02040503050406030204" pitchFamily="18" charset="0"/>
                          </a:rPr>
                          <m:t>𝟏</m:t>
                        </m:r>
                      </m:sub>
                    </m:sSub>
                    <m:r>
                      <a:rPr lang="en-US" sz="2000">
                        <a:latin typeface="Cambria Math" panose="02040503050406030204" pitchFamily="18" charset="0"/>
                      </a:rPr>
                      <m:t>=[1 , </m:t>
                    </m:r>
                    <m:r>
                      <a:rPr lang="en-US" sz="2000" b="0" i="0" smtClean="0">
                        <a:latin typeface="Cambria Math" panose="02040503050406030204" pitchFamily="18" charset="0"/>
                      </a:rPr>
                      <m:t>0</m:t>
                    </m:r>
                    <m:r>
                      <a:rPr lang="en-US" sz="2000">
                        <a:latin typeface="Cambria Math" panose="02040503050406030204" pitchFamily="18" charset="0"/>
                      </a:rPr>
                      <m:t>, </m:t>
                    </m:r>
                    <m:r>
                      <a:rPr lang="en-US" sz="2000" b="0" i="0" smtClean="0">
                        <a:latin typeface="Cambria Math" panose="02040503050406030204" pitchFamily="18" charset="0"/>
                      </a:rPr>
                      <m:t>0</m:t>
                    </m:r>
                    <m:r>
                      <a:rPr lang="en-US" sz="2000">
                        <a:latin typeface="Cambria Math" panose="02040503050406030204" pitchFamily="18" charset="0"/>
                      </a:rPr>
                      <m:t>]</m:t>
                    </m:r>
                  </m:oMath>
                </a14:m>
                <a:r>
                  <a:rPr lang="en-US" sz="2000" dirty="0"/>
                  <a:t>,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𝐯</m:t>
                        </m:r>
                      </m:e>
                      <m:sub>
                        <m:r>
                          <a:rPr lang="en-US" sz="2000" b="1" i="1">
                            <a:latin typeface="Cambria Math" panose="02040503050406030204" pitchFamily="18" charset="0"/>
                          </a:rPr>
                          <m:t>𝟐</m:t>
                        </m:r>
                      </m:sub>
                    </m:sSub>
                    <m:r>
                      <a:rPr lang="en-US" sz="2000">
                        <a:latin typeface="Cambria Math" panose="02040503050406030204" pitchFamily="18" charset="0"/>
                      </a:rPr>
                      <m:t>=[</m:t>
                    </m:r>
                    <m:r>
                      <a:rPr lang="en-US" sz="2000" b="0" i="0" smtClean="0">
                        <a:latin typeface="Cambria Math" panose="02040503050406030204" pitchFamily="18" charset="0"/>
                      </a:rPr>
                      <m:t>0</m:t>
                    </m:r>
                    <m:r>
                      <a:rPr lang="en-US" sz="2000">
                        <a:latin typeface="Cambria Math" panose="02040503050406030204" pitchFamily="18" charset="0"/>
                      </a:rPr>
                      <m:t> , </m:t>
                    </m:r>
                    <m:r>
                      <a:rPr lang="en-US" sz="2000" b="0" i="0" smtClean="0">
                        <a:latin typeface="Cambria Math" panose="02040503050406030204" pitchFamily="18" charset="0"/>
                      </a:rPr>
                      <m:t>2</m:t>
                    </m:r>
                    <m:r>
                      <a:rPr lang="en-US" sz="2000">
                        <a:latin typeface="Cambria Math" panose="02040503050406030204" pitchFamily="18" charset="0"/>
                      </a:rPr>
                      <m:t>, </m:t>
                    </m:r>
                    <m:r>
                      <a:rPr lang="en-US" sz="2000" b="0" i="0" smtClean="0">
                        <a:latin typeface="Cambria Math" panose="02040503050406030204" pitchFamily="18" charset="0"/>
                      </a:rPr>
                      <m:t>−1</m:t>
                    </m:r>
                    <m:r>
                      <a:rPr lang="en-US" sz="2000">
                        <a:latin typeface="Cambria Math" panose="02040503050406030204" pitchFamily="18" charset="0"/>
                      </a:rPr>
                      <m:t>]</m:t>
                    </m:r>
                  </m:oMath>
                </a14:m>
                <a:r>
                  <a:rPr lang="en-US" sz="2000" dirty="0"/>
                  <a:t>,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𝐯</m:t>
                        </m:r>
                      </m:e>
                      <m:sub>
                        <m:r>
                          <a:rPr lang="en-US" sz="2000" b="1" i="1">
                            <a:latin typeface="Cambria Math" panose="02040503050406030204" pitchFamily="18" charset="0"/>
                          </a:rPr>
                          <m:t>𝟑</m:t>
                        </m:r>
                      </m:sub>
                    </m:sSub>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3 , </m:t>
                        </m:r>
                        <m:r>
                          <a:rPr lang="en-US" sz="2000" b="0" i="0" smtClean="0">
                            <a:latin typeface="Cambria Math" panose="02040503050406030204" pitchFamily="18" charset="0"/>
                          </a:rPr>
                          <m:t>4</m:t>
                        </m:r>
                        <m:r>
                          <a:rPr lang="en-US" sz="2000">
                            <a:latin typeface="Cambria Math" panose="02040503050406030204" pitchFamily="18" charset="0"/>
                          </a:rPr>
                          <m:t>, </m:t>
                        </m:r>
                        <m:r>
                          <a:rPr lang="en-US" sz="2000" b="0" i="0" smtClean="0">
                            <a:latin typeface="Cambria Math" panose="02040503050406030204" pitchFamily="18" charset="0"/>
                          </a:rPr>
                          <m:t>1</m:t>
                        </m:r>
                      </m:e>
                    </m:d>
                    <m:r>
                      <a:rPr lang="en-US" sz="2000" i="1">
                        <a:latin typeface="Cambria Math" panose="02040503050406030204" pitchFamily="18" charset="0"/>
                      </a:rPr>
                      <m:t> </m:t>
                    </m:r>
                  </m:oMath>
                </a14:m>
                <a:r>
                  <a:rPr lang="en-US" sz="2000" dirty="0"/>
                  <a:t>and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𝐯</m:t>
                        </m:r>
                      </m:e>
                      <m:sub>
                        <m:r>
                          <a:rPr lang="en-US" sz="2000" b="1" i="1" smtClean="0">
                            <a:latin typeface="Cambria Math" panose="02040503050406030204" pitchFamily="18" charset="0"/>
                          </a:rPr>
                          <m:t>𝟒</m:t>
                        </m:r>
                      </m:sub>
                    </m:sSub>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b="0" i="0" smtClean="0">
                            <a:latin typeface="Cambria Math" panose="02040503050406030204" pitchFamily="18" charset="0"/>
                          </a:rPr>
                          <m:t>0</m:t>
                        </m:r>
                        <m:r>
                          <a:rPr lang="en-US" sz="2000">
                            <a:latin typeface="Cambria Math" panose="02040503050406030204" pitchFamily="18" charset="0"/>
                          </a:rPr>
                          <m:t> , </m:t>
                        </m:r>
                        <m:r>
                          <a:rPr lang="en-US" sz="2000" b="0" i="0" smtClean="0">
                            <a:latin typeface="Cambria Math" panose="02040503050406030204" pitchFamily="18" charset="0"/>
                          </a:rPr>
                          <m:t>1</m:t>
                        </m:r>
                        <m:r>
                          <a:rPr lang="en-US" sz="2000">
                            <a:latin typeface="Cambria Math" panose="02040503050406030204" pitchFamily="18" charset="0"/>
                          </a:rPr>
                          <m:t>, </m:t>
                        </m:r>
                        <m:r>
                          <a:rPr lang="en-US" sz="2000" b="0" i="1" smtClean="0">
                            <a:latin typeface="Cambria Math" panose="02040503050406030204" pitchFamily="18" charset="0"/>
                          </a:rPr>
                          <m:t>0</m:t>
                        </m:r>
                      </m:e>
                    </m:d>
                  </m:oMath>
                </a14:m>
                <a:r>
                  <a:rPr lang="en-US" sz="2000" dirty="0"/>
                  <a:t> spans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3</m:t>
                        </m:r>
                      </m:sup>
                    </m:sSup>
                  </m:oMath>
                </a14:m>
                <a:endParaRPr lang="en-US" sz="2000" dirty="0"/>
              </a:p>
              <a:p>
                <a:pPr marL="0" indent="0">
                  <a:buNone/>
                </a:pPr>
                <a:endParaRPr lang="en-US" sz="2000" dirty="0"/>
              </a:p>
              <a:p>
                <a:pPr marL="0" indent="0">
                  <a:buNone/>
                </a:pPr>
                <a:r>
                  <a:rPr lang="en-US" sz="2000" dirty="0"/>
                  <a:t>Step 1: Express the given as linear combination and let the entry of vector v=[a, b, c].</a:t>
                </a:r>
              </a:p>
              <a:p>
                <a:pPr marL="0" indent="0">
                  <a:buNone/>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PH" sz="2000">
                        <a:effectLst/>
                        <a:latin typeface="Cambria Math" panose="02040503050406030204" pitchFamily="18" charset="0"/>
                        <a:ea typeface="Times New Roman" panose="02020603050405020304" pitchFamily="18" charset="0"/>
                        <a:cs typeface="Times New Roman" panose="02020603050405020304" pitchFamily="18" charset="0"/>
                      </a:rPr>
                      <m:t>v</m:t>
                    </m:r>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PH" sz="2000" b="1" i="1">
                            <a:latin typeface="Cambria Math" panose="02040503050406030204" pitchFamily="18" charset="0"/>
                          </a:rPr>
                        </m:ctrlPr>
                      </m:sSubPr>
                      <m:e>
                        <m:r>
                          <a:rPr lang="en-PH" sz="2000" b="1" i="1">
                            <a:latin typeface="Cambria Math"/>
                          </a:rPr>
                          <m:t>𝒄</m:t>
                        </m:r>
                      </m:e>
                      <m:sub>
                        <m:r>
                          <a:rPr lang="en-PH" sz="2000" b="1" i="1">
                            <a:latin typeface="Cambria Math"/>
                          </a:rPr>
                          <m:t>𝟏</m:t>
                        </m:r>
                      </m:sub>
                    </m:sSub>
                    <m:sSub>
                      <m:sSubPr>
                        <m:ctrlPr>
                          <a:rPr lang="en-US" sz="2000" b="1" i="1">
                            <a:effectLst/>
                            <a:latin typeface="Cambria Math" panose="020405030504060302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𝒗</m:t>
                        </m:r>
                      </m:e>
                      <m:sub>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𝟏</m:t>
                        </m:r>
                      </m:sub>
                    </m:sSub>
                  </m:oMath>
                </a14:m>
                <a:r>
                  <a:rPr lang="en-PH" sz="2000" b="1" dirty="0">
                    <a:effectLst/>
                    <a:latin typeface="Calibri" panose="020F0502020204030204" pitchFamily="34" charset="0"/>
                    <a:ea typeface="Times New Roman" panose="02020603050405020304" pitchFamily="18" charset="0"/>
                    <a:cs typeface="Times New Roman" panose="02020603050405020304" pitchFamily="18" charset="0"/>
                  </a:rPr>
                  <a:t>+</a:t>
                </a:r>
                <a14:m>
                  <m:oMath xmlns:m="http://schemas.openxmlformats.org/officeDocument/2006/math">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𝟐</m:t>
                        </m:r>
                      </m:sub>
                    </m:sSub>
                    <m:sSub>
                      <m:sSubPr>
                        <m:ctrlPr>
                          <a:rPr lang="en-US" sz="2000" b="1" i="1">
                            <a:effectLst/>
                            <a:latin typeface="Cambria Math" panose="020405030504060302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𝒗</m:t>
                        </m:r>
                      </m:e>
                      <m:sub>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𝟐</m:t>
                        </m:r>
                      </m:sub>
                    </m:sSub>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𝟑</m:t>
                        </m:r>
                      </m:sub>
                    </m:sSub>
                    <m:sSub>
                      <m:sSubPr>
                        <m:ctrlPr>
                          <a:rPr lang="en-US" sz="2000" b="1" i="1">
                            <a:effectLst/>
                            <a:latin typeface="Cambria Math" panose="020405030504060302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𝒗</m:t>
                        </m:r>
                      </m:e>
                      <m:sub>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𝟑</m:t>
                        </m:r>
                      </m:sub>
                    </m:sSub>
                    <m:r>
                      <a:rPr lang="en-US" sz="20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𝟒</m:t>
                        </m:r>
                      </m:sub>
                    </m:sSub>
                    <m:sSub>
                      <m:sSubPr>
                        <m:ctrlPr>
                          <a:rPr lang="en-US" sz="2000" b="1" i="1">
                            <a:latin typeface="Cambria Math" panose="02040503050406030204" pitchFamily="18" charset="0"/>
                          </a:rPr>
                        </m:ctrlPr>
                      </m:sSubPr>
                      <m:e>
                        <m:r>
                          <a:rPr lang="en-PH" sz="2000" b="1" i="1">
                            <a:latin typeface="Cambria Math" panose="02040503050406030204" pitchFamily="18" charset="0"/>
                            <a:ea typeface="Times New Roman" panose="02020603050405020304" pitchFamily="18" charset="0"/>
                            <a:cs typeface="Times New Roman" panose="02020603050405020304" pitchFamily="18" charset="0"/>
                          </a:rPr>
                          <m:t>𝒗</m:t>
                        </m:r>
                      </m:e>
                      <m:sub>
                        <m:r>
                          <a:rPr lang="en-US" sz="2000" b="1" i="0" smtClean="0">
                            <a:latin typeface="Cambria Math" panose="02040503050406030204" pitchFamily="18" charset="0"/>
                            <a:ea typeface="Times New Roman" panose="02020603050405020304" pitchFamily="18" charset="0"/>
                            <a:cs typeface="Times New Roman" panose="02020603050405020304" pitchFamily="18" charset="0"/>
                          </a:rPr>
                          <m:t>𝟒</m:t>
                        </m:r>
                      </m:sub>
                    </m:sSub>
                  </m:oMath>
                </a14:m>
                <a:r>
                  <a:rPr lang="en-US" sz="2000" b="1" dirty="0">
                    <a:sym typeface="Wingdings" panose="05000000000000000000" pitchFamily="2" charset="2"/>
                  </a:rPr>
                  <a:t>   </a:t>
                </a:r>
                <a14:m>
                  <m:oMath xmlns:m="http://schemas.openxmlformats.org/officeDocument/2006/math">
                    <m:d>
                      <m:dPr>
                        <m:begChr m:val="["/>
                        <m:endChr m:val="]"/>
                        <m:ctrlPr>
                          <a:rPr lang="en-US" sz="2000" b="1" i="1" smtClean="0">
                            <a:latin typeface="Cambria Math" panose="02040503050406030204" pitchFamily="18" charset="0"/>
                            <a:sym typeface="Wingdings" panose="05000000000000000000" pitchFamily="2" charset="2"/>
                          </a:rPr>
                        </m:ctrlPr>
                      </m:dPr>
                      <m:e>
                        <m:m>
                          <m:mPr>
                            <m:mcs>
                              <m:mc>
                                <m:mcPr>
                                  <m:count m:val="1"/>
                                  <m:mcJc m:val="center"/>
                                </m:mcPr>
                              </m:mc>
                            </m:mcs>
                            <m:ctrlPr>
                              <a:rPr lang="en-US" sz="2000" b="1" i="1" smtClean="0">
                                <a:latin typeface="Cambria Math" panose="02040503050406030204" pitchFamily="18" charset="0"/>
                                <a:sym typeface="Wingdings" panose="05000000000000000000" pitchFamily="2" charset="2"/>
                              </a:rPr>
                            </m:ctrlPr>
                          </m:mPr>
                          <m:mr>
                            <m:e>
                              <m:r>
                                <a:rPr lang="en-US" sz="2000" b="1" i="1" smtClean="0">
                                  <a:latin typeface="Cambria Math" panose="02040503050406030204" pitchFamily="18" charset="0"/>
                                  <a:sym typeface="Wingdings" panose="05000000000000000000" pitchFamily="2" charset="2"/>
                                </a:rPr>
                                <m:t>𝒂</m:t>
                              </m:r>
                            </m:e>
                          </m:mr>
                          <m:mr>
                            <m:e>
                              <m:r>
                                <a:rPr lang="en-US" sz="2000" b="1" i="1" smtClean="0">
                                  <a:latin typeface="Cambria Math" panose="02040503050406030204" pitchFamily="18" charset="0"/>
                                  <a:sym typeface="Wingdings" panose="05000000000000000000" pitchFamily="2" charset="2"/>
                                </a:rPr>
                                <m:t>𝒃</m:t>
                              </m:r>
                            </m:e>
                          </m:mr>
                          <m:mr>
                            <m:e>
                              <m:r>
                                <a:rPr lang="en-US" sz="2000" b="1" i="1" smtClean="0">
                                  <a:latin typeface="Cambria Math" panose="02040503050406030204" pitchFamily="18" charset="0"/>
                                  <a:sym typeface="Wingdings" panose="05000000000000000000" pitchFamily="2" charset="2"/>
                                </a:rPr>
                                <m:t>𝒄</m:t>
                              </m:r>
                            </m:e>
                          </m:mr>
                        </m:m>
                      </m:e>
                    </m:d>
                    <m:r>
                      <a:rPr lang="en-US" sz="2000" b="1" i="1" smtClean="0">
                        <a:latin typeface="Cambria Math" panose="02040503050406030204" pitchFamily="18" charset="0"/>
                        <a:sym typeface="Wingdings" panose="05000000000000000000" pitchFamily="2" charset="2"/>
                      </a:rPr>
                      <m:t>=</m:t>
                    </m:r>
                    <m:sSub>
                      <m:sSubPr>
                        <m:ctrlPr>
                          <a:rPr lang="en-PH" sz="2000" b="1" i="1">
                            <a:latin typeface="Cambria Math" panose="02040503050406030204" pitchFamily="18" charset="0"/>
                          </a:rPr>
                        </m:ctrlPr>
                      </m:sSubPr>
                      <m:e>
                        <m:r>
                          <a:rPr lang="en-PH" sz="2000" b="1" i="1">
                            <a:latin typeface="Cambria Math"/>
                          </a:rPr>
                          <m:t>𝒄</m:t>
                        </m:r>
                      </m:e>
                      <m:sub>
                        <m:r>
                          <a:rPr lang="en-PH" sz="2000" b="1" i="1">
                            <a:latin typeface="Cambria Math"/>
                          </a:rPr>
                          <m:t>𝟏</m:t>
                        </m:r>
                      </m:sub>
                    </m:sSub>
                    <m:d>
                      <m:dPr>
                        <m:begChr m:val="["/>
                        <m:endChr m:val="]"/>
                        <m:ctrlPr>
                          <a:rPr lang="en-US" sz="2000" b="1" i="1">
                            <a:latin typeface="Cambria Math" panose="02040503050406030204" pitchFamily="18" charset="0"/>
                            <a:sym typeface="Wingdings" panose="05000000000000000000" pitchFamily="2" charset="2"/>
                          </a:rPr>
                        </m:ctrlPr>
                      </m:dPr>
                      <m:e>
                        <m:m>
                          <m:mPr>
                            <m:mcs>
                              <m:mc>
                                <m:mcPr>
                                  <m:count m:val="1"/>
                                  <m:mcJc m:val="center"/>
                                </m:mcPr>
                              </m:mc>
                            </m:mcs>
                            <m:ctrlPr>
                              <a:rPr lang="en-US" sz="2000" b="1" i="1">
                                <a:latin typeface="Cambria Math" panose="02040503050406030204" pitchFamily="18" charset="0"/>
                                <a:sym typeface="Wingdings" panose="05000000000000000000" pitchFamily="2" charset="2"/>
                              </a:rPr>
                            </m:ctrlPr>
                          </m:mPr>
                          <m:mr>
                            <m:e>
                              <m:r>
                                <m:rPr>
                                  <m:brk m:alnAt="7"/>
                                </m:rPr>
                                <a:rPr lang="en-US" sz="2000" b="1" i="1">
                                  <a:latin typeface="Cambria Math" panose="02040503050406030204" pitchFamily="18" charset="0"/>
                                  <a:sym typeface="Wingdings" panose="05000000000000000000" pitchFamily="2" charset="2"/>
                                </a:rPr>
                                <m:t>𝟏</m:t>
                              </m:r>
                            </m:e>
                          </m:mr>
                          <m:mr>
                            <m:e>
                              <m:r>
                                <a:rPr lang="en-US" sz="2000" b="1" i="1" smtClean="0">
                                  <a:latin typeface="Cambria Math" panose="02040503050406030204" pitchFamily="18" charset="0"/>
                                  <a:sym typeface="Wingdings" panose="05000000000000000000" pitchFamily="2" charset="2"/>
                                </a:rPr>
                                <m:t>𝟎</m:t>
                              </m:r>
                            </m:e>
                          </m:mr>
                          <m:mr>
                            <m:e>
                              <m:r>
                                <a:rPr lang="en-US" sz="2000" b="1" i="1" smtClean="0">
                                  <a:latin typeface="Cambria Math" panose="02040503050406030204" pitchFamily="18" charset="0"/>
                                  <a:sym typeface="Wingdings" panose="05000000000000000000" pitchFamily="2" charset="2"/>
                                </a:rPr>
                                <m:t>𝟎</m:t>
                              </m:r>
                            </m:e>
                          </m:mr>
                        </m:m>
                      </m:e>
                    </m:d>
                    <m:r>
                      <a:rPr lang="en-US" sz="2000" b="1" i="0" smtClean="0">
                        <a:latin typeface="Cambria Math" panose="02040503050406030204" pitchFamily="18" charset="0"/>
                        <a:sym typeface="Wingdings" panose="05000000000000000000" pitchFamily="2" charset="2"/>
                      </a:rPr>
                      <m:t>+</m:t>
                    </m:r>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𝟐</m:t>
                        </m:r>
                      </m:sub>
                    </m:sSub>
                    <m:d>
                      <m:dPr>
                        <m:begChr m:val="["/>
                        <m:endChr m:val="]"/>
                        <m:ctrlPr>
                          <a:rPr lang="en-US" sz="2000" b="1" i="1">
                            <a:latin typeface="Cambria Math" panose="02040503050406030204" pitchFamily="18" charset="0"/>
                            <a:sym typeface="Wingdings" panose="05000000000000000000" pitchFamily="2" charset="2"/>
                          </a:rPr>
                        </m:ctrlPr>
                      </m:dPr>
                      <m:e>
                        <m:m>
                          <m:mPr>
                            <m:mcs>
                              <m:mc>
                                <m:mcPr>
                                  <m:count m:val="1"/>
                                  <m:mcJc m:val="center"/>
                                </m:mcPr>
                              </m:mc>
                            </m:mcs>
                            <m:ctrlPr>
                              <a:rPr lang="en-US" sz="2000" b="1" i="1">
                                <a:latin typeface="Cambria Math" panose="02040503050406030204" pitchFamily="18" charset="0"/>
                                <a:sym typeface="Wingdings" panose="05000000000000000000" pitchFamily="2" charset="2"/>
                              </a:rPr>
                            </m:ctrlPr>
                          </m:mPr>
                          <m:mr>
                            <m:e>
                              <m:r>
                                <a:rPr lang="en-US" sz="2000" b="1" i="1" smtClean="0">
                                  <a:latin typeface="Cambria Math" panose="02040503050406030204" pitchFamily="18" charset="0"/>
                                  <a:sym typeface="Wingdings" panose="05000000000000000000" pitchFamily="2" charset="2"/>
                                </a:rPr>
                                <m:t>𝟎</m:t>
                              </m:r>
                            </m:e>
                          </m:mr>
                          <m:mr>
                            <m:e>
                              <m:r>
                                <a:rPr lang="en-US" sz="2000" b="1" i="1" smtClean="0">
                                  <a:latin typeface="Cambria Math" panose="02040503050406030204" pitchFamily="18" charset="0"/>
                                  <a:sym typeface="Wingdings" panose="05000000000000000000" pitchFamily="2" charset="2"/>
                                </a:rPr>
                                <m:t>𝟐</m:t>
                              </m:r>
                            </m:e>
                          </m:mr>
                          <m:mr>
                            <m:e>
                              <m:r>
                                <a:rPr lang="en-US" sz="2000" b="1" i="1" smtClean="0">
                                  <a:latin typeface="Cambria Math" panose="02040503050406030204" pitchFamily="18" charset="0"/>
                                  <a:sym typeface="Wingdings" panose="05000000000000000000" pitchFamily="2" charset="2"/>
                                </a:rPr>
                                <m:t>−</m:t>
                              </m:r>
                              <m:r>
                                <a:rPr lang="en-US" sz="2000" b="1" i="1" smtClean="0">
                                  <a:latin typeface="Cambria Math" panose="02040503050406030204" pitchFamily="18" charset="0"/>
                                  <a:sym typeface="Wingdings" panose="05000000000000000000" pitchFamily="2" charset="2"/>
                                </a:rPr>
                                <m:t>𝟏</m:t>
                              </m:r>
                            </m:e>
                          </m:mr>
                        </m:m>
                      </m:e>
                    </m:d>
                    <m:r>
                      <a:rPr lang="en-US" sz="2000" b="1" i="1" smtClean="0">
                        <a:latin typeface="Cambria Math" panose="02040503050406030204" pitchFamily="18" charset="0"/>
                        <a:sym typeface="Wingdings" panose="05000000000000000000" pitchFamily="2" charset="2"/>
                      </a:rPr>
                      <m:t>+</m:t>
                    </m:r>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𝟑</m:t>
                        </m:r>
                      </m:sub>
                    </m:sSub>
                    <m:d>
                      <m:dPr>
                        <m:begChr m:val="["/>
                        <m:endChr m:val="]"/>
                        <m:ctrlPr>
                          <a:rPr lang="en-US" sz="2000" b="1" i="1">
                            <a:latin typeface="Cambria Math" panose="02040503050406030204" pitchFamily="18" charset="0"/>
                            <a:sym typeface="Wingdings" panose="05000000000000000000" pitchFamily="2" charset="2"/>
                          </a:rPr>
                        </m:ctrlPr>
                      </m:dPr>
                      <m:e>
                        <m:m>
                          <m:mPr>
                            <m:mcs>
                              <m:mc>
                                <m:mcPr>
                                  <m:count m:val="1"/>
                                  <m:mcJc m:val="center"/>
                                </m:mcPr>
                              </m:mc>
                            </m:mcs>
                            <m:ctrlPr>
                              <a:rPr lang="en-US" sz="2000" b="1" i="1">
                                <a:latin typeface="Cambria Math" panose="02040503050406030204" pitchFamily="18" charset="0"/>
                                <a:sym typeface="Wingdings" panose="05000000000000000000" pitchFamily="2" charset="2"/>
                              </a:rPr>
                            </m:ctrlPr>
                          </m:mPr>
                          <m:mr>
                            <m:e>
                              <m:r>
                                <m:rPr>
                                  <m:brk m:alnAt="7"/>
                                </m:rPr>
                                <a:rPr lang="en-US" sz="2000" b="1" i="1" smtClean="0">
                                  <a:latin typeface="Cambria Math" panose="02040503050406030204" pitchFamily="18" charset="0"/>
                                  <a:sym typeface="Wingdings" panose="05000000000000000000" pitchFamily="2" charset="2"/>
                                </a:rPr>
                                <m:t>𝟑</m:t>
                              </m:r>
                            </m:e>
                          </m:mr>
                          <m:mr>
                            <m:e>
                              <m:r>
                                <a:rPr lang="en-US" sz="2000" b="1" i="1" smtClean="0">
                                  <a:latin typeface="Cambria Math" panose="02040503050406030204" pitchFamily="18" charset="0"/>
                                  <a:sym typeface="Wingdings" panose="05000000000000000000" pitchFamily="2" charset="2"/>
                                </a:rPr>
                                <m:t>𝟒</m:t>
                              </m:r>
                            </m:e>
                          </m:mr>
                          <m:mr>
                            <m:e>
                              <m:r>
                                <a:rPr lang="en-US" sz="2000" b="1" i="1" smtClean="0">
                                  <a:latin typeface="Cambria Math" panose="02040503050406030204" pitchFamily="18" charset="0"/>
                                  <a:sym typeface="Wingdings" panose="05000000000000000000" pitchFamily="2" charset="2"/>
                                </a:rPr>
                                <m:t>𝟏</m:t>
                              </m:r>
                            </m:e>
                          </m:mr>
                        </m:m>
                      </m:e>
                    </m:d>
                    <m:r>
                      <a:rPr lang="en-US" sz="2000" b="1" i="0" smtClean="0">
                        <a:latin typeface="Cambria Math" panose="02040503050406030204" pitchFamily="18" charset="0"/>
                        <a:sym typeface="Wingdings" panose="05000000000000000000" pitchFamily="2" charset="2"/>
                      </a:rPr>
                      <m:t>+</m:t>
                    </m:r>
                    <m:sSub>
                      <m:sSubPr>
                        <m:ctrlPr>
                          <a:rPr lang="en-PH" sz="2000" b="1" i="1">
                            <a:latin typeface="Cambria Math" panose="02040503050406030204" pitchFamily="18" charset="0"/>
                          </a:rPr>
                        </m:ctrlPr>
                      </m:sSubPr>
                      <m:e>
                        <m:r>
                          <a:rPr lang="en-PH" sz="2000" b="1" i="1">
                            <a:latin typeface="Cambria Math"/>
                          </a:rPr>
                          <m:t>𝒄</m:t>
                        </m:r>
                      </m:e>
                      <m:sub>
                        <m:r>
                          <a:rPr lang="en-US" sz="2000" b="1" i="1" smtClean="0">
                            <a:latin typeface="Cambria Math" panose="02040503050406030204" pitchFamily="18" charset="0"/>
                          </a:rPr>
                          <m:t>𝟒</m:t>
                        </m:r>
                      </m:sub>
                    </m:sSub>
                    <m:d>
                      <m:dPr>
                        <m:begChr m:val="["/>
                        <m:endChr m:val="]"/>
                        <m:ctrlPr>
                          <a:rPr lang="en-US" sz="2000" b="1" i="1">
                            <a:latin typeface="Cambria Math" panose="02040503050406030204" pitchFamily="18" charset="0"/>
                            <a:sym typeface="Wingdings" panose="05000000000000000000" pitchFamily="2" charset="2"/>
                          </a:rPr>
                        </m:ctrlPr>
                      </m:dPr>
                      <m:e>
                        <m:m>
                          <m:mPr>
                            <m:mcs>
                              <m:mc>
                                <m:mcPr>
                                  <m:count m:val="1"/>
                                  <m:mcJc m:val="center"/>
                                </m:mcPr>
                              </m:mc>
                            </m:mcs>
                            <m:ctrlPr>
                              <a:rPr lang="en-US" sz="2000" b="1" i="1">
                                <a:latin typeface="Cambria Math" panose="02040503050406030204" pitchFamily="18" charset="0"/>
                                <a:sym typeface="Wingdings" panose="05000000000000000000" pitchFamily="2" charset="2"/>
                              </a:rPr>
                            </m:ctrlPr>
                          </m:mPr>
                          <m:mr>
                            <m:e>
                              <m:r>
                                <a:rPr lang="en-US" sz="2000" b="1" i="1" smtClean="0">
                                  <a:latin typeface="Cambria Math" panose="02040503050406030204" pitchFamily="18" charset="0"/>
                                  <a:sym typeface="Wingdings" panose="05000000000000000000" pitchFamily="2" charset="2"/>
                                </a:rPr>
                                <m:t>𝟎</m:t>
                              </m:r>
                            </m:e>
                          </m:mr>
                          <m:mr>
                            <m:e>
                              <m:r>
                                <a:rPr lang="en-US" sz="2000" b="1" i="1" smtClean="0">
                                  <a:latin typeface="Cambria Math" panose="02040503050406030204" pitchFamily="18" charset="0"/>
                                  <a:sym typeface="Wingdings" panose="05000000000000000000" pitchFamily="2" charset="2"/>
                                </a:rPr>
                                <m:t>𝟏</m:t>
                              </m:r>
                            </m:e>
                          </m:mr>
                          <m:mr>
                            <m:e>
                              <m:r>
                                <a:rPr lang="en-US" sz="2000" b="1" i="1" smtClean="0">
                                  <a:latin typeface="Cambria Math" panose="02040503050406030204" pitchFamily="18" charset="0"/>
                                  <a:sym typeface="Wingdings" panose="05000000000000000000" pitchFamily="2" charset="2"/>
                                </a:rPr>
                                <m:t>𝟎</m:t>
                              </m:r>
                            </m:e>
                          </m:mr>
                        </m:m>
                      </m:e>
                    </m:d>
                  </m:oMath>
                </a14:m>
                <a:endParaRPr lang="en-US" sz="2000" b="1" dirty="0"/>
              </a:p>
              <a:p>
                <a:pPr marL="0" indent="0">
                  <a:buNone/>
                </a:pPr>
                <a:r>
                  <a:rPr lang="en-US" sz="2000" dirty="0"/>
                  <a:t>	</a:t>
                </a:r>
                <a14:m>
                  <m:oMath xmlns:m="http://schemas.openxmlformats.org/officeDocument/2006/math">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𝑎</m:t>
                              </m:r>
                            </m:e>
                          </m:mr>
                          <m:mr>
                            <m:e>
                              <m:r>
                                <a:rPr lang="en-US" sz="2000" b="0" i="1" smtClean="0">
                                  <a:latin typeface="Cambria Math" panose="02040503050406030204" pitchFamily="18" charset="0"/>
                                </a:rPr>
                                <m:t>𝑏</m:t>
                              </m:r>
                            </m:e>
                          </m:mr>
                          <m:mr>
                            <m:e>
                              <m:r>
                                <a:rPr lang="en-US" sz="2000" b="0" i="1" smtClean="0">
                                  <a:latin typeface="Cambria Math" panose="02040503050406030204" pitchFamily="18" charset="0"/>
                                </a:rPr>
                                <m:t>𝑐</m:t>
                              </m:r>
                            </m:e>
                          </m:mr>
                        </m:m>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e>
                          </m:mr>
                          <m:mr>
                            <m:e>
                              <m:r>
                                <a:rPr lang="en-US" sz="2000" b="0" i="1" smtClean="0">
                                  <a:latin typeface="Cambria Math" panose="02040503050406030204" pitchFamily="18" charset="0"/>
                                </a:rPr>
                                <m:t>0</m:t>
                              </m:r>
                            </m:e>
                          </m:mr>
                          <m:mr>
                            <m:e>
                              <m:r>
                                <a:rPr lang="en-US" sz="2000" b="0" i="1" smtClean="0">
                                  <a:latin typeface="Cambria Math" panose="02040503050406030204" pitchFamily="18" charset="0"/>
                                </a:rPr>
                                <m:t>0</m:t>
                              </m:r>
                            </m:e>
                          </m:mr>
                        </m:m>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0</m:t>
                              </m:r>
                            </m:e>
                          </m:mr>
                          <m:mr>
                            <m:e>
                              <m:r>
                                <a:rPr lang="en-US" sz="2000" b="0" i="1" smtClean="0">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e>
                          </m:mr>
                          <m:mr>
                            <m:e>
                              <m:r>
                                <a:rPr lang="en-US" sz="2000" b="0" i="1" smtClean="0">
                                  <a:latin typeface="Cambria Math" panose="02040503050406030204" pitchFamily="18" charset="0"/>
                                </a:rPr>
                                <m:t>−</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e>
                          </m:mr>
                        </m:m>
                      </m:e>
                    </m:d>
                    <m:r>
                      <a:rPr lang="en-US" sz="2000" b="0" i="0"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3</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e>
                          </m:mr>
                          <m:mr>
                            <m:e>
                              <m:r>
                                <a:rPr lang="en-US" sz="2000" b="0" i="1" smtClean="0">
                                  <a:latin typeface="Cambria Math" panose="02040503050406030204" pitchFamily="18" charset="0"/>
                                </a:rPr>
                                <m:t>4</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e>
                          </m:mr>
                          <m:mr>
                            <m:e>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e>
                          </m:mr>
                        </m:m>
                      </m:e>
                    </m:d>
                    <m:r>
                      <a:rPr lang="en-US" sz="2000" b="0" i="1" smtClean="0">
                        <a:latin typeface="Cambria Math" panose="02040503050406030204" pitchFamily="18" charset="0"/>
                      </a:rPr>
                      <m:t>+</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0</m:t>
                              </m:r>
                            </m:e>
                          </m:mr>
                          <m:mr>
                            <m:e>
                              <m:sSub>
                                <m:sSubPr>
                                  <m:ctrlPr>
                                    <a:rPr lang="en-PH" sz="2000" i="1">
                                      <a:latin typeface="Cambria Math" panose="02040503050406030204" pitchFamily="18" charset="0"/>
                                    </a:rPr>
                                  </m:ctrlPr>
                                </m:sSubPr>
                                <m:e>
                                  <m:r>
                                    <a:rPr lang="en-PH" sz="2000" i="1">
                                      <a:latin typeface="Cambria Math"/>
                                    </a:rPr>
                                    <m:t>𝑐</m:t>
                                  </m:r>
                                </m:e>
                                <m:sub>
                                  <m:r>
                                    <a:rPr lang="en-US" sz="2000" i="1">
                                      <a:latin typeface="Cambria Math" panose="02040503050406030204" pitchFamily="18" charset="0"/>
                                    </a:rPr>
                                    <m:t>4</m:t>
                                  </m:r>
                                </m:sub>
                              </m:sSub>
                            </m:e>
                          </m:mr>
                          <m:mr>
                            <m:e>
                              <m:r>
                                <a:rPr lang="en-US" sz="2000" b="0" i="1" smtClean="0">
                                  <a:latin typeface="Cambria Math" panose="02040503050406030204" pitchFamily="18" charset="0"/>
                                  <a:sym typeface="Wingdings" panose="05000000000000000000" pitchFamily="2" charset="2"/>
                                </a:rPr>
                                <m:t>0</m:t>
                              </m:r>
                            </m:e>
                          </m:mr>
                        </m:m>
                      </m:e>
                    </m:d>
                  </m:oMath>
                </a14:m>
                <a:r>
                  <a:rPr lang="en-US" sz="2000" dirty="0"/>
                  <a:t>       or  </a:t>
                </a:r>
                <a14:m>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a:rPr lang="en-US" sz="2000" b="0" i="1" smtClean="0">
                              <a:latin typeface="Cambria Math" panose="02040503050406030204" pitchFamily="18" charset="0"/>
                            </a:rPr>
                            <m:t>𝑎</m:t>
                          </m:r>
                          <m:r>
                            <a:rPr lang="en-US" sz="2000" b="0" i="1" smtClean="0">
                              <a:latin typeface="Cambria Math" panose="02040503050406030204" pitchFamily="18" charset="0"/>
                            </a:rPr>
                            <m:t>=</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US" sz="2000" b="0" i="1" smtClean="0">
                              <a:latin typeface="Cambria Math" panose="02040503050406030204" pitchFamily="18" charset="0"/>
                            </a:rPr>
                            <m:t>+3</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e>
                      </m:mr>
                      <m:mr>
                        <m:e>
                          <m:r>
                            <a:rPr lang="en-US" sz="2000" b="0" i="1" smtClean="0">
                              <a:latin typeface="Cambria Math" panose="02040503050406030204" pitchFamily="18" charset="0"/>
                            </a:rPr>
                            <m:t>𝑏</m:t>
                          </m:r>
                          <m:r>
                            <a:rPr lang="en-US" sz="2000" b="0" i="1" smtClean="0">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+4</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e>
                      </m:mr>
                      <m:mr>
                        <m:e>
                          <m:r>
                            <a:rPr lang="en-US" sz="2000" b="0" i="1" smtClean="0">
                              <a:latin typeface="Cambria Math" panose="02040503050406030204" pitchFamily="18" charset="0"/>
                            </a:rPr>
                            <m:t>𝑐</m:t>
                          </m:r>
                          <m:r>
                            <a:rPr lang="en-US" sz="2000" b="0" i="1" smtClean="0">
                              <a:latin typeface="Cambria Math" panose="02040503050406030204" pitchFamily="18" charset="0"/>
                            </a:rPr>
                            <m:t>=−</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e>
                      </m:mr>
                    </m:m>
                  </m:oMath>
                </a14:m>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828800"/>
                <a:ext cx="8686800" cy="4648200"/>
              </a:xfrm>
              <a:blipFill>
                <a:blip r:embed="rId2"/>
                <a:stretch>
                  <a:fillRect l="-702" t="-524"/>
                </a:stretch>
              </a:blipFill>
            </p:spPr>
            <p:txBody>
              <a:bodyPr/>
              <a:lstStyle/>
              <a:p>
                <a:r>
                  <a:rPr lang="en-PH">
                    <a:noFill/>
                  </a:rPr>
                  <a:t> </a:t>
                </a:r>
              </a:p>
            </p:txBody>
          </p:sp>
        </mc:Fallback>
      </mc:AlternateContent>
      <p:sp>
        <p:nvSpPr>
          <p:cNvPr id="4" name="Title 3">
            <a:extLst>
              <a:ext uri="{FF2B5EF4-FFF2-40B4-BE49-F238E27FC236}">
                <a16:creationId xmlns:a16="http://schemas.microsoft.com/office/drawing/2014/main" id="{9D348D57-197E-426B-9026-C120ED0B0935}"/>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30928124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152400" y="1484656"/>
                <a:ext cx="8229600" cy="5297143"/>
              </a:xfrm>
            </p:spPr>
            <p:txBody>
              <a:bodyPr>
                <a:normAutofit/>
              </a:bodyPr>
              <a:lstStyle/>
              <a:p>
                <a:pPr marL="0" indent="0">
                  <a:buNone/>
                </a:pPr>
                <a:r>
                  <a:rPr lang="en-US" sz="2000" dirty="0"/>
                  <a:t>Step 2: Provide the augmented form.</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m>
                            <m:mPr>
                              <m:mcs>
                                <m:mc>
                                  <m:mcPr>
                                    <m:count m:val="3"/>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r>
                                  <a:rPr lang="en-US" sz="2000" b="0" i="1" smtClean="0">
                                    <a:latin typeface="Cambria Math" panose="02040503050406030204" pitchFamily="18" charset="0"/>
                                  </a:rPr>
                                  <m:t>0</m:t>
                                </m:r>
                              </m:e>
                              <m:e>
                                <m:r>
                                  <a:rPr lang="en-US" sz="2000" b="0" i="1" smtClean="0">
                                    <a:latin typeface="Cambria Math" panose="02040503050406030204" pitchFamily="18" charset="0"/>
                                  </a:rPr>
                                  <m:t>3 </m:t>
                                </m:r>
                              </m:e>
                            </m:mr>
                            <m:mr>
                              <m:e>
                                <m:r>
                                  <a:rPr lang="en-US" sz="2000" b="0" i="1" smtClean="0">
                                    <a:latin typeface="Cambria Math" panose="02040503050406030204" pitchFamily="18" charset="0"/>
                                  </a:rPr>
                                  <m:t>0</m:t>
                                </m:r>
                              </m:e>
                              <m:e>
                                <m:r>
                                  <a:rPr lang="en-US" sz="2000" b="0" i="1" smtClean="0">
                                    <a:latin typeface="Cambria Math" panose="02040503050406030204" pitchFamily="18" charset="0"/>
                                  </a:rPr>
                                  <m:t>2</m:t>
                                </m:r>
                              </m:e>
                              <m:e>
                                <m:r>
                                  <a:rPr lang="en-US" sz="2000" b="0" i="1" smtClean="0">
                                    <a:latin typeface="Cambria Math" panose="02040503050406030204" pitchFamily="18" charset="0"/>
                                  </a:rPr>
                                  <m:t>4 </m:t>
                                </m:r>
                              </m:e>
                            </m:mr>
                            <m:mr>
                              <m:e>
                                <m:r>
                                  <a:rPr lang="en-US" sz="2000" b="0" i="1" smtClean="0">
                                    <a:latin typeface="Cambria Math" panose="02040503050406030204" pitchFamily="18" charset="0"/>
                                  </a:rPr>
                                  <m:t>0</m:t>
                                </m:r>
                              </m:e>
                              <m:e>
                                <m:r>
                                  <a:rPr lang="en-US" sz="2000" b="0" i="1" smtClean="0">
                                    <a:latin typeface="Cambria Math" panose="02040503050406030204" pitchFamily="18" charset="0"/>
                                  </a:rPr>
                                  <m:t>−1</m:t>
                                </m:r>
                              </m:e>
                              <m:e>
                                <m:r>
                                  <a:rPr lang="en-US" sz="2000" b="0" i="1" smtClean="0">
                                    <a:latin typeface="Cambria Math" panose="02040503050406030204" pitchFamily="18" charset="0"/>
                                  </a:rPr>
                                  <m:t>1</m:t>
                                </m:r>
                              </m:e>
                            </m:mr>
                          </m:m>
                          <m:r>
                            <a:rPr lang="en-US" sz="2000" b="0" i="1" smtClean="0">
                              <a:latin typeface="Cambria Math" panose="02040503050406030204" pitchFamily="18" charset="0"/>
                            </a:rPr>
                            <m:t>   </m:t>
                          </m:r>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0</m:t>
                                </m:r>
                              </m:e>
                            </m:mr>
                            <m:mr>
                              <m:e>
                                <m:r>
                                  <a:rPr lang="en-US" sz="2000" b="0" i="1" smtClean="0">
                                    <a:latin typeface="Cambria Math" panose="02040503050406030204" pitchFamily="18" charset="0"/>
                                  </a:rPr>
                                  <m:t>1</m:t>
                                </m:r>
                              </m:e>
                            </m:mr>
                            <m:mr>
                              <m:e>
                                <m:r>
                                  <a:rPr lang="en-US" sz="2000" b="0" i="1" smtClean="0">
                                    <a:latin typeface="Cambria Math" panose="02040503050406030204" pitchFamily="18" charset="0"/>
                                  </a:rPr>
                                  <m:t>0</m:t>
                                </m:r>
                              </m:e>
                            </m:mr>
                          </m:m>
                          <m:m>
                            <m:mPr>
                              <m:mcs>
                                <m:mc>
                                  <m:mcPr>
                                    <m:count m:val="2"/>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m:t>
                                </m:r>
                              </m:e>
                              <m:e>
                                <m:r>
                                  <a:rPr lang="en-US" sz="2000" b="0" i="1" smtClean="0">
                                    <a:latin typeface="Cambria Math" panose="02040503050406030204" pitchFamily="18" charset="0"/>
                                  </a:rPr>
                                  <m:t>𝑎</m:t>
                                </m:r>
                              </m:e>
                            </m:mr>
                            <m:mr>
                              <m:e>
                                <m:r>
                                  <a:rPr lang="en-US" sz="2000" b="0" i="1" smtClean="0">
                                    <a:latin typeface="Cambria Math" panose="02040503050406030204" pitchFamily="18" charset="0"/>
                                  </a:rPr>
                                  <m:t> :</m:t>
                                </m:r>
                              </m:e>
                              <m:e>
                                <m:r>
                                  <a:rPr lang="en-US" sz="2000" b="0" i="1" smtClean="0">
                                    <a:latin typeface="Cambria Math" panose="02040503050406030204" pitchFamily="18" charset="0"/>
                                  </a:rPr>
                                  <m:t>𝑏</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𝑐</m:t>
                                </m:r>
                              </m:e>
                            </m:mr>
                          </m:m>
                        </m:e>
                      </m:d>
                    </m:oMath>
                  </m:oMathPara>
                </a14:m>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152400" y="1484656"/>
                <a:ext cx="8229600" cy="5297143"/>
              </a:xfrm>
              <a:blipFill>
                <a:blip r:embed="rId2"/>
                <a:stretch>
                  <a:fillRect l="-741" t="-576"/>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BBC2DC8-B04B-4343-947B-6B5ECDD1C35A}"/>
                  </a:ext>
                </a:extLst>
              </p:cNvPr>
              <p:cNvSpPr txBox="1">
                <a:spLocks/>
              </p:cNvSpPr>
              <p:nvPr/>
            </p:nvSpPr>
            <p:spPr>
              <a:xfrm>
                <a:off x="457200" y="3251411"/>
                <a:ext cx="8229600" cy="32766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sz="2000" dirty="0"/>
                  <a:t>Step 3: Reduce to ROW ECHELON FORM (triangular matrix).</a:t>
                </a:r>
              </a:p>
              <a:p>
                <a:pPr marL="0" indent="0">
                  <a:buFont typeface="Arial" pitchFamily="34" charset="0"/>
                  <a:buNone/>
                </a:pPr>
                <a14:m>
                  <m:oMath xmlns:m="http://schemas.openxmlformats.org/officeDocument/2006/math">
                    <m:d>
                      <m:dPr>
                        <m:begChr m:val="["/>
                        <m:endChr m:val="]"/>
                        <m:ctrlPr>
                          <a:rPr lang="en-US" sz="2000" i="1" smtClean="0">
                            <a:latin typeface="Cambria Math" panose="02040503050406030204" pitchFamily="18" charset="0"/>
                          </a:rPr>
                        </m:ctrlPr>
                      </m:dPr>
                      <m:e>
                        <m:m>
                          <m:mPr>
                            <m:mcs>
                              <m:mc>
                                <m:mcPr>
                                  <m:count m:val="3"/>
                                  <m:mcJc m:val="center"/>
                                </m:mcPr>
                              </m:mc>
                            </m:mcs>
                            <m:ctrlPr>
                              <a:rPr lang="en-US" sz="2000" i="1" smtClean="0">
                                <a:latin typeface="Cambria Math" panose="02040503050406030204" pitchFamily="18" charset="0"/>
                              </a:rPr>
                            </m:ctrlPr>
                          </m:mPr>
                          <m:mr>
                            <m:e>
                              <m:r>
                                <m:rPr>
                                  <m:brk m:alnAt="7"/>
                                </m:rPr>
                                <a:rPr lang="en-US" sz="2000" i="1" smtClean="0">
                                  <a:latin typeface="Cambria Math" panose="02040503050406030204" pitchFamily="18" charset="0"/>
                                </a:rPr>
                                <m:t>1</m:t>
                              </m:r>
                            </m:e>
                            <m:e>
                              <m:r>
                                <a:rPr lang="en-US" sz="2000" i="1" smtClean="0">
                                  <a:latin typeface="Cambria Math" panose="02040503050406030204" pitchFamily="18" charset="0"/>
                                </a:rPr>
                                <m:t>0</m:t>
                              </m:r>
                            </m:e>
                            <m:e>
                              <m:r>
                                <a:rPr lang="en-US" sz="2000" i="1" smtClean="0">
                                  <a:latin typeface="Cambria Math" panose="02040503050406030204" pitchFamily="18" charset="0"/>
                                </a:rPr>
                                <m:t>3 </m:t>
                              </m:r>
                            </m:e>
                          </m:mr>
                          <m:mr>
                            <m:e>
                              <m:r>
                                <a:rPr lang="en-US" sz="2000" i="1" smtClean="0">
                                  <a:latin typeface="Cambria Math" panose="02040503050406030204" pitchFamily="18" charset="0"/>
                                </a:rPr>
                                <m:t>0</m:t>
                              </m:r>
                            </m:e>
                            <m:e>
                              <m:r>
                                <a:rPr lang="en-US" sz="2000" i="1" smtClean="0">
                                  <a:latin typeface="Cambria Math" panose="02040503050406030204" pitchFamily="18" charset="0"/>
                                </a:rPr>
                                <m:t>2</m:t>
                              </m:r>
                            </m:e>
                            <m:e>
                              <m:r>
                                <a:rPr lang="en-US" sz="2000" i="1" smtClean="0">
                                  <a:latin typeface="Cambria Math" panose="02040503050406030204" pitchFamily="18" charset="0"/>
                                </a:rPr>
                                <m:t>4 </m:t>
                              </m:r>
                            </m:e>
                          </m:mr>
                          <m:mr>
                            <m:e>
                              <m:r>
                                <a:rPr lang="en-US" sz="2000" i="1" smtClean="0">
                                  <a:latin typeface="Cambria Math" panose="02040503050406030204" pitchFamily="18" charset="0"/>
                                </a:rPr>
                                <m:t>0</m:t>
                              </m:r>
                            </m:e>
                            <m:e>
                              <m:r>
                                <a:rPr lang="en-US" sz="2000" i="1" smtClean="0">
                                  <a:latin typeface="Cambria Math" panose="02040503050406030204" pitchFamily="18" charset="0"/>
                                </a:rPr>
                                <m:t>−1</m:t>
                              </m:r>
                            </m:e>
                            <m:e>
                              <m:r>
                                <a:rPr lang="en-US" sz="2000" i="1" smtClean="0">
                                  <a:latin typeface="Cambria Math" panose="02040503050406030204" pitchFamily="18" charset="0"/>
                                </a:rPr>
                                <m:t>1</m:t>
                              </m:r>
                            </m:e>
                          </m:mr>
                        </m:m>
                        <m:r>
                          <a:rPr lang="en-US" sz="2000" i="1" smtClean="0">
                            <a:latin typeface="Cambria Math" panose="02040503050406030204" pitchFamily="18" charset="0"/>
                          </a:rPr>
                          <m:t>   </m:t>
                        </m:r>
                        <m:m>
                          <m:mPr>
                            <m:mcs>
                              <m:mc>
                                <m:mcPr>
                                  <m:count m:val="1"/>
                                  <m:mcJc m:val="center"/>
                                </m:mcPr>
                              </m:mc>
                            </m:mcs>
                            <m:ctrlPr>
                              <a:rPr lang="en-US" sz="2000" i="1" smtClean="0">
                                <a:latin typeface="Cambria Math" panose="02040503050406030204" pitchFamily="18" charset="0"/>
                              </a:rPr>
                            </m:ctrlPr>
                          </m:mPr>
                          <m:mr>
                            <m:e>
                              <m:r>
                                <m:rPr>
                                  <m:brk m:alnAt="7"/>
                                </m:rPr>
                                <a:rPr lang="en-US" sz="2000" i="1" smtClean="0">
                                  <a:latin typeface="Cambria Math" panose="02040503050406030204" pitchFamily="18" charset="0"/>
                                </a:rPr>
                                <m:t>0</m:t>
                              </m:r>
                            </m:e>
                          </m:mr>
                          <m:mr>
                            <m:e>
                              <m:r>
                                <a:rPr lang="en-US" sz="2000" i="1" smtClean="0">
                                  <a:latin typeface="Cambria Math" panose="02040503050406030204" pitchFamily="18" charset="0"/>
                                </a:rPr>
                                <m:t>1</m:t>
                              </m:r>
                            </m:e>
                          </m:mr>
                          <m:mr>
                            <m:e>
                              <m:r>
                                <a:rPr lang="en-US" sz="2000" i="1" smtClean="0">
                                  <a:latin typeface="Cambria Math" panose="02040503050406030204" pitchFamily="18" charset="0"/>
                                </a:rPr>
                                <m:t>0</m:t>
                              </m:r>
                            </m:e>
                          </m:mr>
                        </m:m>
                        <m:m>
                          <m:mPr>
                            <m:mcs>
                              <m:mc>
                                <m:mcPr>
                                  <m:count m:val="2"/>
                                  <m:mcJc m:val="center"/>
                                </m:mcPr>
                              </m:mc>
                            </m:mcs>
                            <m:ctrlPr>
                              <a:rPr lang="en-US" sz="2000" i="1" smtClean="0">
                                <a:latin typeface="Cambria Math" panose="02040503050406030204" pitchFamily="18" charset="0"/>
                              </a:rPr>
                            </m:ctrlPr>
                          </m:mPr>
                          <m:mr>
                            <m:e>
                              <m:r>
                                <m:rPr>
                                  <m:brk m:alnAt="7"/>
                                </m:rPr>
                                <a:rPr lang="en-US" sz="2000" i="1" smtClean="0">
                                  <a:latin typeface="Cambria Math" panose="02040503050406030204" pitchFamily="18" charset="0"/>
                                </a:rPr>
                                <m:t>:</m:t>
                              </m:r>
                            </m:e>
                            <m:e>
                              <m:r>
                                <a:rPr lang="en-US" sz="2000" b="0" i="1" smtClean="0">
                                  <a:latin typeface="Cambria Math" panose="02040503050406030204" pitchFamily="18" charset="0"/>
                                </a:rPr>
                                <m:t>𝑎</m:t>
                              </m:r>
                            </m:e>
                          </m:mr>
                          <m:mr>
                            <m:e>
                              <m:r>
                                <a:rPr lang="en-US" sz="2000" i="1" smtClean="0">
                                  <a:latin typeface="Cambria Math" panose="02040503050406030204" pitchFamily="18" charset="0"/>
                                </a:rPr>
                                <m:t> :</m:t>
                              </m:r>
                            </m:e>
                            <m:e>
                              <m:r>
                                <a:rPr lang="en-US" sz="2000" b="0" i="1" smtClean="0">
                                  <a:latin typeface="Cambria Math" panose="02040503050406030204" pitchFamily="18" charset="0"/>
                                </a:rPr>
                                <m:t>𝑏</m:t>
                              </m:r>
                            </m:e>
                          </m:mr>
                          <m:mr>
                            <m:e>
                              <m:r>
                                <a:rPr lang="en-US" sz="2000" i="1" smtClean="0">
                                  <a:latin typeface="Cambria Math" panose="02040503050406030204" pitchFamily="18" charset="0"/>
                                </a:rPr>
                                <m:t>:</m:t>
                              </m:r>
                            </m:e>
                            <m:e>
                              <m:r>
                                <a:rPr lang="en-US" sz="2000" b="0" i="1" smtClean="0">
                                  <a:latin typeface="Cambria Math" panose="02040503050406030204" pitchFamily="18" charset="0"/>
                                </a:rPr>
                                <m:t>𝑐</m:t>
                              </m:r>
                            </m:e>
                          </m:mr>
                        </m:m>
                      </m:e>
                    </m:d>
                    <m:r>
                      <a:rPr lang="en-US" sz="2000" i="1" smtClean="0">
                        <a:latin typeface="Cambria Math" panose="02040503050406030204" pitchFamily="18" charset="0"/>
                        <a:ea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3"/>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3 </m:t>
                              </m:r>
                            </m:e>
                          </m:mr>
                          <m:mr>
                            <m:e>
                              <m:r>
                                <a:rPr lang="en-US" sz="2000" i="1">
                                  <a:latin typeface="Cambria Math" panose="02040503050406030204" pitchFamily="18" charset="0"/>
                                </a:rPr>
                                <m:t>0</m:t>
                              </m:r>
                            </m:e>
                            <m:e>
                              <m:r>
                                <a:rPr lang="en-US" sz="2000" i="1" smtClean="0">
                                  <a:latin typeface="Cambria Math" panose="02040503050406030204" pitchFamily="18" charset="0"/>
                                </a:rPr>
                                <m:t>1</m:t>
                              </m:r>
                            </m:e>
                            <m:e>
                              <m:r>
                                <a:rPr lang="en-US" sz="2000" i="1" smtClean="0">
                                  <a:latin typeface="Cambria Math" panose="02040503050406030204" pitchFamily="18" charset="0"/>
                                </a:rPr>
                                <m:t>2</m:t>
                              </m:r>
                              <m:r>
                                <a:rPr lang="en-US" sz="2000" i="1">
                                  <a:latin typeface="Cambria Math" panose="02040503050406030204" pitchFamily="18" charset="0"/>
                                </a:rPr>
                                <m:t> </m:t>
                              </m:r>
                            </m:e>
                          </m:mr>
                          <m:mr>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1</m:t>
                              </m:r>
                            </m:e>
                          </m:mr>
                        </m:m>
                        <m:r>
                          <a:rPr lang="en-US" sz="2000" i="1">
                            <a:latin typeface="Cambria Math" panose="02040503050406030204" pitchFamily="18" charset="0"/>
                          </a:rPr>
                          <m:t>   </m:t>
                        </m:r>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0</m:t>
                              </m:r>
                            </m:e>
                          </m:mr>
                          <m:mr>
                            <m:e>
                              <m:f>
                                <m:fPr>
                                  <m:ctrlPr>
                                    <a:rPr lang="en-US" sz="2000" i="1" smtClean="0">
                                      <a:latin typeface="Cambria Math" panose="02040503050406030204" pitchFamily="18" charset="0"/>
                                    </a:rPr>
                                  </m:ctrlPr>
                                </m:fPr>
                                <m:num>
                                  <m:r>
                                    <a:rPr lang="en-US" sz="2000" i="1" smtClean="0">
                                      <a:latin typeface="Cambria Math" panose="02040503050406030204" pitchFamily="18" charset="0"/>
                                    </a:rPr>
                                    <m:t>1</m:t>
                                  </m:r>
                                </m:num>
                                <m:den>
                                  <m:r>
                                    <a:rPr lang="en-US" sz="2000" i="1" smtClean="0">
                                      <a:latin typeface="Cambria Math" panose="02040503050406030204" pitchFamily="18" charset="0"/>
                                    </a:rPr>
                                    <m:t>2</m:t>
                                  </m:r>
                                </m:den>
                              </m:f>
                            </m:e>
                          </m:mr>
                          <m:mr>
                            <m:e>
                              <m:r>
                                <a:rPr lang="en-US" sz="2000" i="1">
                                  <a:latin typeface="Cambria Math" panose="02040503050406030204" pitchFamily="18" charset="0"/>
                                </a:rPr>
                                <m:t>0</m:t>
                              </m:r>
                            </m:e>
                          </m:mr>
                        </m:m>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m:t>
                              </m:r>
                            </m:e>
                            <m:e>
                              <m:r>
                                <a:rPr lang="en-US" sz="2000" b="0" i="1" smtClean="0">
                                  <a:latin typeface="Cambria Math" panose="02040503050406030204" pitchFamily="18" charset="0"/>
                                </a:rPr>
                                <m:t>𝑎</m:t>
                              </m:r>
                            </m:e>
                          </m:mr>
                          <m:mr>
                            <m:e>
                              <m:r>
                                <a:rPr lang="en-US" sz="2000" i="1">
                                  <a:latin typeface="Cambria Math" panose="02040503050406030204" pitchFamily="18" charset="0"/>
                                </a:rPr>
                                <m:t> :</m:t>
                              </m:r>
                            </m:e>
                            <m:e>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𝑏</m:t>
                                  </m:r>
                                </m:num>
                                <m:den>
                                  <m:r>
                                    <a:rPr lang="en-US" sz="2000" i="1" smtClean="0">
                                      <a:latin typeface="Cambria Math" panose="02040503050406030204" pitchFamily="18" charset="0"/>
                                    </a:rPr>
                                    <m:t>2</m:t>
                                  </m:r>
                                </m:den>
                              </m:f>
                            </m:e>
                          </m:mr>
                          <m:mr>
                            <m:e>
                              <m:r>
                                <a:rPr lang="en-US" sz="2000" i="1">
                                  <a:latin typeface="Cambria Math" panose="02040503050406030204" pitchFamily="18" charset="0"/>
                                </a:rPr>
                                <m:t>:</m:t>
                              </m:r>
                            </m:e>
                            <m:e>
                              <m:r>
                                <a:rPr lang="en-US" sz="2000" b="0" i="1" smtClean="0">
                                  <a:latin typeface="Cambria Math" panose="02040503050406030204" pitchFamily="18" charset="0"/>
                                </a:rPr>
                                <m:t>𝑐</m:t>
                              </m:r>
                            </m:e>
                          </m:mr>
                        </m:m>
                      </m:e>
                    </m:d>
                    <m:r>
                      <a:rPr lang="en-US" sz="2000" i="1">
                        <a:latin typeface="Cambria Math" panose="02040503050406030204" pitchFamily="18" charset="0"/>
                        <a:ea typeface="Cambria Math" panose="02040503050406030204" pitchFamily="18" charset="0"/>
                      </a:rPr>
                      <m:t>≈</m:t>
                    </m:r>
                  </m:oMath>
                </a14:m>
                <a:r>
                  <a:rPr lang="en-US" sz="2000" dirty="0"/>
                  <a:t> </a:t>
                </a:r>
                <a14:m>
                  <m:oMath xmlns:m="http://schemas.openxmlformats.org/officeDocument/2006/math">
                    <m:d>
                      <m:dPr>
                        <m:begChr m:val="["/>
                        <m:endChr m:val="]"/>
                        <m:ctrlPr>
                          <a:rPr lang="en-US" sz="2000" i="1">
                            <a:latin typeface="Cambria Math" panose="02040503050406030204" pitchFamily="18" charset="0"/>
                          </a:rPr>
                        </m:ctrlPr>
                      </m:dPr>
                      <m:e>
                        <m:m>
                          <m:mPr>
                            <m:mcs>
                              <m:mc>
                                <m:mcPr>
                                  <m:count m:val="3"/>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0</m:t>
                              </m:r>
                            </m:e>
                            <m:e>
                              <m:r>
                                <a:rPr lang="en-US" sz="2000" i="1">
                                  <a:latin typeface="Cambria Math" panose="02040503050406030204" pitchFamily="18" charset="0"/>
                                </a:rPr>
                                <m:t>3 </m:t>
                              </m:r>
                            </m:e>
                          </m:mr>
                          <m:mr>
                            <m:e>
                              <m:r>
                                <a:rPr lang="en-US" sz="2000" i="1">
                                  <a:latin typeface="Cambria Math" panose="02040503050406030204" pitchFamily="18" charset="0"/>
                                </a:rPr>
                                <m:t>0</m:t>
                              </m:r>
                            </m:e>
                            <m:e>
                              <m:r>
                                <a:rPr lang="en-US" sz="2000" i="1">
                                  <a:latin typeface="Cambria Math" panose="02040503050406030204" pitchFamily="18" charset="0"/>
                                </a:rPr>
                                <m:t>1</m:t>
                              </m:r>
                            </m:e>
                            <m:e>
                              <m:r>
                                <a:rPr lang="en-US" sz="2000" i="1">
                                  <a:latin typeface="Cambria Math" panose="02040503050406030204" pitchFamily="18" charset="0"/>
                                </a:rPr>
                                <m:t>2 </m:t>
                              </m:r>
                            </m:e>
                          </m:mr>
                          <m:mr>
                            <m:e>
                              <m:r>
                                <a:rPr lang="en-US" sz="2000" i="1">
                                  <a:latin typeface="Cambria Math" panose="02040503050406030204" pitchFamily="18" charset="0"/>
                                </a:rPr>
                                <m:t>0</m:t>
                              </m:r>
                            </m:e>
                            <m:e>
                              <m:r>
                                <a:rPr lang="en-US" sz="2000" i="1" smtClean="0">
                                  <a:latin typeface="Cambria Math" panose="02040503050406030204" pitchFamily="18" charset="0"/>
                                </a:rPr>
                                <m:t>0</m:t>
                              </m:r>
                            </m:e>
                            <m:e>
                              <m:r>
                                <a:rPr lang="en-US" sz="2000" i="1" smtClean="0">
                                  <a:latin typeface="Cambria Math" panose="02040503050406030204" pitchFamily="18" charset="0"/>
                                </a:rPr>
                                <m:t>3</m:t>
                              </m:r>
                            </m:e>
                          </m:mr>
                        </m:m>
                        <m:r>
                          <a:rPr lang="en-US" sz="2000" i="1">
                            <a:latin typeface="Cambria Math" panose="02040503050406030204" pitchFamily="18" charset="0"/>
                          </a:rPr>
                          <m:t>   </m:t>
                        </m:r>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0</m:t>
                              </m:r>
                            </m:e>
                          </m:mr>
                          <m:m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e>
                          </m:mr>
                          <m:mr>
                            <m:e>
                              <m:f>
                                <m:fPr>
                                  <m:ctrlPr>
                                    <a:rPr lang="en-US" sz="2000" i="1" smtClean="0">
                                      <a:latin typeface="Cambria Math" panose="02040503050406030204" pitchFamily="18" charset="0"/>
                                    </a:rPr>
                                  </m:ctrlPr>
                                </m:fPr>
                                <m:num>
                                  <m:r>
                                    <a:rPr lang="en-US" sz="2000" i="1" smtClean="0">
                                      <a:latin typeface="Cambria Math" panose="02040503050406030204" pitchFamily="18" charset="0"/>
                                    </a:rPr>
                                    <m:t>1</m:t>
                                  </m:r>
                                </m:num>
                                <m:den>
                                  <m:r>
                                    <a:rPr lang="en-US" sz="2000" i="1" smtClean="0">
                                      <a:latin typeface="Cambria Math" panose="02040503050406030204" pitchFamily="18" charset="0"/>
                                    </a:rPr>
                                    <m:t>2</m:t>
                                  </m:r>
                                </m:den>
                              </m:f>
                            </m:e>
                          </m:mr>
                        </m:m>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m:t>
                              </m:r>
                            </m:e>
                            <m:e>
                              <m:r>
                                <a:rPr lang="en-US" sz="2000" b="0" i="1" smtClean="0">
                                  <a:latin typeface="Cambria Math" panose="02040503050406030204" pitchFamily="18" charset="0"/>
                                </a:rPr>
                                <m:t>𝑎</m:t>
                              </m:r>
                            </m:e>
                          </m:mr>
                          <m:mr>
                            <m:e>
                              <m:r>
                                <a:rPr lang="en-US" sz="2000" i="1">
                                  <a:latin typeface="Cambria Math" panose="02040503050406030204" pitchFamily="18" charset="0"/>
                                </a:rPr>
                                <m:t> :</m:t>
                              </m:r>
                            </m:e>
                            <m:e>
                              <m:f>
                                <m:fPr>
                                  <m:ctrlPr>
                                    <a:rPr lang="en-US" sz="2000" i="1">
                                      <a:latin typeface="Cambria Math" panose="02040503050406030204" pitchFamily="18" charset="0"/>
                                    </a:rPr>
                                  </m:ctrlPr>
                                </m:fPr>
                                <m:num>
                                  <m:r>
                                    <a:rPr lang="en-US" sz="2000" b="0" i="1" smtClean="0">
                                      <a:latin typeface="Cambria Math" panose="02040503050406030204" pitchFamily="18" charset="0"/>
                                    </a:rPr>
                                    <m:t>𝑏</m:t>
                                  </m:r>
                                </m:num>
                                <m:den>
                                  <m:r>
                                    <a:rPr lang="en-US" sz="2000" i="1">
                                      <a:latin typeface="Cambria Math" panose="02040503050406030204" pitchFamily="18" charset="0"/>
                                    </a:rPr>
                                    <m:t>2</m:t>
                                  </m:r>
                                </m:den>
                              </m:f>
                            </m:e>
                          </m:mr>
                          <m:mr>
                            <m:e>
                              <m:r>
                                <a:rPr lang="en-US" sz="2000" i="1">
                                  <a:latin typeface="Cambria Math" panose="02040503050406030204" pitchFamily="18" charset="0"/>
                                </a:rPr>
                                <m:t>:</m:t>
                              </m:r>
                            </m:e>
                            <m:e>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𝑏</m:t>
                                  </m:r>
                                  <m:r>
                                    <a:rPr lang="en-US" sz="2000" i="1" smtClean="0">
                                      <a:latin typeface="Cambria Math" panose="02040503050406030204" pitchFamily="18" charset="0"/>
                                    </a:rPr>
                                    <m:t>+2</m:t>
                                  </m:r>
                                  <m:r>
                                    <a:rPr lang="en-US" sz="2000" b="0" i="1" smtClean="0">
                                      <a:latin typeface="Cambria Math" panose="02040503050406030204" pitchFamily="18" charset="0"/>
                                    </a:rPr>
                                    <m:t>𝑐</m:t>
                                  </m:r>
                                </m:num>
                                <m:den>
                                  <m:r>
                                    <a:rPr lang="en-US" sz="2000" i="1" smtClean="0">
                                      <a:latin typeface="Cambria Math" panose="02040503050406030204" pitchFamily="18" charset="0"/>
                                    </a:rPr>
                                    <m:t>2</m:t>
                                  </m:r>
                                </m:den>
                              </m:f>
                            </m:e>
                          </m:mr>
                        </m:m>
                      </m:e>
                    </m:d>
                    <m:r>
                      <a:rPr lang="en-US" sz="2000" i="1">
                        <a:latin typeface="Cambria Math" panose="02040503050406030204" pitchFamily="18" charset="0"/>
                        <a:ea typeface="Cambria Math" panose="02040503050406030204" pitchFamily="18" charset="0"/>
                      </a:rPr>
                      <m:t>≈</m:t>
                    </m:r>
                  </m:oMath>
                </a14:m>
                <a:endParaRPr lang="en-US" sz="2000" dirty="0"/>
              </a:p>
              <a:p>
                <a:pPr marL="0" indent="0">
                  <a:buFont typeface="Arial" pitchFamily="34" charset="0"/>
                  <a:buNone/>
                </a:pPr>
                <a:endParaRPr lang="en-US" sz="2000" dirty="0"/>
              </a:p>
              <a:p>
                <a:pPr marL="0" indent="0">
                  <a:buFont typeface="Arial" pitchFamily="34" charset="0"/>
                  <a:buNone/>
                </a:pPr>
                <a14:m>
                  <m:oMathPara xmlns:m="http://schemas.openxmlformats.org/officeDocument/2006/math">
                    <m:oMathParaPr>
                      <m:jc m:val="left"/>
                    </m:oMathParaPr>
                    <m:oMath xmlns:m="http://schemas.openxmlformats.org/officeDocument/2006/math">
                      <m:d>
                        <m:dPr>
                          <m:begChr m:val="["/>
                          <m:endChr m:val="]"/>
                          <m:ctrlPr>
                            <a:rPr lang="en-US" sz="1600" i="1" smtClean="0">
                              <a:latin typeface="Cambria Math" panose="02040503050406030204" pitchFamily="18" charset="0"/>
                            </a:rPr>
                          </m:ctrlPr>
                        </m:dPr>
                        <m:e>
                          <m:m>
                            <m:mPr>
                              <m:mcs>
                                <m:mc>
                                  <m:mcPr>
                                    <m:count m:val="3"/>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rPr>
                                  <m:t>1</m:t>
                                </m:r>
                              </m:e>
                              <m:e>
                                <m:r>
                                  <a:rPr lang="en-US" sz="1600" i="1">
                                    <a:latin typeface="Cambria Math" panose="02040503050406030204" pitchFamily="18" charset="0"/>
                                  </a:rPr>
                                  <m:t>0</m:t>
                                </m:r>
                              </m:e>
                              <m:e>
                                <m:r>
                                  <a:rPr lang="en-US" sz="1600" i="1">
                                    <a:latin typeface="Cambria Math" panose="02040503050406030204" pitchFamily="18" charset="0"/>
                                  </a:rPr>
                                  <m:t>3 </m:t>
                                </m:r>
                              </m:e>
                            </m:mr>
                            <m:mr>
                              <m:e>
                                <m:r>
                                  <a:rPr lang="en-US" sz="1600" i="1">
                                    <a:latin typeface="Cambria Math" panose="02040503050406030204" pitchFamily="18" charset="0"/>
                                  </a:rPr>
                                  <m:t>0</m:t>
                                </m:r>
                              </m:e>
                              <m:e>
                                <m:r>
                                  <a:rPr lang="en-US" sz="1600" i="1" smtClean="0">
                                    <a:latin typeface="Cambria Math" panose="02040503050406030204" pitchFamily="18" charset="0"/>
                                  </a:rPr>
                                  <m:t>1</m:t>
                                </m:r>
                              </m:e>
                              <m:e>
                                <m:r>
                                  <a:rPr lang="en-US" sz="1600" i="1" smtClean="0">
                                    <a:latin typeface="Cambria Math" panose="02040503050406030204" pitchFamily="18" charset="0"/>
                                  </a:rPr>
                                  <m:t>2</m:t>
                                </m:r>
                                <m:r>
                                  <a:rPr lang="en-US" sz="1600" i="1">
                                    <a:latin typeface="Cambria Math" panose="02040503050406030204" pitchFamily="18" charset="0"/>
                                  </a:rPr>
                                  <m:t> </m:t>
                                </m:r>
                              </m:e>
                            </m:mr>
                            <m:mr>
                              <m:e>
                                <m:r>
                                  <a:rPr lang="en-US" sz="1600" i="1">
                                    <a:latin typeface="Cambria Math" panose="02040503050406030204" pitchFamily="18" charset="0"/>
                                  </a:rPr>
                                  <m:t>0</m:t>
                                </m:r>
                              </m:e>
                              <m:e>
                                <m:r>
                                  <a:rPr lang="en-US" sz="1600" i="1" smtClean="0">
                                    <a:latin typeface="Cambria Math" panose="02040503050406030204" pitchFamily="18" charset="0"/>
                                  </a:rPr>
                                  <m:t>0</m:t>
                                </m:r>
                              </m:e>
                              <m:e>
                                <m:r>
                                  <a:rPr lang="en-US" sz="1600" i="1">
                                    <a:latin typeface="Cambria Math" panose="02040503050406030204" pitchFamily="18" charset="0"/>
                                  </a:rPr>
                                  <m:t>1</m:t>
                                </m:r>
                              </m:e>
                            </m:mr>
                          </m:m>
                          <m:r>
                            <a:rPr lang="en-US" sz="1600" i="1">
                              <a:latin typeface="Cambria Math" panose="02040503050406030204" pitchFamily="18" charset="0"/>
                            </a:rPr>
                            <m:t>   </m:t>
                          </m:r>
                          <m:m>
                            <m:mPr>
                              <m:mcs>
                                <m:mc>
                                  <m:mcPr>
                                    <m:count m:val="1"/>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rPr>
                                  <m:t>0</m:t>
                                </m:r>
                              </m:e>
                            </m:mr>
                            <m:mr>
                              <m:e>
                                <m:r>
                                  <a:rPr lang="en-US" sz="1600" i="1" smtClean="0">
                                    <a:latin typeface="Cambria Math" panose="02040503050406030204" pitchFamily="18" charset="0"/>
                                  </a:rPr>
                                  <m:t> </m:t>
                                </m:r>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e>
                            </m:mr>
                            <m:mr>
                              <m:e>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6</m:t>
                                        </m:r>
                                      </m:den>
                                    </m:f>
                                  </m:e>
                                </m:box>
                              </m:e>
                            </m:mr>
                          </m:m>
                          <m:m>
                            <m:mPr>
                              <m:mcs>
                                <m:mc>
                                  <m:mcPr>
                                    <m:count m:val="2"/>
                                    <m:mcJc m:val="center"/>
                                  </m:mcPr>
                                </m:mc>
                              </m:mcs>
                              <m:ctrlPr>
                                <a:rPr lang="en-US" sz="1600" i="1">
                                  <a:latin typeface="Cambria Math" panose="02040503050406030204" pitchFamily="18" charset="0"/>
                                </a:rPr>
                              </m:ctrlPr>
                            </m:mPr>
                            <m:mr>
                              <m:e>
                                <m:r>
                                  <m:rPr>
                                    <m:brk m:alnAt="7"/>
                                  </m:rPr>
                                  <a:rPr lang="en-US" sz="1600" i="1">
                                    <a:latin typeface="Cambria Math" panose="02040503050406030204" pitchFamily="18" charset="0"/>
                                  </a:rPr>
                                  <m:t>:</m:t>
                                </m:r>
                              </m:e>
                              <m:e>
                                <m:r>
                                  <a:rPr lang="en-US" sz="1600" b="0" i="1" smtClean="0">
                                    <a:latin typeface="Cambria Math" panose="02040503050406030204" pitchFamily="18" charset="0"/>
                                  </a:rPr>
                                  <m:t>𝑎</m:t>
                                </m:r>
                              </m:e>
                            </m:mr>
                            <m:mr>
                              <m:e>
                                <m:r>
                                  <a:rPr lang="en-US" sz="1600" i="1">
                                    <a:latin typeface="Cambria Math" panose="02040503050406030204" pitchFamily="18" charset="0"/>
                                  </a:rPr>
                                  <m:t> :</m:t>
                                </m:r>
                              </m:e>
                              <m:e>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𝑏</m:t>
                                        </m:r>
                                      </m:num>
                                      <m:den>
                                        <m:r>
                                          <a:rPr lang="en-US" sz="1600" b="0" i="1" smtClean="0">
                                            <a:latin typeface="Cambria Math" panose="02040503050406030204" pitchFamily="18" charset="0"/>
                                          </a:rPr>
                                          <m:t>2</m:t>
                                        </m:r>
                                      </m:den>
                                    </m:f>
                                  </m:e>
                                </m:box>
                              </m:e>
                            </m:mr>
                            <m:mr>
                              <m:e>
                                <m:r>
                                  <a:rPr lang="en-US" sz="1600" i="1">
                                    <a:latin typeface="Cambria Math" panose="02040503050406030204" pitchFamily="18" charset="0"/>
                                  </a:rPr>
                                  <m:t>:</m:t>
                                </m:r>
                              </m:e>
                              <m:e>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𝑏</m:t>
                                        </m:r>
                                        <m:r>
                                          <a:rPr lang="en-US" sz="1600" b="0" i="1" smtClean="0">
                                            <a:latin typeface="Cambria Math" panose="02040503050406030204" pitchFamily="18" charset="0"/>
                                          </a:rPr>
                                          <m:t>+2</m:t>
                                        </m:r>
                                        <m:r>
                                          <a:rPr lang="en-US" sz="1600" b="0" i="1" smtClean="0">
                                            <a:latin typeface="Cambria Math" panose="02040503050406030204" pitchFamily="18" charset="0"/>
                                          </a:rPr>
                                          <m:t>𝑐</m:t>
                                        </m:r>
                                      </m:num>
                                      <m:den>
                                        <m:r>
                                          <a:rPr lang="en-US" sz="1600" b="0" i="1" smtClean="0">
                                            <a:latin typeface="Cambria Math" panose="02040503050406030204" pitchFamily="18" charset="0"/>
                                          </a:rPr>
                                          <m:t>6</m:t>
                                        </m:r>
                                      </m:den>
                                    </m:f>
                                  </m:e>
                                </m:box>
                              </m:e>
                            </m:mr>
                          </m:m>
                        </m:e>
                      </m:d>
                    </m:oMath>
                  </m:oMathPara>
                </a14:m>
                <a:endParaRPr lang="en-US" sz="2000" dirty="0"/>
              </a:p>
              <a:p>
                <a:pPr marL="0" indent="0">
                  <a:buFont typeface="Arial" pitchFamily="34" charset="0"/>
                  <a:buNone/>
                </a:pPr>
                <a:endParaRPr lang="en-US" sz="2000" dirty="0"/>
              </a:p>
              <a:p>
                <a:pPr marL="0" indent="0">
                  <a:buFont typeface="Arial" pitchFamily="34" charset="0"/>
                  <a:buNone/>
                </a:pPr>
                <a:endParaRPr lang="en-US" sz="2000" dirty="0"/>
              </a:p>
            </p:txBody>
          </p:sp>
        </mc:Choice>
        <mc:Fallback xmlns="">
          <p:sp>
            <p:nvSpPr>
              <p:cNvPr id="4" name="Content Placeholder 2">
                <a:extLst>
                  <a:ext uri="{FF2B5EF4-FFF2-40B4-BE49-F238E27FC236}">
                    <a16:creationId xmlns:a16="http://schemas.microsoft.com/office/drawing/2014/main" id="{5BBC2DC8-B04B-4343-947B-6B5ECDD1C35A}"/>
                  </a:ext>
                </a:extLst>
              </p:cNvPr>
              <p:cNvSpPr txBox="1">
                <a:spLocks noRot="1" noChangeAspect="1" noMove="1" noResize="1" noEditPoints="1" noAdjustHandles="1" noChangeArrowheads="1" noChangeShapeType="1" noTextEdit="1"/>
              </p:cNvSpPr>
              <p:nvPr/>
            </p:nvSpPr>
            <p:spPr>
              <a:xfrm>
                <a:off x="457200" y="3251411"/>
                <a:ext cx="8229600" cy="3276600"/>
              </a:xfrm>
              <a:prstGeom prst="rect">
                <a:avLst/>
              </a:prstGeom>
              <a:blipFill>
                <a:blip r:embed="rId3"/>
                <a:stretch>
                  <a:fillRect l="-741" t="-7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5F93699-DBAB-4460-BE94-7E30E0D83E6F}"/>
                  </a:ext>
                </a:extLst>
              </p:cNvPr>
              <p:cNvSpPr txBox="1"/>
              <p:nvPr/>
            </p:nvSpPr>
            <p:spPr>
              <a:xfrm>
                <a:off x="2819400" y="4775411"/>
                <a:ext cx="2895600"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5" name="TextBox 4">
                <a:extLst>
                  <a:ext uri="{FF2B5EF4-FFF2-40B4-BE49-F238E27FC236}">
                    <a16:creationId xmlns:a16="http://schemas.microsoft.com/office/drawing/2014/main" id="{55F93699-DBAB-4460-BE94-7E30E0D83E6F}"/>
                  </a:ext>
                </a:extLst>
              </p:cNvPr>
              <p:cNvSpPr txBox="1">
                <a:spLocks noRot="1" noChangeAspect="1" noMove="1" noResize="1" noEditPoints="1" noAdjustHandles="1" noChangeArrowheads="1" noChangeShapeType="1" noTextEdit="1"/>
              </p:cNvSpPr>
              <p:nvPr/>
            </p:nvSpPr>
            <p:spPr>
              <a:xfrm>
                <a:off x="2819400" y="4775411"/>
                <a:ext cx="2895600" cy="63478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041231-01BF-42F6-8185-540B6606552D}"/>
                  </a:ext>
                </a:extLst>
              </p:cNvPr>
              <p:cNvSpPr txBox="1"/>
              <p:nvPr/>
            </p:nvSpPr>
            <p:spPr>
              <a:xfrm>
                <a:off x="5562600" y="5004011"/>
                <a:ext cx="2133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6" name="TextBox 5">
                <a:extLst>
                  <a:ext uri="{FF2B5EF4-FFF2-40B4-BE49-F238E27FC236}">
                    <a16:creationId xmlns:a16="http://schemas.microsoft.com/office/drawing/2014/main" id="{B4041231-01BF-42F6-8185-540B6606552D}"/>
                  </a:ext>
                </a:extLst>
              </p:cNvPr>
              <p:cNvSpPr txBox="1">
                <a:spLocks noRot="1" noChangeAspect="1" noMove="1" noResize="1" noEditPoints="1" noAdjustHandles="1" noChangeArrowheads="1" noChangeShapeType="1" noTextEdit="1"/>
              </p:cNvSpPr>
              <p:nvPr/>
            </p:nvSpPr>
            <p:spPr>
              <a:xfrm>
                <a:off x="5562600" y="5004011"/>
                <a:ext cx="2133600" cy="369332"/>
              </a:xfrm>
              <a:prstGeom prst="rect">
                <a:avLst/>
              </a:prstGeom>
              <a:blipFill>
                <a:blip r:embed="rId5"/>
                <a:stretch>
                  <a:fillRect b="-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657BACD-C353-4E3C-BD29-1C5013690F54}"/>
                  </a:ext>
                </a:extLst>
              </p:cNvPr>
              <p:cNvSpPr txBox="1"/>
              <p:nvPr/>
            </p:nvSpPr>
            <p:spPr>
              <a:xfrm>
                <a:off x="304800" y="6147011"/>
                <a:ext cx="2895600"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7" name="TextBox 6">
                <a:extLst>
                  <a:ext uri="{FF2B5EF4-FFF2-40B4-BE49-F238E27FC236}">
                    <a16:creationId xmlns:a16="http://schemas.microsoft.com/office/drawing/2014/main" id="{4657BACD-C353-4E3C-BD29-1C5013690F54}"/>
                  </a:ext>
                </a:extLst>
              </p:cNvPr>
              <p:cNvSpPr txBox="1">
                <a:spLocks noRot="1" noChangeAspect="1" noMove="1" noResize="1" noEditPoints="1" noAdjustHandles="1" noChangeArrowheads="1" noChangeShapeType="1" noTextEdit="1"/>
              </p:cNvSpPr>
              <p:nvPr/>
            </p:nvSpPr>
            <p:spPr>
              <a:xfrm>
                <a:off x="304800" y="6147011"/>
                <a:ext cx="2895600" cy="634789"/>
              </a:xfrm>
              <a:prstGeom prst="rect">
                <a:avLst/>
              </a:prstGeom>
              <a:blipFill>
                <a:blip r:embed="rId6"/>
                <a:stretch>
                  <a:fillRect/>
                </a:stretch>
              </a:blipFill>
            </p:spPr>
            <p:txBody>
              <a:bodyPr/>
              <a:lstStyle/>
              <a:p>
                <a:r>
                  <a:rPr lang="en-US">
                    <a:noFill/>
                  </a:rPr>
                  <a:t> </a:t>
                </a:r>
              </a:p>
            </p:txBody>
          </p:sp>
        </mc:Fallback>
      </mc:AlternateContent>
      <p:sp>
        <p:nvSpPr>
          <p:cNvPr id="8" name="Title 3">
            <a:extLst>
              <a:ext uri="{FF2B5EF4-FFF2-40B4-BE49-F238E27FC236}">
                <a16:creationId xmlns:a16="http://schemas.microsoft.com/office/drawing/2014/main" id="{0EFBF927-ACBD-466C-9938-FD77983DC014}"/>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30167419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752600"/>
                <a:ext cx="8229600" cy="4724400"/>
              </a:xfrm>
            </p:spPr>
            <p:txBody>
              <a:bodyPr>
                <a:normAutofit fontScale="85000" lnSpcReduction="10000"/>
              </a:bodyPr>
              <a:lstStyle/>
              <a:p>
                <a:pPr marL="0" indent="0">
                  <a:buNone/>
                </a:pPr>
                <a:r>
                  <a:rPr lang="en-US" sz="2000" dirty="0"/>
                  <a:t>Step 4: Write as a system of linear equation and solve for the coefficients(a, b ,c and d).</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smtClean="0">
                              <a:latin typeface="Cambria Math" panose="02040503050406030204" pitchFamily="18" charset="0"/>
                            </a:rPr>
                          </m:ctrlPr>
                        </m:mPr>
                        <m:mr>
                          <m:e>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US" sz="2000" b="0" i="1" smtClean="0">
                                <a:latin typeface="Cambria Math" panose="02040503050406030204" pitchFamily="18" charset="0"/>
                              </a:rPr>
                              <m:t>+3</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e>
                        </m:mr>
                        <m:mr>
                          <m:e>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𝑏</m:t>
                                </m:r>
                              </m:num>
                              <m:den>
                                <m:r>
                                  <a:rPr lang="en-US" sz="2000" b="0" i="1" smtClean="0">
                                    <a:latin typeface="Cambria Math" panose="02040503050406030204" pitchFamily="18" charset="0"/>
                                  </a:rPr>
                                  <m:t>2</m:t>
                                </m:r>
                              </m:den>
                            </m:f>
                          </m:e>
                        </m:mr>
                        <m:mr>
                          <m:e>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solidFill>
                                  <a:schemeClr val="tx1"/>
                                </a:solidFill>
                                <a:latin typeface="Cambria Math" panose="02040503050406030204" pitchFamily="18" charset="0"/>
                              </a:rPr>
                              <m:t>+ </m:t>
                            </m:r>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1</m:t>
                                </m:r>
                              </m:num>
                              <m:den>
                                <m:r>
                                  <a:rPr lang="en-US" sz="2000" b="0" i="1" smtClean="0">
                                    <a:solidFill>
                                      <a:schemeClr val="tx1"/>
                                    </a:solidFill>
                                    <a:latin typeface="Cambria Math" panose="02040503050406030204" pitchFamily="18" charset="0"/>
                                  </a:rPr>
                                  <m:t>6</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r>
                              <a:rPr lang="en-US" sz="2000" b="0" i="1" smtClean="0">
                                <a:solidFill>
                                  <a:schemeClr val="tx1"/>
                                </a:solidFill>
                                <a:latin typeface="Cambria Math" panose="02040503050406030204" pitchFamily="18" charset="0"/>
                              </a:rPr>
                              <m:t>=</m:t>
                            </m:r>
                            <m:f>
                              <m:fPr>
                                <m:ctrlPr>
                                  <a:rPr lang="en-US" sz="2000" b="0" i="1" smtClean="0">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𝑏</m:t>
                                </m:r>
                                <m:r>
                                  <a:rPr lang="en-US" sz="2000" b="0" i="1" smtClean="0">
                                    <a:solidFill>
                                      <a:schemeClr val="tx1"/>
                                    </a:solidFill>
                                    <a:latin typeface="Cambria Math" panose="02040503050406030204" pitchFamily="18" charset="0"/>
                                  </a:rPr>
                                  <m:t>+2</m:t>
                                </m:r>
                                <m:r>
                                  <a:rPr lang="en-US" sz="2000" b="0" i="1" smtClean="0">
                                    <a:solidFill>
                                      <a:schemeClr val="tx1"/>
                                    </a:solidFill>
                                    <a:latin typeface="Cambria Math" panose="02040503050406030204" pitchFamily="18" charset="0"/>
                                  </a:rPr>
                                  <m:t>𝑐</m:t>
                                </m:r>
                              </m:num>
                              <m:den>
                                <m:r>
                                  <a:rPr lang="en-US" sz="2000" b="0" i="1" smtClean="0">
                                    <a:solidFill>
                                      <a:schemeClr val="tx1"/>
                                    </a:solidFill>
                                    <a:latin typeface="Cambria Math" panose="02040503050406030204" pitchFamily="18" charset="0"/>
                                  </a:rPr>
                                  <m:t>6</m:t>
                                </m:r>
                              </m:den>
                            </m:f>
                          </m:e>
                        </m:mr>
                      </m:m>
                    </m:oMath>
                  </m:oMathPara>
                </a14:m>
                <a:endParaRPr lang="en-US" sz="2000" dirty="0"/>
              </a:p>
              <a:p>
                <a:pPr marL="0" indent="0">
                  <a:buNone/>
                </a:pPr>
                <a:endParaRPr lang="en-US" sz="2000" dirty="0"/>
              </a:p>
              <a:p>
                <a:pPr marL="0" indent="0">
                  <a:buNone/>
                </a:pPr>
                <a:r>
                  <a:rPr lang="en-US" sz="1800" i="1" dirty="0"/>
                  <a:t>We have a free variable or floating variable.</a:t>
                </a:r>
                <a:endParaRPr lang="en-US" sz="2000" i="1" dirty="0"/>
              </a:p>
              <a:p>
                <a:pPr marL="0" indent="0">
                  <a:buNone/>
                </a:pPr>
                <a:r>
                  <a:rPr lang="en-US" sz="2000" dirty="0"/>
                  <a:t>	Let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r>
                      <a:rPr lang="en-US" sz="2000" b="0" i="1" smtClean="0">
                        <a:latin typeface="Cambria Math" panose="02040503050406030204" pitchFamily="18" charset="0"/>
                      </a:rPr>
                      <m:t>𝑟</m:t>
                    </m:r>
                    <m:r>
                      <a:rPr lang="en-US" sz="2000" b="0" i="1" smtClean="0">
                        <a:latin typeface="Cambria Math" panose="02040503050406030204" pitchFamily="18" charset="0"/>
                      </a:rPr>
                      <m:t>, </m:t>
                    </m:r>
                    <m:r>
                      <a:rPr lang="en-US" sz="2000" b="0" i="1" smtClean="0">
                        <a:latin typeface="Cambria Math" panose="02040503050406030204" pitchFamily="18" charset="0"/>
                      </a:rPr>
                      <m:t>𝑤h𝑒𝑟𝑒</m:t>
                    </m:r>
                    <m:r>
                      <a:rPr lang="en-US" sz="2000" b="0" i="1" smtClean="0">
                        <a:latin typeface="Cambria Math" panose="02040503050406030204" pitchFamily="18" charset="0"/>
                      </a:rPr>
                      <m:t> </m:t>
                    </m:r>
                    <m:r>
                      <a:rPr lang="en-US" sz="2000" b="0" i="1" smtClean="0">
                        <a:latin typeface="Cambria Math" panose="02040503050406030204" pitchFamily="18" charset="0"/>
                      </a:rPr>
                      <m:t>𝑟</m:t>
                    </m:r>
                    <m:r>
                      <a:rPr lang="en-US" sz="2000" b="0" i="1" smtClean="0">
                        <a:latin typeface="Cambria Math" panose="02040503050406030204" pitchFamily="18" charset="0"/>
                      </a:rPr>
                      <m:t> </m:t>
                    </m:r>
                    <m:r>
                      <a:rPr lang="en-US" sz="2000" b="0" i="1" smtClean="0">
                        <a:latin typeface="Cambria Math" panose="02040503050406030204" pitchFamily="18" charset="0"/>
                      </a:rPr>
                      <m:t>𝑖𝑠</m:t>
                    </m:r>
                    <m:r>
                      <a:rPr lang="en-US" sz="2000" b="0" i="1" smtClean="0">
                        <a:latin typeface="Cambria Math" panose="02040503050406030204" pitchFamily="18" charset="0"/>
                      </a:rPr>
                      <m:t> </m:t>
                    </m:r>
                    <m:r>
                      <a:rPr lang="en-US" sz="2000" b="0" i="1" smtClean="0">
                        <a:latin typeface="Cambria Math" panose="02040503050406030204" pitchFamily="18" charset="0"/>
                      </a:rPr>
                      <m:t>𝑎𝑛𝑦</m:t>
                    </m:r>
                    <m:r>
                      <a:rPr lang="en-US" sz="2000" b="0" i="1" smtClean="0">
                        <a:latin typeface="Cambria Math" panose="02040503050406030204" pitchFamily="18" charset="0"/>
                      </a:rPr>
                      <m:t> </m:t>
                    </m:r>
                    <m:r>
                      <a:rPr lang="en-US" sz="2000" b="0" i="1" smtClean="0">
                        <a:latin typeface="Cambria Math" panose="02040503050406030204" pitchFamily="18" charset="0"/>
                      </a:rPr>
                      <m:t>𝑟𝑒𝑎𝑙</m:t>
                    </m:r>
                    <m:r>
                      <a:rPr lang="en-US" sz="2000" b="0" i="1" smtClean="0">
                        <a:latin typeface="Cambria Math" panose="02040503050406030204" pitchFamily="18" charset="0"/>
                      </a:rPr>
                      <m:t> </m:t>
                    </m:r>
                    <m:r>
                      <a:rPr lang="en-US" sz="2000" b="0" i="1" smtClean="0">
                        <a:latin typeface="Cambria Math" panose="02040503050406030204" pitchFamily="18" charset="0"/>
                      </a:rPr>
                      <m:t>𝑛𝑢𝑚𝑏𝑒𝑟</m:t>
                    </m:r>
                  </m:oMath>
                </a14:m>
                <a:endParaRPr lang="en-US" sz="2000" dirty="0"/>
              </a:p>
              <a:p>
                <a:pPr marL="0" indent="0">
                  <a:buNone/>
                </a:pPr>
                <a:endParaRPr lang="en-US" sz="2000" dirty="0"/>
              </a:p>
              <a:p>
                <a:pPr marL="0" indent="0">
                  <a:buNone/>
                </a:pPr>
                <a:r>
                  <a:rPr lang="en-US" sz="1600" dirty="0"/>
                  <a:t>Solve for </a:t>
                </a:r>
                <a14:m>
                  <m:oMath xmlns:m="http://schemas.openxmlformats.org/officeDocument/2006/math">
                    <m:sSub>
                      <m:sSubPr>
                        <m:ctrlPr>
                          <a:rPr lang="en-PH" sz="1600" i="1" smtClean="0">
                            <a:latin typeface="Cambria Math" panose="02040503050406030204" pitchFamily="18" charset="0"/>
                          </a:rPr>
                        </m:ctrlPr>
                      </m:sSubPr>
                      <m:e>
                        <m:r>
                          <a:rPr lang="en-PH" sz="1600" i="1">
                            <a:latin typeface="Cambria Math"/>
                          </a:rPr>
                          <m:t>𝑐</m:t>
                        </m:r>
                      </m:e>
                      <m:sub>
                        <m:r>
                          <a:rPr lang="en-US" sz="1600" b="0" i="1" smtClean="0">
                            <a:latin typeface="Cambria Math" panose="02040503050406030204" pitchFamily="18" charset="0"/>
                          </a:rPr>
                          <m:t>3</m:t>
                        </m:r>
                      </m:sub>
                    </m:sSub>
                    <m:r>
                      <a:rPr lang="en-PH" sz="1600" i="1">
                        <a:latin typeface="Cambria Math" panose="02040503050406030204" pitchFamily="18" charset="0"/>
                      </a:rPr>
                      <m:t> </m:t>
                    </m:r>
                  </m:oMath>
                </a14:m>
                <a:r>
                  <a:rPr lang="en-US" sz="1600" dirty="0"/>
                  <a:t>:</a:t>
                </a:r>
                <a:endParaRPr lang="en-US" sz="2000" dirty="0"/>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𝑏</m:t>
                        </m:r>
                        <m:r>
                          <a:rPr lang="en-US" sz="2000" i="1">
                            <a:latin typeface="Cambria Math" panose="02040503050406030204" pitchFamily="18" charset="0"/>
                          </a:rPr>
                          <m:t>+2</m:t>
                        </m:r>
                        <m:r>
                          <a:rPr lang="en-US" sz="2000" b="0" i="1" smtClean="0">
                            <a:latin typeface="Cambria Math" panose="02040503050406030204" pitchFamily="18" charset="0"/>
                          </a:rPr>
                          <m:t>𝑐</m:t>
                        </m:r>
                      </m:num>
                      <m:den>
                        <m:r>
                          <a:rPr lang="en-US" sz="2000" i="1">
                            <a:latin typeface="Cambria Math" panose="02040503050406030204" pitchFamily="18" charset="0"/>
                          </a:rPr>
                          <m:t>6</m:t>
                        </m:r>
                      </m:den>
                    </m:f>
                  </m:oMath>
                </a14:m>
                <a:r>
                  <a:rPr lang="en-US" sz="2000" dirty="0"/>
                  <a:t>   </a:t>
                </a:r>
                <a:r>
                  <a:rPr lang="en-US" sz="2000" dirty="0">
                    <a:sym typeface="Wingdings" panose="05000000000000000000" pitchFamily="2" charset="2"/>
                  </a:rPr>
                  <a:t></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𝑏</m:t>
                        </m:r>
                        <m:r>
                          <a:rPr lang="en-US" sz="2000" i="1">
                            <a:latin typeface="Cambria Math" panose="02040503050406030204" pitchFamily="18" charset="0"/>
                          </a:rPr>
                          <m:t>+2</m:t>
                        </m:r>
                        <m:r>
                          <a:rPr lang="en-US" sz="2000" b="0" i="1" smtClean="0">
                            <a:latin typeface="Cambria Math" panose="02040503050406030204" pitchFamily="18" charset="0"/>
                          </a:rPr>
                          <m:t>𝑐</m:t>
                        </m:r>
                      </m:num>
                      <m:den>
                        <m:r>
                          <a:rPr lang="en-US" sz="2000" i="1">
                            <a:latin typeface="Cambria Math" panose="02040503050406030204" pitchFamily="18" charset="0"/>
                          </a:rPr>
                          <m:t>6</m:t>
                        </m:r>
                      </m:den>
                    </m:f>
                    <m:r>
                      <a:rPr lang="en-US" sz="2000" b="0" i="1" smtClean="0">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oMath>
                </a14:m>
                <a:r>
                  <a:rPr lang="en-US" sz="2000" i="1" dirty="0">
                    <a:latin typeface="Cambria Math" panose="02040503050406030204" pitchFamily="18" charset="0"/>
                  </a:rPr>
                  <a:t>  , by substitution</a:t>
                </a:r>
              </a:p>
              <a:p>
                <a:pPr marL="0" indent="0">
                  <a:buNone/>
                </a:pPr>
                <a:endParaRPr lang="en-US" sz="20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𝑏</m:t>
                          </m:r>
                          <m:r>
                            <a:rPr lang="en-US" sz="2000" i="1">
                              <a:latin typeface="Cambria Math" panose="02040503050406030204" pitchFamily="18" charset="0"/>
                            </a:rPr>
                            <m:t>+2</m:t>
                          </m:r>
                          <m:r>
                            <a:rPr lang="en-US" sz="2000" b="0" i="1" smtClean="0">
                              <a:latin typeface="Cambria Math" panose="02040503050406030204" pitchFamily="18" charset="0"/>
                            </a:rPr>
                            <m:t>𝑐</m:t>
                          </m:r>
                        </m:num>
                        <m:den>
                          <m:r>
                            <a:rPr lang="en-US" sz="2000" i="1">
                              <a:latin typeface="Cambria Math" panose="02040503050406030204" pitchFamily="18" charset="0"/>
                            </a:rPr>
                            <m:t>6</m:t>
                          </m:r>
                        </m:den>
                      </m:f>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m:t>
                          </m:r>
                        </m:den>
                      </m:f>
                      <m:r>
                        <a:rPr lang="en-US" sz="2000" b="0" i="1" smtClean="0">
                          <a:latin typeface="Cambria Math" panose="02040503050406030204" pitchFamily="18" charset="0"/>
                        </a:rPr>
                        <m:t>𝑟</m:t>
                      </m:r>
                      <m:r>
                        <a:rPr lang="en-US" sz="2000" b="0" i="1" smtClean="0">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𝑏</m:t>
                          </m:r>
                          <m:r>
                            <a:rPr lang="en-US" sz="2000" b="0" i="1" smtClean="0">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𝑐</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𝑟</m:t>
                          </m:r>
                        </m:num>
                        <m:den>
                          <m:r>
                            <a:rPr lang="en-US" sz="2000" b="0" i="1" smtClean="0">
                              <a:solidFill>
                                <a:srgbClr val="FF0000"/>
                              </a:solidFill>
                              <a:latin typeface="Cambria Math" panose="02040503050406030204" pitchFamily="18" charset="0"/>
                            </a:rPr>
                            <m:t>6</m:t>
                          </m:r>
                        </m:den>
                      </m:f>
                    </m:oMath>
                  </m:oMathPara>
                </a14:m>
                <a:endParaRPr lang="en-US" sz="2000" dirty="0">
                  <a:solidFill>
                    <a:srgbClr val="FF0000"/>
                  </a:solidFill>
                </a:endParaRPr>
              </a:p>
              <a:p>
                <a:pPr marL="0" indent="0">
                  <a:buNone/>
                </a:pPr>
                <a:r>
                  <a:rPr lang="en-US" sz="2000" dirty="0"/>
                  <a:t> </a:t>
                </a:r>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752600"/>
                <a:ext cx="8229600" cy="4724400"/>
              </a:xfrm>
              <a:blipFill>
                <a:blip r:embed="rId2"/>
                <a:stretch>
                  <a:fillRect l="-444" t="-1032"/>
                </a:stretch>
              </a:blipFill>
            </p:spPr>
            <p:txBody>
              <a:bodyPr/>
              <a:lstStyle/>
              <a:p>
                <a:r>
                  <a:rPr lang="en-US">
                    <a:noFill/>
                  </a:rPr>
                  <a:t> </a:t>
                </a:r>
              </a:p>
            </p:txBody>
          </p:sp>
        </mc:Fallback>
      </mc:AlternateContent>
      <p:sp>
        <p:nvSpPr>
          <p:cNvPr id="6" name="Title 3">
            <a:extLst>
              <a:ext uri="{FF2B5EF4-FFF2-40B4-BE49-F238E27FC236}">
                <a16:creationId xmlns:a16="http://schemas.microsoft.com/office/drawing/2014/main" id="{1F34308A-9B55-4F60-9971-CF599C864965}"/>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2439608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600200"/>
                <a:ext cx="8610600" cy="4572000"/>
              </a:xfrm>
            </p:spPr>
            <p:txBody>
              <a:bodyPr>
                <a:normAutofit lnSpcReduction="10000"/>
              </a:bodyPr>
              <a:lstStyle/>
              <a:p>
                <a:pPr marL="0" indent="0">
                  <a:buNone/>
                </a:pPr>
                <a:r>
                  <a:rPr lang="en-US" sz="2000" dirty="0"/>
                  <a:t>Solve for </a:t>
                </a:r>
                <a14:m>
                  <m:oMath xmlns:m="http://schemas.openxmlformats.org/officeDocument/2006/math">
                    <m:sSub>
                      <m:sSubPr>
                        <m:ctrlPr>
                          <a:rPr lang="en-PH" sz="2000" i="1" smtClean="0">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PH" sz="2000" i="1">
                        <a:latin typeface="Cambria Math" panose="02040503050406030204" pitchFamily="18" charset="0"/>
                      </a:rPr>
                      <m:t> </m:t>
                    </m:r>
                  </m:oMath>
                </a14:m>
                <a:r>
                  <a:rPr lang="en-US" sz="2000" dirty="0"/>
                  <a:t>:</a:t>
                </a:r>
                <a:endParaRPr lang="en-US" sz="2000" dirty="0">
                  <a:solidFill>
                    <a:srgbClr val="FF0000"/>
                  </a:solidFill>
                </a:endParaRPr>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𝑦</m:t>
                        </m:r>
                      </m:num>
                      <m:den>
                        <m:r>
                          <a:rPr lang="en-US" sz="2000" b="0" i="1" smtClean="0">
                            <a:latin typeface="Cambria Math" panose="02040503050406030204" pitchFamily="18" charset="0"/>
                          </a:rPr>
                          <m:t>2</m:t>
                        </m:r>
                      </m:den>
                    </m:f>
                  </m:oMath>
                </a14:m>
                <a:r>
                  <a:rPr lang="en-US" sz="2000" dirty="0">
                    <a:solidFill>
                      <a:srgbClr val="FF0000"/>
                    </a:solidFill>
                  </a:rPr>
                  <a:t>   </a:t>
                </a:r>
                <a:r>
                  <a:rPr lang="en-US" sz="2000" dirty="0">
                    <a:sym typeface="Wingdings" panose="05000000000000000000" pitchFamily="2" charset="2"/>
                  </a:rPr>
                  <a:t></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𝑏</m:t>
                        </m:r>
                      </m:num>
                      <m:den>
                        <m:r>
                          <a:rPr lang="en-US" sz="2000" i="1">
                            <a:latin typeface="Cambria Math" panose="02040503050406030204" pitchFamily="18" charset="0"/>
                          </a:rPr>
                          <m:t>2</m:t>
                        </m:r>
                      </m:den>
                    </m:f>
                    <m:r>
                      <a:rPr lang="en-US" sz="2000" b="0" i="1" smtClean="0">
                        <a:latin typeface="Cambria Math" panose="02040503050406030204" pitchFamily="18" charset="0"/>
                      </a:rPr>
                      <m:t>−</m:t>
                    </m:r>
                    <m:r>
                      <a:rPr lang="en-US" sz="2000" i="1">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4</m:t>
                        </m:r>
                      </m:sub>
                    </m:sSub>
                  </m:oMath>
                </a14:m>
                <a:r>
                  <a:rPr lang="en-US" sz="2000" i="1" dirty="0">
                    <a:latin typeface="Cambria Math" panose="02040503050406030204" pitchFamily="18" charset="0"/>
                  </a:rPr>
                  <a:t> ,  by substitution</a:t>
                </a:r>
              </a:p>
              <a:p>
                <a:pPr marL="0" indent="0">
                  <a:buNone/>
                </a:pPr>
                <a14:m>
                  <m:oMathPara xmlns:m="http://schemas.openxmlformats.org/officeDocument/2006/math">
                    <m:oMathParaPr>
                      <m:jc m:val="centerGroup"/>
                    </m:oMathParaPr>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PH" sz="2000" i="1">
                          <a:latin typeface="Cambria Math" panose="02040503050406030204" pitchFamily="18" charset="0"/>
                        </a:rPr>
                        <m:t> </m:t>
                      </m:r>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𝑏</m:t>
                          </m:r>
                        </m:num>
                        <m:den>
                          <m:r>
                            <a:rPr lang="en-US" sz="2000" i="1">
                              <a:latin typeface="Cambria Math" panose="02040503050406030204" pitchFamily="18" charset="0"/>
                            </a:rPr>
                            <m:t>2</m:t>
                          </m:r>
                        </m:den>
                      </m:f>
                      <m:r>
                        <a:rPr lang="en-US" sz="2000" i="1">
                          <a:latin typeface="Cambria Math" panose="02040503050406030204" pitchFamily="18" charset="0"/>
                        </a:rPr>
                        <m:t>−2</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𝑏</m:t>
                          </m:r>
                          <m:r>
                            <a:rPr lang="en-US" sz="2000" b="0" i="1" smtClean="0">
                              <a:latin typeface="Cambria Math" panose="02040503050406030204" pitchFamily="18" charset="0"/>
                            </a:rPr>
                            <m:t>+2</m:t>
                          </m:r>
                          <m:r>
                            <a:rPr lang="en-US" sz="2000" b="0" i="1" smtClean="0">
                              <a:latin typeface="Cambria Math" panose="02040503050406030204" pitchFamily="18" charset="0"/>
                            </a:rPr>
                            <m:t>𝑐</m:t>
                          </m:r>
                          <m:r>
                            <a:rPr lang="en-US" sz="2000" b="0" i="1" smtClean="0">
                              <a:latin typeface="Cambria Math" panose="02040503050406030204" pitchFamily="18" charset="0"/>
                            </a:rPr>
                            <m:t>−</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b="0" i="1" smtClean="0">
                          <a:latin typeface="Cambria Math" panose="02040503050406030204" pitchFamily="18" charset="0"/>
                        </a:rPr>
                        <m:t>𝑟</m:t>
                      </m:r>
                    </m:oMath>
                  </m:oMathPara>
                </a14:m>
                <a:endParaRPr lang="en-US" sz="2000" dirty="0">
                  <a:solidFill>
                    <a:srgbClr val="FF0000"/>
                  </a:solidFill>
                </a:endParaRPr>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3</m:t>
                        </m:r>
                        <m:r>
                          <a:rPr lang="en-US" sz="2000" i="1">
                            <a:latin typeface="Cambria Math" panose="02040503050406030204" pitchFamily="18" charset="0"/>
                          </a:rPr>
                          <m:t>𝑦</m:t>
                        </m:r>
                      </m:num>
                      <m:den>
                        <m:r>
                          <a:rPr lang="en-US" sz="2000" b="0" i="1" smtClean="0">
                            <a:latin typeface="Cambria Math" panose="02040503050406030204" pitchFamily="18" charset="0"/>
                          </a:rPr>
                          <m:t>6</m:t>
                        </m:r>
                      </m:den>
                    </m:f>
                    <m:r>
                      <a:rPr lang="en-US" sz="2000" i="1">
                        <a:latin typeface="Cambria Math" panose="02040503050406030204" pitchFamily="18" charset="0"/>
                      </a:rPr>
                      <m:t>−</m:t>
                    </m:r>
                    <m:d>
                      <m:dPr>
                        <m:begChr m:val="["/>
                        <m:endChr m:val="]"/>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+4</m:t>
                            </m:r>
                            <m:r>
                              <a:rPr lang="en-US" sz="2000" b="0" i="1" smtClean="0">
                                <a:latin typeface="Cambria Math" panose="02040503050406030204" pitchFamily="18" charset="0"/>
                              </a:rPr>
                              <m:t>𝑧</m:t>
                            </m:r>
                            <m:r>
                              <a:rPr lang="en-US" sz="2000" b="0" i="1" smtClean="0">
                                <a:latin typeface="Cambria Math" panose="02040503050406030204" pitchFamily="18" charset="0"/>
                              </a:rPr>
                              <m:t>−2</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3</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r>
                          <a:rPr lang="en-US" sz="2000" b="0" i="1" smtClean="0">
                            <a:latin typeface="Cambria Math" panose="02040503050406030204" pitchFamily="18" charset="0"/>
                          </a:rPr>
                          <m:t>𝑦</m:t>
                        </m:r>
                        <m:r>
                          <a:rPr lang="en-US" sz="2000" b="0" i="1" smtClean="0">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−4</m:t>
                        </m:r>
                        <m:r>
                          <a:rPr lang="en-US" sz="2000" b="0" i="1" smtClean="0">
                            <a:latin typeface="Cambria Math" panose="02040503050406030204" pitchFamily="18" charset="0"/>
                          </a:rPr>
                          <m:t>𝑧</m:t>
                        </m:r>
                        <m:r>
                          <a:rPr lang="en-US" sz="2000" b="0" i="1" smtClean="0">
                            <a:latin typeface="Cambria Math" panose="02040503050406030204" pitchFamily="18" charset="0"/>
                          </a:rPr>
                          <m:t>+2</m:t>
                        </m:r>
                        <m:r>
                          <a:rPr lang="en-US" sz="2000" b="0" i="1" smtClean="0">
                            <a:latin typeface="Cambria Math" panose="02040503050406030204" pitchFamily="18" charset="0"/>
                          </a:rPr>
                          <m:t>𝑟</m:t>
                        </m:r>
                        <m:r>
                          <a:rPr lang="en-US" sz="2000" b="0" i="1" smtClean="0">
                            <a:latin typeface="Cambria Math" panose="02040503050406030204" pitchFamily="18" charset="0"/>
                          </a:rPr>
                          <m:t>−3</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r>
                      <a:rPr lang="en-US" sz="2000" b="0" i="1" smtClean="0">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𝑦</m:t>
                        </m:r>
                        <m:r>
                          <a:rPr lang="en-US" sz="2000" b="0" i="1" smtClean="0">
                            <a:solidFill>
                              <a:srgbClr val="FF0000"/>
                            </a:solidFill>
                            <a:latin typeface="Cambria Math" panose="02040503050406030204" pitchFamily="18" charset="0"/>
                          </a:rPr>
                          <m:t>−4</m:t>
                        </m:r>
                        <m:r>
                          <a:rPr lang="en-US" sz="2000" b="0" i="1" smtClean="0">
                            <a:solidFill>
                              <a:srgbClr val="FF0000"/>
                            </a:solidFill>
                            <a:latin typeface="Cambria Math" panose="02040503050406030204" pitchFamily="18" charset="0"/>
                          </a:rPr>
                          <m:t>𝑧</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𝑟</m:t>
                        </m:r>
                      </m:num>
                      <m:den>
                        <m:r>
                          <a:rPr lang="en-US" sz="2000" b="0" i="1" smtClean="0">
                            <a:solidFill>
                              <a:srgbClr val="FF0000"/>
                            </a:solidFill>
                            <a:latin typeface="Cambria Math" panose="02040503050406030204" pitchFamily="18" charset="0"/>
                          </a:rPr>
                          <m:t>6</m:t>
                        </m:r>
                      </m:den>
                    </m:f>
                  </m:oMath>
                </a14:m>
                <a:r>
                  <a:rPr lang="en-US" sz="2000" dirty="0">
                    <a:solidFill>
                      <a:srgbClr val="FF0000"/>
                    </a:solidFill>
                  </a:rPr>
                  <a:t> </a:t>
                </a:r>
              </a:p>
              <a:p>
                <a:pPr marL="0" indent="0">
                  <a:buNone/>
                </a:pPr>
                <a:endParaRPr lang="en-US" sz="2000" dirty="0">
                  <a:solidFill>
                    <a:srgbClr val="FF0000"/>
                  </a:solidFill>
                </a:endParaRPr>
              </a:p>
              <a:p>
                <a:pPr marL="0" indent="0">
                  <a:buNone/>
                </a:pPr>
                <a:r>
                  <a:rPr lang="en-US" sz="2000" dirty="0"/>
                  <a:t>Solve for </a:t>
                </a:r>
                <a14:m>
                  <m:oMath xmlns:m="http://schemas.openxmlformats.org/officeDocument/2006/math">
                    <m:sSub>
                      <m:sSubPr>
                        <m:ctrlPr>
                          <a:rPr lang="en-PH" sz="2000" i="1" smtClean="0">
                            <a:latin typeface="Cambria Math" panose="02040503050406030204" pitchFamily="18" charset="0"/>
                          </a:rPr>
                        </m:ctrlPr>
                      </m:sSubPr>
                      <m:e>
                        <m:r>
                          <a:rPr lang="en-PH" sz="2000" i="1">
                            <a:latin typeface="Cambria Math"/>
                          </a:rPr>
                          <m:t>𝑐</m:t>
                        </m:r>
                      </m:e>
                      <m:sub>
                        <m:r>
                          <a:rPr lang="en-PH" sz="2000" i="1">
                            <a:latin typeface="Cambria Math"/>
                          </a:rPr>
                          <m:t>1</m:t>
                        </m:r>
                      </m:sub>
                    </m:sSub>
                    <m:r>
                      <a:rPr lang="en-PH" sz="2000" i="1">
                        <a:latin typeface="Cambria Math" panose="02040503050406030204" pitchFamily="18" charset="0"/>
                      </a:rPr>
                      <m:t> </m:t>
                    </m:r>
                  </m:oMath>
                </a14:m>
                <a:r>
                  <a:rPr lang="en-US" sz="2000" dirty="0"/>
                  <a:t>:</a:t>
                </a:r>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US" sz="2000" b="0" i="1" smtClean="0">
                        <a:latin typeface="Cambria Math" panose="02040503050406030204" pitchFamily="18" charset="0"/>
                      </a:rPr>
                      <m:t>+3</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r>
                      <a:rPr lang="en-US" sz="2000" b="0" i="1" smtClean="0">
                        <a:latin typeface="Cambria Math" panose="02040503050406030204" pitchFamily="18" charset="0"/>
                      </a:rPr>
                      <m:t>𝑥</m:t>
                    </m:r>
                  </m:oMath>
                </a14:m>
                <a:r>
                  <a:rPr lang="en-US" sz="2000" dirty="0"/>
                  <a:t> </a:t>
                </a:r>
                <a:r>
                  <a:rPr lang="en-US" sz="2000" dirty="0">
                    <a:sym typeface="Wingdings" panose="05000000000000000000" pitchFamily="2" charset="2"/>
                  </a:rPr>
                  <a:t></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US" sz="2000" i="1">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−3</m:t>
                    </m:r>
                    <m:sSub>
                      <m:sSubPr>
                        <m:ctrlPr>
                          <a:rPr lang="en-PH" sz="2000" i="1">
                            <a:latin typeface="Cambria Math" panose="02040503050406030204" pitchFamily="18" charset="0"/>
                          </a:rPr>
                        </m:ctrlPr>
                      </m:sSubPr>
                      <m:e>
                        <m:r>
                          <a:rPr lang="en-PH" sz="2000" i="1">
                            <a:latin typeface="Cambria Math"/>
                          </a:rPr>
                          <m:t>𝑐</m:t>
                        </m:r>
                      </m:e>
                      <m:sub>
                        <m:r>
                          <a:rPr lang="en-US" sz="2000" b="0" i="1" smtClean="0">
                            <a:latin typeface="Cambria Math" panose="02040503050406030204" pitchFamily="18" charset="0"/>
                          </a:rPr>
                          <m:t>3</m:t>
                        </m:r>
                      </m:sub>
                    </m:sSub>
                  </m:oMath>
                </a14:m>
                <a:r>
                  <a:rPr lang="en-US" sz="2000" i="1" dirty="0">
                    <a:latin typeface="Cambria Math" panose="02040503050406030204" pitchFamily="18" charset="0"/>
                  </a:rPr>
                  <a:t>,  by substitution</a:t>
                </a:r>
              </a:p>
              <a:p>
                <a:pPr marL="0" indent="0">
                  <a:buNone/>
                </a:pPr>
                <a14:m>
                  <m:oMathPara xmlns:m="http://schemas.openxmlformats.org/officeDocument/2006/math">
                    <m:oMathParaPr>
                      <m:jc m:val="centerGroup"/>
                    </m:oMathParaPr>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PH" sz="2000" i="1">
                          <a:latin typeface="Cambria Math" panose="02040503050406030204" pitchFamily="18" charset="0"/>
                        </a:rPr>
                        <m:t> </m:t>
                      </m:r>
                      <m:r>
                        <a:rPr lang="en-US" sz="2000" b="0" i="0"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−3</m:t>
                      </m:r>
                      <m:d>
                        <m:dPr>
                          <m:begChr m:val="["/>
                          <m:endChr m:val="]"/>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𝑏</m:t>
                              </m:r>
                              <m:r>
                                <a:rPr lang="en-US" sz="2000" b="0" i="1" smtClean="0">
                                  <a:latin typeface="Cambria Math" panose="02040503050406030204" pitchFamily="18" charset="0"/>
                                </a:rPr>
                                <m:t>+2</m:t>
                              </m:r>
                              <m:r>
                                <a:rPr lang="en-US" sz="2000" b="0" i="1" smtClean="0">
                                  <a:latin typeface="Cambria Math" panose="02040503050406030204" pitchFamily="18" charset="0"/>
                                </a:rPr>
                                <m:t>𝑐</m:t>
                              </m:r>
                              <m:r>
                                <a:rPr lang="en-US" sz="2000" b="0" i="1" smtClean="0">
                                  <a:latin typeface="Cambria Math" panose="02040503050406030204" pitchFamily="18" charset="0"/>
                                </a:rPr>
                                <m:t>−</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e>
                      </m:d>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smtClean="0">
                                  <a:latin typeface="Cambria Math" panose="02040503050406030204" pitchFamily="18" charset="0"/>
                                </a:rPr>
                                <m:t>3</m:t>
                              </m:r>
                              <m:r>
                                <a:rPr lang="en-US" sz="2000" b="0" i="1" smtClean="0">
                                  <a:latin typeface="Cambria Math" panose="02040503050406030204" pitchFamily="18" charset="0"/>
                                </a:rPr>
                                <m:t>𝑏</m:t>
                              </m:r>
                              <m:r>
                                <a:rPr lang="en-US" sz="2000" i="1">
                                  <a:latin typeface="Cambria Math" panose="02040503050406030204" pitchFamily="18" charset="0"/>
                                </a:rPr>
                                <m:t>+6</m:t>
                              </m:r>
                              <m:r>
                                <a:rPr lang="en-US" sz="2000" b="0" i="1" smtClean="0">
                                  <a:latin typeface="Cambria Math" panose="02040503050406030204" pitchFamily="18" charset="0"/>
                                </a:rPr>
                                <m:t>𝑐</m:t>
                              </m:r>
                              <m:r>
                                <a:rPr lang="en-US" sz="2000" i="1">
                                  <a:latin typeface="Cambria Math" panose="02040503050406030204" pitchFamily="18" charset="0"/>
                                </a:rPr>
                                <m:t>−3</m:t>
                              </m:r>
                              <m:r>
                                <a:rPr lang="en-US" sz="2000" i="1">
                                  <a:latin typeface="Cambria Math" panose="02040503050406030204" pitchFamily="18" charset="0"/>
                                </a:rPr>
                                <m:t>𝑟</m:t>
                              </m:r>
                            </m:num>
                            <m:den>
                              <m:r>
                                <a:rPr lang="en-US" sz="2000" i="1">
                                  <a:latin typeface="Cambria Math" panose="02040503050406030204" pitchFamily="18" charset="0"/>
                                </a:rPr>
                                <m:t>6</m:t>
                              </m:r>
                            </m:den>
                          </m:f>
                        </m:e>
                      </m:d>
                      <m:r>
                        <a:rPr lang="en-US" sz="2000" i="1">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6</m:t>
                          </m:r>
                          <m:r>
                            <a:rPr lang="en-US" sz="2000" b="0" i="1" smtClean="0">
                              <a:latin typeface="Cambria Math" panose="02040503050406030204" pitchFamily="18" charset="0"/>
                            </a:rPr>
                            <m:t>𝑎</m:t>
                          </m:r>
                          <m:r>
                            <a:rPr lang="en-US" sz="2000" b="0" i="1" smtClean="0">
                              <a:latin typeface="Cambria Math" panose="02040503050406030204" pitchFamily="18" charset="0"/>
                            </a:rPr>
                            <m:t>−3</m:t>
                          </m:r>
                          <m:r>
                            <a:rPr lang="en-US" sz="2000" b="0" i="1" smtClean="0">
                              <a:latin typeface="Cambria Math" panose="02040503050406030204" pitchFamily="18" charset="0"/>
                            </a:rPr>
                            <m:t>𝑏</m:t>
                          </m:r>
                          <m:r>
                            <a:rPr lang="en-US" sz="2000" b="0" i="1" smtClean="0">
                              <a:latin typeface="Cambria Math" panose="02040503050406030204" pitchFamily="18" charset="0"/>
                            </a:rPr>
                            <m:t>−6</m:t>
                          </m:r>
                          <m:r>
                            <a:rPr lang="en-US" sz="2000" b="0" i="1" smtClean="0">
                              <a:latin typeface="Cambria Math" panose="02040503050406030204" pitchFamily="18" charset="0"/>
                            </a:rPr>
                            <m:t>𝑐</m:t>
                          </m:r>
                          <m:r>
                            <a:rPr lang="en-US" sz="2000" b="0" i="1" smtClean="0">
                              <a:latin typeface="Cambria Math" panose="02040503050406030204" pitchFamily="18" charset="0"/>
                            </a:rPr>
                            <m:t>+3</m:t>
                          </m:r>
                          <m:r>
                            <a:rPr lang="en-US" sz="2000" b="0" i="1" smtClean="0">
                              <a:latin typeface="Cambria Math" panose="02040503050406030204" pitchFamily="18" charset="0"/>
                            </a:rPr>
                            <m:t>𝑟</m:t>
                          </m:r>
                        </m:num>
                        <m:den>
                          <m:r>
                            <a:rPr lang="en-US" sz="2000" b="0" i="1" smtClean="0">
                              <a:latin typeface="Cambria Math" panose="02040503050406030204" pitchFamily="18" charset="0"/>
                            </a:rPr>
                            <m:t>6</m:t>
                          </m:r>
                        </m:den>
                      </m:f>
                      <m:r>
                        <a:rPr lang="en-US" sz="2000" b="0" i="0" smtClean="0">
                          <a:latin typeface="Cambria Math" panose="02040503050406030204" pitchFamily="18" charset="0"/>
                        </a:rPr>
                        <m:t>        </m:t>
                      </m:r>
                    </m:oMath>
                  </m:oMathPara>
                </a14:m>
                <a:endParaRPr lang="en-US" sz="2000" b="0" i="0" dirty="0">
                  <a:latin typeface="Cambria Math" panose="02040503050406030204" pitchFamily="18" charset="0"/>
                </a:endParaRPr>
              </a:p>
              <a:p>
                <a:pPr marL="0" indent="0">
                  <a:buNone/>
                </a:pPr>
                <a:endParaRPr lang="en-US" sz="2000" b="0" i="0" dirty="0">
                  <a:latin typeface="Cambria Math" panose="02040503050406030204" pitchFamily="18" charset="0"/>
                </a:endParaRPr>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US" sz="2000" b="0" i="1" smtClean="0">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3(2</m:t>
                        </m:r>
                        <m:r>
                          <a:rPr lang="en-US" sz="2000" b="0" i="1" smtClean="0">
                            <a:solidFill>
                              <a:srgbClr val="FF0000"/>
                            </a:solidFill>
                            <a:latin typeface="Cambria Math" panose="02040503050406030204" pitchFamily="18" charset="0"/>
                          </a:rPr>
                          <m:t>𝑎</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𝑏</m:t>
                        </m:r>
                        <m:r>
                          <a:rPr lang="en-US" sz="2000" b="0" i="1" smtClean="0">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𝑐</m:t>
                        </m:r>
                        <m:r>
                          <a:rPr lang="en-US" sz="2000" b="0" i="1" smtClean="0">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𝑟</m:t>
                        </m:r>
                        <m:r>
                          <a:rPr lang="en-US" sz="2000" b="0" i="1" smtClean="0">
                            <a:solidFill>
                              <a:srgbClr val="FF0000"/>
                            </a:solidFill>
                            <a:latin typeface="Cambria Math" panose="02040503050406030204" pitchFamily="18" charset="0"/>
                          </a:rPr>
                          <m:t>)</m:t>
                        </m:r>
                      </m:num>
                      <m:den>
                        <m:r>
                          <a:rPr lang="en-US" sz="2000" b="0" i="1" smtClean="0">
                            <a:solidFill>
                              <a:srgbClr val="FF0000"/>
                            </a:solidFill>
                            <a:latin typeface="Cambria Math" panose="02040503050406030204" pitchFamily="18" charset="0"/>
                          </a:rPr>
                          <m:t>6</m:t>
                        </m:r>
                      </m:den>
                    </m:f>
                    <m:r>
                      <a:rPr lang="en-US" sz="2000" b="0" i="1" smtClean="0">
                        <a:solidFill>
                          <a:srgbClr val="FF0000"/>
                        </a:solidFill>
                        <a:latin typeface="Cambria Math" panose="02040503050406030204" pitchFamily="18" charset="0"/>
                      </a:rPr>
                      <m:t>=</m:t>
                    </m:r>
                  </m:oMath>
                </a14:m>
                <a:r>
                  <a:rPr lang="en-US" sz="2000" dirty="0">
                    <a:solidFill>
                      <a:srgbClr val="FF0000"/>
                    </a:solidFill>
                  </a:rPr>
                  <a:t> </a:t>
                </a:r>
                <a14:m>
                  <m:oMath xmlns:m="http://schemas.openxmlformats.org/officeDocument/2006/math">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𝑎</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𝑏</m:t>
                        </m:r>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𝑐</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𝑟</m:t>
                        </m:r>
                      </m:num>
                      <m:den>
                        <m:r>
                          <a:rPr lang="en-US" sz="2000" b="0" i="1" smtClean="0">
                            <a:solidFill>
                              <a:srgbClr val="FF0000"/>
                            </a:solidFill>
                            <a:latin typeface="Cambria Math" panose="02040503050406030204" pitchFamily="18" charset="0"/>
                          </a:rPr>
                          <m:t>2</m:t>
                        </m:r>
                      </m:den>
                    </m:f>
                  </m:oMath>
                </a14:m>
                <a:endParaRPr lang="en-US" sz="2000" dirty="0">
                  <a:solidFill>
                    <a:srgbClr val="FF0000"/>
                  </a:solidFill>
                </a:endParaRPr>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600200"/>
                <a:ext cx="8610600" cy="4572000"/>
              </a:xfrm>
              <a:blipFill>
                <a:blip r:embed="rId2"/>
                <a:stretch>
                  <a:fillRect l="-708" t="-1333"/>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0BE61098-8EC7-4014-9AAB-F0C0A8F39D10}"/>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22991313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905000"/>
                <a:ext cx="8229600" cy="4572000"/>
              </a:xfrm>
            </p:spPr>
            <p:style>
              <a:lnRef idx="2">
                <a:schemeClr val="accent1"/>
              </a:lnRef>
              <a:fillRef idx="1">
                <a:schemeClr val="lt1"/>
              </a:fillRef>
              <a:effectRef idx="0">
                <a:schemeClr val="accent1"/>
              </a:effectRef>
              <a:fontRef idx="minor">
                <a:schemeClr val="dk1"/>
              </a:fontRef>
            </p:style>
            <p:txBody>
              <a:bodyPr>
                <a:normAutofit fontScale="92500"/>
              </a:bodyPr>
              <a:lstStyle/>
              <a:p>
                <a:pPr marL="0" indent="0">
                  <a:buNone/>
                </a:pPr>
                <a:r>
                  <a:rPr lang="en-US" sz="2000" dirty="0"/>
                  <a:t>Step 5:  The values of the coefficients are:</a:t>
                </a:r>
                <a14:m>
                  <m:oMath xmlns:m="http://schemas.openxmlformats.org/officeDocument/2006/math">
                    <m:sSub>
                      <m:sSubPr>
                        <m:ctrlPr>
                          <a:rPr lang="en-PH" sz="2000" i="1" smtClean="0">
                            <a:solidFill>
                              <a:srgbClr val="FF0000"/>
                            </a:solidFill>
                            <a:latin typeface="Cambria Math" panose="02040503050406030204" pitchFamily="18" charset="0"/>
                          </a:rPr>
                        </m:ctrlPr>
                      </m:sSubPr>
                      <m:e>
                        <m:r>
                          <a:rPr lang="en-PH" sz="2000" i="1">
                            <a:solidFill>
                              <a:srgbClr val="FF0000"/>
                            </a:solidFill>
                            <a:latin typeface="Cambria Math"/>
                          </a:rPr>
                          <m:t>𝑐</m:t>
                        </m:r>
                      </m:e>
                      <m:sub>
                        <m:r>
                          <a:rPr lang="en-PH" sz="2000" i="1">
                            <a:solidFill>
                              <a:srgbClr val="FF0000"/>
                            </a:solidFill>
                            <a:latin typeface="Cambria Math"/>
                          </a:rPr>
                          <m:t>1</m:t>
                        </m:r>
                      </m:sub>
                    </m:sSub>
                    <m:r>
                      <a:rPr lang="en-US" sz="2000" b="0" i="1" smtClean="0">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𝑎</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𝑏</m:t>
                        </m:r>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𝑐</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𝑟</m:t>
                        </m:r>
                      </m:num>
                      <m:den>
                        <m:r>
                          <a:rPr lang="en-US" sz="2000" i="1">
                            <a:solidFill>
                              <a:srgbClr val="FF0000"/>
                            </a:solidFill>
                            <a:latin typeface="Cambria Math" panose="02040503050406030204" pitchFamily="18" charset="0"/>
                          </a:rPr>
                          <m:t>2</m:t>
                        </m:r>
                      </m:den>
                    </m:f>
                  </m:oMath>
                </a14:m>
                <a:r>
                  <a:rPr lang="en-US" sz="2000" dirty="0"/>
                  <a:t>;  </a:t>
                </a:r>
                <a14:m>
                  <m:oMath xmlns:m="http://schemas.openxmlformats.org/officeDocument/2006/math">
                    <m:sSub>
                      <m:sSubPr>
                        <m:ctrlPr>
                          <a:rPr lang="en-PH" sz="2000" i="1" smtClean="0">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2</m:t>
                        </m:r>
                      </m:sub>
                    </m:sSub>
                    <m:r>
                      <a:rPr lang="en-US" sz="2000" b="0" i="1" smtClean="0">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𝑏</m:t>
                        </m:r>
                        <m:r>
                          <a:rPr lang="en-US" sz="2000" i="1">
                            <a:solidFill>
                              <a:srgbClr val="FF0000"/>
                            </a:solidFill>
                            <a:latin typeface="Cambria Math" panose="02040503050406030204" pitchFamily="18" charset="0"/>
                          </a:rPr>
                          <m:t>−4</m:t>
                        </m:r>
                        <m:r>
                          <a:rPr lang="en-US" sz="2000" b="0" i="1" smtClean="0">
                            <a:solidFill>
                              <a:srgbClr val="FF0000"/>
                            </a:solidFill>
                            <a:latin typeface="Cambria Math" panose="02040503050406030204" pitchFamily="18" charset="0"/>
                          </a:rPr>
                          <m:t>𝑐</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𝑟</m:t>
                        </m:r>
                      </m:num>
                      <m:den>
                        <m:r>
                          <a:rPr lang="en-US" sz="2000" i="1">
                            <a:solidFill>
                              <a:srgbClr val="FF0000"/>
                            </a:solidFill>
                            <a:latin typeface="Cambria Math" panose="02040503050406030204" pitchFamily="18" charset="0"/>
                          </a:rPr>
                          <m:t>6</m:t>
                        </m:r>
                      </m:den>
                    </m:f>
                  </m:oMath>
                </a14:m>
                <a:r>
                  <a:rPr lang="en-US" sz="2000" dirty="0"/>
                  <a:t>; </a:t>
                </a:r>
                <a14:m>
                  <m:oMath xmlns:m="http://schemas.openxmlformats.org/officeDocument/2006/math">
                    <m:r>
                      <a:rPr lang="en-US" sz="2000" b="0" i="0" smtClean="0">
                        <a:latin typeface="Cambria Math" panose="02040503050406030204" pitchFamily="18" charset="0"/>
                      </a:rPr>
                      <m:t>           </m:t>
                    </m:r>
                  </m:oMath>
                </a14:m>
                <a:endParaRPr lang="en-US" sz="2000" b="0" i="0" dirty="0">
                  <a:latin typeface="Cambria Math" panose="02040503050406030204" pitchFamily="18" charset="0"/>
                </a:endParaRPr>
              </a:p>
              <a:p>
                <a:pPr marL="0" indent="0">
                  <a:buNone/>
                </a:pPr>
                <a14:m>
                  <m:oMath xmlns:m="http://schemas.openxmlformats.org/officeDocument/2006/math">
                    <m:sSub>
                      <m:sSubPr>
                        <m:ctrlPr>
                          <a:rPr lang="en-PH" sz="2000" i="1">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3</m:t>
                        </m:r>
                      </m:sub>
                    </m:sSub>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𝑏</m:t>
                        </m:r>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𝑐</m:t>
                        </m:r>
                        <m:r>
                          <a:rPr lang="en-US" sz="2000" i="1">
                            <a:solidFill>
                              <a:srgbClr val="FF0000"/>
                            </a:solidFill>
                            <a:latin typeface="Cambria Math" panose="02040503050406030204" pitchFamily="18" charset="0"/>
                          </a:rPr>
                          <m:t>−</m:t>
                        </m:r>
                        <m:r>
                          <a:rPr lang="en-US" sz="2000" i="1">
                            <a:solidFill>
                              <a:srgbClr val="FF0000"/>
                            </a:solidFill>
                            <a:latin typeface="Cambria Math" panose="02040503050406030204" pitchFamily="18" charset="0"/>
                          </a:rPr>
                          <m:t>𝑟</m:t>
                        </m:r>
                      </m:num>
                      <m:den>
                        <m:r>
                          <a:rPr lang="en-US" sz="2000" i="1">
                            <a:solidFill>
                              <a:srgbClr val="FF0000"/>
                            </a:solidFill>
                            <a:latin typeface="Cambria Math" panose="02040503050406030204" pitchFamily="18" charset="0"/>
                          </a:rPr>
                          <m:t>6</m:t>
                        </m:r>
                      </m:den>
                    </m:f>
                  </m:oMath>
                </a14:m>
                <a:r>
                  <a:rPr lang="en-US" sz="2000" dirty="0"/>
                  <a:t>and  </a:t>
                </a:r>
                <a14:m>
                  <m:oMath xmlns:m="http://schemas.openxmlformats.org/officeDocument/2006/math">
                    <m:sSub>
                      <m:sSubPr>
                        <m:ctrlPr>
                          <a:rPr lang="en-PH" sz="2000" i="1">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4</m:t>
                        </m:r>
                      </m:sub>
                    </m:sSub>
                    <m:r>
                      <a:rPr lang="en-US" sz="2000" i="1" dirty="0" smtClean="0">
                        <a:solidFill>
                          <a:srgbClr val="FF0000"/>
                        </a:solidFill>
                        <a:latin typeface="Cambria Math" panose="02040503050406030204" pitchFamily="18" charset="0"/>
                      </a:rPr>
                      <m:t>=</m:t>
                    </m:r>
                    <m:r>
                      <a:rPr lang="en-US" sz="2000" b="0" i="1" dirty="0" smtClean="0">
                        <a:solidFill>
                          <a:srgbClr val="FF0000"/>
                        </a:solidFill>
                        <a:latin typeface="Cambria Math" panose="02040503050406030204" pitchFamily="18" charset="0"/>
                      </a:rPr>
                      <m:t>𝑟</m:t>
                    </m:r>
                  </m:oMath>
                </a14:m>
                <a:r>
                  <a:rPr lang="en-US" sz="2000" dirty="0"/>
                  <a:t> , therefore </a:t>
                </a:r>
                <a14:m>
                  <m:oMath xmlns:m="http://schemas.openxmlformats.org/officeDocument/2006/math">
                    <m:d>
                      <m:dPr>
                        <m:begChr m:val="{"/>
                        <m:endChr m:val="}"/>
                        <m:ctrlPr>
                          <a:rPr lang="en-US" sz="2000" b="0"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𝐯</m:t>
                            </m:r>
                          </m:e>
                          <m:sub>
                            <m:r>
                              <a:rPr lang="en-US" sz="2000" b="1" i="0" smtClean="0">
                                <a:latin typeface="Cambria Math" panose="02040503050406030204" pitchFamily="18" charset="0"/>
                              </a:rPr>
                              <m:t>𝟏</m:t>
                            </m:r>
                          </m:sub>
                        </m:sSub>
                        <m:r>
                          <a:rPr lang="en-US" sz="2000" b="1" i="0"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𝐯</m:t>
                            </m:r>
                          </m:e>
                          <m:sub>
                            <m:r>
                              <a:rPr lang="en-US" sz="2000" b="1" i="0" smtClean="0">
                                <a:latin typeface="Cambria Math" panose="02040503050406030204" pitchFamily="18" charset="0"/>
                              </a:rPr>
                              <m:t>𝟐</m:t>
                            </m:r>
                          </m:sub>
                        </m:sSub>
                        <m:r>
                          <a:rPr lang="en-US" sz="2000" b="1" i="0"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𝐯</m:t>
                            </m:r>
                          </m:e>
                          <m:sub>
                            <m:r>
                              <a:rPr lang="en-US" sz="2000" b="1" i="0" smtClean="0">
                                <a:latin typeface="Cambria Math" panose="02040503050406030204" pitchFamily="18" charset="0"/>
                              </a:rPr>
                              <m:t>𝟑</m:t>
                            </m:r>
                          </m:sub>
                        </m:sSub>
                        <m:r>
                          <a:rPr lang="en-US" sz="2000" b="1" i="0"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𝐯</m:t>
                            </m:r>
                          </m:e>
                          <m:sub>
                            <m:r>
                              <a:rPr lang="en-US" sz="2000" b="1" i="0" smtClean="0">
                                <a:latin typeface="Cambria Math" panose="02040503050406030204" pitchFamily="18" charset="0"/>
                              </a:rPr>
                              <m:t>𝟒</m:t>
                            </m:r>
                          </m:sub>
                        </m:sSub>
                      </m:e>
                    </m:d>
                    <m:r>
                      <a:rPr lang="en-US" sz="2000" b="0" i="1" smtClean="0">
                        <a:latin typeface="Cambria Math" panose="02040503050406030204" pitchFamily="18" charset="0"/>
                      </a:rPr>
                      <m:t>𝑠𝑝𝑎𝑛𝑠</m:t>
                    </m:r>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3</m:t>
                        </m:r>
                      </m:sup>
                    </m:sSup>
                  </m:oMath>
                </a14:m>
                <a:endParaRPr lang="en-US" sz="2000" b="1" dirty="0"/>
              </a:p>
              <a:p>
                <a:pPr marL="0" indent="0">
                  <a:buNone/>
                </a:pPr>
                <a:endParaRPr lang="en-US" sz="2000" b="1" dirty="0"/>
              </a:p>
              <a:p>
                <a:pPr marL="0" indent="0">
                  <a:buNone/>
                </a:pPr>
                <a:r>
                  <a:rPr lang="en-US" sz="2000" dirty="0"/>
                  <a:t>To Check: Let vector </a:t>
                </a:r>
                <a14:m>
                  <m:oMath xmlns:m="http://schemas.openxmlformats.org/officeDocument/2006/math">
                    <m:r>
                      <a:rPr lang="en-US" sz="2000" b="1" i="0" smtClean="0">
                        <a:latin typeface="Cambria Math" panose="02040503050406030204" pitchFamily="18" charset="0"/>
                        <a:sym typeface="Wingdings" panose="05000000000000000000" pitchFamily="2" charset="2"/>
                      </a:rPr>
                      <m:t>𝐯</m:t>
                    </m:r>
                  </m:oMath>
                </a14:m>
                <a:r>
                  <a:rPr lang="en-US" sz="2000" dirty="0">
                    <a:sym typeface="Wingdings" panose="05000000000000000000" pitchFamily="2" charset="2"/>
                  </a:rPr>
                  <a:t> =</a:t>
                </a:r>
                <a14:m>
                  <m:oMath xmlns:m="http://schemas.openxmlformats.org/officeDocument/2006/math">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3</m:t>
                              </m:r>
                            </m:e>
                          </m:mr>
                        </m:m>
                      </m:e>
                    </m:d>
                  </m:oMath>
                </a14:m>
                <a:r>
                  <a:rPr lang="en-US" sz="2000" dirty="0"/>
                  <a:t>  and r=4, thus</a:t>
                </a:r>
                <a14:m>
                  <m:oMath xmlns:m="http://schemas.openxmlformats.org/officeDocument/2006/math">
                    <m:sSub>
                      <m:sSubPr>
                        <m:ctrlPr>
                          <a:rPr lang="en-PH" sz="2000" i="1">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 </m:t>
                        </m:r>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1</m:t>
                        </m:r>
                      </m:sub>
                    </m:sSub>
                    <m:r>
                      <a:rPr lang="en-US" i="1">
                        <a:solidFill>
                          <a:srgbClr val="FF0000"/>
                        </a:solidFill>
                        <a:latin typeface="Cambria Math" panose="02040503050406030204" pitchFamily="18" charset="0"/>
                      </a:rPr>
                      <m:t>=</m:t>
                    </m:r>
                    <m:f>
                      <m:fPr>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2</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r>
                          <a:rPr lang="en-US" b="0" i="1" smtClean="0">
                            <a:solidFill>
                              <a:srgbClr val="FF0000"/>
                            </a:solidFill>
                            <a:latin typeface="Cambria Math" panose="02040503050406030204" pitchFamily="18" charset="0"/>
                          </a:rPr>
                          <m:t>−2</m:t>
                        </m:r>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2</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3</m:t>
                            </m:r>
                          </m:e>
                        </m:d>
                        <m:r>
                          <a:rPr lang="en-US" b="0" i="1" smtClean="0">
                            <a:solidFill>
                              <a:srgbClr val="FF0000"/>
                            </a:solidFill>
                            <a:latin typeface="Cambria Math" panose="02040503050406030204" pitchFamily="18" charset="0"/>
                          </a:rPr>
                          <m:t>+4</m:t>
                        </m:r>
                      </m:num>
                      <m:den>
                        <m:r>
                          <a:rPr lang="en-US" i="1">
                            <a:solidFill>
                              <a:srgbClr val="FF0000"/>
                            </a:solidFill>
                            <a:latin typeface="Cambria Math" panose="02040503050406030204" pitchFamily="18" charset="0"/>
                          </a:rPr>
                          <m:t>2</m:t>
                        </m:r>
                      </m:den>
                    </m:f>
                    <m:r>
                      <a:rPr lang="en-US" b="0" i="1" smtClean="0">
                        <a:solidFill>
                          <a:srgbClr val="FF0000"/>
                        </a:solidFill>
                        <a:latin typeface="Cambria Math" panose="02040503050406030204" pitchFamily="18" charset="0"/>
                      </a:rPr>
                      <m:t>=−1</m:t>
                    </m:r>
                  </m:oMath>
                </a14:m>
                <a:r>
                  <a:rPr lang="en-US" sz="2000" dirty="0"/>
                  <a:t>;           </a:t>
                </a:r>
              </a:p>
              <a:p>
                <a:pPr marL="0" indent="0">
                  <a:buNone/>
                </a:pPr>
                <a14:m>
                  <m:oMath xmlns:m="http://schemas.openxmlformats.org/officeDocument/2006/math">
                    <m:sSub>
                      <m:sSubPr>
                        <m:ctrlPr>
                          <a:rPr lang="en-PH" sz="2000" i="1">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i="1">
                            <a:solidFill>
                              <a:srgbClr val="FF0000"/>
                            </a:solidFill>
                            <a:latin typeface="Cambria Math" panose="02040503050406030204" pitchFamily="18" charset="0"/>
                          </a:rPr>
                          <m:t>2</m:t>
                        </m:r>
                      </m:sub>
                    </m:sSub>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2</m:t>
                        </m:r>
                        <m:r>
                          <a:rPr lang="en-US" sz="2000" i="1">
                            <a:solidFill>
                              <a:srgbClr val="FF0000"/>
                            </a:solidFill>
                            <a:latin typeface="Cambria Math" panose="02040503050406030204" pitchFamily="18" charset="0"/>
                          </a:rPr>
                          <m:t>−4</m:t>
                        </m:r>
                        <m:r>
                          <a:rPr lang="en-US" sz="2000" b="0" i="1" smtClean="0">
                            <a:solidFill>
                              <a:srgbClr val="FF0000"/>
                            </a:solidFill>
                            <a:latin typeface="Cambria Math" panose="02040503050406030204" pitchFamily="18" charset="0"/>
                          </a:rPr>
                          <m:t>(3)</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4</m:t>
                        </m:r>
                      </m:num>
                      <m:den>
                        <m:r>
                          <a:rPr lang="en-US" sz="2000" i="1">
                            <a:solidFill>
                              <a:srgbClr val="FF0000"/>
                            </a:solidFill>
                            <a:latin typeface="Cambria Math" panose="02040503050406030204" pitchFamily="18" charset="0"/>
                          </a:rPr>
                          <m:t>6</m:t>
                        </m:r>
                      </m:den>
                    </m:f>
                    <m:r>
                      <a:rPr lang="en-US" sz="2000" b="0" i="0"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−14</m:t>
                        </m:r>
                      </m:num>
                      <m:den>
                        <m:r>
                          <a:rPr lang="en-US" sz="2000" b="0" i="1" smtClean="0">
                            <a:solidFill>
                              <a:srgbClr val="FF0000"/>
                            </a:solidFill>
                            <a:latin typeface="Cambria Math" panose="02040503050406030204" pitchFamily="18" charset="0"/>
                          </a:rPr>
                          <m:t>6</m:t>
                        </m:r>
                      </m:den>
                    </m:f>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−7</m:t>
                        </m:r>
                      </m:num>
                      <m:den>
                        <m:r>
                          <a:rPr lang="en-US" sz="2000" b="0" i="1" smtClean="0">
                            <a:solidFill>
                              <a:srgbClr val="FF0000"/>
                            </a:solidFill>
                            <a:latin typeface="Cambria Math" panose="02040503050406030204" pitchFamily="18" charset="0"/>
                          </a:rPr>
                          <m:t>3</m:t>
                        </m:r>
                      </m:den>
                    </m:f>
                  </m:oMath>
                </a14:m>
                <a:r>
                  <a:rPr lang="en-US" sz="2000" dirty="0"/>
                  <a:t> ;</a:t>
                </a:r>
                <a14:m>
                  <m:oMath xmlns:m="http://schemas.openxmlformats.org/officeDocument/2006/math">
                    <m:sSub>
                      <m:sSubPr>
                        <m:ctrlPr>
                          <a:rPr lang="en-PH" sz="2000" i="1">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3</m:t>
                        </m:r>
                      </m:sub>
                    </m:sSub>
                    <m:r>
                      <a:rPr lang="en-US" sz="2000" i="1">
                        <a:solidFill>
                          <a:srgbClr val="FF0000"/>
                        </a:solidFill>
                        <a:latin typeface="Cambria Math" panose="02040503050406030204" pitchFamily="18" charset="0"/>
                      </a:rPr>
                      <m:t>=</m:t>
                    </m:r>
                    <m:f>
                      <m:fPr>
                        <m:ctrlPr>
                          <a:rPr lang="en-US" sz="2000" i="1">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2</m:t>
                        </m:r>
                        <m:r>
                          <a:rPr lang="en-US" sz="2000" i="1">
                            <a:solidFill>
                              <a:srgbClr val="FF0000"/>
                            </a:solidFill>
                            <a:latin typeface="Cambria Math" panose="02040503050406030204" pitchFamily="18" charset="0"/>
                          </a:rPr>
                          <m:t>+2</m:t>
                        </m:r>
                        <m:r>
                          <a:rPr lang="en-US" sz="2000" b="0" i="1" smtClean="0">
                            <a:solidFill>
                              <a:srgbClr val="FF0000"/>
                            </a:solidFill>
                            <a:latin typeface="Cambria Math" panose="02040503050406030204" pitchFamily="18" charset="0"/>
                          </a:rPr>
                          <m:t>(3)</m:t>
                        </m:r>
                        <m:r>
                          <a:rPr lang="en-US" sz="2000" i="1">
                            <a:solidFill>
                              <a:srgbClr val="FF0000"/>
                            </a:solidFill>
                            <a:latin typeface="Cambria Math" panose="02040503050406030204" pitchFamily="18" charset="0"/>
                          </a:rPr>
                          <m:t>−</m:t>
                        </m:r>
                        <m:r>
                          <a:rPr lang="en-US" sz="2000" b="0" i="1" smtClean="0">
                            <a:solidFill>
                              <a:srgbClr val="FF0000"/>
                            </a:solidFill>
                            <a:latin typeface="Cambria Math" panose="02040503050406030204" pitchFamily="18" charset="0"/>
                          </a:rPr>
                          <m:t>4</m:t>
                        </m:r>
                      </m:num>
                      <m:den>
                        <m:r>
                          <a:rPr lang="en-US" sz="2000" i="1">
                            <a:solidFill>
                              <a:srgbClr val="FF0000"/>
                            </a:solidFill>
                            <a:latin typeface="Cambria Math" panose="02040503050406030204" pitchFamily="18" charset="0"/>
                          </a:rPr>
                          <m:t>6</m:t>
                        </m:r>
                      </m:den>
                    </m:f>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4</m:t>
                        </m:r>
                      </m:num>
                      <m:den>
                        <m:r>
                          <a:rPr lang="en-US" sz="2000" b="0" i="1" smtClean="0">
                            <a:solidFill>
                              <a:srgbClr val="FF0000"/>
                            </a:solidFill>
                            <a:latin typeface="Cambria Math" panose="02040503050406030204" pitchFamily="18" charset="0"/>
                          </a:rPr>
                          <m:t>6</m:t>
                        </m:r>
                      </m:den>
                    </m:f>
                    <m:r>
                      <a:rPr lang="en-US" sz="2000" b="0" i="1" smtClean="0">
                        <a:solidFill>
                          <a:srgbClr val="FF0000"/>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2</m:t>
                        </m:r>
                      </m:num>
                      <m:den>
                        <m:r>
                          <a:rPr lang="en-US" sz="2000" b="0" i="1" smtClean="0">
                            <a:solidFill>
                              <a:srgbClr val="FF0000"/>
                            </a:solidFill>
                            <a:latin typeface="Cambria Math" panose="02040503050406030204" pitchFamily="18" charset="0"/>
                          </a:rPr>
                          <m:t>3</m:t>
                        </m:r>
                      </m:den>
                    </m:f>
                  </m:oMath>
                </a14:m>
                <a:r>
                  <a:rPr lang="en-US" sz="2000" dirty="0"/>
                  <a:t> ; and </a:t>
                </a:r>
                <a14:m>
                  <m:oMath xmlns:m="http://schemas.openxmlformats.org/officeDocument/2006/math">
                    <m:sSub>
                      <m:sSubPr>
                        <m:ctrlPr>
                          <a:rPr lang="en-PH" sz="2000" i="1">
                            <a:solidFill>
                              <a:srgbClr val="FF0000"/>
                            </a:solidFill>
                            <a:latin typeface="Cambria Math" panose="02040503050406030204" pitchFamily="18" charset="0"/>
                          </a:rPr>
                        </m:ctrlPr>
                      </m:sSubPr>
                      <m:e>
                        <m:r>
                          <a:rPr lang="en-PH" sz="2000" i="1">
                            <a:solidFill>
                              <a:srgbClr val="FF0000"/>
                            </a:solidFill>
                            <a:latin typeface="Cambria Math"/>
                          </a:rPr>
                          <m:t>𝑐</m:t>
                        </m:r>
                      </m:e>
                      <m:sub>
                        <m:r>
                          <a:rPr lang="en-US" sz="2000" b="0" i="1" smtClean="0">
                            <a:solidFill>
                              <a:srgbClr val="FF0000"/>
                            </a:solidFill>
                            <a:latin typeface="Cambria Math" panose="02040503050406030204" pitchFamily="18" charset="0"/>
                          </a:rPr>
                          <m:t>4</m:t>
                        </m:r>
                      </m:sub>
                    </m:sSub>
                    <m:r>
                      <a:rPr lang="en-US" sz="2000" b="0" i="1" smtClean="0">
                        <a:solidFill>
                          <a:srgbClr val="FF0000"/>
                        </a:solidFill>
                        <a:latin typeface="Cambria Math" panose="02040503050406030204" pitchFamily="18" charset="0"/>
                      </a:rPr>
                      <m:t>=4</m:t>
                    </m:r>
                  </m:oMath>
                </a14:m>
                <a:endParaRPr lang="en-US" sz="2000" dirty="0"/>
              </a:p>
              <a:p>
                <a:pPr marL="0" indent="0">
                  <a:buNone/>
                </a:pPr>
                <a:endParaRPr lang="en-US" sz="2000" dirty="0"/>
              </a:p>
              <a:p>
                <a:pPr marL="0" indent="0">
                  <a:buNone/>
                </a:pPr>
                <a14:m>
                  <m:oMath xmlns:m="http://schemas.openxmlformats.org/officeDocument/2006/math">
                    <m:r>
                      <a:rPr lang="en-US" sz="2000" i="1">
                        <a:latin typeface="Cambria Math" panose="02040503050406030204" pitchFamily="18" charset="0"/>
                        <a:sym typeface="Wingdings" panose="05000000000000000000" pitchFamily="2" charset="2"/>
                      </a:rPr>
                      <m:t>	</m:t>
                    </m:r>
                    <m:r>
                      <a:rPr lang="en-US" sz="2000" b="0" i="1" smtClean="0">
                        <a:latin typeface="Cambria Math" panose="02040503050406030204" pitchFamily="18" charset="0"/>
                        <a:sym typeface="Wingdings" panose="05000000000000000000" pitchFamily="2" charset="2"/>
                      </a:rPr>
                      <m:t>−1</m:t>
                    </m:r>
                  </m:oMath>
                </a14:m>
                <a:r>
                  <a:rPr lang="en-US" sz="2000" dirty="0">
                    <a:sym typeface="Wingdings" panose="05000000000000000000" pitchFamily="2" charset="2"/>
                  </a:rPr>
                  <a:t> </a:t>
                </a:r>
                <a14:m>
                  <m:oMath xmlns:m="http://schemas.openxmlformats.org/officeDocument/2006/math">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0</m:t>
                              </m:r>
                            </m:e>
                          </m:mr>
                        </m:m>
                      </m:e>
                    </m:d>
                    <m:r>
                      <a:rPr lang="en-US" sz="2000" b="0" i="0" smtClean="0">
                        <a:latin typeface="Cambria Math" panose="02040503050406030204" pitchFamily="18" charset="0"/>
                        <a:sym typeface="Wingdings" panose="05000000000000000000" pitchFamily="2" charset="2"/>
                      </a:rPr>
                      <m:t>+</m:t>
                    </m:r>
                    <m:f>
                      <m:fPr>
                        <m:ctrlPr>
                          <a:rPr lang="en-US" sz="2000" b="0" i="1" smtClean="0">
                            <a:latin typeface="Cambria Math" panose="02040503050406030204" pitchFamily="18" charset="0"/>
                            <a:sym typeface="Wingdings" panose="05000000000000000000" pitchFamily="2" charset="2"/>
                          </a:rPr>
                        </m:ctrlPr>
                      </m:fPr>
                      <m:num>
                        <m:r>
                          <a:rPr lang="en-US" sz="2000" b="0" i="1" smtClean="0">
                            <a:latin typeface="Cambria Math" panose="02040503050406030204" pitchFamily="18" charset="0"/>
                            <a:sym typeface="Wingdings" panose="05000000000000000000" pitchFamily="2" charset="2"/>
                          </a:rPr>
                          <m:t>−7</m:t>
                        </m:r>
                      </m:num>
                      <m:den>
                        <m:r>
                          <a:rPr lang="en-US" sz="2000" b="0" i="1" smtClean="0">
                            <a:latin typeface="Cambria Math" panose="02040503050406030204" pitchFamily="18" charset="0"/>
                            <a:sym typeface="Wingdings" panose="05000000000000000000" pitchFamily="2" charset="2"/>
                          </a:rPr>
                          <m:t>3</m:t>
                        </m:r>
                      </m:den>
                    </m:f>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−1</m:t>
                              </m:r>
                            </m:e>
                          </m:mr>
                        </m:m>
                      </m:e>
                    </m:d>
                    <m:r>
                      <a:rPr lang="en-US" sz="2000" b="0" i="1" smtClean="0">
                        <a:latin typeface="Cambria Math" panose="02040503050406030204" pitchFamily="18" charset="0"/>
                        <a:sym typeface="Wingdings" panose="05000000000000000000" pitchFamily="2" charset="2"/>
                      </a:rPr>
                      <m:t>+</m:t>
                    </m:r>
                    <m:f>
                      <m:fPr>
                        <m:ctrlPr>
                          <a:rPr lang="en-US" sz="2000" b="0" i="1" smtClean="0">
                            <a:latin typeface="Cambria Math" panose="02040503050406030204" pitchFamily="18" charset="0"/>
                            <a:sym typeface="Wingdings" panose="05000000000000000000" pitchFamily="2" charset="2"/>
                          </a:rPr>
                        </m:ctrlPr>
                      </m:fPr>
                      <m:num>
                        <m:r>
                          <a:rPr lang="en-US" sz="2000" b="0" i="1" smtClean="0">
                            <a:latin typeface="Cambria Math" panose="02040503050406030204" pitchFamily="18" charset="0"/>
                            <a:sym typeface="Wingdings" panose="05000000000000000000" pitchFamily="2" charset="2"/>
                          </a:rPr>
                          <m:t>2</m:t>
                        </m:r>
                      </m:num>
                      <m:den>
                        <m:r>
                          <a:rPr lang="en-US" sz="2000" b="0" i="1" smtClean="0">
                            <a:latin typeface="Cambria Math" panose="02040503050406030204" pitchFamily="18" charset="0"/>
                            <a:sym typeface="Wingdings" panose="05000000000000000000" pitchFamily="2" charset="2"/>
                          </a:rPr>
                          <m:t>3</m:t>
                        </m:r>
                      </m:den>
                    </m:f>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3</m:t>
                              </m:r>
                            </m:e>
                          </m:mr>
                          <m:mr>
                            <m:e>
                              <m:r>
                                <a:rPr lang="en-US" sz="2000" b="0" i="1" smtClean="0">
                                  <a:latin typeface="Cambria Math" panose="02040503050406030204" pitchFamily="18" charset="0"/>
                                  <a:sym typeface="Wingdings" panose="05000000000000000000" pitchFamily="2" charset="2"/>
                                </a:rPr>
                                <m:t>4</m:t>
                              </m:r>
                            </m:e>
                          </m:mr>
                          <m:mr>
                            <m:e>
                              <m:r>
                                <a:rPr lang="en-US" sz="2000" b="0" i="1" smtClean="0">
                                  <a:latin typeface="Cambria Math" panose="02040503050406030204" pitchFamily="18" charset="0"/>
                                  <a:sym typeface="Wingdings" panose="05000000000000000000" pitchFamily="2" charset="2"/>
                                </a:rPr>
                                <m:t>1</m:t>
                              </m:r>
                            </m:e>
                          </m:mr>
                        </m:m>
                      </m:e>
                    </m:d>
                    <m:r>
                      <a:rPr lang="en-US" sz="2000" i="1">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4</m:t>
                    </m:r>
                    <m:r>
                      <m:rPr>
                        <m:nor/>
                      </m:rPr>
                      <a:rPr lang="en-US" sz="2000" dirty="0">
                        <a:sym typeface="Wingdings" panose="05000000000000000000" pitchFamily="2" charset="2"/>
                      </a:rPr>
                      <m:t> </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0</m:t>
                              </m:r>
                            </m:e>
                          </m:mr>
                        </m:m>
                      </m:e>
                    </m:d>
                    <m:r>
                      <a:rPr lang="en-US" sz="2000" b="0" i="1" smtClean="0">
                        <a:latin typeface="Cambria Math" panose="02040503050406030204" pitchFamily="18" charset="0"/>
                        <a:sym typeface="Wingdings" panose="05000000000000000000" pitchFamily="2" charset="2"/>
                      </a:rPr>
                      <m:t>=</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i="1">
                                  <a:latin typeface="Cambria Math" panose="02040503050406030204" pitchFamily="18" charset="0"/>
                                  <a:sym typeface="Wingdings" panose="05000000000000000000" pitchFamily="2" charset="2"/>
                                </a:rPr>
                                <m:t>2</m:t>
                              </m:r>
                            </m:e>
                          </m:mr>
                          <m:mr>
                            <m:e>
                              <m:r>
                                <a:rPr lang="en-US" sz="2000" i="1">
                                  <a:latin typeface="Cambria Math" panose="02040503050406030204" pitchFamily="18" charset="0"/>
                                  <a:sym typeface="Wingdings" panose="05000000000000000000" pitchFamily="2" charset="2"/>
                                </a:rPr>
                                <m:t>3</m:t>
                              </m:r>
                            </m:e>
                          </m:mr>
                        </m:m>
                      </m:e>
                    </m:d>
                  </m:oMath>
                </a14:m>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905000"/>
                <a:ext cx="8229600" cy="4572000"/>
              </a:xfrm>
              <a:blipFill>
                <a:blip r:embed="rId2"/>
                <a:stretch>
                  <a:fillRect l="-517" r="-443"/>
                </a:stretch>
              </a:blipFill>
            </p:spPr>
            <p:txBody>
              <a:bodyPr/>
              <a:lstStyle/>
              <a:p>
                <a:r>
                  <a:rPr lang="en-PH">
                    <a:noFill/>
                  </a:rPr>
                  <a:t> </a:t>
                </a:r>
              </a:p>
            </p:txBody>
          </p:sp>
        </mc:Fallback>
      </mc:AlternateContent>
      <p:sp>
        <p:nvSpPr>
          <p:cNvPr id="4" name="Title 3">
            <a:extLst>
              <a:ext uri="{FF2B5EF4-FFF2-40B4-BE49-F238E27FC236}">
                <a16:creationId xmlns:a16="http://schemas.microsoft.com/office/drawing/2014/main" id="{E4DBF9BC-FCD9-4206-BC96-EEE218F7601B}"/>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42565010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600200"/>
                <a:ext cx="8229600" cy="3861619"/>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14:m>
                  <m:oMath xmlns:m="http://schemas.openxmlformats.org/officeDocument/2006/math">
                    <m:r>
                      <a:rPr lang="en-US" sz="2000" b="0" i="1" smtClean="0">
                        <a:latin typeface="Cambria Math" panose="02040503050406030204" pitchFamily="18" charset="0"/>
                        <a:sym typeface="Wingdings" panose="05000000000000000000" pitchFamily="2" charset="2"/>
                      </a:rPr>
                      <m:t>−1</m:t>
                    </m:r>
                  </m:oMath>
                </a14:m>
                <a:r>
                  <a:rPr lang="en-US" sz="2000" dirty="0">
                    <a:sym typeface="Wingdings" panose="05000000000000000000" pitchFamily="2" charset="2"/>
                  </a:rPr>
                  <a:t> </a:t>
                </a:r>
                <a14:m>
                  <m:oMath xmlns:m="http://schemas.openxmlformats.org/officeDocument/2006/math">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0</m:t>
                              </m:r>
                            </m:e>
                          </m:mr>
                        </m:m>
                      </m:e>
                    </m:d>
                    <m:r>
                      <a:rPr lang="en-US" sz="2000" b="0" i="0" smtClean="0">
                        <a:latin typeface="Cambria Math" panose="02040503050406030204" pitchFamily="18" charset="0"/>
                        <a:sym typeface="Wingdings" panose="05000000000000000000" pitchFamily="2" charset="2"/>
                      </a:rPr>
                      <m:t>+</m:t>
                    </m:r>
                    <m:f>
                      <m:fPr>
                        <m:ctrlPr>
                          <a:rPr lang="en-US" sz="2000" b="0" i="1" smtClean="0">
                            <a:latin typeface="Cambria Math" panose="02040503050406030204" pitchFamily="18" charset="0"/>
                            <a:sym typeface="Wingdings" panose="05000000000000000000" pitchFamily="2" charset="2"/>
                          </a:rPr>
                        </m:ctrlPr>
                      </m:fPr>
                      <m:num>
                        <m:r>
                          <a:rPr lang="en-US" sz="2000" b="0" i="1" smtClean="0">
                            <a:latin typeface="Cambria Math" panose="02040503050406030204" pitchFamily="18" charset="0"/>
                            <a:sym typeface="Wingdings" panose="05000000000000000000" pitchFamily="2" charset="2"/>
                          </a:rPr>
                          <m:t>−7</m:t>
                        </m:r>
                      </m:num>
                      <m:den>
                        <m:r>
                          <a:rPr lang="en-US" sz="2000" b="0" i="1" smtClean="0">
                            <a:latin typeface="Cambria Math" panose="02040503050406030204" pitchFamily="18" charset="0"/>
                            <a:sym typeface="Wingdings" panose="05000000000000000000" pitchFamily="2" charset="2"/>
                          </a:rPr>
                          <m:t>3</m:t>
                        </m:r>
                      </m:den>
                    </m:f>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−1</m:t>
                              </m:r>
                            </m:e>
                          </m:mr>
                        </m:m>
                      </m:e>
                    </m:d>
                    <m:r>
                      <a:rPr lang="en-US" sz="2000" b="0" i="1" smtClean="0">
                        <a:latin typeface="Cambria Math" panose="02040503050406030204" pitchFamily="18" charset="0"/>
                        <a:sym typeface="Wingdings" panose="05000000000000000000" pitchFamily="2" charset="2"/>
                      </a:rPr>
                      <m:t>+</m:t>
                    </m:r>
                    <m:f>
                      <m:fPr>
                        <m:ctrlPr>
                          <a:rPr lang="en-US" sz="2000" b="0" i="1" smtClean="0">
                            <a:latin typeface="Cambria Math" panose="02040503050406030204" pitchFamily="18" charset="0"/>
                            <a:sym typeface="Wingdings" panose="05000000000000000000" pitchFamily="2" charset="2"/>
                          </a:rPr>
                        </m:ctrlPr>
                      </m:fPr>
                      <m:num>
                        <m:r>
                          <a:rPr lang="en-US" sz="2000" b="0" i="1" smtClean="0">
                            <a:latin typeface="Cambria Math" panose="02040503050406030204" pitchFamily="18" charset="0"/>
                            <a:sym typeface="Wingdings" panose="05000000000000000000" pitchFamily="2" charset="2"/>
                          </a:rPr>
                          <m:t>2</m:t>
                        </m:r>
                      </m:num>
                      <m:den>
                        <m:r>
                          <a:rPr lang="en-US" sz="2000" b="0" i="1" smtClean="0">
                            <a:latin typeface="Cambria Math" panose="02040503050406030204" pitchFamily="18" charset="0"/>
                            <a:sym typeface="Wingdings" panose="05000000000000000000" pitchFamily="2" charset="2"/>
                          </a:rPr>
                          <m:t>3</m:t>
                        </m:r>
                      </m:den>
                    </m:f>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3</m:t>
                              </m:r>
                            </m:e>
                          </m:mr>
                          <m:mr>
                            <m:e>
                              <m:r>
                                <a:rPr lang="en-US" sz="2000" b="0" i="1" smtClean="0">
                                  <a:latin typeface="Cambria Math" panose="02040503050406030204" pitchFamily="18" charset="0"/>
                                  <a:sym typeface="Wingdings" panose="05000000000000000000" pitchFamily="2" charset="2"/>
                                </a:rPr>
                                <m:t>4</m:t>
                              </m:r>
                            </m:e>
                          </m:mr>
                          <m:mr>
                            <m:e>
                              <m:r>
                                <a:rPr lang="en-US" sz="2000" b="0" i="1" smtClean="0">
                                  <a:latin typeface="Cambria Math" panose="02040503050406030204" pitchFamily="18" charset="0"/>
                                  <a:sym typeface="Wingdings" panose="05000000000000000000" pitchFamily="2" charset="2"/>
                                </a:rPr>
                                <m:t>1</m:t>
                              </m:r>
                            </m:e>
                          </m:mr>
                        </m:m>
                      </m:e>
                    </m:d>
                    <m:r>
                      <a:rPr lang="en-US" sz="2000" i="1">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4</m:t>
                    </m:r>
                    <m:r>
                      <m:rPr>
                        <m:nor/>
                      </m:rPr>
                      <a:rPr lang="en-US" sz="2000" dirty="0">
                        <a:sym typeface="Wingdings" panose="05000000000000000000" pitchFamily="2" charset="2"/>
                      </a:rPr>
                      <m:t> </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0</m:t>
                              </m:r>
                            </m:e>
                          </m:mr>
                          <m:mr>
                            <m:e>
                              <m:r>
                                <a:rPr lang="en-US" sz="2000" b="0" i="1" smtClean="0">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0</m:t>
                              </m:r>
                            </m:e>
                          </m:mr>
                        </m:m>
                      </m:e>
                    </m:d>
                    <m:r>
                      <a:rPr lang="en-US" sz="2000" i="1">
                        <a:latin typeface="Cambria Math" panose="02040503050406030204" pitchFamily="18" charset="0"/>
                        <a:sym typeface="Wingdings" panose="05000000000000000000" pitchFamily="2" charset="2"/>
                      </a:rPr>
                      <m:t>=</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i="1">
                                  <a:latin typeface="Cambria Math" panose="02040503050406030204" pitchFamily="18" charset="0"/>
                                  <a:sym typeface="Wingdings" panose="05000000000000000000" pitchFamily="2" charset="2"/>
                                </a:rPr>
                                <m:t>2</m:t>
                              </m:r>
                            </m:e>
                          </m:mr>
                          <m:mr>
                            <m:e>
                              <m:r>
                                <a:rPr lang="en-US" sz="2000" i="1">
                                  <a:latin typeface="Cambria Math" panose="02040503050406030204" pitchFamily="18" charset="0"/>
                                  <a:sym typeface="Wingdings" panose="05000000000000000000" pitchFamily="2" charset="2"/>
                                </a:rPr>
                                <m:t>3</m:t>
                              </m:r>
                            </m:e>
                          </m:mr>
                        </m:m>
                      </m:e>
                    </m:d>
                  </m:oMath>
                </a14:m>
                <a:endParaRPr lang="en-US" sz="2000" dirty="0"/>
              </a:p>
              <a:p>
                <a:pPr marL="0" indent="0">
                  <a:buNone/>
                </a:pPr>
                <a:endParaRPr lang="en-US" sz="2000" i="1" dirty="0">
                  <a:latin typeface="Cambria Math" panose="02040503050406030204" pitchFamily="18" charset="0"/>
                </a:endParaRPr>
              </a:p>
              <a:p>
                <a:pPr marL="0" indent="0">
                  <a:buNone/>
                </a:pPr>
                <a:r>
                  <a:rPr lang="en-US" sz="2000" i="1" dirty="0">
                    <a:latin typeface="Cambria Math" panose="02040503050406030204" pitchFamily="18" charset="0"/>
                  </a:rPr>
                  <a:t>To verify:</a:t>
                </a:r>
              </a:p>
              <a:p>
                <a:pPr marL="0" indent="0">
                  <a:buNone/>
                </a:pPr>
                <a14:m>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a:rPr lang="en-US" sz="2000" i="1" smtClean="0">
                              <a:latin typeface="Cambria Math" panose="02040503050406030204" pitchFamily="18" charset="0"/>
                            </a:rPr>
                            <m:t>−</m:t>
                          </m:r>
                          <m:r>
                            <a:rPr lang="en-US" sz="2000" b="0" i="1" smtClean="0">
                              <a:latin typeface="Cambria Math" panose="02040503050406030204" pitchFamily="18" charset="0"/>
                            </a:rPr>
                            <m:t>1</m:t>
                          </m:r>
                          <m:d>
                            <m:dPr>
                              <m:ctrlPr>
                                <a:rPr lang="en-US" sz="2000" b="0" i="1" smtClean="0">
                                  <a:latin typeface="Cambria Math" panose="02040503050406030204" pitchFamily="18" charset="0"/>
                                </a:rPr>
                              </m:ctrlPr>
                            </m:dPr>
                            <m:e>
                              <m:r>
                                <m:rPr>
                                  <m:brk m:alnAt="7"/>
                                </m:rPr>
                                <a:rPr lang="en-US" sz="2000" b="0" i="1" smtClean="0">
                                  <a:latin typeface="Cambria Math" panose="02040503050406030204" pitchFamily="18" charset="0"/>
                                </a:rPr>
                                <m:t>1</m:t>
                              </m:r>
                            </m:e>
                          </m:d>
                          <m:r>
                            <a:rPr lang="en-US" sz="2000" b="0" i="1" smtClean="0">
                              <a:latin typeface="Cambria Math" panose="02040503050406030204" pitchFamily="18" charset="0"/>
                            </a:rPr>
                            <m:t>+</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7</m:t>
                              </m:r>
                            </m:num>
                            <m:den>
                              <m:r>
                                <a:rPr lang="en-US" sz="2000" i="1">
                                  <a:latin typeface="Cambria Math" panose="02040503050406030204" pitchFamily="18" charset="0"/>
                                </a:rPr>
                                <m:t>3</m:t>
                              </m:r>
                            </m:den>
                          </m:f>
                          <m:d>
                            <m:dPr>
                              <m:ctrlPr>
                                <a:rPr lang="en-US" sz="2000" i="1">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d>
                            <m:dPr>
                              <m:ctrlPr>
                                <a:rPr lang="en-US" sz="2000" b="0" i="1" smtClean="0">
                                  <a:latin typeface="Cambria Math" panose="02040503050406030204" pitchFamily="18" charset="0"/>
                                </a:rPr>
                              </m:ctrlPr>
                            </m:dPr>
                            <m:e>
                              <m:r>
                                <a:rPr lang="en-US" sz="2000" b="0" i="1" smtClean="0">
                                  <a:latin typeface="Cambria Math" panose="02040503050406030204" pitchFamily="18" charset="0"/>
                                </a:rPr>
                                <m:t>3</m:t>
                              </m:r>
                            </m:e>
                          </m:d>
                          <m:r>
                            <a:rPr lang="en-US" sz="2000" b="0" i="1" smtClean="0">
                              <a:latin typeface="Cambria Math" panose="02040503050406030204" pitchFamily="18" charset="0"/>
                            </a:rPr>
                            <m:t>+4</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−1+0+2+0=</m:t>
                          </m:r>
                          <m:r>
                            <a:rPr lang="en-US" sz="2000" b="0" i="1" smtClean="0">
                              <a:solidFill>
                                <a:srgbClr val="FF0000"/>
                              </a:solidFill>
                              <a:latin typeface="Cambria Math" panose="02040503050406030204" pitchFamily="18" charset="0"/>
                            </a:rPr>
                            <m:t>1</m:t>
                          </m:r>
                        </m:e>
                      </m:mr>
                      <m:mr>
                        <m:e>
                          <m:r>
                            <a:rPr lang="en-US" sz="2000" i="1">
                              <a:latin typeface="Cambria Math" panose="02040503050406030204" pitchFamily="18" charset="0"/>
                            </a:rPr>
                            <m:t>−1</m:t>
                          </m:r>
                          <m:d>
                            <m:dPr>
                              <m:ctrlPr>
                                <a:rPr lang="en-US" sz="2000" i="1">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m:t>
                              </m:r>
                            </m:num>
                            <m:den>
                              <m:r>
                                <a:rPr lang="en-US" sz="2000" b="0" i="1" smtClean="0">
                                  <a:latin typeface="Cambria Math" panose="02040503050406030204" pitchFamily="18" charset="0"/>
                                </a:rPr>
                                <m:t>3</m:t>
                              </m:r>
                            </m:den>
                          </m:f>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2</m:t>
                              </m:r>
                            </m:num>
                            <m:den>
                              <m:r>
                                <a:rPr lang="en-US" sz="2000" b="0" i="1" smtClean="0">
                                  <a:latin typeface="Cambria Math" panose="02040503050406030204" pitchFamily="18" charset="0"/>
                                </a:rPr>
                                <m:t>3</m:t>
                              </m:r>
                            </m:den>
                          </m:f>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e>
                          </m:d>
                          <m:r>
                            <a:rPr lang="en-US" sz="2000" b="0" i="1" smtClean="0">
                              <a:latin typeface="Cambria Math" panose="02040503050406030204" pitchFamily="18" charset="0"/>
                            </a:rPr>
                            <m:t>+4=0+</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−14</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8</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r>
                            <a:rPr lang="en-US" sz="2000" b="0" i="1" smtClean="0">
                              <a:solidFill>
                                <a:srgbClr val="FF0000"/>
                              </a:solidFill>
                              <a:latin typeface="Cambria Math" panose="02040503050406030204" pitchFamily="18" charset="0"/>
                            </a:rPr>
                            <m:t>2</m:t>
                          </m:r>
                        </m:e>
                      </m:mr>
                      <m:mr>
                        <m:e>
                          <m:r>
                            <a:rPr lang="en-US" sz="2000" i="1">
                              <a:latin typeface="Cambria Math" panose="02040503050406030204" pitchFamily="18" charset="0"/>
                            </a:rPr>
                            <m:t>−1</m:t>
                          </m:r>
                          <m:d>
                            <m:dPr>
                              <m:ctrlPr>
                                <a:rPr lang="en-US" sz="2000" i="1">
                                  <a:latin typeface="Cambria Math" panose="02040503050406030204" pitchFamily="18" charset="0"/>
                                </a:rPr>
                              </m:ctrlPr>
                            </m:dPr>
                            <m:e>
                              <m:r>
                                <a:rPr lang="en-US" sz="2000" i="1">
                                  <a:latin typeface="Cambria Math" panose="02040503050406030204" pitchFamily="18" charset="0"/>
                                </a:rPr>
                                <m:t>0</m:t>
                              </m:r>
                            </m:e>
                          </m:d>
                          <m:r>
                            <a:rPr lang="en-US" sz="2000" b="0" i="1" smtClean="0">
                              <a:latin typeface="Cambria Math" panose="02040503050406030204" pitchFamily="18" charset="0"/>
                            </a:rPr>
                            <m:t>+</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7</m:t>
                              </m:r>
                            </m:num>
                            <m:den>
                              <m:r>
                                <a:rPr lang="en-US" sz="2000" i="1">
                                  <a:latin typeface="Cambria Math" panose="02040503050406030204" pitchFamily="18" charset="0"/>
                                </a:rPr>
                                <m:t>3</m:t>
                              </m:r>
                            </m:den>
                          </m:f>
                          <m:d>
                            <m:dPr>
                              <m:ctrlPr>
                                <a:rPr lang="en-US" sz="2000" i="1">
                                  <a:latin typeface="Cambria Math" panose="02040503050406030204" pitchFamily="18" charset="0"/>
                                </a:rPr>
                              </m:ctrlPr>
                            </m:dPr>
                            <m:e>
                              <m:r>
                                <a:rPr lang="en-US" sz="2000" b="0" i="1" smtClean="0">
                                  <a:latin typeface="Cambria Math" panose="02040503050406030204" pitchFamily="18" charset="0"/>
                                </a:rPr>
                                <m:t>−1</m:t>
                              </m:r>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d>
                            <m:dPr>
                              <m:ctrlPr>
                                <a:rPr lang="en-US" sz="2000" i="1">
                                  <a:latin typeface="Cambria Math" panose="02040503050406030204" pitchFamily="18" charset="0"/>
                                </a:rPr>
                              </m:ctrlPr>
                            </m:dPr>
                            <m:e>
                              <m:r>
                                <a:rPr lang="en-US" sz="2000" b="0" i="1" smtClean="0">
                                  <a:latin typeface="Cambria Math" panose="02040503050406030204" pitchFamily="18" charset="0"/>
                                </a:rPr>
                                <m:t>1</m:t>
                              </m:r>
                            </m:e>
                          </m:d>
                          <m:r>
                            <a:rPr lang="en-US" sz="2000" b="0" i="1" smtClean="0">
                              <a:latin typeface="Cambria Math" panose="02040503050406030204" pitchFamily="18" charset="0"/>
                            </a:rPr>
                            <m:t>+4</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i="1">
                              <a:latin typeface="Cambria Math" panose="02040503050406030204" pitchFamily="18" charset="0"/>
                            </a:rPr>
                            <m:t>=</m:t>
                          </m:r>
                          <m:r>
                            <a:rPr lang="en-US" sz="2000" b="0" i="1" smtClean="0">
                              <a:latin typeface="Cambria Math" panose="02040503050406030204" pitchFamily="18" charset="0"/>
                            </a:rPr>
                            <m:t>0+</m:t>
                          </m:r>
                          <m:f>
                            <m:fPr>
                              <m:ctrlPr>
                                <a:rPr lang="en-US" sz="2000" i="1">
                                  <a:latin typeface="Cambria Math" panose="02040503050406030204" pitchFamily="18" charset="0"/>
                                </a:rPr>
                              </m:ctrlPr>
                            </m:fPr>
                            <m:num>
                              <m:r>
                                <a:rPr lang="en-US" sz="2000" b="0" i="1" smtClean="0">
                                  <a:latin typeface="Cambria Math" panose="02040503050406030204" pitchFamily="18" charset="0"/>
                                </a:rPr>
                                <m:t>7</m:t>
                              </m:r>
                            </m:num>
                            <m:den>
                              <m:r>
                                <a:rPr lang="en-US" sz="2000" i="1">
                                  <a:latin typeface="Cambria Math" panose="02040503050406030204" pitchFamily="18" charset="0"/>
                                </a:rPr>
                                <m:t>3</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2</m:t>
                              </m:r>
                            </m:num>
                            <m:den>
                              <m:r>
                                <a:rPr lang="en-US" sz="2000" i="1">
                                  <a:latin typeface="Cambria Math" panose="02040503050406030204" pitchFamily="18" charset="0"/>
                                </a:rPr>
                                <m:t>3</m:t>
                              </m:r>
                            </m:den>
                          </m:f>
                          <m:r>
                            <a:rPr lang="en-US" sz="2000" b="0" i="1" smtClean="0">
                              <a:latin typeface="Cambria Math" panose="02040503050406030204" pitchFamily="18" charset="0"/>
                            </a:rPr>
                            <m:t>+0</m:t>
                          </m:r>
                          <m:r>
                            <a:rPr lang="en-US" sz="2000" i="1">
                              <a:latin typeface="Cambria Math" panose="02040503050406030204" pitchFamily="18" charset="0"/>
                            </a:rPr>
                            <m:t>=</m:t>
                          </m:r>
                          <m:r>
                            <a:rPr lang="en-US" sz="2000" b="0" i="1" smtClean="0">
                              <a:solidFill>
                                <a:srgbClr val="FF0000"/>
                              </a:solidFill>
                              <a:latin typeface="Cambria Math" panose="02040503050406030204" pitchFamily="18" charset="0"/>
                            </a:rPr>
                            <m:t>3</m:t>
                          </m:r>
                        </m:e>
                      </m:mr>
                    </m:m>
                  </m:oMath>
                </a14:m>
                <a:r>
                  <a:rPr lang="en-US" sz="2000" dirty="0"/>
                  <a:t>  </a:t>
                </a:r>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600200"/>
                <a:ext cx="8229600" cy="3861619"/>
              </a:xfrm>
              <a:blipFill>
                <a:blip r:embed="rId2"/>
                <a:stretch>
                  <a:fillRect l="-591"/>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78500CC2-C6DC-4208-B27A-BC25ADC3264E}"/>
              </a:ext>
            </a:extLst>
          </p:cNvPr>
          <p:cNvSpPr>
            <a:spLocks noGrp="1"/>
          </p:cNvSpPr>
          <p:nvPr>
            <p:ph type="title"/>
          </p:nvPr>
        </p:nvSpPr>
        <p:spPr>
          <a:xfrm>
            <a:off x="457200" y="533400"/>
            <a:ext cx="8229600" cy="990600"/>
          </a:xfrm>
        </p:spPr>
        <p:txBody>
          <a:bodyPr/>
          <a:lstStyle/>
          <a:p>
            <a:r>
              <a:rPr lang="en-PH" dirty="0"/>
              <a:t>Spanning Sets</a:t>
            </a:r>
          </a:p>
        </p:txBody>
      </p:sp>
    </p:spTree>
    <p:extLst>
      <p:ext uri="{BB962C8B-B14F-4D97-AF65-F5344CB8AC3E}">
        <p14:creationId xmlns:p14="http://schemas.microsoft.com/office/powerpoint/2010/main" val="19002570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600200"/>
                <a:ext cx="8229600" cy="4876800"/>
              </a:xfrm>
            </p:spPr>
            <p:txBody>
              <a:bodyPr>
                <a:normAutofit/>
              </a:bodyPr>
              <a:lstStyle/>
              <a:p>
                <a:pPr marL="0" indent="0">
                  <a:buNone/>
                </a:pPr>
                <a:r>
                  <a:rPr lang="en-US" sz="2000" dirty="0"/>
                  <a:t>Example 1: </a:t>
                </a:r>
              </a:p>
              <a:p>
                <a:pPr marL="0" indent="0">
                  <a:buNone/>
                </a:pPr>
                <a:r>
                  <a:rPr lang="en-US" sz="2000" dirty="0"/>
                  <a:t>Write vector  </a:t>
                </a:r>
                <a14:m>
                  <m:oMath xmlns:m="http://schemas.openxmlformats.org/officeDocument/2006/math">
                    <m:r>
                      <a:rPr lang="en-US" sz="2000" b="1" i="0" smtClean="0">
                        <a:latin typeface="Cambria Math" panose="02040503050406030204" pitchFamily="18" charset="0"/>
                      </a:rPr>
                      <m:t>𝐯</m:t>
                    </m:r>
                    <m:r>
                      <a:rPr lang="en-US" sz="2000" b="0" i="0" smtClean="0">
                        <a:latin typeface="Cambria Math" panose="02040503050406030204" pitchFamily="18" charset="0"/>
                      </a:rPr>
                      <m:t>=[1 , −6, 5]</m:t>
                    </m:r>
                  </m:oMath>
                </a14:m>
                <a:r>
                  <a:rPr lang="en-US" sz="2000" dirty="0"/>
                  <a:t> as a linear combination of the vectors </a:t>
                </a:r>
                <a14:m>
                  <m:oMath xmlns:m="http://schemas.openxmlformats.org/officeDocument/2006/math">
                    <m:sSub>
                      <m:sSubPr>
                        <m:ctrlPr>
                          <a:rPr lang="en-US" sz="2000" b="1" i="1" smtClean="0">
                            <a:latin typeface="Cambria Math" panose="02040503050406030204" pitchFamily="18" charset="0"/>
                          </a:rPr>
                        </m:ctrlPr>
                      </m:sSubPr>
                      <m:e>
                        <m:r>
                          <a:rPr lang="en-US" sz="2000" b="1" i="0" smtClean="0">
                            <a:latin typeface="Cambria Math" panose="02040503050406030204" pitchFamily="18" charset="0"/>
                          </a:rPr>
                          <m:t>      </m:t>
                        </m:r>
                        <m:r>
                          <a:rPr lang="en-US" sz="2000" b="1" i="0" smtClean="0">
                            <a:latin typeface="Cambria Math" panose="02040503050406030204" pitchFamily="18" charset="0"/>
                          </a:rPr>
                          <m:t>𝐯</m:t>
                        </m:r>
                      </m:e>
                      <m:sub>
                        <m:r>
                          <a:rPr lang="en-US" sz="2000" b="1" i="1" smtClean="0">
                            <a:latin typeface="Cambria Math" panose="02040503050406030204" pitchFamily="18" charset="0"/>
                          </a:rPr>
                          <m:t>𝟏</m:t>
                        </m:r>
                      </m:sub>
                    </m:sSub>
                    <m:r>
                      <a:rPr lang="en-US" sz="2000">
                        <a:latin typeface="Cambria Math" panose="02040503050406030204" pitchFamily="18" charset="0"/>
                      </a:rPr>
                      <m:t>=[1 , </m:t>
                    </m:r>
                    <m:r>
                      <a:rPr lang="en-US" sz="2000" b="0" i="0" smtClean="0">
                        <a:latin typeface="Cambria Math" panose="02040503050406030204" pitchFamily="18" charset="0"/>
                      </a:rPr>
                      <m:t>2</m:t>
                    </m:r>
                    <m:r>
                      <a:rPr lang="en-US" sz="2000">
                        <a:latin typeface="Cambria Math" panose="02040503050406030204" pitchFamily="18" charset="0"/>
                      </a:rPr>
                      <m:t>, </m:t>
                    </m:r>
                    <m:r>
                      <a:rPr lang="en-US" sz="2000" b="0" i="0" smtClean="0">
                        <a:latin typeface="Cambria Math" panose="02040503050406030204" pitchFamily="18" charset="0"/>
                      </a:rPr>
                      <m:t>3</m:t>
                    </m:r>
                    <m:r>
                      <a:rPr lang="en-US" sz="2000">
                        <a:latin typeface="Cambria Math" panose="02040503050406030204" pitchFamily="18" charset="0"/>
                      </a:rPr>
                      <m:t>]</m:t>
                    </m:r>
                  </m:oMath>
                </a14:m>
                <a:r>
                  <a:rPr lang="en-US" sz="2000" dirty="0"/>
                  <a:t>,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𝐯</m:t>
                        </m:r>
                      </m:e>
                      <m:sub>
                        <m:r>
                          <a:rPr lang="en-US" sz="2000" b="1" i="1" smtClean="0">
                            <a:latin typeface="Cambria Math" panose="02040503050406030204" pitchFamily="18" charset="0"/>
                          </a:rPr>
                          <m:t>𝟐</m:t>
                        </m:r>
                      </m:sub>
                    </m:sSub>
                    <m:r>
                      <a:rPr lang="en-US" sz="2000">
                        <a:latin typeface="Cambria Math" panose="02040503050406030204" pitchFamily="18" charset="0"/>
                      </a:rPr>
                      <m:t>=[</m:t>
                    </m:r>
                    <m:r>
                      <a:rPr lang="en-US" sz="2000" b="0" i="0" smtClean="0">
                        <a:latin typeface="Cambria Math" panose="02040503050406030204" pitchFamily="18" charset="0"/>
                      </a:rPr>
                      <m:t>2</m:t>
                    </m:r>
                    <m:r>
                      <a:rPr lang="en-US" sz="2000">
                        <a:latin typeface="Cambria Math" panose="02040503050406030204" pitchFamily="18" charset="0"/>
                      </a:rPr>
                      <m:t> , </m:t>
                    </m:r>
                    <m:r>
                      <a:rPr lang="en-US" sz="2000" b="0" i="0" smtClean="0">
                        <a:latin typeface="Cambria Math" panose="02040503050406030204" pitchFamily="18" charset="0"/>
                      </a:rPr>
                      <m:t>5</m:t>
                    </m:r>
                    <m:r>
                      <a:rPr lang="en-US" sz="2000">
                        <a:latin typeface="Cambria Math" panose="02040503050406030204" pitchFamily="18" charset="0"/>
                      </a:rPr>
                      <m:t>, </m:t>
                    </m:r>
                    <m:r>
                      <a:rPr lang="en-US" sz="2000" b="0" i="0" smtClean="0">
                        <a:latin typeface="Cambria Math" panose="02040503050406030204" pitchFamily="18" charset="0"/>
                      </a:rPr>
                      <m:t>8</m:t>
                    </m:r>
                    <m:r>
                      <a:rPr lang="en-US" sz="2000">
                        <a:latin typeface="Cambria Math" panose="02040503050406030204" pitchFamily="18" charset="0"/>
                      </a:rPr>
                      <m:t>]</m:t>
                    </m:r>
                  </m:oMath>
                </a14:m>
                <a:r>
                  <a:rPr lang="en-US" sz="2000" dirty="0"/>
                  <a:t>, and </a:t>
                </a:r>
                <a14:m>
                  <m:oMath xmlns:m="http://schemas.openxmlformats.org/officeDocument/2006/math">
                    <m:sSub>
                      <m:sSubPr>
                        <m:ctrlPr>
                          <a:rPr lang="en-US" sz="2000" b="1" i="1">
                            <a:latin typeface="Cambria Math" panose="02040503050406030204" pitchFamily="18" charset="0"/>
                          </a:rPr>
                        </m:ctrlPr>
                      </m:sSubPr>
                      <m:e>
                        <m:r>
                          <a:rPr lang="en-US" sz="2000" b="1">
                            <a:latin typeface="Cambria Math" panose="02040503050406030204" pitchFamily="18" charset="0"/>
                          </a:rPr>
                          <m:t>𝐯</m:t>
                        </m:r>
                      </m:e>
                      <m:sub>
                        <m:r>
                          <a:rPr lang="en-US" sz="2000" b="1" i="1" smtClean="0">
                            <a:latin typeface="Cambria Math" panose="02040503050406030204" pitchFamily="18" charset="0"/>
                          </a:rPr>
                          <m:t>𝟑</m:t>
                        </m:r>
                      </m:sub>
                    </m:sSub>
                    <m:r>
                      <a:rPr lang="en-US" sz="2000">
                        <a:latin typeface="Cambria Math" panose="02040503050406030204" pitchFamily="18" charset="0"/>
                      </a:rPr>
                      <m:t>=[</m:t>
                    </m:r>
                    <m:r>
                      <a:rPr lang="en-US" sz="2000" b="0" i="0" smtClean="0">
                        <a:latin typeface="Cambria Math" panose="02040503050406030204" pitchFamily="18" charset="0"/>
                      </a:rPr>
                      <m:t>3</m:t>
                    </m:r>
                    <m:r>
                      <a:rPr lang="en-US" sz="2000">
                        <a:latin typeface="Cambria Math" panose="02040503050406030204" pitchFamily="18" charset="0"/>
                      </a:rPr>
                      <m:t> , 2, 3</m:t>
                    </m:r>
                    <m:r>
                      <a:rPr lang="en-US" sz="2000" smtClean="0">
                        <a:latin typeface="Cambria Math" panose="02040503050406030204" pitchFamily="18" charset="0"/>
                      </a:rPr>
                      <m:t>]</m:t>
                    </m:r>
                  </m:oMath>
                </a14:m>
                <a:r>
                  <a:rPr lang="en-US" sz="2000" dirty="0"/>
                  <a:t>.</a:t>
                </a:r>
              </a:p>
              <a:p>
                <a:pPr marL="0" indent="0">
                  <a:buNone/>
                </a:pPr>
                <a:endParaRPr lang="en-US" sz="2000" dirty="0"/>
              </a:p>
              <a:p>
                <a:pPr marL="0" indent="0">
                  <a:buNone/>
                </a:pPr>
                <a:r>
                  <a:rPr lang="en-US" sz="2000" dirty="0"/>
                  <a:t>Step 1: Express the given as linear combination.</a:t>
                </a:r>
              </a:p>
              <a:p>
                <a:pPr marL="0" indent="0">
                  <a:buNone/>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PH" sz="2000">
                        <a:effectLst/>
                        <a:latin typeface="Cambria Math" panose="02040503050406030204" pitchFamily="18" charset="0"/>
                        <a:ea typeface="Times New Roman" panose="02020603050405020304" pitchFamily="18" charset="0"/>
                        <a:cs typeface="Times New Roman" panose="02020603050405020304" pitchFamily="18" charset="0"/>
                      </a:rPr>
                      <m:t>v</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rPr>
                        </m:ctrlPr>
                      </m:sSubPr>
                      <m:e>
                        <m:r>
                          <m:rPr>
                            <m:sty m:val="p"/>
                          </m:rPr>
                          <a:rPr lang="en-US" sz="2000" b="0" i="0" smtClean="0">
                            <a:effectLst/>
                            <a:latin typeface="Cambria Math" panose="02040503050406030204" pitchFamily="18" charset="0"/>
                          </a:rPr>
                          <m:t>x</m:t>
                        </m:r>
                        <m:r>
                          <m:rPr>
                            <m:sty m:val="p"/>
                          </m:rPr>
                          <a:rPr lang="en-PH" sz="2000">
                            <a:effectLst/>
                            <a:latin typeface="Cambria Math" panose="02040503050406030204" pitchFamily="18" charset="0"/>
                            <a:ea typeface="Times New Roman" panose="02020603050405020304" pitchFamily="18" charset="0"/>
                            <a:cs typeface="Times New Roman" panose="02020603050405020304" pitchFamily="18" charset="0"/>
                          </a:rPr>
                          <m:t>v</m:t>
                        </m:r>
                      </m:e>
                      <m:sub>
                        <m:r>
                          <a:rPr lang="en-PH" sz="2000">
                            <a:effectLst/>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PH"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𝑦</m:t>
                    </m:r>
                    <m:sSub>
                      <m:sSubPr>
                        <m:ctrlPr>
                          <a:rPr lang="en-US" sz="2000" i="1">
                            <a:effectLst/>
                            <a:latin typeface="Cambria Math" panose="02040503050406030204" pitchFamily="18" charset="0"/>
                          </a:rPr>
                        </m:ctrlPr>
                      </m:sSubPr>
                      <m:e>
                        <m:r>
                          <m:rPr>
                            <m:sty m:val="p"/>
                          </m:rPr>
                          <a:rPr lang="en-PH" sz="2000">
                            <a:effectLst/>
                            <a:latin typeface="Cambria Math" panose="02040503050406030204" pitchFamily="18" charset="0"/>
                            <a:ea typeface="Times New Roman" panose="02020603050405020304" pitchFamily="18" charset="0"/>
                            <a:cs typeface="Times New Roman" panose="02020603050405020304" pitchFamily="18" charset="0"/>
                          </a:rPr>
                          <m:t>v</m:t>
                        </m:r>
                      </m:e>
                      <m:sub>
                        <m:r>
                          <a:rPr lang="en-PH" sz="2000">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𝑧</m:t>
                    </m:r>
                    <m:sSub>
                      <m:sSubPr>
                        <m:ctrlPr>
                          <a:rPr lang="en-US" sz="2000" i="1">
                            <a:effectLst/>
                            <a:latin typeface="Cambria Math" panose="02040503050406030204" pitchFamily="18" charset="0"/>
                          </a:rPr>
                        </m:ctrlPr>
                      </m:sSubPr>
                      <m:e>
                        <m:r>
                          <m:rPr>
                            <m:sty m:val="p"/>
                          </m:rPr>
                          <a:rPr lang="en-PH" sz="2000">
                            <a:effectLst/>
                            <a:latin typeface="Cambria Math" panose="02040503050406030204" pitchFamily="18" charset="0"/>
                            <a:ea typeface="Times New Roman" panose="02020603050405020304" pitchFamily="18" charset="0"/>
                            <a:cs typeface="Times New Roman" panose="02020603050405020304" pitchFamily="18" charset="0"/>
                          </a:rPr>
                          <m:t>v</m:t>
                        </m:r>
                      </m:e>
                      <m:sub>
                        <m:r>
                          <a:rPr lang="en-PH" sz="2000">
                            <a:effectLst/>
                            <a:latin typeface="Cambria Math" panose="02040503050406030204" pitchFamily="18" charset="0"/>
                            <a:ea typeface="Times New Roman" panose="02020603050405020304" pitchFamily="18" charset="0"/>
                            <a:cs typeface="Times New Roman" panose="02020603050405020304" pitchFamily="18" charset="0"/>
                          </a:rPr>
                          <m:t>3</m:t>
                        </m:r>
                      </m:sub>
                    </m:sSub>
                  </m:oMath>
                </a14:m>
                <a:r>
                  <a:rPr lang="en-US" sz="2000" dirty="0"/>
                  <a:t> </a:t>
                </a:r>
                <a:r>
                  <a:rPr lang="en-US" sz="2000" dirty="0">
                    <a:sym typeface="Wingdings" panose="05000000000000000000" pitchFamily="2" charset="2"/>
                  </a:rPr>
                  <a:t>   </a:t>
                </a:r>
                <a14:m>
                  <m:oMath xmlns:m="http://schemas.openxmlformats.org/officeDocument/2006/math">
                    <m:d>
                      <m:dPr>
                        <m:begChr m:val="["/>
                        <m:endChr m:val="]"/>
                        <m:ctrlPr>
                          <a:rPr lang="en-US" sz="2000" i="1" smtClean="0">
                            <a:latin typeface="Cambria Math" panose="02040503050406030204" pitchFamily="18" charset="0"/>
                            <a:sym typeface="Wingdings" panose="05000000000000000000" pitchFamily="2" charset="2"/>
                          </a:rPr>
                        </m:ctrlPr>
                      </m:dPr>
                      <m:e>
                        <m:m>
                          <m:mPr>
                            <m:mcs>
                              <m:mc>
                                <m:mcPr>
                                  <m:count m:val="1"/>
                                  <m:mcJc m:val="center"/>
                                </m:mcPr>
                              </m:mc>
                            </m:mcs>
                            <m:ctrlPr>
                              <a:rPr lang="en-US" sz="2000" i="1" smtClean="0">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−6</m:t>
                              </m:r>
                            </m:e>
                          </m:mr>
                          <m:mr>
                            <m:e>
                              <m:r>
                                <a:rPr lang="en-US" sz="2000" b="0" i="1" smtClean="0">
                                  <a:latin typeface="Cambria Math" panose="02040503050406030204" pitchFamily="18" charset="0"/>
                                  <a:sym typeface="Wingdings" panose="05000000000000000000" pitchFamily="2" charset="2"/>
                                </a:rPr>
                                <m:t>5</m:t>
                              </m:r>
                            </m:e>
                          </m:mr>
                        </m:m>
                      </m:e>
                    </m:d>
                    <m:r>
                      <a:rPr lang="en-US" sz="2000" b="0"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𝑥</m:t>
                    </m:r>
                  </m:oMath>
                </a14:m>
                <a:r>
                  <a:rPr lang="en-US" sz="2000" dirty="0">
                    <a:sym typeface="Wingdings" panose="05000000000000000000" pitchFamily="2" charset="2"/>
                  </a:rPr>
                  <a:t> </a:t>
                </a:r>
                <a14:m>
                  <m:oMath xmlns:m="http://schemas.openxmlformats.org/officeDocument/2006/math">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3</m:t>
                              </m:r>
                            </m:e>
                          </m:mr>
                        </m:m>
                      </m:e>
                    </m:d>
                    <m:r>
                      <a:rPr lang="en-US" sz="2000" b="0" i="0" smtClean="0">
                        <a:latin typeface="Cambria Math" panose="02040503050406030204" pitchFamily="18" charset="0"/>
                        <a:sym typeface="Wingdings" panose="05000000000000000000" pitchFamily="2" charset="2"/>
                      </a:rPr>
                      <m:t>+</m:t>
                    </m:r>
                    <m:r>
                      <m:rPr>
                        <m:sty m:val="p"/>
                      </m:rPr>
                      <a:rPr lang="en-US" sz="2000" b="0" i="0" smtClean="0">
                        <a:latin typeface="Cambria Math" panose="02040503050406030204" pitchFamily="18" charset="0"/>
                        <a:sym typeface="Wingdings" panose="05000000000000000000" pitchFamily="2" charset="2"/>
                      </a:rPr>
                      <m:t>y</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5</m:t>
                              </m:r>
                            </m:e>
                          </m:mr>
                          <m:mr>
                            <m:e>
                              <m:r>
                                <a:rPr lang="en-US" sz="2000" b="0" i="1" smtClean="0">
                                  <a:latin typeface="Cambria Math" panose="02040503050406030204" pitchFamily="18" charset="0"/>
                                  <a:sym typeface="Wingdings" panose="05000000000000000000" pitchFamily="2" charset="2"/>
                                </a:rPr>
                                <m:t>8</m:t>
                              </m:r>
                            </m:e>
                          </m:mr>
                        </m:m>
                      </m:e>
                    </m:d>
                    <m:r>
                      <a:rPr lang="en-US" sz="2000" b="0"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𝑧</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3</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3</m:t>
                              </m:r>
                            </m:e>
                          </m:mr>
                        </m:m>
                      </m:e>
                    </m:d>
                  </m:oMath>
                </a14:m>
                <a:endParaRPr lang="en-US" sz="2000" dirty="0"/>
              </a:p>
              <a:p>
                <a:pPr marL="0" indent="0">
                  <a:buNone/>
                </a:pPr>
                <a:r>
                  <a:rPr lang="en-US" sz="2000" dirty="0"/>
                  <a:t>	</a:t>
                </a:r>
                <a14:m>
                  <m:oMath xmlns:m="http://schemas.openxmlformats.org/officeDocument/2006/math">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mr>
                          <m:mr>
                            <m:e>
                              <m:r>
                                <a:rPr lang="en-US" sz="2000" i="1">
                                  <a:latin typeface="Cambria Math" panose="02040503050406030204" pitchFamily="18" charset="0"/>
                                </a:rPr>
                                <m:t>−6</m:t>
                              </m:r>
                            </m:e>
                          </m:mr>
                          <m:mr>
                            <m:e>
                              <m:r>
                                <a:rPr lang="en-US" sz="2000" i="1">
                                  <a:latin typeface="Cambria Math" panose="02040503050406030204" pitchFamily="18" charset="0"/>
                                </a:rPr>
                                <m:t>5</m:t>
                              </m:r>
                            </m:e>
                          </m:mr>
                        </m:m>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a:rPr lang="en-US" sz="2000" b="0" i="1" smtClean="0">
                                  <a:latin typeface="Cambria Math" panose="02040503050406030204" pitchFamily="18" charset="0"/>
                                </a:rPr>
                                <m:t>𝑥</m:t>
                              </m:r>
                            </m:e>
                          </m:mr>
                          <m:mr>
                            <m:e>
                              <m:r>
                                <a:rPr lang="en-US" sz="2000" i="1">
                                  <a:latin typeface="Cambria Math" panose="02040503050406030204" pitchFamily="18" charset="0"/>
                                </a:rPr>
                                <m:t>2</m:t>
                              </m:r>
                              <m:r>
                                <a:rPr lang="en-US" sz="2000" b="0" i="1" smtClean="0">
                                  <a:latin typeface="Cambria Math" panose="02040503050406030204" pitchFamily="18" charset="0"/>
                                </a:rPr>
                                <m:t>𝑥</m:t>
                              </m:r>
                            </m:e>
                          </m:mr>
                          <m:mr>
                            <m:e>
                              <m:r>
                                <a:rPr lang="en-US" sz="2000" i="1">
                                  <a:latin typeface="Cambria Math" panose="02040503050406030204" pitchFamily="18" charset="0"/>
                                </a:rPr>
                                <m:t>3</m:t>
                              </m:r>
                              <m:r>
                                <a:rPr lang="en-US" sz="2000" b="0" i="1" smtClean="0">
                                  <a:latin typeface="Cambria Math" panose="02040503050406030204" pitchFamily="18" charset="0"/>
                                </a:rPr>
                                <m:t>𝑥</m:t>
                              </m:r>
                            </m:e>
                          </m:mr>
                        </m:m>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2</m:t>
                              </m:r>
                              <m:r>
                                <a:rPr lang="en-US" sz="2000" b="0" i="1" smtClean="0">
                                  <a:latin typeface="Cambria Math" panose="02040503050406030204" pitchFamily="18" charset="0"/>
                                </a:rPr>
                                <m:t>𝑦</m:t>
                              </m:r>
                            </m:e>
                          </m:mr>
                          <m:mr>
                            <m:e>
                              <m:r>
                                <a:rPr lang="en-US" sz="2000" i="1">
                                  <a:latin typeface="Cambria Math" panose="02040503050406030204" pitchFamily="18" charset="0"/>
                                </a:rPr>
                                <m:t>5</m:t>
                              </m:r>
                              <m:r>
                                <a:rPr lang="en-US" sz="2000" b="0" i="1" smtClean="0">
                                  <a:latin typeface="Cambria Math" panose="02040503050406030204" pitchFamily="18" charset="0"/>
                                </a:rPr>
                                <m:t>𝑦</m:t>
                              </m:r>
                            </m:e>
                          </m:mr>
                          <m:mr>
                            <m:e>
                              <m:r>
                                <a:rPr lang="en-US" sz="2000" i="1">
                                  <a:latin typeface="Cambria Math" panose="02040503050406030204" pitchFamily="18" charset="0"/>
                                </a:rPr>
                                <m:t>8</m:t>
                              </m:r>
                              <m:r>
                                <a:rPr lang="en-US" sz="2000" b="0" i="1" smtClean="0">
                                  <a:latin typeface="Cambria Math" panose="02040503050406030204" pitchFamily="18" charset="0"/>
                                </a:rPr>
                                <m:t>𝑦</m:t>
                              </m:r>
                            </m:e>
                          </m:mr>
                        </m:m>
                      </m:e>
                    </m:d>
                    <m:r>
                      <a:rPr lang="en-US" sz="2000" b="0" i="0"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3</m:t>
                              </m:r>
                              <m:r>
                                <a:rPr lang="en-US" sz="2000" b="0" i="1" smtClean="0">
                                  <a:latin typeface="Cambria Math" panose="02040503050406030204" pitchFamily="18" charset="0"/>
                                </a:rPr>
                                <m:t>𝑧</m:t>
                              </m:r>
                            </m:e>
                          </m:mr>
                          <m:mr>
                            <m:e>
                              <m:r>
                                <a:rPr lang="en-US" sz="2000" i="1">
                                  <a:latin typeface="Cambria Math" panose="02040503050406030204" pitchFamily="18" charset="0"/>
                                </a:rPr>
                                <m:t>2</m:t>
                              </m:r>
                              <m:r>
                                <a:rPr lang="en-US" sz="2000" b="0" i="1" smtClean="0">
                                  <a:latin typeface="Cambria Math" panose="02040503050406030204" pitchFamily="18" charset="0"/>
                                </a:rPr>
                                <m:t>𝑧</m:t>
                              </m:r>
                            </m:e>
                          </m:mr>
                          <m:mr>
                            <m:e>
                              <m:r>
                                <a:rPr lang="en-US" sz="2000" i="1">
                                  <a:latin typeface="Cambria Math" panose="02040503050406030204" pitchFamily="18" charset="0"/>
                                </a:rPr>
                                <m:t>3</m:t>
                              </m:r>
                              <m:r>
                                <a:rPr lang="en-US" sz="2000" b="0" i="1" smtClean="0">
                                  <a:latin typeface="Cambria Math" panose="02040503050406030204" pitchFamily="18" charset="0"/>
                                </a:rPr>
                                <m:t>𝑧</m:t>
                              </m:r>
                            </m:e>
                          </m:mr>
                        </m:m>
                      </m:e>
                    </m:d>
                  </m:oMath>
                </a14:m>
                <a:r>
                  <a:rPr lang="en-US" sz="2000" dirty="0"/>
                  <a:t>  or  </a:t>
                </a:r>
                <a14:m>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𝑧</m:t>
                          </m:r>
                        </m:e>
                      </m:mr>
                      <m:mr>
                        <m:e>
                          <m:r>
                            <a:rPr lang="en-US" sz="2000" b="0" i="1" smtClean="0">
                              <a:latin typeface="Cambria Math" panose="02040503050406030204" pitchFamily="18" charset="0"/>
                            </a:rPr>
                            <m:t>−6=2</m:t>
                          </m:r>
                          <m:r>
                            <a:rPr lang="en-US" sz="2000" b="0" i="1" smtClean="0">
                              <a:latin typeface="Cambria Math" panose="02040503050406030204" pitchFamily="18" charset="0"/>
                            </a:rPr>
                            <m:t>𝑥</m:t>
                          </m:r>
                          <m:r>
                            <a:rPr lang="en-US" sz="2000" b="0" i="1" smtClean="0">
                              <a:latin typeface="Cambria Math" panose="02040503050406030204" pitchFamily="18" charset="0"/>
                            </a:rPr>
                            <m:t>+5</m:t>
                          </m:r>
                          <m:r>
                            <a:rPr lang="en-US" sz="2000" b="0" i="1" smtClean="0">
                              <a:latin typeface="Cambria Math" panose="02040503050406030204" pitchFamily="18" charset="0"/>
                            </a:rPr>
                            <m:t>𝑦</m:t>
                          </m:r>
                          <m:r>
                            <a:rPr lang="en-US" sz="2000" b="0" i="1" smtClean="0">
                              <a:latin typeface="Cambria Math" panose="02040503050406030204" pitchFamily="18" charset="0"/>
                            </a:rPr>
                            <m:t>+2</m:t>
                          </m:r>
                          <m:r>
                            <a:rPr lang="en-US" sz="2000" b="0" i="1" smtClean="0">
                              <a:latin typeface="Cambria Math" panose="02040503050406030204" pitchFamily="18" charset="0"/>
                            </a:rPr>
                            <m:t>𝑧</m:t>
                          </m:r>
                        </m:e>
                      </m:mr>
                      <m:mr>
                        <m:e>
                          <m:r>
                            <a:rPr lang="en-US" sz="2000" b="0" i="1" smtClean="0">
                              <a:latin typeface="Cambria Math" panose="02040503050406030204" pitchFamily="18" charset="0"/>
                            </a:rPr>
                            <m:t>5=3</m:t>
                          </m:r>
                          <m:r>
                            <a:rPr lang="en-US" sz="2000" b="0" i="1" smtClean="0">
                              <a:latin typeface="Cambria Math" panose="02040503050406030204" pitchFamily="18" charset="0"/>
                            </a:rPr>
                            <m:t>𝑥</m:t>
                          </m:r>
                          <m:r>
                            <a:rPr lang="en-US" sz="2000" b="0" i="1" smtClean="0">
                              <a:latin typeface="Cambria Math" panose="02040503050406030204" pitchFamily="18" charset="0"/>
                            </a:rPr>
                            <m:t>+8</m:t>
                          </m:r>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𝑧</m:t>
                          </m:r>
                        </m:e>
                      </m:mr>
                    </m:m>
                  </m:oMath>
                </a14:m>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600200"/>
                <a:ext cx="8229600" cy="4876800"/>
              </a:xfrm>
              <a:blipFill>
                <a:blip r:embed="rId2"/>
                <a:stretch>
                  <a:fillRect l="-741" t="-625"/>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3E8FED92-13DD-46FE-9E7A-EA28BFB014D1}"/>
              </a:ext>
            </a:extLst>
          </p:cNvPr>
          <p:cNvSpPr>
            <a:spLocks noGrp="1"/>
          </p:cNvSpPr>
          <p:nvPr>
            <p:ph type="title"/>
          </p:nvPr>
        </p:nvSpPr>
        <p:spPr>
          <a:xfrm>
            <a:off x="457200" y="533400"/>
            <a:ext cx="8229600" cy="990600"/>
          </a:xfrm>
        </p:spPr>
        <p:txBody>
          <a:bodyPr/>
          <a:lstStyle/>
          <a:p>
            <a:r>
              <a:rPr lang="en-PH" dirty="0"/>
              <a:t>Linear Combination</a:t>
            </a:r>
          </a:p>
        </p:txBody>
      </p:sp>
    </p:spTree>
    <p:extLst>
      <p:ext uri="{BB962C8B-B14F-4D97-AF65-F5344CB8AC3E}">
        <p14:creationId xmlns:p14="http://schemas.microsoft.com/office/powerpoint/2010/main" val="11238145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752600"/>
                <a:ext cx="8229600" cy="4724400"/>
              </a:xfrm>
            </p:spPr>
            <p:txBody>
              <a:bodyPr>
                <a:normAutofit/>
              </a:bodyPr>
              <a:lstStyle/>
              <a:p>
                <a:pPr marL="0" indent="0">
                  <a:buNone/>
                </a:pPr>
                <a:r>
                  <a:rPr lang="en-US" sz="2000" dirty="0"/>
                  <a:t>Step 2: Provide the augmented form.</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m>
                            <m:mPr>
                              <m:mcs>
                                <m:mc>
                                  <m:mcPr>
                                    <m:count m:val="3"/>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1</m:t>
                                </m:r>
                              </m:e>
                              <m:e>
                                <m:r>
                                  <a:rPr lang="en-US" sz="2000" b="0" i="1" smtClean="0">
                                    <a:latin typeface="Cambria Math" panose="02040503050406030204" pitchFamily="18" charset="0"/>
                                  </a:rPr>
                                  <m:t>2</m:t>
                                </m:r>
                              </m:e>
                              <m:e>
                                <m:r>
                                  <a:rPr lang="en-US" sz="2000" b="0" i="1" smtClean="0">
                                    <a:latin typeface="Cambria Math" panose="02040503050406030204" pitchFamily="18" charset="0"/>
                                  </a:rPr>
                                  <m:t>3</m:t>
                                </m:r>
                              </m:e>
                            </m:mr>
                            <m:mr>
                              <m:e>
                                <m:r>
                                  <a:rPr lang="en-US" sz="2000" b="0" i="1" smtClean="0">
                                    <a:latin typeface="Cambria Math" panose="02040503050406030204" pitchFamily="18" charset="0"/>
                                  </a:rPr>
                                  <m:t>2</m:t>
                                </m:r>
                              </m:e>
                              <m:e>
                                <m:r>
                                  <a:rPr lang="en-US" sz="2000" b="0" i="1" smtClean="0">
                                    <a:latin typeface="Cambria Math" panose="02040503050406030204" pitchFamily="18" charset="0"/>
                                  </a:rPr>
                                  <m:t>5</m:t>
                                </m:r>
                              </m:e>
                              <m:e>
                                <m:r>
                                  <a:rPr lang="en-US" sz="2000" b="0" i="1" smtClean="0">
                                    <a:latin typeface="Cambria Math" panose="02040503050406030204" pitchFamily="18" charset="0"/>
                                  </a:rPr>
                                  <m:t>2</m:t>
                                </m:r>
                              </m:e>
                            </m:mr>
                            <m:mr>
                              <m:e>
                                <m:r>
                                  <a:rPr lang="en-US" sz="2000" b="0" i="1" smtClean="0">
                                    <a:latin typeface="Cambria Math" panose="02040503050406030204" pitchFamily="18" charset="0"/>
                                  </a:rPr>
                                  <m:t>3</m:t>
                                </m:r>
                              </m:e>
                              <m:e>
                                <m:r>
                                  <a:rPr lang="en-US" sz="2000" b="0" i="1" smtClean="0">
                                    <a:latin typeface="Cambria Math" panose="02040503050406030204" pitchFamily="18" charset="0"/>
                                  </a:rPr>
                                  <m:t>8</m:t>
                                </m:r>
                              </m:e>
                              <m:e>
                                <m:r>
                                  <a:rPr lang="en-US" sz="2000" b="0" i="1" smtClean="0">
                                    <a:latin typeface="Cambria Math" panose="02040503050406030204" pitchFamily="18" charset="0"/>
                                  </a:rPr>
                                  <m:t>3</m:t>
                                </m:r>
                              </m:e>
                            </m:mr>
                          </m:m>
                          <m:m>
                            <m:mPr>
                              <m:mcs>
                                <m:mc>
                                  <m:mcPr>
                                    <m:count m:val="2"/>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m:t>
                                </m:r>
                              </m:e>
                              <m:e>
                                <m:r>
                                  <a:rPr lang="en-US" sz="2000" b="0" i="1" smtClean="0">
                                    <a:latin typeface="Cambria Math" panose="02040503050406030204" pitchFamily="18" charset="0"/>
                                  </a:rPr>
                                  <m:t>1</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−6</m:t>
                                </m:r>
                              </m:e>
                            </m:mr>
                            <m:mr>
                              <m:e>
                                <m:r>
                                  <a:rPr lang="en-US" sz="2000" b="0" i="1" smtClean="0">
                                    <a:latin typeface="Cambria Math" panose="02040503050406030204" pitchFamily="18" charset="0"/>
                                  </a:rPr>
                                  <m:t>:</m:t>
                                </m:r>
                              </m:e>
                              <m:e>
                                <m:r>
                                  <a:rPr lang="en-US" sz="2000" b="0" i="1" smtClean="0">
                                    <a:latin typeface="Cambria Math" panose="02040503050406030204" pitchFamily="18" charset="0"/>
                                  </a:rPr>
                                  <m:t>5</m:t>
                                </m:r>
                              </m:e>
                            </m:mr>
                          </m:m>
                        </m:e>
                      </m:d>
                    </m:oMath>
                  </m:oMathPara>
                </a14:m>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752600"/>
                <a:ext cx="8229600" cy="4724400"/>
              </a:xfrm>
              <a:blipFill>
                <a:blip r:embed="rId2"/>
                <a:stretch>
                  <a:fillRect l="-741" t="-6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2310206-7599-46A3-A16A-B8CD7C28E34A}"/>
                  </a:ext>
                </a:extLst>
              </p:cNvPr>
              <p:cNvSpPr txBox="1">
                <a:spLocks/>
              </p:cNvSpPr>
              <p:nvPr/>
            </p:nvSpPr>
            <p:spPr>
              <a:xfrm>
                <a:off x="457200" y="3124200"/>
                <a:ext cx="8229600" cy="3352800"/>
              </a:xfrm>
              <a:prstGeom prst="rect">
                <a:avLst/>
              </a:prstGeom>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sz="2000" dirty="0"/>
                  <a:t>Step 3: Reduce to ROW ECHELON FORM (triangular matrix).</a:t>
                </a:r>
              </a:p>
              <a:p>
                <a:pPr marL="0" indent="0">
                  <a:buFont typeface="Arial" pitchFamily="34" charset="0"/>
                  <a:buNone/>
                </a:pPr>
                <a14:m>
                  <m:oMathPara xmlns:m="http://schemas.openxmlformats.org/officeDocument/2006/math">
                    <m:oMathParaPr>
                      <m:jc m:val="left"/>
                    </m:oMathParaPr>
                    <m:oMath xmlns:m="http://schemas.openxmlformats.org/officeDocument/2006/math">
                      <m:d>
                        <m:dPr>
                          <m:begChr m:val="["/>
                          <m:endChr m:val="]"/>
                          <m:ctrlPr>
                            <a:rPr lang="en-US" sz="2000" i="1" smtClean="0">
                              <a:latin typeface="Cambria Math" panose="02040503050406030204" pitchFamily="18" charset="0"/>
                            </a:rPr>
                          </m:ctrlPr>
                        </m:dPr>
                        <m:e>
                          <m:m>
                            <m:mPr>
                              <m:mcs>
                                <m:mc>
                                  <m:mcPr>
                                    <m:count m:val="3"/>
                                    <m:mcJc m:val="center"/>
                                  </m:mcPr>
                                </m:mc>
                              </m:mcs>
                              <m:ctrlPr>
                                <a:rPr lang="en-US" sz="2000" i="1" smtClean="0">
                                  <a:latin typeface="Cambria Math" panose="02040503050406030204" pitchFamily="18" charset="0"/>
                                </a:rPr>
                              </m:ctrlPr>
                            </m:mPr>
                            <m:mr>
                              <m:e>
                                <m:r>
                                  <m:rPr>
                                    <m:brk m:alnAt="7"/>
                                  </m:rPr>
                                  <a:rPr lang="en-US" sz="2000" i="1" smtClean="0">
                                    <a:latin typeface="Cambria Math" panose="02040503050406030204" pitchFamily="18" charset="0"/>
                                  </a:rPr>
                                  <m:t>1</m:t>
                                </m:r>
                              </m:e>
                              <m:e>
                                <m:r>
                                  <a:rPr lang="en-US" sz="2000" i="1" smtClean="0">
                                    <a:latin typeface="Cambria Math" panose="02040503050406030204" pitchFamily="18" charset="0"/>
                                  </a:rPr>
                                  <m:t>2</m:t>
                                </m:r>
                              </m:e>
                              <m:e>
                                <m:r>
                                  <a:rPr lang="en-US" sz="2000" i="1" smtClean="0">
                                    <a:latin typeface="Cambria Math" panose="02040503050406030204" pitchFamily="18" charset="0"/>
                                  </a:rPr>
                                  <m:t>3</m:t>
                                </m:r>
                              </m:e>
                            </m:mr>
                            <m:mr>
                              <m:e>
                                <m:r>
                                  <a:rPr lang="en-US" sz="2000" i="1" smtClean="0">
                                    <a:latin typeface="Cambria Math" panose="02040503050406030204" pitchFamily="18" charset="0"/>
                                  </a:rPr>
                                  <m:t>2</m:t>
                                </m:r>
                              </m:e>
                              <m:e>
                                <m:r>
                                  <a:rPr lang="en-US" sz="2000" i="1" smtClean="0">
                                    <a:latin typeface="Cambria Math" panose="02040503050406030204" pitchFamily="18" charset="0"/>
                                  </a:rPr>
                                  <m:t>5</m:t>
                                </m:r>
                              </m:e>
                              <m:e>
                                <m:r>
                                  <a:rPr lang="en-US" sz="2000" i="1" smtClean="0">
                                    <a:latin typeface="Cambria Math" panose="02040503050406030204" pitchFamily="18" charset="0"/>
                                  </a:rPr>
                                  <m:t>2</m:t>
                                </m:r>
                              </m:e>
                            </m:mr>
                            <m:mr>
                              <m:e>
                                <m:r>
                                  <a:rPr lang="en-US" sz="2000" i="1" smtClean="0">
                                    <a:latin typeface="Cambria Math" panose="02040503050406030204" pitchFamily="18" charset="0"/>
                                  </a:rPr>
                                  <m:t>3</m:t>
                                </m:r>
                              </m:e>
                              <m:e>
                                <m:r>
                                  <a:rPr lang="en-US" sz="2000" i="1" smtClean="0">
                                    <a:latin typeface="Cambria Math" panose="02040503050406030204" pitchFamily="18" charset="0"/>
                                  </a:rPr>
                                  <m:t>8</m:t>
                                </m:r>
                              </m:e>
                              <m:e>
                                <m:r>
                                  <a:rPr lang="en-US" sz="2000" i="1" smtClean="0">
                                    <a:latin typeface="Cambria Math" panose="02040503050406030204" pitchFamily="18" charset="0"/>
                                  </a:rPr>
                                  <m:t>3</m:t>
                                </m:r>
                              </m:e>
                            </m:mr>
                          </m:m>
                          <m:m>
                            <m:mPr>
                              <m:mcs>
                                <m:mc>
                                  <m:mcPr>
                                    <m:count m:val="2"/>
                                    <m:mcJc m:val="center"/>
                                  </m:mcPr>
                                </m:mc>
                              </m:mcs>
                              <m:ctrlPr>
                                <a:rPr lang="en-US" sz="2000" i="1" smtClean="0">
                                  <a:latin typeface="Cambria Math" panose="02040503050406030204" pitchFamily="18" charset="0"/>
                                </a:rPr>
                              </m:ctrlPr>
                            </m:mPr>
                            <m:mr>
                              <m:e>
                                <m:r>
                                  <m:rPr>
                                    <m:brk m:alnAt="7"/>
                                  </m:rPr>
                                  <a:rPr lang="en-US" sz="2000" i="1" smtClean="0">
                                    <a:latin typeface="Cambria Math" panose="02040503050406030204" pitchFamily="18" charset="0"/>
                                  </a:rPr>
                                  <m:t>:</m:t>
                                </m:r>
                              </m:e>
                              <m:e>
                                <m:r>
                                  <a:rPr lang="en-US" sz="2000" i="1" smtClean="0">
                                    <a:latin typeface="Cambria Math" panose="02040503050406030204" pitchFamily="18" charset="0"/>
                                  </a:rPr>
                                  <m:t>1</m:t>
                                </m:r>
                              </m:e>
                            </m:mr>
                            <m:mr>
                              <m:e>
                                <m:r>
                                  <a:rPr lang="en-US" sz="2000" i="1" smtClean="0">
                                    <a:latin typeface="Cambria Math" panose="02040503050406030204" pitchFamily="18" charset="0"/>
                                  </a:rPr>
                                  <m:t>:</m:t>
                                </m:r>
                              </m:e>
                              <m:e>
                                <m:r>
                                  <a:rPr lang="en-US" sz="2000" i="1" smtClean="0">
                                    <a:latin typeface="Cambria Math" panose="02040503050406030204" pitchFamily="18" charset="0"/>
                                  </a:rPr>
                                  <m:t>−6</m:t>
                                </m:r>
                              </m:e>
                            </m:mr>
                            <m:mr>
                              <m:e>
                                <m:r>
                                  <a:rPr lang="en-US" sz="2000" i="1" smtClean="0">
                                    <a:latin typeface="Cambria Math" panose="02040503050406030204" pitchFamily="18" charset="0"/>
                                  </a:rPr>
                                  <m:t>:</m:t>
                                </m:r>
                              </m:e>
                              <m:e>
                                <m:r>
                                  <a:rPr lang="en-US" sz="2000" i="1" smtClean="0">
                                    <a:latin typeface="Cambria Math" panose="02040503050406030204" pitchFamily="18" charset="0"/>
                                  </a:rPr>
                                  <m:t>5</m:t>
                                </m:r>
                              </m:e>
                            </m:mr>
                          </m:m>
                        </m:e>
                      </m:d>
                      <m:r>
                        <a:rPr lang="en-US" sz="2000" i="1" smtClean="0">
                          <a:latin typeface="Cambria Math" panose="02040503050406030204" pitchFamily="18" charset="0"/>
                          <a:ea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3"/>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2</m:t>
                                </m:r>
                              </m:e>
                              <m:e>
                                <m:r>
                                  <a:rPr lang="en-US" sz="2000" i="1">
                                    <a:latin typeface="Cambria Math" panose="02040503050406030204" pitchFamily="18" charset="0"/>
                                  </a:rPr>
                                  <m:t>3</m:t>
                                </m:r>
                              </m:e>
                            </m:mr>
                            <m:mr>
                              <m:e>
                                <m:r>
                                  <a:rPr lang="en-US" sz="2000" i="1" smtClean="0">
                                    <a:latin typeface="Cambria Math" panose="02040503050406030204" pitchFamily="18" charset="0"/>
                                  </a:rPr>
                                  <m:t>0</m:t>
                                </m:r>
                              </m:e>
                              <m:e>
                                <m:r>
                                  <a:rPr lang="en-US" sz="2000" i="1" smtClean="0">
                                    <a:latin typeface="Cambria Math" panose="02040503050406030204" pitchFamily="18" charset="0"/>
                                  </a:rPr>
                                  <m:t>1</m:t>
                                </m:r>
                              </m:e>
                              <m:e>
                                <m:r>
                                  <a:rPr lang="en-US" sz="2000" i="1" smtClean="0">
                                    <a:latin typeface="Cambria Math" panose="02040503050406030204" pitchFamily="18" charset="0"/>
                                  </a:rPr>
                                  <m:t>−4</m:t>
                                </m:r>
                              </m:e>
                            </m:mr>
                            <m:mr>
                              <m:e>
                                <m:r>
                                  <a:rPr lang="en-US" sz="2000" i="1" smtClean="0">
                                    <a:latin typeface="Cambria Math" panose="02040503050406030204" pitchFamily="18" charset="0"/>
                                  </a:rPr>
                                  <m:t>0</m:t>
                                </m:r>
                              </m:e>
                              <m:e>
                                <m:r>
                                  <a:rPr lang="en-US" sz="2000" i="1" smtClean="0">
                                    <a:latin typeface="Cambria Math" panose="02040503050406030204" pitchFamily="18" charset="0"/>
                                  </a:rPr>
                                  <m:t>2</m:t>
                                </m:r>
                              </m:e>
                              <m:e>
                                <m:r>
                                  <a:rPr lang="en-US" sz="2000" i="1" smtClean="0">
                                    <a:latin typeface="Cambria Math" panose="02040503050406030204" pitchFamily="18" charset="0"/>
                                  </a:rPr>
                                  <m:t>−6</m:t>
                                </m:r>
                              </m:e>
                            </m:mr>
                          </m:m>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m:t>
                                </m:r>
                              </m:e>
                              <m:e>
                                <m:r>
                                  <a:rPr lang="en-US" sz="2000" i="1">
                                    <a:latin typeface="Cambria Math" panose="02040503050406030204" pitchFamily="18" charset="0"/>
                                  </a:rPr>
                                  <m:t>1</m:t>
                                </m:r>
                              </m:e>
                            </m:mr>
                            <m:mr>
                              <m:e>
                                <m:r>
                                  <a:rPr lang="en-US" sz="2000" i="1">
                                    <a:latin typeface="Cambria Math" panose="02040503050406030204" pitchFamily="18" charset="0"/>
                                  </a:rPr>
                                  <m:t>:</m:t>
                                </m:r>
                              </m:e>
                              <m:e>
                                <m:r>
                                  <a:rPr lang="en-US" sz="2000" i="1">
                                    <a:latin typeface="Cambria Math" panose="02040503050406030204" pitchFamily="18" charset="0"/>
                                  </a:rPr>
                                  <m:t>−</m:t>
                                </m:r>
                                <m:r>
                                  <a:rPr lang="en-US" sz="2000" i="1" smtClean="0">
                                    <a:latin typeface="Cambria Math" panose="02040503050406030204" pitchFamily="18" charset="0"/>
                                  </a:rPr>
                                  <m:t>8</m:t>
                                </m:r>
                              </m:e>
                            </m:mr>
                            <m:mr>
                              <m:e>
                                <m:r>
                                  <a:rPr lang="en-US" sz="2000" i="1">
                                    <a:latin typeface="Cambria Math" panose="02040503050406030204" pitchFamily="18" charset="0"/>
                                  </a:rPr>
                                  <m:t>:</m:t>
                                </m:r>
                              </m:e>
                              <m:e>
                                <m:r>
                                  <a:rPr lang="en-US" sz="2000" i="1" smtClean="0">
                                    <a:latin typeface="Cambria Math" panose="02040503050406030204" pitchFamily="18" charset="0"/>
                                  </a:rPr>
                                  <m:t>2</m:t>
                                </m:r>
                              </m:e>
                            </m:mr>
                          </m:m>
                        </m:e>
                      </m:d>
                      <m:r>
                        <a:rPr lang="en-US" sz="2000" i="1">
                          <a:latin typeface="Cambria Math" panose="02040503050406030204" pitchFamily="18" charset="0"/>
                          <a:ea typeface="Cambria Math" panose="02040503050406030204" pitchFamily="18" charset="0"/>
                        </a:rPr>
                        <m:t>≈</m:t>
                      </m:r>
                      <m:d>
                        <m:dPr>
                          <m:begChr m:val="["/>
                          <m:endChr m:val="]"/>
                          <m:ctrlPr>
                            <a:rPr lang="en-US" sz="2000" i="1">
                              <a:latin typeface="Cambria Math" panose="02040503050406030204" pitchFamily="18" charset="0"/>
                            </a:rPr>
                          </m:ctrlPr>
                        </m:dPr>
                        <m:e>
                          <m:m>
                            <m:mPr>
                              <m:mcs>
                                <m:mc>
                                  <m:mcPr>
                                    <m:count m:val="3"/>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2</m:t>
                                </m:r>
                              </m:e>
                              <m:e>
                                <m:r>
                                  <a:rPr lang="en-US" sz="2000" i="1">
                                    <a:latin typeface="Cambria Math" panose="02040503050406030204" pitchFamily="18" charset="0"/>
                                  </a:rPr>
                                  <m:t>3</m:t>
                                </m:r>
                              </m:e>
                            </m:mr>
                            <m:mr>
                              <m:e>
                                <m:r>
                                  <a:rPr lang="en-US" sz="2000" i="1" smtClean="0">
                                    <a:latin typeface="Cambria Math" panose="02040503050406030204" pitchFamily="18" charset="0"/>
                                  </a:rPr>
                                  <m:t>0</m:t>
                                </m:r>
                              </m:e>
                              <m:e>
                                <m:r>
                                  <a:rPr lang="en-US" sz="2000" i="1" smtClean="0">
                                    <a:latin typeface="Cambria Math" panose="02040503050406030204" pitchFamily="18" charset="0"/>
                                  </a:rPr>
                                  <m:t>1</m:t>
                                </m:r>
                              </m:e>
                              <m:e>
                                <m:r>
                                  <a:rPr lang="en-US" sz="2000" i="1" smtClean="0">
                                    <a:latin typeface="Cambria Math" panose="02040503050406030204" pitchFamily="18" charset="0"/>
                                  </a:rPr>
                                  <m:t>−4</m:t>
                                </m:r>
                              </m:e>
                            </m:mr>
                            <m:mr>
                              <m:e>
                                <m:r>
                                  <a:rPr lang="en-US" sz="2000" i="1" smtClean="0">
                                    <a:latin typeface="Cambria Math" panose="02040503050406030204" pitchFamily="18" charset="0"/>
                                  </a:rPr>
                                  <m:t>0</m:t>
                                </m:r>
                              </m:e>
                              <m:e>
                                <m:r>
                                  <a:rPr lang="en-US" sz="2000" i="1" smtClean="0">
                                    <a:latin typeface="Cambria Math" panose="02040503050406030204" pitchFamily="18" charset="0"/>
                                  </a:rPr>
                                  <m:t>0</m:t>
                                </m:r>
                              </m:e>
                              <m:e>
                                <m:r>
                                  <a:rPr lang="en-US" sz="2000" i="1" smtClean="0">
                                    <a:latin typeface="Cambria Math" panose="02040503050406030204" pitchFamily="18" charset="0"/>
                                  </a:rPr>
                                  <m:t>2</m:t>
                                </m:r>
                              </m:e>
                            </m:mr>
                          </m:m>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m:t>
                                </m:r>
                              </m:e>
                              <m:e>
                                <m:r>
                                  <a:rPr lang="en-US" sz="2000" i="1">
                                    <a:latin typeface="Cambria Math" panose="02040503050406030204" pitchFamily="18" charset="0"/>
                                  </a:rPr>
                                  <m:t>1</m:t>
                                </m:r>
                              </m:e>
                            </m:mr>
                            <m:mr>
                              <m:e>
                                <m:r>
                                  <a:rPr lang="en-US" sz="2000" i="1">
                                    <a:latin typeface="Cambria Math" panose="02040503050406030204" pitchFamily="18" charset="0"/>
                                  </a:rPr>
                                  <m:t>:</m:t>
                                </m:r>
                              </m:e>
                              <m:e>
                                <m:r>
                                  <a:rPr lang="en-US" sz="2000" i="1">
                                    <a:latin typeface="Cambria Math" panose="02040503050406030204" pitchFamily="18" charset="0"/>
                                  </a:rPr>
                                  <m:t>−</m:t>
                                </m:r>
                                <m:r>
                                  <a:rPr lang="en-US" sz="2000" i="1" smtClean="0">
                                    <a:latin typeface="Cambria Math" panose="02040503050406030204" pitchFamily="18" charset="0"/>
                                  </a:rPr>
                                  <m:t>8</m:t>
                                </m:r>
                              </m:e>
                            </m:mr>
                            <m:mr>
                              <m:e>
                                <m:r>
                                  <a:rPr lang="en-US" sz="2000" i="1">
                                    <a:latin typeface="Cambria Math" panose="02040503050406030204" pitchFamily="18" charset="0"/>
                                  </a:rPr>
                                  <m:t>:</m:t>
                                </m:r>
                              </m:e>
                              <m:e>
                                <m:r>
                                  <a:rPr lang="en-US" sz="2000" i="1" smtClean="0">
                                    <a:latin typeface="Cambria Math" panose="02040503050406030204" pitchFamily="18" charset="0"/>
                                  </a:rPr>
                                  <m:t>18</m:t>
                                </m:r>
                              </m:e>
                            </m:mr>
                          </m:m>
                        </m:e>
                      </m:d>
                      <m:r>
                        <a:rPr lang="en-US" sz="2000" i="1">
                          <a:latin typeface="Cambria Math" panose="02040503050406030204" pitchFamily="18" charset="0"/>
                          <a:ea typeface="Cambria Math" panose="02040503050406030204" pitchFamily="18" charset="0"/>
                        </a:rPr>
                        <m:t>≈</m:t>
                      </m:r>
                    </m:oMath>
                  </m:oMathPara>
                </a14:m>
                <a:endParaRPr lang="en-US" sz="2000" dirty="0"/>
              </a:p>
              <a:p>
                <a:pPr marL="0" indent="0">
                  <a:buFont typeface="Arial" pitchFamily="34" charset="0"/>
                  <a:buNone/>
                </a:pPr>
                <a:r>
                  <a:rPr lang="en-US" sz="2000" dirty="0"/>
                  <a:t>                                  </a:t>
                </a:r>
              </a:p>
              <a:p>
                <a:pPr marL="0" indent="0">
                  <a:buFont typeface="Arial" pitchFamily="34" charset="0"/>
                  <a:buNone/>
                </a:pPr>
                <a:endParaRPr lang="en-US" sz="2000" dirty="0"/>
              </a:p>
              <a:p>
                <a:pPr marL="0" indent="0">
                  <a:buFont typeface="Arial" pitchFamily="34" charset="0"/>
                  <a:buNone/>
                </a:pPr>
                <a14:m>
                  <m:oMathPara xmlns:m="http://schemas.openxmlformats.org/officeDocument/2006/math">
                    <m:oMathParaPr>
                      <m:jc m:val="left"/>
                    </m:oMathParaPr>
                    <m:oMath xmlns:m="http://schemas.openxmlformats.org/officeDocument/2006/math">
                      <m:d>
                        <m:dPr>
                          <m:begChr m:val="["/>
                          <m:endChr m:val="]"/>
                          <m:ctrlPr>
                            <a:rPr lang="en-US" sz="2000" i="1" smtClean="0">
                              <a:latin typeface="Cambria Math" panose="02040503050406030204" pitchFamily="18" charset="0"/>
                            </a:rPr>
                          </m:ctrlPr>
                        </m:dPr>
                        <m:e>
                          <m:m>
                            <m:mPr>
                              <m:mcs>
                                <m:mc>
                                  <m:mcPr>
                                    <m:count m:val="3"/>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1</m:t>
                                </m:r>
                              </m:e>
                              <m:e>
                                <m:r>
                                  <a:rPr lang="en-US" sz="2000" i="1">
                                    <a:latin typeface="Cambria Math" panose="02040503050406030204" pitchFamily="18" charset="0"/>
                                  </a:rPr>
                                  <m:t>2</m:t>
                                </m:r>
                              </m:e>
                              <m:e>
                                <m:r>
                                  <a:rPr lang="en-US" sz="2000" i="1">
                                    <a:latin typeface="Cambria Math" panose="02040503050406030204" pitchFamily="18" charset="0"/>
                                  </a:rPr>
                                  <m:t>3</m:t>
                                </m:r>
                              </m:e>
                            </m:mr>
                            <m:mr>
                              <m:e>
                                <m:r>
                                  <a:rPr lang="en-US" sz="2000" i="1" smtClean="0">
                                    <a:latin typeface="Cambria Math" panose="02040503050406030204" pitchFamily="18" charset="0"/>
                                  </a:rPr>
                                  <m:t>0</m:t>
                                </m:r>
                              </m:e>
                              <m:e>
                                <m:r>
                                  <a:rPr lang="en-US" sz="2000" i="1" smtClean="0">
                                    <a:latin typeface="Cambria Math" panose="02040503050406030204" pitchFamily="18" charset="0"/>
                                  </a:rPr>
                                  <m:t>1</m:t>
                                </m:r>
                              </m:e>
                              <m:e>
                                <m:r>
                                  <a:rPr lang="en-US" sz="2000" i="1" smtClean="0">
                                    <a:latin typeface="Cambria Math" panose="02040503050406030204" pitchFamily="18" charset="0"/>
                                  </a:rPr>
                                  <m:t>−4</m:t>
                                </m:r>
                              </m:e>
                            </m:mr>
                            <m:mr>
                              <m:e>
                                <m:r>
                                  <a:rPr lang="en-US" sz="2000" i="1" smtClean="0">
                                    <a:latin typeface="Cambria Math" panose="02040503050406030204" pitchFamily="18" charset="0"/>
                                  </a:rPr>
                                  <m:t>0</m:t>
                                </m:r>
                              </m:e>
                              <m:e>
                                <m:r>
                                  <a:rPr lang="en-US" sz="2000" i="1" smtClean="0">
                                    <a:latin typeface="Cambria Math" panose="02040503050406030204" pitchFamily="18" charset="0"/>
                                  </a:rPr>
                                  <m:t>0</m:t>
                                </m:r>
                              </m:e>
                              <m:e>
                                <m:r>
                                  <a:rPr lang="en-US" sz="2000" i="1" smtClean="0">
                                    <a:latin typeface="Cambria Math" panose="02040503050406030204" pitchFamily="18" charset="0"/>
                                  </a:rPr>
                                  <m:t>1</m:t>
                                </m:r>
                              </m:e>
                            </m:mr>
                          </m:m>
                          <m:m>
                            <m:mPr>
                              <m:mcs>
                                <m:mc>
                                  <m:mcPr>
                                    <m:count m:val="2"/>
                                    <m:mcJc m:val="center"/>
                                  </m:mcPr>
                                </m:mc>
                              </m:mcs>
                              <m:ctrlPr>
                                <a:rPr lang="en-US" sz="2000" i="1">
                                  <a:latin typeface="Cambria Math" panose="02040503050406030204" pitchFamily="18" charset="0"/>
                                </a:rPr>
                              </m:ctrlPr>
                            </m:mPr>
                            <m:mr>
                              <m:e>
                                <m:r>
                                  <m:rPr>
                                    <m:brk m:alnAt="7"/>
                                  </m:rPr>
                                  <a:rPr lang="en-US" sz="2000" i="1">
                                    <a:latin typeface="Cambria Math" panose="02040503050406030204" pitchFamily="18" charset="0"/>
                                  </a:rPr>
                                  <m:t>:</m:t>
                                </m:r>
                              </m:e>
                              <m:e>
                                <m:r>
                                  <a:rPr lang="en-US" sz="2000" i="1">
                                    <a:latin typeface="Cambria Math" panose="02040503050406030204" pitchFamily="18" charset="0"/>
                                  </a:rPr>
                                  <m:t>1</m:t>
                                </m:r>
                              </m:e>
                            </m:mr>
                            <m:mr>
                              <m:e>
                                <m:r>
                                  <a:rPr lang="en-US" sz="2000" i="1">
                                    <a:latin typeface="Cambria Math" panose="02040503050406030204" pitchFamily="18" charset="0"/>
                                  </a:rPr>
                                  <m:t>:</m:t>
                                </m:r>
                              </m:e>
                              <m:e>
                                <m:r>
                                  <a:rPr lang="en-US" sz="2000" i="1">
                                    <a:latin typeface="Cambria Math" panose="02040503050406030204" pitchFamily="18" charset="0"/>
                                  </a:rPr>
                                  <m:t>−</m:t>
                                </m:r>
                                <m:r>
                                  <a:rPr lang="en-US" sz="2000" i="1" smtClean="0">
                                    <a:latin typeface="Cambria Math" panose="02040503050406030204" pitchFamily="18" charset="0"/>
                                  </a:rPr>
                                  <m:t>8</m:t>
                                </m:r>
                              </m:e>
                            </m:mr>
                            <m:mr>
                              <m:e>
                                <m:r>
                                  <a:rPr lang="en-US" sz="2000" i="1">
                                    <a:latin typeface="Cambria Math" panose="02040503050406030204" pitchFamily="18" charset="0"/>
                                  </a:rPr>
                                  <m:t>:</m:t>
                                </m:r>
                              </m:e>
                              <m:e>
                                <m:r>
                                  <a:rPr lang="en-US" sz="2000" i="1" smtClean="0">
                                    <a:latin typeface="Cambria Math" panose="02040503050406030204" pitchFamily="18" charset="0"/>
                                  </a:rPr>
                                  <m:t>9</m:t>
                                </m:r>
                              </m:e>
                            </m:mr>
                          </m:m>
                        </m:e>
                      </m:d>
                      <m:r>
                        <a:rPr lang="en-US" sz="2000" i="1" smtClean="0">
                          <a:latin typeface="Cambria Math" panose="02040503050406030204" pitchFamily="18" charset="0"/>
                        </a:rPr>
                        <m:t>  </m:t>
                      </m:r>
                    </m:oMath>
                  </m:oMathPara>
                </a14:m>
                <a:endParaRPr lang="en-US" sz="2000" dirty="0"/>
              </a:p>
              <a:p>
                <a:pPr marL="0" indent="0">
                  <a:buFont typeface="Arial" pitchFamily="34" charset="0"/>
                  <a:buNone/>
                </a:pPr>
                <a:endParaRPr lang="en-US" sz="2000" dirty="0"/>
              </a:p>
              <a:p>
                <a:pPr marL="0" indent="0">
                  <a:buFont typeface="Arial" pitchFamily="34" charset="0"/>
                  <a:buNone/>
                </a:pPr>
                <a:endParaRPr lang="en-US" sz="2000" dirty="0"/>
              </a:p>
            </p:txBody>
          </p:sp>
        </mc:Choice>
        <mc:Fallback xmlns="">
          <p:sp>
            <p:nvSpPr>
              <p:cNvPr id="4" name="Content Placeholder 2">
                <a:extLst>
                  <a:ext uri="{FF2B5EF4-FFF2-40B4-BE49-F238E27FC236}">
                    <a16:creationId xmlns:a16="http://schemas.microsoft.com/office/drawing/2014/main" id="{92310206-7599-46A3-A16A-B8CD7C28E34A}"/>
                  </a:ext>
                </a:extLst>
              </p:cNvPr>
              <p:cNvSpPr txBox="1">
                <a:spLocks noRot="1" noChangeAspect="1" noMove="1" noResize="1" noEditPoints="1" noAdjustHandles="1" noChangeArrowheads="1" noChangeShapeType="1" noTextEdit="1"/>
              </p:cNvSpPr>
              <p:nvPr/>
            </p:nvSpPr>
            <p:spPr>
              <a:xfrm>
                <a:off x="457200" y="3124200"/>
                <a:ext cx="8229600" cy="3352800"/>
              </a:xfrm>
              <a:prstGeom prst="rect">
                <a:avLst/>
              </a:prstGeom>
              <a:blipFill>
                <a:blip r:embed="rId3"/>
                <a:stretch>
                  <a:fillRect l="-741" t="-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7C7AE5D-866E-4026-BFB7-2717540F4F62}"/>
                  </a:ext>
                </a:extLst>
              </p:cNvPr>
              <p:cNvSpPr txBox="1"/>
              <p:nvPr/>
            </p:nvSpPr>
            <p:spPr>
              <a:xfrm>
                <a:off x="2667000" y="4419600"/>
                <a:ext cx="205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5" name="TextBox 4">
                <a:extLst>
                  <a:ext uri="{FF2B5EF4-FFF2-40B4-BE49-F238E27FC236}">
                    <a16:creationId xmlns:a16="http://schemas.microsoft.com/office/drawing/2014/main" id="{37C7AE5D-866E-4026-BFB7-2717540F4F62}"/>
                  </a:ext>
                </a:extLst>
              </p:cNvPr>
              <p:cNvSpPr txBox="1">
                <a:spLocks noRot="1" noChangeAspect="1" noMove="1" noResize="1" noEditPoints="1" noAdjustHandles="1" noChangeArrowheads="1" noChangeShapeType="1" noTextEdit="1"/>
              </p:cNvSpPr>
              <p:nvPr/>
            </p:nvSpPr>
            <p:spPr>
              <a:xfrm>
                <a:off x="2667000" y="4419600"/>
                <a:ext cx="205740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1A82597-3A11-4004-BB99-0CEA93861FD2}"/>
                  </a:ext>
                </a:extLst>
              </p:cNvPr>
              <p:cNvSpPr txBox="1"/>
              <p:nvPr/>
            </p:nvSpPr>
            <p:spPr>
              <a:xfrm>
                <a:off x="2667000" y="4800600"/>
                <a:ext cx="205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−3</m:t>
                          </m:r>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6" name="TextBox 5">
                <a:extLst>
                  <a:ext uri="{FF2B5EF4-FFF2-40B4-BE49-F238E27FC236}">
                    <a16:creationId xmlns:a16="http://schemas.microsoft.com/office/drawing/2014/main" id="{01A82597-3A11-4004-BB99-0CEA93861FD2}"/>
                  </a:ext>
                </a:extLst>
              </p:cNvPr>
              <p:cNvSpPr txBox="1">
                <a:spLocks noRot="1" noChangeAspect="1" noMove="1" noResize="1" noEditPoints="1" noAdjustHandles="1" noChangeArrowheads="1" noChangeShapeType="1" noTextEdit="1"/>
              </p:cNvSpPr>
              <p:nvPr/>
            </p:nvSpPr>
            <p:spPr>
              <a:xfrm>
                <a:off x="2667000" y="4800600"/>
                <a:ext cx="205740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84F2B7-B58A-4772-AED7-C837B6E217DB}"/>
                  </a:ext>
                </a:extLst>
              </p:cNvPr>
              <p:cNvSpPr txBox="1"/>
              <p:nvPr/>
            </p:nvSpPr>
            <p:spPr>
              <a:xfrm>
                <a:off x="5105400" y="4431890"/>
                <a:ext cx="205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𝑅</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7" name="TextBox 6">
                <a:extLst>
                  <a:ext uri="{FF2B5EF4-FFF2-40B4-BE49-F238E27FC236}">
                    <a16:creationId xmlns:a16="http://schemas.microsoft.com/office/drawing/2014/main" id="{8284F2B7-B58A-4772-AED7-C837B6E217DB}"/>
                  </a:ext>
                </a:extLst>
              </p:cNvPr>
              <p:cNvSpPr txBox="1">
                <a:spLocks noRot="1" noChangeAspect="1" noMove="1" noResize="1" noEditPoints="1" noAdjustHandles="1" noChangeArrowheads="1" noChangeShapeType="1" noTextEdit="1"/>
              </p:cNvSpPr>
              <p:nvPr/>
            </p:nvSpPr>
            <p:spPr>
              <a:xfrm>
                <a:off x="5105400" y="4431890"/>
                <a:ext cx="205740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D7CB703-3E7A-4589-9B8F-BE1A97819A76}"/>
                  </a:ext>
                </a:extLst>
              </p:cNvPr>
              <p:cNvSpPr txBox="1"/>
              <p:nvPr/>
            </p:nvSpPr>
            <p:spPr>
              <a:xfrm>
                <a:off x="609600" y="5867400"/>
                <a:ext cx="2057400"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3</m:t>
                          </m:r>
                        </m:sub>
                      </m:sSub>
                    </m:oMath>
                  </m:oMathPara>
                </a14:m>
                <a:endParaRPr lang="en-US" dirty="0"/>
              </a:p>
            </p:txBody>
          </p:sp>
        </mc:Choice>
        <mc:Fallback xmlns="">
          <p:sp>
            <p:nvSpPr>
              <p:cNvPr id="8" name="TextBox 7">
                <a:extLst>
                  <a:ext uri="{FF2B5EF4-FFF2-40B4-BE49-F238E27FC236}">
                    <a16:creationId xmlns:a16="http://schemas.microsoft.com/office/drawing/2014/main" id="{6D7CB703-3E7A-4589-9B8F-BE1A97819A76}"/>
                  </a:ext>
                </a:extLst>
              </p:cNvPr>
              <p:cNvSpPr txBox="1">
                <a:spLocks noRot="1" noChangeAspect="1" noMove="1" noResize="1" noEditPoints="1" noAdjustHandles="1" noChangeArrowheads="1" noChangeShapeType="1" noTextEdit="1"/>
              </p:cNvSpPr>
              <p:nvPr/>
            </p:nvSpPr>
            <p:spPr>
              <a:xfrm>
                <a:off x="609600" y="5867400"/>
                <a:ext cx="2057400" cy="634789"/>
              </a:xfrm>
              <a:prstGeom prst="rect">
                <a:avLst/>
              </a:prstGeom>
              <a:blipFill>
                <a:blip r:embed="rId7"/>
                <a:stretch>
                  <a:fillRect/>
                </a:stretch>
              </a:blipFill>
            </p:spPr>
            <p:txBody>
              <a:bodyPr/>
              <a:lstStyle/>
              <a:p>
                <a:r>
                  <a:rPr lang="en-US">
                    <a:noFill/>
                  </a:rPr>
                  <a:t> </a:t>
                </a:r>
              </a:p>
            </p:txBody>
          </p:sp>
        </mc:Fallback>
      </mc:AlternateContent>
      <p:sp>
        <p:nvSpPr>
          <p:cNvPr id="9" name="Title 3">
            <a:extLst>
              <a:ext uri="{FF2B5EF4-FFF2-40B4-BE49-F238E27FC236}">
                <a16:creationId xmlns:a16="http://schemas.microsoft.com/office/drawing/2014/main" id="{3FF65F77-7A57-4735-A735-3C65EB7C30B0}"/>
              </a:ext>
            </a:extLst>
          </p:cNvPr>
          <p:cNvSpPr>
            <a:spLocks noGrp="1"/>
          </p:cNvSpPr>
          <p:nvPr>
            <p:ph type="title"/>
          </p:nvPr>
        </p:nvSpPr>
        <p:spPr>
          <a:xfrm>
            <a:off x="457200" y="533400"/>
            <a:ext cx="8229600" cy="990600"/>
          </a:xfrm>
        </p:spPr>
        <p:txBody>
          <a:bodyPr/>
          <a:lstStyle/>
          <a:p>
            <a:r>
              <a:rPr lang="en-PH" dirty="0"/>
              <a:t>Linear Combination</a:t>
            </a:r>
          </a:p>
        </p:txBody>
      </p:sp>
    </p:spTree>
    <p:extLst>
      <p:ext uri="{BB962C8B-B14F-4D97-AF65-F5344CB8AC3E}">
        <p14:creationId xmlns:p14="http://schemas.microsoft.com/office/powerpoint/2010/main" val="34789950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676400"/>
                <a:ext cx="8229600" cy="4800600"/>
              </a:xfrm>
            </p:spPr>
            <p:txBody>
              <a:bodyPr>
                <a:normAutofit/>
              </a:bodyPr>
              <a:lstStyle/>
              <a:p>
                <a:pPr marL="0" indent="0">
                  <a:buNone/>
                </a:pPr>
                <a:r>
                  <a:rPr lang="en-US" sz="2000" dirty="0"/>
                  <a:t>Step 4: Write as a system of linear equation and solve for the coefficients(x, y &amp; z).</a:t>
                </a:r>
              </a:p>
              <a:p>
                <a:pPr marL="0" indent="0">
                  <a:buNone/>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𝑥</m:t>
                            </m:r>
                            <m:r>
                              <a:rPr lang="en-US" sz="2000" b="0" i="1" smtClean="0">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𝑧</m:t>
                            </m:r>
                            <m:r>
                              <a:rPr lang="en-US" sz="2000" b="0" i="1" smtClean="0">
                                <a:latin typeface="Cambria Math" panose="02040503050406030204" pitchFamily="18" charset="0"/>
                              </a:rPr>
                              <m:t>=1</m:t>
                            </m:r>
                          </m:e>
                        </m:mr>
                        <m:mr>
                          <m:e>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−4</m:t>
                            </m:r>
                            <m:r>
                              <a:rPr lang="en-US" sz="2000" b="0" i="1" smtClean="0">
                                <a:latin typeface="Cambria Math" panose="02040503050406030204" pitchFamily="18" charset="0"/>
                              </a:rPr>
                              <m:t>𝑧</m:t>
                            </m:r>
                            <m:r>
                              <a:rPr lang="en-US" sz="2000" b="0" i="1" smtClean="0">
                                <a:latin typeface="Cambria Math" panose="02040503050406030204" pitchFamily="18" charset="0"/>
                              </a:rPr>
                              <m:t>=−8</m:t>
                            </m:r>
                          </m:e>
                        </m:mr>
                        <m:mr>
                          <m:e>
                            <m:r>
                              <a:rPr lang="en-US" sz="2000" b="0" i="1" smtClean="0">
                                <a:latin typeface="Cambria Math" panose="02040503050406030204" pitchFamily="18" charset="0"/>
                              </a:rPr>
                              <m:t>                   </m:t>
                            </m:r>
                            <m:r>
                              <a:rPr lang="en-US" sz="2000" b="0" i="1" smtClean="0">
                                <a:solidFill>
                                  <a:srgbClr val="FF0000"/>
                                </a:solidFill>
                                <a:latin typeface="Cambria Math" panose="02040503050406030204" pitchFamily="18" charset="0"/>
                              </a:rPr>
                              <m:t>𝑧</m:t>
                            </m:r>
                            <m:r>
                              <a:rPr lang="en-US" sz="2000" b="0" i="1" smtClean="0">
                                <a:solidFill>
                                  <a:srgbClr val="FF0000"/>
                                </a:solidFill>
                                <a:latin typeface="Cambria Math" panose="02040503050406030204" pitchFamily="18" charset="0"/>
                              </a:rPr>
                              <m:t>=9</m:t>
                            </m:r>
                          </m:e>
                        </m:mr>
                      </m:m>
                    </m:oMath>
                  </m:oMathPara>
                </a14:m>
                <a:endParaRPr lang="en-US" sz="2000" dirty="0"/>
              </a:p>
              <a:p>
                <a:pPr marL="0" indent="0">
                  <a:buNone/>
                </a:pPr>
                <a:r>
                  <a:rPr lang="en-US" sz="2000" dirty="0"/>
                  <a:t>Solve for b</a:t>
                </a:r>
              </a:p>
              <a:p>
                <a:pPr marL="0" indent="0">
                  <a:buNone/>
                </a:pPr>
                <a:r>
                  <a:rPr lang="en-US" sz="2000" dirty="0">
                    <a:sym typeface="Wingdings" panose="05000000000000000000" pitchFamily="2" charset="2"/>
                  </a:rPr>
                  <a:t> </a:t>
                </a:r>
                <a14:m>
                  <m:oMath xmlns:m="http://schemas.openxmlformats.org/officeDocument/2006/math">
                    <m:r>
                      <m:rPr>
                        <m:sty m:val="p"/>
                      </m:rPr>
                      <a:rPr lang="en-US" sz="2000" b="0" i="0" smtClean="0">
                        <a:latin typeface="Cambria Math" panose="02040503050406030204" pitchFamily="18" charset="0"/>
                        <a:sym typeface="Wingdings" panose="05000000000000000000" pitchFamily="2" charset="2"/>
                      </a:rPr>
                      <m:t>y</m:t>
                    </m:r>
                    <m:r>
                      <a:rPr lang="en-US" sz="2000" b="0" i="1" smtClean="0">
                        <a:latin typeface="Cambria Math" panose="02040503050406030204" pitchFamily="18" charset="0"/>
                        <a:sym typeface="Wingdings" panose="05000000000000000000" pitchFamily="2" charset="2"/>
                      </a:rPr>
                      <m:t>=−8+4</m:t>
                    </m:r>
                    <m:r>
                      <a:rPr lang="en-US" sz="2000" b="0" i="1" smtClean="0">
                        <a:latin typeface="Cambria Math" panose="02040503050406030204" pitchFamily="18" charset="0"/>
                        <a:sym typeface="Wingdings" panose="05000000000000000000" pitchFamily="2" charset="2"/>
                      </a:rPr>
                      <m:t>𝑧</m:t>
                    </m:r>
                    <m:r>
                      <a:rPr lang="en-US" sz="2000" b="0" i="1" smtClean="0">
                        <a:latin typeface="Cambria Math" panose="02040503050406030204" pitchFamily="18" charset="0"/>
                        <a:sym typeface="Wingdings" panose="05000000000000000000" pitchFamily="2" charset="2"/>
                      </a:rPr>
                      <m:t>=−8+4</m:t>
                    </m:r>
                    <m:d>
                      <m:dPr>
                        <m:ctrlPr>
                          <a:rPr lang="en-US" sz="2000" b="0" i="1" smtClean="0">
                            <a:latin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sym typeface="Wingdings" panose="05000000000000000000" pitchFamily="2" charset="2"/>
                          </a:rPr>
                          <m:t>9</m:t>
                        </m:r>
                      </m:e>
                    </m:d>
                    <m:r>
                      <a:rPr lang="en-US" sz="2000" b="0" i="1" smtClean="0">
                        <a:latin typeface="Cambria Math" panose="02040503050406030204" pitchFamily="18" charset="0"/>
                        <a:sym typeface="Wingdings" panose="05000000000000000000" pitchFamily="2" charset="2"/>
                      </a:rPr>
                      <m:t>=</m:t>
                    </m:r>
                    <m:r>
                      <a:rPr lang="en-US" sz="2000" b="0" i="1" smtClean="0">
                        <a:solidFill>
                          <a:srgbClr val="FF0000"/>
                        </a:solidFill>
                        <a:latin typeface="Cambria Math" panose="02040503050406030204" pitchFamily="18" charset="0"/>
                        <a:sym typeface="Wingdings" panose="05000000000000000000" pitchFamily="2" charset="2"/>
                      </a:rPr>
                      <m:t>28</m:t>
                    </m:r>
                  </m:oMath>
                </a14:m>
                <a:endParaRPr lang="en-US" sz="2000" dirty="0"/>
              </a:p>
              <a:p>
                <a:pPr marL="0" indent="0">
                  <a:buNone/>
                </a:pPr>
                <a:endParaRPr lang="en-US" sz="2000" dirty="0"/>
              </a:p>
              <a:p>
                <a:pPr marL="0" indent="0">
                  <a:buNone/>
                </a:pPr>
                <a:r>
                  <a:rPr lang="en-US" sz="2000" dirty="0"/>
                  <a:t>Solve for a</a:t>
                </a:r>
              </a:p>
              <a:p>
                <a:pPr marL="0" indent="0">
                  <a:buNone/>
                </a:pP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𝑧</m:t>
                    </m:r>
                    <m:r>
                      <a:rPr lang="en-US" sz="2000" b="0" i="1" smtClean="0">
                        <a:latin typeface="Cambria Math" panose="02040503050406030204" pitchFamily="18" charset="0"/>
                      </a:rPr>
                      <m:t>=1</m:t>
                    </m:r>
                  </m:oMath>
                </a14:m>
                <a:r>
                  <a:rPr lang="en-US" sz="2000" dirty="0"/>
                  <a:t> </a:t>
                </a:r>
                <a:r>
                  <a:rPr lang="en-US" sz="2000" dirty="0">
                    <a:sym typeface="Wingdings" panose="05000000000000000000" pitchFamily="2" charset="2"/>
                  </a:rPr>
                  <a:t>    </a:t>
                </a:r>
                <a14:m>
                  <m:oMath xmlns:m="http://schemas.openxmlformats.org/officeDocument/2006/math">
                    <m:r>
                      <a:rPr lang="en-US" sz="2000" b="0" i="1" smtClean="0">
                        <a:latin typeface="Cambria Math" panose="02040503050406030204" pitchFamily="18" charset="0"/>
                      </a:rPr>
                      <m:t>𝑥</m:t>
                    </m:r>
                    <m:r>
                      <a:rPr lang="en-US" sz="2000" i="1">
                        <a:latin typeface="Cambria Math" panose="02040503050406030204" pitchFamily="18" charset="0"/>
                      </a:rPr>
                      <m:t>=1</m:t>
                    </m:r>
                    <m:r>
                      <a:rPr lang="en-US" sz="2000" b="0" i="1" smtClean="0">
                        <a:latin typeface="Cambria Math" panose="02040503050406030204" pitchFamily="18" charset="0"/>
                      </a:rPr>
                      <m:t>−</m:t>
                    </m:r>
                    <m:r>
                      <a:rPr lang="en-US" sz="2000" i="1">
                        <a:latin typeface="Cambria Math" panose="02040503050406030204" pitchFamily="18" charset="0"/>
                      </a:rPr>
                      <m:t>2</m:t>
                    </m:r>
                    <m:r>
                      <a:rPr lang="en-US" sz="2000" b="0" i="1" smtClean="0">
                        <a:latin typeface="Cambria Math" panose="02040503050406030204" pitchFamily="18" charset="0"/>
                      </a:rPr>
                      <m:t>𝑦</m:t>
                    </m:r>
                    <m:r>
                      <a:rPr lang="en-US" sz="2000" b="0" i="1" smtClean="0">
                        <a:latin typeface="Cambria Math" panose="02040503050406030204" pitchFamily="18" charset="0"/>
                      </a:rPr>
                      <m:t>−3</m:t>
                    </m:r>
                    <m:r>
                      <a:rPr lang="en-US" sz="2000" b="0" i="1" smtClean="0">
                        <a:latin typeface="Cambria Math" panose="02040503050406030204" pitchFamily="18" charset="0"/>
                      </a:rPr>
                      <m:t>𝑧</m:t>
                    </m:r>
                    <m:r>
                      <a:rPr lang="en-US" sz="2000" b="0" i="0" smtClean="0">
                        <a:latin typeface="Cambria Math" panose="02040503050406030204" pitchFamily="18" charset="0"/>
                      </a:rPr>
                      <m:t>=1−2</m:t>
                    </m:r>
                    <m:d>
                      <m:dPr>
                        <m:ctrlPr>
                          <a:rPr lang="en-US" sz="2000" b="0" i="1" smtClean="0">
                            <a:latin typeface="Cambria Math" panose="02040503050406030204" pitchFamily="18" charset="0"/>
                          </a:rPr>
                        </m:ctrlPr>
                      </m:dPr>
                      <m:e>
                        <m:r>
                          <a:rPr lang="en-US" sz="2000" b="0" i="0" smtClean="0">
                            <a:latin typeface="Cambria Math" panose="02040503050406030204" pitchFamily="18" charset="0"/>
                          </a:rPr>
                          <m:t>28</m:t>
                        </m:r>
                      </m:e>
                    </m:d>
                    <m:r>
                      <a:rPr lang="en-US" sz="2000" b="0" i="0" smtClean="0">
                        <a:latin typeface="Cambria Math" panose="02040503050406030204" pitchFamily="18" charset="0"/>
                      </a:rPr>
                      <m:t>−3</m:t>
                    </m:r>
                    <m:d>
                      <m:dPr>
                        <m:ctrlPr>
                          <a:rPr lang="en-US" sz="2000" b="0" i="1" smtClean="0">
                            <a:latin typeface="Cambria Math" panose="02040503050406030204" pitchFamily="18" charset="0"/>
                          </a:rPr>
                        </m:ctrlPr>
                      </m:dPr>
                      <m:e>
                        <m:r>
                          <a:rPr lang="en-US" sz="2000" b="0" i="0" smtClean="0">
                            <a:latin typeface="Cambria Math" panose="02040503050406030204" pitchFamily="18" charset="0"/>
                          </a:rPr>
                          <m:t>9</m:t>
                        </m:r>
                      </m:e>
                    </m:d>
                    <m:r>
                      <a:rPr lang="en-US" sz="2000" b="0" i="0" smtClean="0">
                        <a:latin typeface="Cambria Math" panose="02040503050406030204" pitchFamily="18" charset="0"/>
                      </a:rPr>
                      <m:t>=</m:t>
                    </m:r>
                    <m:r>
                      <a:rPr lang="en-US" sz="2000" b="0" i="0" smtClean="0">
                        <a:solidFill>
                          <a:srgbClr val="FF0000"/>
                        </a:solidFill>
                        <a:latin typeface="Cambria Math" panose="02040503050406030204" pitchFamily="18" charset="0"/>
                      </a:rPr>
                      <m:t>−82</m:t>
                    </m:r>
                  </m:oMath>
                </a14:m>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676400"/>
                <a:ext cx="8229600" cy="4800600"/>
              </a:xfrm>
              <a:blipFill>
                <a:blip r:embed="rId2"/>
                <a:stretch>
                  <a:fillRect l="-741" t="-508"/>
                </a:stretch>
              </a:blipFill>
            </p:spPr>
            <p:txBody>
              <a:bodyPr/>
              <a:lstStyle/>
              <a:p>
                <a:r>
                  <a:rPr lang="en-US">
                    <a:noFill/>
                  </a:rPr>
                  <a:t> </a:t>
                </a:r>
              </a:p>
            </p:txBody>
          </p:sp>
        </mc:Fallback>
      </mc:AlternateContent>
      <p:sp>
        <p:nvSpPr>
          <p:cNvPr id="7" name="Title 3">
            <a:extLst>
              <a:ext uri="{FF2B5EF4-FFF2-40B4-BE49-F238E27FC236}">
                <a16:creationId xmlns:a16="http://schemas.microsoft.com/office/drawing/2014/main" id="{0A4AA71A-7A97-45C2-9D0B-9D8C60733DAA}"/>
              </a:ext>
            </a:extLst>
          </p:cNvPr>
          <p:cNvSpPr>
            <a:spLocks noGrp="1"/>
          </p:cNvSpPr>
          <p:nvPr>
            <p:ph type="title"/>
          </p:nvPr>
        </p:nvSpPr>
        <p:spPr>
          <a:xfrm>
            <a:off x="457200" y="533400"/>
            <a:ext cx="8229600" cy="990600"/>
          </a:xfrm>
        </p:spPr>
        <p:txBody>
          <a:bodyPr/>
          <a:lstStyle/>
          <a:p>
            <a:r>
              <a:rPr lang="en-PH" dirty="0"/>
              <a:t>Linear Combination</a:t>
            </a:r>
          </a:p>
        </p:txBody>
      </p:sp>
    </p:spTree>
    <p:extLst>
      <p:ext uri="{BB962C8B-B14F-4D97-AF65-F5344CB8AC3E}">
        <p14:creationId xmlns:p14="http://schemas.microsoft.com/office/powerpoint/2010/main" val="3093408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880A51-9008-4998-A79C-87E2CC9C1FD0}"/>
                  </a:ext>
                </a:extLst>
              </p:cNvPr>
              <p:cNvSpPr>
                <a:spLocks noGrp="1"/>
              </p:cNvSpPr>
              <p:nvPr>
                <p:ph idx="1"/>
              </p:nvPr>
            </p:nvSpPr>
            <p:spPr>
              <a:xfrm>
                <a:off x="457200" y="1524000"/>
                <a:ext cx="8229600" cy="4953000"/>
              </a:xfrm>
            </p:spPr>
            <p:txBody>
              <a:bodyPr>
                <a:normAutofit lnSpcReduction="10000"/>
              </a:bodyPr>
              <a:lstStyle/>
              <a:p>
                <a:pPr marL="0" indent="0">
                  <a:buNone/>
                </a:pPr>
                <a:endParaRPr lang="en-US" sz="2000" dirty="0"/>
              </a:p>
              <a:p>
                <a:pPr marL="0" indent="0">
                  <a:buNone/>
                </a:pPr>
                <a:r>
                  <a:rPr lang="en-US" sz="2000" dirty="0"/>
                  <a:t>Step 5:  The values of the coefficients are: x= -82 ; y=28 and z=9 , therefore the linear combination is:  </a:t>
                </a:r>
                <a:endParaRPr lang="en-US" sz="2000" b="1" i="0"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1" i="0" smtClean="0">
                          <a:solidFill>
                            <a:srgbClr val="FF0000"/>
                          </a:solidFill>
                          <a:latin typeface="Cambria Math" panose="02040503050406030204" pitchFamily="18" charset="0"/>
                        </a:rPr>
                        <m:t>𝐯</m:t>
                      </m:r>
                      <m:r>
                        <a:rPr lang="en-US" sz="2000" b="1" i="0" smtClean="0">
                          <a:solidFill>
                            <a:srgbClr val="FF0000"/>
                          </a:solidFill>
                          <a:latin typeface="Cambria Math" panose="02040503050406030204" pitchFamily="18" charset="0"/>
                        </a:rPr>
                        <m:t>=−</m:t>
                      </m:r>
                      <m:r>
                        <a:rPr lang="en-US" sz="2000" b="1" i="0" smtClean="0">
                          <a:solidFill>
                            <a:srgbClr val="FF0000"/>
                          </a:solidFill>
                          <a:latin typeface="Cambria Math" panose="02040503050406030204" pitchFamily="18" charset="0"/>
                        </a:rPr>
                        <m:t>𝟖𝟐</m:t>
                      </m:r>
                      <m:sSub>
                        <m:sSubPr>
                          <m:ctrlPr>
                            <a:rPr lang="en-US" sz="2000" b="1" i="1" smtClean="0">
                              <a:solidFill>
                                <a:srgbClr val="FF0000"/>
                              </a:solidFill>
                              <a:latin typeface="Cambria Math" panose="02040503050406030204" pitchFamily="18" charset="0"/>
                            </a:rPr>
                          </m:ctrlPr>
                        </m:sSubPr>
                        <m:e>
                          <m:r>
                            <a:rPr lang="en-US" sz="2000" b="1" i="0" smtClean="0">
                              <a:solidFill>
                                <a:srgbClr val="FF0000"/>
                              </a:solidFill>
                              <a:latin typeface="Cambria Math" panose="02040503050406030204" pitchFamily="18" charset="0"/>
                            </a:rPr>
                            <m:t>𝐯</m:t>
                          </m:r>
                        </m:e>
                        <m:sub>
                          <m:r>
                            <a:rPr lang="en-US" sz="2000" b="1" i="1" smtClean="0">
                              <a:solidFill>
                                <a:srgbClr val="FF0000"/>
                              </a:solidFill>
                              <a:latin typeface="Cambria Math" panose="02040503050406030204" pitchFamily="18" charset="0"/>
                            </a:rPr>
                            <m:t>𝟏</m:t>
                          </m:r>
                        </m:sub>
                      </m:sSub>
                      <m:r>
                        <a:rPr lang="en-US" sz="2000" b="1"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𝟐𝟖</m:t>
                      </m:r>
                      <m:sSub>
                        <m:sSubPr>
                          <m:ctrlPr>
                            <a:rPr lang="en-US" sz="2000" b="1" i="1" smtClean="0">
                              <a:solidFill>
                                <a:srgbClr val="FF0000"/>
                              </a:solidFill>
                              <a:latin typeface="Cambria Math" panose="02040503050406030204" pitchFamily="18" charset="0"/>
                            </a:rPr>
                          </m:ctrlPr>
                        </m:sSubPr>
                        <m:e>
                          <m:r>
                            <a:rPr lang="en-US" sz="2000" b="1" i="0" smtClean="0">
                              <a:solidFill>
                                <a:srgbClr val="FF0000"/>
                              </a:solidFill>
                              <a:latin typeface="Cambria Math" panose="02040503050406030204" pitchFamily="18" charset="0"/>
                            </a:rPr>
                            <m:t>𝐯</m:t>
                          </m:r>
                        </m:e>
                        <m:sub>
                          <m:r>
                            <a:rPr lang="en-US" sz="2000" b="1" i="1" smtClean="0">
                              <a:solidFill>
                                <a:srgbClr val="FF0000"/>
                              </a:solidFill>
                              <a:latin typeface="Cambria Math" panose="02040503050406030204" pitchFamily="18" charset="0"/>
                            </a:rPr>
                            <m:t>𝟐</m:t>
                          </m:r>
                        </m:sub>
                      </m:sSub>
                      <m:r>
                        <a:rPr lang="en-US" sz="2000" b="1" i="1" smtClean="0">
                          <a:solidFill>
                            <a:srgbClr val="FF0000"/>
                          </a:solidFill>
                          <a:latin typeface="Cambria Math" panose="02040503050406030204" pitchFamily="18" charset="0"/>
                        </a:rPr>
                        <m:t>+</m:t>
                      </m:r>
                      <m:r>
                        <a:rPr lang="en-US" sz="2000" b="1" i="1" smtClean="0">
                          <a:solidFill>
                            <a:srgbClr val="FF0000"/>
                          </a:solidFill>
                          <a:latin typeface="Cambria Math" panose="02040503050406030204" pitchFamily="18" charset="0"/>
                        </a:rPr>
                        <m:t>𝟗</m:t>
                      </m:r>
                      <m:sSub>
                        <m:sSubPr>
                          <m:ctrlPr>
                            <a:rPr lang="en-US" sz="2000" b="1" i="1" smtClean="0">
                              <a:solidFill>
                                <a:srgbClr val="FF0000"/>
                              </a:solidFill>
                              <a:latin typeface="Cambria Math" panose="02040503050406030204" pitchFamily="18" charset="0"/>
                            </a:rPr>
                          </m:ctrlPr>
                        </m:sSubPr>
                        <m:e>
                          <m:r>
                            <a:rPr lang="en-US" sz="2000" b="1" i="0" smtClean="0">
                              <a:solidFill>
                                <a:srgbClr val="FF0000"/>
                              </a:solidFill>
                              <a:latin typeface="Cambria Math" panose="02040503050406030204" pitchFamily="18" charset="0"/>
                            </a:rPr>
                            <m:t>𝐯</m:t>
                          </m:r>
                        </m:e>
                        <m:sub>
                          <m:r>
                            <a:rPr lang="en-US" sz="2000" b="1" i="0" smtClean="0">
                              <a:solidFill>
                                <a:srgbClr val="FF0000"/>
                              </a:solidFill>
                              <a:latin typeface="Cambria Math" panose="02040503050406030204" pitchFamily="18" charset="0"/>
                            </a:rPr>
                            <m:t>𝟑</m:t>
                          </m:r>
                        </m:sub>
                      </m:sSub>
                    </m:oMath>
                  </m:oMathPara>
                </a14:m>
                <a:endParaRPr lang="en-US" sz="2000" b="1" dirty="0"/>
              </a:p>
              <a:p>
                <a:pPr marL="0" indent="0">
                  <a:buNone/>
                </a:pPr>
                <a:endParaRPr lang="en-US" sz="2000" b="1" dirty="0"/>
              </a:p>
              <a:p>
                <a:pPr marL="0" indent="0">
                  <a:buNone/>
                </a:pPr>
                <a:r>
                  <a:rPr lang="en-US" sz="2000" dirty="0"/>
                  <a:t>To Check:</a:t>
                </a:r>
              </a:p>
              <a:p>
                <a:pPr marL="0" indent="0">
                  <a:buNone/>
                </a:pPr>
                <a14:m>
                  <m:oMath xmlns:m="http://schemas.openxmlformats.org/officeDocument/2006/math">
                    <m:d>
                      <m:dPr>
                        <m:begChr m:val="["/>
                        <m:endChr m:val="]"/>
                        <m:ctrlPr>
                          <a:rPr lang="en-US" sz="2000" i="1" smtClean="0">
                            <a:latin typeface="Cambria Math" panose="02040503050406030204" pitchFamily="18" charset="0"/>
                            <a:sym typeface="Wingdings" panose="05000000000000000000" pitchFamily="2" charset="2"/>
                          </a:rPr>
                        </m:ctrlPr>
                      </m:dPr>
                      <m:e>
                        <m:m>
                          <m:mPr>
                            <m:mcs>
                              <m:mc>
                                <m:mcPr>
                                  <m:count m:val="1"/>
                                  <m:mcJc m:val="center"/>
                                </m:mcPr>
                              </m:mc>
                            </m:mcs>
                            <m:ctrlPr>
                              <a:rPr lang="en-US" sz="2000" i="1" smtClean="0">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−6</m:t>
                              </m:r>
                            </m:e>
                          </m:mr>
                          <m:mr>
                            <m:e>
                              <m:r>
                                <a:rPr lang="en-US" sz="2000" b="0" i="1" smtClean="0">
                                  <a:latin typeface="Cambria Math" panose="02040503050406030204" pitchFamily="18" charset="0"/>
                                  <a:sym typeface="Wingdings" panose="05000000000000000000" pitchFamily="2" charset="2"/>
                                </a:rPr>
                                <m:t>5</m:t>
                              </m:r>
                            </m:e>
                          </m:mr>
                        </m:m>
                      </m:e>
                    </m:d>
                    <m:r>
                      <a:rPr lang="en-US" sz="2000" b="0"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𝑥</m:t>
                    </m:r>
                  </m:oMath>
                </a14:m>
                <a:r>
                  <a:rPr lang="en-US" sz="2000" dirty="0">
                    <a:sym typeface="Wingdings" panose="05000000000000000000" pitchFamily="2" charset="2"/>
                  </a:rPr>
                  <a:t> </a:t>
                </a:r>
                <a14:m>
                  <m:oMath xmlns:m="http://schemas.openxmlformats.org/officeDocument/2006/math">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3</m:t>
                              </m:r>
                            </m:e>
                          </m:mr>
                        </m:m>
                      </m:e>
                    </m:d>
                    <m:r>
                      <a:rPr lang="en-US" sz="2000" b="0" i="0" smtClean="0">
                        <a:latin typeface="Cambria Math" panose="02040503050406030204" pitchFamily="18" charset="0"/>
                        <a:sym typeface="Wingdings" panose="05000000000000000000" pitchFamily="2" charset="2"/>
                      </a:rPr>
                      <m:t>+</m:t>
                    </m:r>
                    <m:r>
                      <m:rPr>
                        <m:sty m:val="p"/>
                      </m:rPr>
                      <a:rPr lang="en-US" sz="2000" b="0" i="0" smtClean="0">
                        <a:latin typeface="Cambria Math" panose="02040503050406030204" pitchFamily="18" charset="0"/>
                        <a:sym typeface="Wingdings" panose="05000000000000000000" pitchFamily="2" charset="2"/>
                      </a:rPr>
                      <m:t>y</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5</m:t>
                              </m:r>
                            </m:e>
                          </m:mr>
                          <m:mr>
                            <m:e>
                              <m:r>
                                <a:rPr lang="en-US" sz="2000" b="0" i="1" smtClean="0">
                                  <a:latin typeface="Cambria Math" panose="02040503050406030204" pitchFamily="18" charset="0"/>
                                  <a:sym typeface="Wingdings" panose="05000000000000000000" pitchFamily="2" charset="2"/>
                                </a:rPr>
                                <m:t>8</m:t>
                              </m:r>
                            </m:e>
                          </m:mr>
                        </m:m>
                      </m:e>
                    </m:d>
                    <m:r>
                      <a:rPr lang="en-US" sz="2000" b="0"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𝑧</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b="0" i="1" smtClean="0">
                                  <a:latin typeface="Cambria Math" panose="02040503050406030204" pitchFamily="18" charset="0"/>
                                  <a:sym typeface="Wingdings" panose="05000000000000000000" pitchFamily="2" charset="2"/>
                                </a:rPr>
                                <m:t>3</m:t>
                              </m:r>
                            </m:e>
                          </m:mr>
                          <m:mr>
                            <m:e>
                              <m:r>
                                <a:rPr lang="en-US" sz="2000" b="0" i="1" smtClean="0">
                                  <a:latin typeface="Cambria Math" panose="02040503050406030204" pitchFamily="18" charset="0"/>
                                  <a:sym typeface="Wingdings" panose="05000000000000000000" pitchFamily="2" charset="2"/>
                                </a:rPr>
                                <m:t>2</m:t>
                              </m:r>
                            </m:e>
                          </m:mr>
                          <m:mr>
                            <m:e>
                              <m:r>
                                <a:rPr lang="en-US" sz="2000" b="0" i="1" smtClean="0">
                                  <a:latin typeface="Cambria Math" panose="02040503050406030204" pitchFamily="18" charset="0"/>
                                  <a:sym typeface="Wingdings" panose="05000000000000000000" pitchFamily="2" charset="2"/>
                                </a:rPr>
                                <m:t>3</m:t>
                              </m:r>
                            </m:e>
                          </m:mr>
                        </m:m>
                      </m:e>
                    </m:d>
                    <m:r>
                      <a:rPr lang="en-US" sz="2000" i="1">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−82</m:t>
                    </m:r>
                    <m:r>
                      <m:rPr>
                        <m:nor/>
                      </m:rPr>
                      <a:rPr lang="en-US" sz="2000" dirty="0">
                        <a:sym typeface="Wingdings" panose="05000000000000000000" pitchFamily="2" charset="2"/>
                      </a:rPr>
                      <m:t> </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1</m:t>
                              </m:r>
                            </m:e>
                          </m:mr>
                          <m:mr>
                            <m:e>
                              <m:r>
                                <a:rPr lang="en-US" sz="2000" i="1">
                                  <a:latin typeface="Cambria Math" panose="02040503050406030204" pitchFamily="18" charset="0"/>
                                  <a:sym typeface="Wingdings" panose="05000000000000000000" pitchFamily="2" charset="2"/>
                                </a:rPr>
                                <m:t>2</m:t>
                              </m:r>
                            </m:e>
                          </m:mr>
                          <m:mr>
                            <m:e>
                              <m:r>
                                <a:rPr lang="en-US" sz="2000" i="1">
                                  <a:latin typeface="Cambria Math" panose="02040503050406030204" pitchFamily="18" charset="0"/>
                                  <a:sym typeface="Wingdings" panose="05000000000000000000" pitchFamily="2" charset="2"/>
                                </a:rPr>
                                <m:t>3</m:t>
                              </m:r>
                            </m:e>
                          </m:mr>
                        </m:m>
                      </m:e>
                    </m:d>
                    <m:r>
                      <a:rPr lang="en-US" sz="200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28</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a:rPr lang="en-US" sz="2000" i="1">
                                  <a:latin typeface="Cambria Math" panose="02040503050406030204" pitchFamily="18" charset="0"/>
                                  <a:sym typeface="Wingdings" panose="05000000000000000000" pitchFamily="2" charset="2"/>
                                </a:rPr>
                                <m:t>2</m:t>
                              </m:r>
                            </m:e>
                          </m:mr>
                          <m:mr>
                            <m:e>
                              <m:r>
                                <a:rPr lang="en-US" sz="2000" i="1">
                                  <a:latin typeface="Cambria Math" panose="02040503050406030204" pitchFamily="18" charset="0"/>
                                  <a:sym typeface="Wingdings" panose="05000000000000000000" pitchFamily="2" charset="2"/>
                                </a:rPr>
                                <m:t>5</m:t>
                              </m:r>
                            </m:e>
                          </m:mr>
                          <m:mr>
                            <m:e>
                              <m:r>
                                <a:rPr lang="en-US" sz="2000" i="1">
                                  <a:latin typeface="Cambria Math" panose="02040503050406030204" pitchFamily="18" charset="0"/>
                                  <a:sym typeface="Wingdings" panose="05000000000000000000" pitchFamily="2" charset="2"/>
                                </a:rPr>
                                <m:t>8</m:t>
                              </m:r>
                            </m:e>
                          </m:mr>
                        </m:m>
                      </m:e>
                    </m:d>
                    <m:r>
                      <a:rPr lang="en-US" sz="2000" i="1">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sym typeface="Wingdings" panose="05000000000000000000" pitchFamily="2" charset="2"/>
                      </a:rPr>
                      <m:t>9</m:t>
                    </m:r>
                    <m:d>
                      <m:dPr>
                        <m:begChr m:val="["/>
                        <m:endChr m:val="]"/>
                        <m:ctrlPr>
                          <a:rPr lang="en-US" sz="2000" i="1">
                            <a:latin typeface="Cambria Math" panose="02040503050406030204" pitchFamily="18" charset="0"/>
                            <a:sym typeface="Wingdings" panose="05000000000000000000" pitchFamily="2" charset="2"/>
                          </a:rPr>
                        </m:ctrlPr>
                      </m:dPr>
                      <m:e>
                        <m:m>
                          <m:mPr>
                            <m:mcs>
                              <m:mc>
                                <m:mcPr>
                                  <m:count m:val="1"/>
                                  <m:mcJc m:val="center"/>
                                </m:mcPr>
                              </m:mc>
                            </m:mcs>
                            <m:ctrlPr>
                              <a:rPr lang="en-US" sz="2000" i="1">
                                <a:latin typeface="Cambria Math" panose="02040503050406030204" pitchFamily="18" charset="0"/>
                                <a:sym typeface="Wingdings" panose="05000000000000000000" pitchFamily="2" charset="2"/>
                              </a:rPr>
                            </m:ctrlPr>
                          </m:mPr>
                          <m:mr>
                            <m:e>
                              <m:r>
                                <m:rPr>
                                  <m:brk m:alnAt="7"/>
                                </m:rPr>
                                <a:rPr lang="en-US" sz="2000" i="1">
                                  <a:latin typeface="Cambria Math" panose="02040503050406030204" pitchFamily="18" charset="0"/>
                                  <a:sym typeface="Wingdings" panose="05000000000000000000" pitchFamily="2" charset="2"/>
                                </a:rPr>
                                <m:t>3</m:t>
                              </m:r>
                            </m:e>
                          </m:mr>
                          <m:mr>
                            <m:e>
                              <m:r>
                                <a:rPr lang="en-US" sz="2000" i="1">
                                  <a:latin typeface="Cambria Math" panose="02040503050406030204" pitchFamily="18" charset="0"/>
                                  <a:sym typeface="Wingdings" panose="05000000000000000000" pitchFamily="2" charset="2"/>
                                </a:rPr>
                                <m:t>2</m:t>
                              </m:r>
                            </m:e>
                          </m:mr>
                          <m:mr>
                            <m:e>
                              <m:r>
                                <a:rPr lang="en-US" sz="2000" i="1">
                                  <a:latin typeface="Cambria Math" panose="02040503050406030204" pitchFamily="18" charset="0"/>
                                  <a:sym typeface="Wingdings" panose="05000000000000000000" pitchFamily="2" charset="2"/>
                                </a:rPr>
                                <m:t>3</m:t>
                              </m:r>
                            </m:e>
                          </m:mr>
                        </m:m>
                      </m:e>
                    </m:d>
                  </m:oMath>
                </a14:m>
                <a:r>
                  <a:rPr lang="en-US" sz="2000" dirty="0"/>
                  <a:t>  </a:t>
                </a:r>
              </a:p>
              <a:p>
                <a:pPr marL="0" indent="0">
                  <a:buNone/>
                </a:pPr>
                <a14:m>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82</m:t>
                          </m:r>
                          <m:d>
                            <m:dPr>
                              <m:ctrlPr>
                                <a:rPr lang="en-US" sz="2000" b="0" i="1" smtClean="0">
                                  <a:latin typeface="Cambria Math" panose="02040503050406030204" pitchFamily="18" charset="0"/>
                                </a:rPr>
                              </m:ctrlPr>
                            </m:dPr>
                            <m:e>
                              <m:r>
                                <m:rPr>
                                  <m:brk m:alnAt="7"/>
                                </m:rPr>
                                <a:rPr lang="en-US" sz="2000" b="0" i="1" smtClean="0">
                                  <a:latin typeface="Cambria Math" panose="02040503050406030204" pitchFamily="18" charset="0"/>
                                </a:rPr>
                                <m:t>1</m:t>
                              </m:r>
                            </m:e>
                          </m:d>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28</m:t>
                          </m:r>
                          <m:d>
                            <m:dPr>
                              <m:ctrlPr>
                                <a:rPr lang="en-US" sz="2000" b="0" i="1" smtClean="0">
                                  <a:latin typeface="Cambria Math" panose="02040503050406030204" pitchFamily="18" charset="0"/>
                                </a:rPr>
                              </m:ctrlPr>
                            </m:dPr>
                            <m:e>
                              <m:r>
                                <m:rPr>
                                  <m:brk m:alnAt="7"/>
                                </m:rPr>
                                <a:rPr lang="en-US" sz="2000" b="0" i="1" smtClean="0">
                                  <a:latin typeface="Cambria Math" panose="02040503050406030204" pitchFamily="18" charset="0"/>
                                </a:rPr>
                                <m:t>2</m:t>
                              </m:r>
                            </m:e>
                          </m:d>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9</m:t>
                          </m:r>
                          <m:d>
                            <m:dPr>
                              <m:ctrlPr>
                                <a:rPr lang="en-US" sz="2000" b="0" i="1" smtClean="0">
                                  <a:latin typeface="Cambria Math" panose="02040503050406030204" pitchFamily="18" charset="0"/>
                                </a:rPr>
                              </m:ctrlPr>
                            </m:dPr>
                            <m:e>
                              <m:r>
                                <m:rPr>
                                  <m:brk m:alnAt="7"/>
                                </m:rPr>
                                <a:rPr lang="en-US" sz="2000" b="0" i="1" smtClean="0">
                                  <a:latin typeface="Cambria Math" panose="02040503050406030204" pitchFamily="18" charset="0"/>
                                </a:rPr>
                                <m:t>3</m:t>
                              </m:r>
                            </m:e>
                          </m:d>
                          <m:r>
                            <m:rPr>
                              <m:brk m:alnAt="7"/>
                            </m:rPr>
                            <a:rPr lang="en-US" sz="2000" b="0" i="1" smtClean="0">
                              <a:latin typeface="Cambria Math" panose="02040503050406030204" pitchFamily="18" charset="0"/>
                            </a:rPr>
                            <m:t>=</m:t>
                          </m:r>
                          <m:r>
                            <a:rPr lang="en-US" sz="2000" b="0" i="1" smtClean="0">
                              <a:latin typeface="Cambria Math" panose="02040503050406030204" pitchFamily="18" charset="0"/>
                            </a:rPr>
                            <m:t>−82+83=</m:t>
                          </m:r>
                          <m:r>
                            <a:rPr lang="en-US" sz="2000" b="0" i="1" smtClean="0">
                              <a:solidFill>
                                <a:srgbClr val="FF0000"/>
                              </a:solidFill>
                              <a:latin typeface="Cambria Math" panose="02040503050406030204" pitchFamily="18" charset="0"/>
                            </a:rPr>
                            <m:t>1</m:t>
                          </m:r>
                        </m:e>
                      </m:mr>
                      <m:mr>
                        <m:e>
                          <m:r>
                            <a:rPr lang="en-US" sz="2000" b="0" i="1" smtClean="0">
                              <a:latin typeface="Cambria Math" panose="02040503050406030204" pitchFamily="18" charset="0"/>
                            </a:rPr>
                            <m:t>−82</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r>
                            <a:rPr lang="en-US" sz="2000" b="0" i="1" smtClean="0">
                              <a:latin typeface="Cambria Math" panose="02040503050406030204" pitchFamily="18" charset="0"/>
                            </a:rPr>
                            <m:t>+28</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r>
                            <a:rPr lang="en-US" sz="2000" b="0" i="1" smtClean="0">
                              <a:latin typeface="Cambria Math" panose="02040503050406030204" pitchFamily="18" charset="0"/>
                            </a:rPr>
                            <m:t>+9</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r>
                            <a:rPr lang="en-US" sz="2000" b="0" i="1" smtClean="0">
                              <a:latin typeface="Cambria Math" panose="02040503050406030204" pitchFamily="18" charset="0"/>
                            </a:rPr>
                            <m:t>=−164+158=</m:t>
                          </m:r>
                          <m:r>
                            <a:rPr lang="en-US" sz="2000" b="0" i="1" smtClean="0">
                              <a:solidFill>
                                <a:srgbClr val="FF0000"/>
                              </a:solidFill>
                              <a:latin typeface="Cambria Math" panose="02040503050406030204" pitchFamily="18" charset="0"/>
                            </a:rPr>
                            <m:t>−6</m:t>
                          </m:r>
                        </m:e>
                      </m:mr>
                      <m:mr>
                        <m:e>
                          <m:r>
                            <a:rPr lang="en-US" sz="2000" i="1">
                              <a:latin typeface="Cambria Math" panose="02040503050406030204" pitchFamily="18" charset="0"/>
                            </a:rPr>
                            <m:t>−82</m:t>
                          </m:r>
                          <m:d>
                            <m:dPr>
                              <m:ctrlPr>
                                <a:rPr lang="en-US" sz="2000" i="1">
                                  <a:latin typeface="Cambria Math" panose="02040503050406030204" pitchFamily="18" charset="0"/>
                                </a:rPr>
                              </m:ctrlPr>
                            </m:dPr>
                            <m:e>
                              <m:r>
                                <a:rPr lang="en-US" sz="2000" b="0" i="1" smtClean="0">
                                  <a:latin typeface="Cambria Math" panose="02040503050406030204" pitchFamily="18" charset="0"/>
                                </a:rPr>
                                <m:t>3</m:t>
                              </m:r>
                            </m:e>
                          </m:d>
                          <m:r>
                            <a:rPr lang="en-US" sz="2000" i="1">
                              <a:latin typeface="Cambria Math" panose="02040503050406030204" pitchFamily="18" charset="0"/>
                            </a:rPr>
                            <m:t>+28</m:t>
                          </m:r>
                          <m:d>
                            <m:dPr>
                              <m:ctrlPr>
                                <a:rPr lang="en-US" sz="2000" i="1">
                                  <a:latin typeface="Cambria Math" panose="02040503050406030204" pitchFamily="18" charset="0"/>
                                </a:rPr>
                              </m:ctrlPr>
                            </m:dPr>
                            <m:e>
                              <m:r>
                                <a:rPr lang="en-US" sz="2000" b="0" i="1" smtClean="0">
                                  <a:latin typeface="Cambria Math" panose="02040503050406030204" pitchFamily="18" charset="0"/>
                                </a:rPr>
                                <m:t>8</m:t>
                              </m:r>
                            </m:e>
                          </m:d>
                          <m:r>
                            <a:rPr lang="en-US" sz="2000" i="1">
                              <a:latin typeface="Cambria Math" panose="02040503050406030204" pitchFamily="18" charset="0"/>
                            </a:rPr>
                            <m:t>+9</m:t>
                          </m:r>
                          <m:d>
                            <m:dPr>
                              <m:ctrlPr>
                                <a:rPr lang="en-US" sz="2000" i="1">
                                  <a:latin typeface="Cambria Math" panose="02040503050406030204" pitchFamily="18" charset="0"/>
                                </a:rPr>
                              </m:ctrlPr>
                            </m:dPr>
                            <m:e>
                              <m:r>
                                <a:rPr lang="en-US" sz="2000" b="0" i="1" smtClean="0">
                                  <a:latin typeface="Cambria Math" panose="02040503050406030204" pitchFamily="18" charset="0"/>
                                </a:rPr>
                                <m:t>3</m:t>
                              </m:r>
                            </m:e>
                          </m:d>
                          <m:r>
                            <a:rPr lang="en-US" sz="2000" i="1">
                              <a:latin typeface="Cambria Math" panose="02040503050406030204" pitchFamily="18" charset="0"/>
                            </a:rPr>
                            <m:t>=−</m:t>
                          </m:r>
                          <m:r>
                            <a:rPr lang="en-US" sz="2000" b="0" i="1" smtClean="0">
                              <a:latin typeface="Cambria Math" panose="02040503050406030204" pitchFamily="18" charset="0"/>
                            </a:rPr>
                            <m:t>24</m:t>
                          </m:r>
                          <m:r>
                            <a:rPr lang="en-US" sz="2000" i="1">
                              <a:latin typeface="Cambria Math" panose="02040503050406030204" pitchFamily="18" charset="0"/>
                            </a:rPr>
                            <m:t>6+</m:t>
                          </m:r>
                          <m:r>
                            <a:rPr lang="en-US" sz="2000" b="0" i="1" smtClean="0">
                              <a:latin typeface="Cambria Math" panose="02040503050406030204" pitchFamily="18" charset="0"/>
                            </a:rPr>
                            <m:t>2</m:t>
                          </m:r>
                          <m:r>
                            <a:rPr lang="en-US" sz="2000" i="1">
                              <a:latin typeface="Cambria Math" panose="02040503050406030204" pitchFamily="18" charset="0"/>
                            </a:rPr>
                            <m:t>5</m:t>
                          </m:r>
                          <m:r>
                            <a:rPr lang="en-US" sz="2000" b="0" i="1" smtClean="0">
                              <a:latin typeface="Cambria Math" panose="02040503050406030204" pitchFamily="18" charset="0"/>
                            </a:rPr>
                            <m:t>1</m:t>
                          </m:r>
                          <m:r>
                            <a:rPr lang="en-US" sz="2000" i="1">
                              <a:latin typeface="Cambria Math" panose="02040503050406030204" pitchFamily="18" charset="0"/>
                            </a:rPr>
                            <m:t>=</m:t>
                          </m:r>
                          <m:r>
                            <a:rPr lang="en-US" sz="2000" b="0" i="1" smtClean="0">
                              <a:solidFill>
                                <a:srgbClr val="FF0000"/>
                              </a:solidFill>
                              <a:latin typeface="Cambria Math" panose="02040503050406030204" pitchFamily="18" charset="0"/>
                            </a:rPr>
                            <m:t>5</m:t>
                          </m:r>
                        </m:e>
                      </m:mr>
                    </m:m>
                  </m:oMath>
                </a14:m>
                <a:r>
                  <a:rPr lang="en-US" sz="2000" dirty="0"/>
                  <a:t>  </a:t>
                </a:r>
              </a:p>
              <a:p>
                <a:pPr marL="0" indent="0">
                  <a:buNone/>
                </a:pPr>
                <a:endParaRPr lang="en-US" sz="2000" dirty="0"/>
              </a:p>
              <a:p>
                <a:pPr marL="0" indent="0">
                  <a:buNone/>
                </a:pPr>
                <a:r>
                  <a:rPr lang="en-US" sz="2000" dirty="0"/>
                  <a:t>Note: If you cannot obtain values for the coefficients then the given vectors cannot be expressed as a linear combination.  </a:t>
                </a:r>
              </a:p>
            </p:txBody>
          </p:sp>
        </mc:Choice>
        <mc:Fallback xmlns="">
          <p:sp>
            <p:nvSpPr>
              <p:cNvPr id="3" name="Content Placeholder 2">
                <a:extLst>
                  <a:ext uri="{FF2B5EF4-FFF2-40B4-BE49-F238E27FC236}">
                    <a16:creationId xmlns:a16="http://schemas.microsoft.com/office/drawing/2014/main" id="{96880A51-9008-4998-A79C-87E2CC9C1FD0}"/>
                  </a:ext>
                </a:extLst>
              </p:cNvPr>
              <p:cNvSpPr>
                <a:spLocks noGrp="1" noRot="1" noChangeAspect="1" noMove="1" noResize="1" noEditPoints="1" noAdjustHandles="1" noChangeArrowheads="1" noChangeShapeType="1" noTextEdit="1"/>
              </p:cNvSpPr>
              <p:nvPr>
                <p:ph idx="1"/>
              </p:nvPr>
            </p:nvSpPr>
            <p:spPr>
              <a:xfrm>
                <a:off x="457200" y="1524000"/>
                <a:ext cx="8229600" cy="4953000"/>
              </a:xfrm>
              <a:blipFill>
                <a:blip r:embed="rId2"/>
                <a:stretch>
                  <a:fillRect l="-741"/>
                </a:stretch>
              </a:blipFill>
            </p:spPr>
            <p:txBody>
              <a:bodyPr/>
              <a:lstStyle/>
              <a:p>
                <a:r>
                  <a:rPr lang="en-US">
                    <a:noFill/>
                  </a:rPr>
                  <a:t> </a:t>
                </a:r>
              </a:p>
            </p:txBody>
          </p:sp>
        </mc:Fallback>
      </mc:AlternateContent>
      <p:sp>
        <p:nvSpPr>
          <p:cNvPr id="4" name="Title 3">
            <a:extLst>
              <a:ext uri="{FF2B5EF4-FFF2-40B4-BE49-F238E27FC236}">
                <a16:creationId xmlns:a16="http://schemas.microsoft.com/office/drawing/2014/main" id="{567A933B-83CE-48F0-A2DD-792B99F1247C}"/>
              </a:ext>
            </a:extLst>
          </p:cNvPr>
          <p:cNvSpPr>
            <a:spLocks noGrp="1"/>
          </p:cNvSpPr>
          <p:nvPr>
            <p:ph type="title"/>
          </p:nvPr>
        </p:nvSpPr>
        <p:spPr>
          <a:xfrm>
            <a:off x="457200" y="533400"/>
            <a:ext cx="8229600" cy="990600"/>
          </a:xfrm>
        </p:spPr>
        <p:txBody>
          <a:bodyPr/>
          <a:lstStyle/>
          <a:p>
            <a:r>
              <a:rPr lang="en-PH" dirty="0"/>
              <a:t>Linear Combination</a:t>
            </a:r>
          </a:p>
        </p:txBody>
      </p:sp>
    </p:spTree>
    <p:extLst>
      <p:ext uri="{BB962C8B-B14F-4D97-AF65-F5344CB8AC3E}">
        <p14:creationId xmlns:p14="http://schemas.microsoft.com/office/powerpoint/2010/main" val="8450918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Linear Independence</a:t>
            </a:r>
          </a:p>
        </p:txBody>
      </p:sp>
      <p:sp>
        <p:nvSpPr>
          <p:cNvPr id="4" name="Text Placeholder 3"/>
          <p:cNvSpPr>
            <a:spLocks noGrp="1"/>
          </p:cNvSpPr>
          <p:nvPr>
            <p:ph type="body" idx="1"/>
          </p:nvPr>
        </p:nvSpPr>
        <p:spPr/>
        <p:txBody>
          <a:bodyPr/>
          <a:lstStyle/>
          <a:p>
            <a:r>
              <a:rPr lang="en-PH" dirty="0"/>
              <a:t>Lesson 5</a:t>
            </a:r>
          </a:p>
        </p:txBody>
      </p:sp>
    </p:spTree>
    <p:extLst>
      <p:ext uri="{BB962C8B-B14F-4D97-AF65-F5344CB8AC3E}">
        <p14:creationId xmlns:p14="http://schemas.microsoft.com/office/powerpoint/2010/main" val="26622949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1900" i="1" dirty="0"/>
                  <a:t>Definition:</a:t>
                </a:r>
              </a:p>
              <a:p>
                <a:pPr marL="0" indent="0">
                  <a:buNone/>
                </a:pPr>
                <a:r>
                  <a:rPr lang="en-PH" sz="1900" i="1" dirty="0"/>
                  <a:t>	</a:t>
                </a:r>
                <a:r>
                  <a:rPr lang="en-PH" sz="1900" dirty="0"/>
                  <a:t>The vectors</a:t>
                </a:r>
                <a14:m>
                  <m:oMath xmlns:m="http://schemas.openxmlformats.org/officeDocument/2006/math">
                    <m:r>
                      <a:rPr lang="en-PH" sz="1900" b="0" i="0" smtClean="0">
                        <a:latin typeface="Cambria Math"/>
                      </a:rPr>
                      <m:t> </m:t>
                    </m:r>
                    <m:r>
                      <a:rPr lang="en-PH" sz="190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1</m:t>
                        </m:r>
                      </m:sub>
                    </m:sSub>
                    <m:r>
                      <a:rPr lang="en-PH" sz="1900" b="0" i="1" smtClean="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2</m:t>
                        </m:r>
                      </m:sub>
                    </m:sSub>
                    <m:r>
                      <a:rPr lang="en-PH" sz="1900" b="0" i="1" smtClean="0">
                        <a:latin typeface="Cambria Math"/>
                      </a:rPr>
                      <m:t>, …,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𝑘</m:t>
                        </m:r>
                      </m:sub>
                    </m:sSub>
                  </m:oMath>
                </a14:m>
                <a:r>
                  <a:rPr lang="en-PH" sz="1900" dirty="0"/>
                  <a:t> in a vector space </a:t>
                </a:r>
                <a:r>
                  <a:rPr lang="en-PH" sz="1900" i="1" dirty="0"/>
                  <a:t>V </a:t>
                </a:r>
                <a:r>
                  <a:rPr lang="en-PH" sz="1900" dirty="0"/>
                  <a:t>are said to be</a:t>
                </a:r>
                <a:r>
                  <a:rPr lang="en-PH" sz="1900" b="1" dirty="0"/>
                  <a:t> linearly dependent</a:t>
                </a:r>
                <a:r>
                  <a:rPr lang="en-PH" sz="1900" dirty="0"/>
                  <a:t> if there exist constant </a:t>
                </a:r>
                <a14:m>
                  <m:oMath xmlns:m="http://schemas.openxmlformats.org/officeDocument/2006/math">
                    <m:sSub>
                      <m:sSubPr>
                        <m:ctrlPr>
                          <a:rPr lang="en-PH" sz="1900" i="1">
                            <a:latin typeface="Cambria Math" panose="02040503050406030204" pitchFamily="18" charset="0"/>
                          </a:rPr>
                        </m:ctrlPr>
                      </m:sSubPr>
                      <m:e>
                        <m:r>
                          <a:rPr lang="en-PH" sz="1900" b="0" i="1" smtClean="0">
                            <a:latin typeface="Cambria Math"/>
                          </a:rPr>
                          <m:t>𝑐</m:t>
                        </m:r>
                      </m:e>
                      <m:sub>
                        <m:r>
                          <a:rPr lang="en-PH" sz="1900" i="1">
                            <a:latin typeface="Cambria Math"/>
                          </a:rPr>
                          <m:t>1</m:t>
                        </m:r>
                      </m:sub>
                    </m:sSub>
                    <m:r>
                      <a:rPr lang="en-PH" sz="1900" i="1">
                        <a:latin typeface="Cambria Math"/>
                      </a:rPr>
                      <m:t>, </m:t>
                    </m:r>
                    <m:sSub>
                      <m:sSubPr>
                        <m:ctrlPr>
                          <a:rPr lang="en-PH" sz="1900" i="1">
                            <a:latin typeface="Cambria Math" panose="02040503050406030204" pitchFamily="18" charset="0"/>
                          </a:rPr>
                        </m:ctrlPr>
                      </m:sSubPr>
                      <m:e>
                        <m:r>
                          <a:rPr lang="en-PH" sz="1900" b="0" i="1" smtClean="0">
                            <a:latin typeface="Cambria Math"/>
                          </a:rPr>
                          <m:t>𝑐</m:t>
                        </m:r>
                      </m:e>
                      <m:sub>
                        <m:r>
                          <a:rPr lang="en-PH" sz="1900" i="1">
                            <a:latin typeface="Cambria Math"/>
                          </a:rPr>
                          <m:t>2</m:t>
                        </m:r>
                      </m:sub>
                    </m:sSub>
                    <m:r>
                      <a:rPr lang="en-PH" sz="1900" i="1">
                        <a:latin typeface="Cambria Math"/>
                      </a:rPr>
                      <m:t>, …,</m:t>
                    </m:r>
                    <m:sSub>
                      <m:sSubPr>
                        <m:ctrlPr>
                          <a:rPr lang="en-PH" sz="1900" i="1">
                            <a:latin typeface="Cambria Math" panose="02040503050406030204" pitchFamily="18" charset="0"/>
                          </a:rPr>
                        </m:ctrlPr>
                      </m:sSubPr>
                      <m:e>
                        <m:r>
                          <a:rPr lang="en-PH" sz="1900" b="0" i="1" smtClean="0">
                            <a:latin typeface="Cambria Math"/>
                          </a:rPr>
                          <m:t>𝑐</m:t>
                        </m:r>
                      </m:e>
                      <m:sub>
                        <m:r>
                          <a:rPr lang="en-PH" sz="1900" i="1">
                            <a:latin typeface="Cambria Math"/>
                          </a:rPr>
                          <m:t>𝑘</m:t>
                        </m:r>
                      </m:sub>
                    </m:sSub>
                  </m:oMath>
                </a14:m>
                <a:r>
                  <a:rPr lang="en-PH" sz="1900" dirty="0"/>
                  <a:t> , not all zero , such that</a:t>
                </a:r>
              </a:p>
              <a:p>
                <a:pPr marL="0" indent="0">
                  <a:buNone/>
                </a:pPr>
                <a:endParaRPr lang="en-PH" sz="1900" dirty="0"/>
              </a:p>
              <a:p>
                <a:pPr marL="0" indent="0">
                  <a:buNone/>
                </a:pPr>
                <a:r>
                  <a:rPr lang="en-PH" sz="1900" i="1" dirty="0"/>
                  <a:t>		</a:t>
                </a: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sSub>
                      <m:sSubPr>
                        <m:ctrlPr>
                          <a:rPr lang="en-PH" sz="1900" b="1" i="1">
                            <a:latin typeface="Cambria Math" panose="02040503050406030204" pitchFamily="18" charset="0"/>
                          </a:rPr>
                        </m:ctrlPr>
                      </m:sSubPr>
                      <m:e>
                        <m:r>
                          <a:rPr lang="en-PH" sz="1900" b="1" i="0">
                            <a:latin typeface="Cambria Math"/>
                          </a:rPr>
                          <m:t>𝐯</m:t>
                        </m:r>
                      </m:e>
                      <m:sub>
                        <m:r>
                          <a:rPr lang="en-PH" sz="1900" b="1" i="0">
                            <a:latin typeface="Cambria Math"/>
                          </a:rPr>
                          <m:t>𝟏</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sSub>
                      <m:sSubPr>
                        <m:ctrlPr>
                          <a:rPr lang="en-PH" sz="1900" i="1" smtClean="0">
                            <a:latin typeface="Cambria Math" panose="02040503050406030204" pitchFamily="18" charset="0"/>
                          </a:rPr>
                        </m:ctrlPr>
                      </m:sSubPr>
                      <m:e>
                        <m:r>
                          <m:rPr>
                            <m:sty m:val="p"/>
                          </m:rPr>
                          <a:rPr lang="en-PH" sz="1900" i="0">
                            <a:latin typeface="Cambria Math"/>
                          </a:rPr>
                          <m:t>v</m:t>
                        </m:r>
                      </m:e>
                      <m:sub>
                        <m:r>
                          <a:rPr lang="en-PH" sz="1900" i="0">
                            <a:latin typeface="Cambria Math"/>
                          </a:rPr>
                          <m:t>2</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𝑘</m:t>
                        </m:r>
                      </m:sub>
                    </m:sSub>
                    <m:sSub>
                      <m:sSubPr>
                        <m:ctrlPr>
                          <a:rPr lang="en-PH" sz="1900" b="1" i="1">
                            <a:latin typeface="Cambria Math" panose="02040503050406030204" pitchFamily="18" charset="0"/>
                          </a:rPr>
                        </m:ctrlPr>
                      </m:sSubPr>
                      <m:e>
                        <m:r>
                          <a:rPr lang="en-PH" sz="1900" b="1" i="0">
                            <a:latin typeface="Cambria Math"/>
                          </a:rPr>
                          <m:t>𝐯</m:t>
                        </m:r>
                      </m:e>
                      <m:sub>
                        <m:r>
                          <a:rPr lang="en-PH" sz="1900" b="1" i="0">
                            <a:latin typeface="Cambria Math"/>
                          </a:rPr>
                          <m:t>𝐤</m:t>
                        </m:r>
                      </m:sub>
                    </m:sSub>
                    <m:r>
                      <a:rPr lang="en-PH" sz="1900" b="0" i="1" smtClean="0">
                        <a:latin typeface="Cambria Math"/>
                      </a:rPr>
                      <m:t>=</m:t>
                    </m:r>
                    <m:r>
                      <a:rPr lang="en-PH" sz="1900" b="1" i="1" smtClean="0">
                        <a:latin typeface="Cambria Math"/>
                      </a:rPr>
                      <m:t>𝟎</m:t>
                    </m:r>
                  </m:oMath>
                </a14:m>
                <a:endParaRPr lang="en-PH" sz="1900" b="1" i="1" dirty="0"/>
              </a:p>
              <a:p>
                <a:pPr marL="0" indent="0">
                  <a:buNone/>
                </a:pPr>
                <a:endParaRPr lang="en-PH" sz="1900" i="1" dirty="0"/>
              </a:p>
              <a:p>
                <a:pPr marL="0" indent="0">
                  <a:buNone/>
                </a:pPr>
                <a:r>
                  <a:rPr lang="en-PH" sz="1900" dirty="0"/>
                  <a:t>Otherwise,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1</m:t>
                        </m:r>
                      </m:sub>
                    </m:sSub>
                    <m:r>
                      <a:rPr lang="en-PH" sz="1900" i="1">
                        <a:latin typeface="Cambria Math"/>
                      </a:rPr>
                      <m:t>, </m:t>
                    </m:r>
                    <m:sSub>
                      <m:sSubPr>
                        <m:ctrlPr>
                          <a:rPr lang="en-PH" sz="1900" i="1">
                            <a:latin typeface="Cambria Math" panose="02040503050406030204" pitchFamily="18" charset="0"/>
                          </a:rPr>
                        </m:ctrlPr>
                      </m:sSubPr>
                      <m:e>
                        <m:r>
                          <a:rPr lang="en-PH" sz="1900" b="1">
                            <a:latin typeface="Cambria Math"/>
                          </a:rPr>
                          <m:t>𝐯</m:t>
                        </m:r>
                        <m:r>
                          <a:rPr lang="en-PH" sz="1900" i="1">
                            <a:latin typeface="Cambria Math"/>
                          </a:rPr>
                          <m:t> </m:t>
                        </m:r>
                      </m:e>
                      <m:sub>
                        <m:r>
                          <a:rPr lang="en-PH" sz="1900" i="1">
                            <a:latin typeface="Cambria Math"/>
                          </a:rPr>
                          <m:t>2</m:t>
                        </m:r>
                      </m:sub>
                    </m:sSub>
                    <m:r>
                      <a:rPr lang="en-PH" sz="1900" i="1">
                        <a:latin typeface="Cambria Math"/>
                      </a:rPr>
                      <m:t>, …, </m:t>
                    </m:r>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𝑘</m:t>
                        </m:r>
                      </m:sub>
                    </m:sSub>
                  </m:oMath>
                </a14:m>
                <a:r>
                  <a:rPr lang="en-PH" sz="1900" dirty="0"/>
                  <a:t>  are called </a:t>
                </a:r>
                <a:r>
                  <a:rPr lang="en-PH" sz="1900" b="1" dirty="0"/>
                  <a:t>linearly independent</a:t>
                </a:r>
                <a:r>
                  <a:rPr lang="en-PH" sz="1900" dirty="0"/>
                  <a:t>. That is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1</m:t>
                        </m:r>
                      </m:sub>
                    </m:sSub>
                    <m:r>
                      <a:rPr lang="en-PH" sz="1900" i="1">
                        <a:latin typeface="Cambria Math"/>
                      </a:rPr>
                      <m:t>, </m:t>
                    </m:r>
                    <m:sSub>
                      <m:sSubPr>
                        <m:ctrlPr>
                          <a:rPr lang="en-PH" sz="1900" i="1">
                            <a:latin typeface="Cambria Math" panose="02040503050406030204" pitchFamily="18" charset="0"/>
                          </a:rPr>
                        </m:ctrlPr>
                      </m:sSubPr>
                      <m:e>
                        <m:r>
                          <a:rPr lang="en-PH" sz="1900" b="1">
                            <a:latin typeface="Cambria Math"/>
                          </a:rPr>
                          <m:t>𝐯</m:t>
                        </m:r>
                        <m:r>
                          <a:rPr lang="en-PH" sz="1900" i="1">
                            <a:latin typeface="Cambria Math"/>
                          </a:rPr>
                          <m:t> </m:t>
                        </m:r>
                      </m:e>
                      <m:sub>
                        <m:r>
                          <a:rPr lang="en-PH" sz="1900" i="1">
                            <a:latin typeface="Cambria Math"/>
                          </a:rPr>
                          <m:t>2</m:t>
                        </m:r>
                      </m:sub>
                    </m:sSub>
                    <m:r>
                      <a:rPr lang="en-PH" sz="1900" i="1">
                        <a:latin typeface="Cambria Math"/>
                      </a:rPr>
                      <m:t>, …, </m:t>
                    </m:r>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𝑘</m:t>
                        </m:r>
                      </m:sub>
                    </m:sSub>
                  </m:oMath>
                </a14:m>
                <a:r>
                  <a:rPr lang="en-PH" sz="1900" dirty="0"/>
                  <a:t> are linearly independent if whenever </a:t>
                </a:r>
              </a:p>
              <a:p>
                <a:pPr marL="0" indent="0" algn="ctr">
                  <a:buNone/>
                </a:pP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sSub>
                      <m:sSubPr>
                        <m:ctrlPr>
                          <a:rPr lang="en-PH" sz="1900" b="1" i="1">
                            <a:latin typeface="Cambria Math" panose="02040503050406030204" pitchFamily="18" charset="0"/>
                          </a:rPr>
                        </m:ctrlPr>
                      </m:sSubPr>
                      <m:e>
                        <m:r>
                          <a:rPr lang="en-PH" sz="1900" b="1" i="0">
                            <a:latin typeface="Cambria Math"/>
                          </a:rPr>
                          <m:t>𝐯</m:t>
                        </m:r>
                      </m:e>
                      <m:sub>
                        <m:r>
                          <a:rPr lang="en-PH" sz="1900" b="1" i="1">
                            <a:latin typeface="Cambria Math"/>
                          </a:rPr>
                          <m:t>𝟏</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sSub>
                      <m:sSubPr>
                        <m:ctrlPr>
                          <a:rPr lang="en-PH" sz="1900" b="1" i="1">
                            <a:latin typeface="Cambria Math" panose="02040503050406030204" pitchFamily="18" charset="0"/>
                          </a:rPr>
                        </m:ctrlPr>
                      </m:sSubPr>
                      <m:e>
                        <m:r>
                          <a:rPr lang="en-PH" sz="1900" b="1" i="0">
                            <a:latin typeface="Cambria Math"/>
                          </a:rPr>
                          <m:t>𝐯</m:t>
                        </m:r>
                      </m:e>
                      <m:sub>
                        <m:r>
                          <a:rPr lang="en-PH" sz="1900" b="1" i="0">
                            <a:latin typeface="Cambria Math"/>
                          </a:rPr>
                          <m:t>𝟐</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𝑘</m:t>
                        </m:r>
                      </m:sub>
                    </m:sSub>
                    <m:sSub>
                      <m:sSubPr>
                        <m:ctrlPr>
                          <a:rPr lang="en-PH" sz="1900" b="1" i="1">
                            <a:latin typeface="Cambria Math" panose="02040503050406030204" pitchFamily="18" charset="0"/>
                          </a:rPr>
                        </m:ctrlPr>
                      </m:sSubPr>
                      <m:e>
                        <m:r>
                          <a:rPr lang="en-PH" sz="1900" b="1" i="0">
                            <a:latin typeface="Cambria Math"/>
                          </a:rPr>
                          <m:t>𝐯</m:t>
                        </m:r>
                      </m:e>
                      <m:sub>
                        <m:r>
                          <a:rPr lang="en-PH" sz="1900" b="1" i="0">
                            <a:latin typeface="Cambria Math"/>
                          </a:rPr>
                          <m:t>𝐤</m:t>
                        </m:r>
                      </m:sub>
                    </m:sSub>
                    <m:r>
                      <a:rPr lang="en-PH" sz="1900" i="1">
                        <a:latin typeface="Cambria Math"/>
                      </a:rPr>
                      <m:t>=0</m:t>
                    </m:r>
                  </m:oMath>
                </a14:m>
                <a:r>
                  <a:rPr lang="en-PH" sz="1900" dirty="0"/>
                  <a:t> , </a:t>
                </a:r>
              </a:p>
              <a:p>
                <a:pPr marL="0" indent="0">
                  <a:buNone/>
                </a:pPr>
                <a:r>
                  <a:rPr lang="en-PH" sz="1900" dirty="0"/>
                  <a:t>meaning we have a </a:t>
                </a:r>
                <a:r>
                  <a:rPr lang="en-PH" sz="1900" b="1" i="1" dirty="0"/>
                  <a:t>trivial solution</a:t>
                </a:r>
                <a:r>
                  <a:rPr lang="en-PH" sz="1900" dirty="0"/>
                  <a:t> or </a:t>
                </a:r>
              </a:p>
              <a:p>
                <a:pPr marL="0" indent="0" algn="ctr">
                  <a:buNone/>
                </a:pP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r>
                      <a:rPr lang="en-PH" sz="1900" b="0" i="1" smtClean="0">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r>
                      <a:rPr lang="en-PH" sz="1900" b="0" i="1" smtClean="0">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b="0" i="1" smtClean="0">
                            <a:latin typeface="Cambria Math"/>
                          </a:rPr>
                          <m:t>𝑘</m:t>
                        </m:r>
                      </m:sub>
                    </m:sSub>
                    <m:r>
                      <a:rPr lang="en-PH" sz="1900" i="1" smtClean="0">
                        <a:latin typeface="Cambria Math"/>
                      </a:rPr>
                      <m:t>=</m:t>
                    </m:r>
                    <m:r>
                      <a:rPr lang="en-PH" sz="1900" b="0" i="1" smtClean="0">
                        <a:latin typeface="Cambria Math"/>
                      </a:rPr>
                      <m:t>0</m:t>
                    </m:r>
                  </m:oMath>
                </a14:m>
                <a:r>
                  <a:rPr lang="en-PH" sz="1900" i="1" dirty="0"/>
                  <a:t>  </a:t>
                </a:r>
              </a:p>
              <a:p>
                <a:pPr marL="0" indent="0">
                  <a:buNone/>
                </a:pPr>
                <a:endParaRPr lang="en-PH" sz="1900" i="1" dirty="0"/>
              </a:p>
              <a:p>
                <a:pPr marL="0" indent="0">
                  <a:buNone/>
                </a:pPr>
                <a:endParaRPr lang="en-PH" sz="19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667" t="-750" r="-1333"/>
                </a:stretch>
              </a:blipFill>
            </p:spPr>
            <p:txBody>
              <a:bodyPr/>
              <a:lstStyle/>
              <a:p>
                <a:r>
                  <a:rPr lang="en-US">
                    <a:noFill/>
                  </a:rPr>
                  <a:t> </a:t>
                </a:r>
              </a:p>
            </p:txBody>
          </p:sp>
        </mc:Fallback>
      </mc:AlternateContent>
    </p:spTree>
    <p:extLst>
      <p:ext uri="{BB962C8B-B14F-4D97-AF65-F5344CB8AC3E}">
        <p14:creationId xmlns:p14="http://schemas.microsoft.com/office/powerpoint/2010/main" val="19760349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05771-CBFC-4E70-AF6B-F6E735F3309E}"/>
              </a:ext>
            </a:extLst>
          </p:cNvPr>
          <p:cNvSpPr>
            <a:spLocks noGrp="1"/>
          </p:cNvSpPr>
          <p:nvPr>
            <p:ph type="title"/>
          </p:nvPr>
        </p:nvSpPr>
        <p:spPr>
          <a:xfrm>
            <a:off x="457200" y="762000"/>
            <a:ext cx="8229600" cy="990600"/>
          </a:xfrm>
        </p:spPr>
        <p:txBody>
          <a:bodyPr/>
          <a:lstStyle/>
          <a:p>
            <a:r>
              <a:rPr lang="en-PH" dirty="0"/>
              <a:t>Linear Independence</a:t>
            </a:r>
            <a:endParaRPr lang="en-US" dirty="0"/>
          </a:p>
        </p:txBody>
      </p:sp>
      <p:pic>
        <p:nvPicPr>
          <p:cNvPr id="5" name="Content Placeholder 4">
            <a:extLst>
              <a:ext uri="{FF2B5EF4-FFF2-40B4-BE49-F238E27FC236}">
                <a16:creationId xmlns:a16="http://schemas.microsoft.com/office/drawing/2014/main" id="{FA9B24FC-68C5-4131-A2D8-AB1D1977E0CC}"/>
              </a:ext>
            </a:extLst>
          </p:cNvPr>
          <p:cNvPicPr>
            <a:picLocks noGrp="1" noChangeAspect="1"/>
          </p:cNvPicPr>
          <p:nvPr>
            <p:ph idx="1"/>
          </p:nvPr>
        </p:nvPicPr>
        <p:blipFill rotWithShape="1">
          <a:blip r:embed="rId2"/>
          <a:srcRect b="42532"/>
          <a:stretch/>
        </p:blipFill>
        <p:spPr>
          <a:xfrm>
            <a:off x="762000" y="2057400"/>
            <a:ext cx="3733800" cy="3733800"/>
          </a:xfrm>
        </p:spPr>
      </p:pic>
      <p:pic>
        <p:nvPicPr>
          <p:cNvPr id="7" name="Content Placeholder 4">
            <a:extLst>
              <a:ext uri="{FF2B5EF4-FFF2-40B4-BE49-F238E27FC236}">
                <a16:creationId xmlns:a16="http://schemas.microsoft.com/office/drawing/2014/main" id="{2822717A-22C1-4790-8A1B-9824DE3F881B}"/>
              </a:ext>
            </a:extLst>
          </p:cNvPr>
          <p:cNvPicPr>
            <a:picLocks noChangeAspect="1"/>
          </p:cNvPicPr>
          <p:nvPr/>
        </p:nvPicPr>
        <p:blipFill rotWithShape="1">
          <a:blip r:embed="rId2"/>
          <a:srcRect t="58951"/>
          <a:stretch/>
        </p:blipFill>
        <p:spPr>
          <a:xfrm>
            <a:off x="4876800" y="2324100"/>
            <a:ext cx="3733800" cy="3200400"/>
          </a:xfrm>
          <a:prstGeom prst="rect">
            <a:avLst/>
          </a:prstGeom>
        </p:spPr>
      </p:pic>
    </p:spTree>
    <p:extLst>
      <p:ext uri="{BB962C8B-B14F-4D97-AF65-F5344CB8AC3E}">
        <p14:creationId xmlns:p14="http://schemas.microsoft.com/office/powerpoint/2010/main" val="370823331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1900" i="1" dirty="0"/>
                  <a:t>Example #1</a:t>
                </a:r>
              </a:p>
              <a:p>
                <a:pPr marL="0" indent="0">
                  <a:buNone/>
                </a:pPr>
                <a:r>
                  <a:rPr lang="en-PH" sz="1900" i="1" dirty="0"/>
                  <a:t>	Are t</a:t>
                </a:r>
                <a:r>
                  <a:rPr lang="en-PH" sz="1900" dirty="0"/>
                  <a:t>he vectors</a:t>
                </a:r>
                <a14:m>
                  <m:oMath xmlns:m="http://schemas.openxmlformats.org/officeDocument/2006/math">
                    <m:r>
                      <a:rPr lang="en-PH" sz="1900" b="0" i="0" smtClean="0">
                        <a:latin typeface="Cambria Math"/>
                      </a:rPr>
                      <m:t> </m:t>
                    </m:r>
                    <m:r>
                      <a:rPr lang="en-PH" sz="190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1</m:t>
                        </m:r>
                      </m:sub>
                    </m:sSub>
                    <m:r>
                      <a:rPr lang="en-PH" sz="1900" b="0" i="1" smtClean="0">
                        <a:latin typeface="Cambria Math"/>
                      </a:rPr>
                      <m:t>=</m:t>
                    </m:r>
                    <m:d>
                      <m:dPr>
                        <m:begChr m:val="["/>
                        <m:endChr m:val="]"/>
                        <m:ctrlPr>
                          <a:rPr lang="en-PH" sz="1900" b="0" i="1" smtClean="0">
                            <a:latin typeface="Cambria Math" panose="02040503050406030204" pitchFamily="18" charset="0"/>
                          </a:rPr>
                        </m:ctrlPr>
                      </m:dPr>
                      <m:e>
                        <m:m>
                          <m:mPr>
                            <m:mcs>
                              <m:mc>
                                <m:mcPr>
                                  <m:count m:val="1"/>
                                  <m:mcJc m:val="center"/>
                                </m:mcPr>
                              </m:mc>
                            </m:mcs>
                            <m:ctrlPr>
                              <a:rPr lang="en-PH" sz="1900" b="0" i="1" smtClean="0">
                                <a:latin typeface="Cambria Math" panose="02040503050406030204" pitchFamily="18" charset="0"/>
                              </a:rPr>
                            </m:ctrlPr>
                          </m:mPr>
                          <m:mr>
                            <m:e>
                              <m:r>
                                <m:rPr>
                                  <m:brk m:alnAt="7"/>
                                </m:rPr>
                                <a:rPr lang="en-PH" sz="1900" b="0" i="1" smtClean="0">
                                  <a:latin typeface="Cambria Math"/>
                                </a:rPr>
                                <m:t>1</m:t>
                              </m:r>
                            </m:e>
                          </m:mr>
                          <m:mr>
                            <m:e>
                              <m:r>
                                <a:rPr lang="en-PH" sz="1900" b="0" i="1" smtClean="0">
                                  <a:latin typeface="Cambria Math"/>
                                </a:rPr>
                                <m:t>0</m:t>
                              </m:r>
                            </m:e>
                          </m:mr>
                          <m:mr>
                            <m:e>
                              <m:eqArr>
                                <m:eqArrPr>
                                  <m:ctrlPr>
                                    <a:rPr lang="en-PH" sz="1900" b="0" i="1" smtClean="0">
                                      <a:latin typeface="Cambria Math" panose="02040503050406030204" pitchFamily="18" charset="0"/>
                                    </a:rPr>
                                  </m:ctrlPr>
                                </m:eqArrPr>
                                <m:e>
                                  <m:r>
                                    <a:rPr lang="en-PH" sz="1900" b="0" i="1" smtClean="0">
                                      <a:latin typeface="Cambria Math"/>
                                    </a:rPr>
                                    <m:t>1</m:t>
                                  </m:r>
                                </m:e>
                                <m:e>
                                  <m:r>
                                    <a:rPr lang="en-PH" sz="1900" b="0" i="1" smtClean="0">
                                      <a:latin typeface="Cambria Math"/>
                                    </a:rPr>
                                    <m:t>2</m:t>
                                  </m:r>
                                </m:e>
                              </m:eqArr>
                            </m:e>
                          </m:mr>
                        </m:m>
                      </m:e>
                    </m:d>
                    <m:r>
                      <a:rPr lang="en-PH" sz="1900" b="0" i="1" smtClean="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2 </m:t>
                        </m:r>
                      </m:sub>
                    </m:sSub>
                    <m:r>
                      <a:rPr lang="en-PH" sz="1900" b="0" i="1" smtClean="0">
                        <a:latin typeface="Cambria Math"/>
                      </a:rPr>
                      <m:t>=</m:t>
                    </m:r>
                    <m:d>
                      <m:dPr>
                        <m:begChr m:val="["/>
                        <m:endChr m:val="]"/>
                        <m:ctrlPr>
                          <a:rPr lang="en-PH" sz="1900" i="1">
                            <a:latin typeface="Cambria Math" panose="02040503050406030204" pitchFamily="18" charset="0"/>
                          </a:rPr>
                        </m:ctrlPr>
                      </m:dPr>
                      <m:e>
                        <m:m>
                          <m:mPr>
                            <m:mcs>
                              <m:mc>
                                <m:mcPr>
                                  <m:count m:val="1"/>
                                  <m:mcJc m:val="center"/>
                                </m:mcPr>
                              </m:mc>
                            </m:mcs>
                            <m:ctrlPr>
                              <a:rPr lang="en-PH" sz="1900" i="1">
                                <a:latin typeface="Cambria Math" panose="02040503050406030204" pitchFamily="18" charset="0"/>
                              </a:rPr>
                            </m:ctrlPr>
                          </m:mPr>
                          <m:mr>
                            <m:e>
                              <m:r>
                                <a:rPr lang="en-PH" sz="1900" b="0" i="1" smtClean="0">
                                  <a:latin typeface="Cambria Math"/>
                                </a:rPr>
                                <m:t>0</m:t>
                              </m:r>
                            </m:e>
                          </m:mr>
                          <m:mr>
                            <m:e>
                              <m:r>
                                <a:rPr lang="en-PH" sz="1900" b="0" i="1" smtClean="0">
                                  <a:latin typeface="Cambria Math"/>
                                </a:rPr>
                                <m:t>1</m:t>
                              </m:r>
                            </m:e>
                          </m:mr>
                          <m:mr>
                            <m:e>
                              <m:eqArr>
                                <m:eqArrPr>
                                  <m:ctrlPr>
                                    <a:rPr lang="en-PH" sz="1900" i="1">
                                      <a:latin typeface="Cambria Math" panose="02040503050406030204" pitchFamily="18" charset="0"/>
                                    </a:rPr>
                                  </m:ctrlPr>
                                </m:eqArrPr>
                                <m:e>
                                  <m:r>
                                    <a:rPr lang="en-PH" sz="1900" i="1">
                                      <a:latin typeface="Cambria Math"/>
                                    </a:rPr>
                                    <m:t>1</m:t>
                                  </m:r>
                                </m:e>
                                <m:e>
                                  <m:r>
                                    <a:rPr lang="en-PH" sz="1900" i="1">
                                      <a:latin typeface="Cambria Math"/>
                                    </a:rPr>
                                    <m:t>2</m:t>
                                  </m:r>
                                </m:e>
                              </m:eqArr>
                            </m:e>
                          </m:mr>
                        </m:m>
                      </m:e>
                    </m:d>
                    <m:r>
                      <a:rPr lang="en-PH" sz="1900" b="0" i="1" smtClean="0">
                        <a:latin typeface="Cambria Math"/>
                      </a:rPr>
                      <m:t>,  </m:t>
                    </m:r>
                    <m:r>
                      <a:rPr lang="en-PH" sz="1900" b="0" i="1" smtClean="0">
                        <a:latin typeface="Cambria Math"/>
                      </a:rPr>
                      <m:t>𝑎𝑛𝑑</m:t>
                    </m:r>
                    <m:r>
                      <a:rPr lang="en-PH" sz="1900" b="0" i="1" smtClean="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3</m:t>
                        </m:r>
                      </m:sub>
                    </m:sSub>
                    <m:r>
                      <a:rPr lang="en-PH" sz="1900" b="0" i="1" smtClean="0">
                        <a:latin typeface="Cambria Math"/>
                      </a:rPr>
                      <m:t>=</m:t>
                    </m:r>
                    <m:d>
                      <m:dPr>
                        <m:begChr m:val="["/>
                        <m:endChr m:val="]"/>
                        <m:ctrlPr>
                          <a:rPr lang="en-PH" sz="1900" i="1">
                            <a:latin typeface="Cambria Math" panose="02040503050406030204" pitchFamily="18" charset="0"/>
                          </a:rPr>
                        </m:ctrlPr>
                      </m:dPr>
                      <m:e>
                        <m:m>
                          <m:mPr>
                            <m:mcs>
                              <m:mc>
                                <m:mcPr>
                                  <m:count m:val="1"/>
                                  <m:mcJc m:val="center"/>
                                </m:mcPr>
                              </m:mc>
                            </m:mcs>
                            <m:ctrlPr>
                              <a:rPr lang="en-PH" sz="1900" i="1">
                                <a:latin typeface="Cambria Math" panose="02040503050406030204" pitchFamily="18" charset="0"/>
                              </a:rPr>
                            </m:ctrlPr>
                          </m:mPr>
                          <m:mr>
                            <m:e>
                              <m:r>
                                <m:rPr>
                                  <m:brk m:alnAt="7"/>
                                </m:rPr>
                                <a:rPr lang="en-PH" sz="1900" i="1">
                                  <a:latin typeface="Cambria Math"/>
                                </a:rPr>
                                <m:t>1</m:t>
                              </m:r>
                            </m:e>
                          </m:mr>
                          <m:mr>
                            <m:e>
                              <m:r>
                                <a:rPr lang="en-PH" sz="1900" b="0" i="1" smtClean="0">
                                  <a:latin typeface="Cambria Math"/>
                                </a:rPr>
                                <m:t>1</m:t>
                              </m:r>
                            </m:e>
                          </m:mr>
                          <m:mr>
                            <m:e>
                              <m:eqArr>
                                <m:eqArrPr>
                                  <m:ctrlPr>
                                    <a:rPr lang="en-PH" sz="1900" i="1">
                                      <a:latin typeface="Cambria Math" panose="02040503050406030204" pitchFamily="18" charset="0"/>
                                    </a:rPr>
                                  </m:ctrlPr>
                                </m:eqArrPr>
                                <m:e>
                                  <m:r>
                                    <a:rPr lang="en-PH" sz="1900" i="1">
                                      <a:latin typeface="Cambria Math"/>
                                    </a:rPr>
                                    <m:t>1</m:t>
                                  </m:r>
                                </m:e>
                                <m:e>
                                  <m:r>
                                    <a:rPr lang="en-PH" sz="1900" b="0" i="1" smtClean="0">
                                      <a:latin typeface="Cambria Math"/>
                                    </a:rPr>
                                    <m:t>3</m:t>
                                  </m:r>
                                </m:e>
                              </m:eqArr>
                            </m:e>
                          </m:mr>
                        </m:m>
                      </m:e>
                    </m:d>
                  </m:oMath>
                </a14:m>
                <a:r>
                  <a:rPr lang="en-PH" sz="1900" dirty="0"/>
                  <a:t>  in </a:t>
                </a:r>
                <a:r>
                  <a:rPr lang="en-PH" sz="1900" i="1" dirty="0"/>
                  <a:t>R</a:t>
                </a:r>
                <a:r>
                  <a:rPr lang="en-PH" sz="1900" i="1" baseline="30000" dirty="0"/>
                  <a:t>4</a:t>
                </a:r>
                <a:r>
                  <a:rPr lang="en-PH" sz="1900" dirty="0"/>
                  <a:t>  linearly dependent or linearly independent?</a:t>
                </a:r>
              </a:p>
              <a:p>
                <a:pPr marL="0" indent="0">
                  <a:buNone/>
                </a:pPr>
                <a:endParaRPr lang="en-PH" sz="1900" dirty="0"/>
              </a:p>
              <a:p>
                <a:pPr marL="0" indent="0">
                  <a:buNone/>
                </a:pPr>
                <a:endParaRPr lang="en-PH" sz="1900" dirty="0"/>
              </a:p>
              <a:p>
                <a:pPr marL="0" indent="0">
                  <a:buNone/>
                </a:pPr>
                <a:r>
                  <a:rPr lang="en-PH" sz="1900" dirty="0"/>
                  <a:t>Solution:</a:t>
                </a:r>
              </a:p>
              <a:p>
                <a:pPr marL="0" indent="0">
                  <a:buNone/>
                </a:pPr>
                <a:r>
                  <a:rPr lang="en-PH" sz="1900" i="1" dirty="0"/>
                  <a:t>First, form the equation: </a:t>
                </a:r>
              </a:p>
              <a:p>
                <a:pPr marL="0" indent="0">
                  <a:buNone/>
                </a:pPr>
                <a:r>
                  <a:rPr lang="en-PH" sz="1900" i="1" dirty="0"/>
                  <a:t>			</a:t>
                </a: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sSub>
                      <m:sSubPr>
                        <m:ctrlPr>
                          <a:rPr lang="en-PH" sz="1900" i="1">
                            <a:latin typeface="Cambria Math" panose="02040503050406030204" pitchFamily="18" charset="0"/>
                          </a:rPr>
                        </m:ctrlPr>
                      </m:sSubPr>
                      <m:e>
                        <m:r>
                          <a:rPr lang="en-PH" sz="1900" b="1" i="0">
                            <a:latin typeface="Cambria Math"/>
                          </a:rPr>
                          <m:t>𝐯</m:t>
                        </m:r>
                      </m:e>
                      <m:sub>
                        <m:r>
                          <a:rPr lang="en-PH" sz="1900" i="1">
                            <a:latin typeface="Cambria Math"/>
                          </a:rPr>
                          <m:t>1</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sSub>
                      <m:sSubPr>
                        <m:ctrlPr>
                          <a:rPr lang="en-PH" sz="1900" i="1">
                            <a:latin typeface="Cambria Math" panose="02040503050406030204" pitchFamily="18" charset="0"/>
                          </a:rPr>
                        </m:ctrlPr>
                      </m:sSubPr>
                      <m:e>
                        <m:r>
                          <a:rPr lang="en-PH" sz="1900" b="1" i="0">
                            <a:latin typeface="Cambria Math"/>
                          </a:rPr>
                          <m:t>𝐯</m:t>
                        </m:r>
                      </m:e>
                      <m:sub>
                        <m:r>
                          <a:rPr lang="en-PH" sz="1900" i="1">
                            <a:latin typeface="Cambria Math"/>
                          </a:rPr>
                          <m:t>2</m:t>
                        </m:r>
                      </m:sub>
                    </m:sSub>
                    <m:r>
                      <a:rPr lang="en-PH" sz="1900" i="1">
                        <a:latin typeface="Cambria Math"/>
                      </a:rPr>
                      <m:t>+</m:t>
                    </m:r>
                    <m:sSub>
                      <m:sSubPr>
                        <m:ctrlPr>
                          <a:rPr lang="en-PH" sz="1900" i="1">
                            <a:latin typeface="Cambria Math" panose="02040503050406030204" pitchFamily="18" charset="0"/>
                          </a:rPr>
                        </m:ctrlPr>
                      </m:sSubPr>
                      <m:e>
                        <m:r>
                          <a:rPr lang="en-PH" sz="1900" i="1">
                            <a:latin typeface="Cambria Math"/>
                          </a:rPr>
                          <m:t>𝑐</m:t>
                        </m:r>
                      </m:e>
                      <m:sub>
                        <m:r>
                          <a:rPr lang="en-PH" sz="1900" b="0" i="1" smtClean="0">
                            <a:latin typeface="Cambria Math"/>
                          </a:rPr>
                          <m:t>3</m:t>
                        </m:r>
                      </m:sub>
                    </m:sSub>
                    <m:sSub>
                      <m:sSubPr>
                        <m:ctrlPr>
                          <a:rPr lang="en-PH" sz="1900" i="1">
                            <a:latin typeface="Cambria Math" panose="02040503050406030204" pitchFamily="18" charset="0"/>
                          </a:rPr>
                        </m:ctrlPr>
                      </m:sSubPr>
                      <m:e>
                        <m:r>
                          <a:rPr lang="en-PH" sz="1900" b="1" i="0">
                            <a:latin typeface="Cambria Math"/>
                          </a:rPr>
                          <m:t>𝐯</m:t>
                        </m:r>
                      </m:e>
                      <m:sub>
                        <m:r>
                          <a:rPr lang="en-PH" sz="1900" b="0" i="1" smtClean="0">
                            <a:latin typeface="Cambria Math"/>
                          </a:rPr>
                          <m:t>3</m:t>
                        </m:r>
                      </m:sub>
                    </m:sSub>
                    <m:r>
                      <a:rPr lang="en-PH" sz="1900" b="0" i="1" smtClean="0">
                        <a:latin typeface="Cambria Math"/>
                      </a:rPr>
                      <m:t>=0</m:t>
                    </m:r>
                  </m:oMath>
                </a14:m>
                <a:endParaRPr lang="en-PH" sz="1900" b="0" dirty="0">
                  <a:latin typeface="Cambria Math"/>
                </a:endParaRPr>
              </a:p>
              <a:p>
                <a:pPr marL="0" indent="0">
                  <a:buNone/>
                </a:pPr>
                <a:endParaRPr lang="en-PH" sz="1900" i="1" dirty="0"/>
              </a:p>
              <a:p>
                <a:pPr marL="0" indent="0">
                  <a:buNone/>
                </a:pPr>
                <a:r>
                  <a:rPr lang="en-PH" sz="1900" i="1" dirty="0"/>
                  <a:t>   substitute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1</m:t>
                        </m:r>
                      </m:sub>
                    </m:sSub>
                  </m:oMath>
                </a14:m>
                <a:r>
                  <a:rPr lang="en-PH" sz="1900" i="1" dirty="0"/>
                  <a:t>,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b="0" i="1" smtClean="0">
                            <a:latin typeface="Cambria Math"/>
                          </a:rPr>
                          <m:t>2</m:t>
                        </m:r>
                      </m:sub>
                    </m:sSub>
                  </m:oMath>
                </a14:m>
                <a:r>
                  <a:rPr lang="en-PH" sz="1900" i="1" dirty="0"/>
                  <a:t>,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b="0" i="1" smtClean="0">
                            <a:latin typeface="Cambria Math"/>
                          </a:rPr>
                          <m:t>3</m:t>
                        </m:r>
                      </m:sub>
                    </m:sSub>
                  </m:oMath>
                </a14:m>
                <a:r>
                  <a:rPr lang="en-PH" sz="1900" i="1" dirty="0"/>
                  <a:t> and solve for c</a:t>
                </a:r>
                <a:r>
                  <a:rPr lang="en-PH" sz="1900" i="1" baseline="-25000" dirty="0"/>
                  <a:t>1</a:t>
                </a:r>
                <a:r>
                  <a:rPr lang="en-PH" sz="1900" i="1" dirty="0"/>
                  <a:t>, c</a:t>
                </a:r>
                <a:r>
                  <a:rPr lang="en-PH" sz="1900" i="1" baseline="-25000" dirty="0"/>
                  <a:t>2</a:t>
                </a:r>
                <a:r>
                  <a:rPr lang="en-PH" sz="1900" i="1" dirty="0"/>
                  <a:t> and c</a:t>
                </a:r>
                <a:r>
                  <a:rPr lang="en-PH" sz="1900" i="1" baseline="-25000" dirty="0"/>
                  <a:t>3</a:t>
                </a:r>
                <a:r>
                  <a:rPr lang="en-PH" sz="1900" i="1" dirty="0"/>
                  <a:t>. </a:t>
                </a:r>
              </a:p>
              <a:p>
                <a:pPr marL="0" indent="0">
                  <a:buNone/>
                </a:pPr>
                <a:endParaRPr lang="en-PH" sz="19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667" t="-750"/>
                </a:stretch>
              </a:blipFill>
            </p:spPr>
            <p:txBody>
              <a:bodyPr/>
              <a:lstStyle/>
              <a:p>
                <a:r>
                  <a:rPr lang="en-US">
                    <a:noFill/>
                  </a:rPr>
                  <a:t> </a:t>
                </a:r>
              </a:p>
            </p:txBody>
          </p:sp>
        </mc:Fallback>
      </mc:AlternateContent>
    </p:spTree>
    <p:extLst>
      <p:ext uri="{BB962C8B-B14F-4D97-AF65-F5344CB8AC3E}">
        <p14:creationId xmlns:p14="http://schemas.microsoft.com/office/powerpoint/2010/main" val="30289179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1900" i="1" dirty="0"/>
                  <a:t>Cont.</a:t>
                </a:r>
              </a:p>
              <a:p>
                <a:pPr marL="0" indent="0" algn="ctr">
                  <a:buNone/>
                </a:pP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d>
                      <m:dPr>
                        <m:begChr m:val="["/>
                        <m:endChr m:val="]"/>
                        <m:ctrlPr>
                          <a:rPr lang="en-PH" sz="1900" i="1">
                            <a:latin typeface="Cambria Math" panose="02040503050406030204" pitchFamily="18" charset="0"/>
                          </a:rPr>
                        </m:ctrlPr>
                      </m:dPr>
                      <m:e>
                        <m:m>
                          <m:mPr>
                            <m:mcs>
                              <m:mc>
                                <m:mcPr>
                                  <m:count m:val="1"/>
                                  <m:mcJc m:val="center"/>
                                </m:mcPr>
                              </m:mc>
                            </m:mcs>
                            <m:ctrlPr>
                              <a:rPr lang="en-PH" sz="1900" i="1">
                                <a:latin typeface="Cambria Math" panose="02040503050406030204" pitchFamily="18" charset="0"/>
                              </a:rPr>
                            </m:ctrlPr>
                          </m:mPr>
                          <m:mr>
                            <m:e>
                              <m:r>
                                <m:rPr>
                                  <m:brk m:alnAt="7"/>
                                </m:rPr>
                                <a:rPr lang="en-PH" sz="1900" i="1">
                                  <a:latin typeface="Cambria Math"/>
                                </a:rPr>
                                <m:t>1</m:t>
                              </m:r>
                            </m:e>
                          </m:mr>
                          <m:mr>
                            <m:e>
                              <m:r>
                                <a:rPr lang="en-PH" sz="1900" i="1">
                                  <a:latin typeface="Cambria Math"/>
                                </a:rPr>
                                <m:t>0</m:t>
                              </m:r>
                            </m:e>
                          </m:mr>
                          <m:mr>
                            <m:e>
                              <m:eqArr>
                                <m:eqArrPr>
                                  <m:ctrlPr>
                                    <a:rPr lang="en-PH" sz="1900" i="1">
                                      <a:latin typeface="Cambria Math" panose="02040503050406030204" pitchFamily="18" charset="0"/>
                                    </a:rPr>
                                  </m:ctrlPr>
                                </m:eqArrPr>
                                <m:e>
                                  <m:r>
                                    <a:rPr lang="en-PH" sz="1900" i="1">
                                      <a:latin typeface="Cambria Math"/>
                                    </a:rPr>
                                    <m:t>1</m:t>
                                  </m:r>
                                </m:e>
                                <m:e>
                                  <m:r>
                                    <a:rPr lang="en-PH" sz="1900" i="1">
                                      <a:latin typeface="Cambria Math"/>
                                    </a:rPr>
                                    <m:t>2</m:t>
                                  </m:r>
                                </m:e>
                              </m:eqArr>
                            </m:e>
                          </m:mr>
                        </m:m>
                      </m:e>
                    </m:d>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d>
                      <m:dPr>
                        <m:begChr m:val="["/>
                        <m:endChr m:val="]"/>
                        <m:ctrlPr>
                          <a:rPr lang="en-PH" sz="1900" i="1">
                            <a:latin typeface="Cambria Math" panose="02040503050406030204" pitchFamily="18" charset="0"/>
                          </a:rPr>
                        </m:ctrlPr>
                      </m:dPr>
                      <m:e>
                        <m:m>
                          <m:mPr>
                            <m:mcs>
                              <m:mc>
                                <m:mcPr>
                                  <m:count m:val="1"/>
                                  <m:mcJc m:val="center"/>
                                </m:mcPr>
                              </m:mc>
                            </m:mcs>
                            <m:ctrlPr>
                              <a:rPr lang="en-PH" sz="1900" i="1">
                                <a:latin typeface="Cambria Math" panose="02040503050406030204" pitchFamily="18" charset="0"/>
                              </a:rPr>
                            </m:ctrlPr>
                          </m:mPr>
                          <m:mr>
                            <m:e>
                              <m:r>
                                <a:rPr lang="en-PH" sz="1900" i="1">
                                  <a:latin typeface="Cambria Math"/>
                                </a:rPr>
                                <m:t>0</m:t>
                              </m:r>
                            </m:e>
                          </m:mr>
                          <m:mr>
                            <m:e>
                              <m:r>
                                <a:rPr lang="en-PH" sz="1900" i="1">
                                  <a:latin typeface="Cambria Math"/>
                                </a:rPr>
                                <m:t>1</m:t>
                              </m:r>
                            </m:e>
                          </m:mr>
                          <m:mr>
                            <m:e>
                              <m:eqArr>
                                <m:eqArrPr>
                                  <m:ctrlPr>
                                    <a:rPr lang="en-PH" sz="1900" i="1">
                                      <a:latin typeface="Cambria Math" panose="02040503050406030204" pitchFamily="18" charset="0"/>
                                    </a:rPr>
                                  </m:ctrlPr>
                                </m:eqArrPr>
                                <m:e>
                                  <m:r>
                                    <a:rPr lang="en-PH" sz="1900" i="1">
                                      <a:latin typeface="Cambria Math"/>
                                    </a:rPr>
                                    <m:t>1</m:t>
                                  </m:r>
                                </m:e>
                                <m:e>
                                  <m:r>
                                    <a:rPr lang="en-PH" sz="1900" i="1">
                                      <a:latin typeface="Cambria Math"/>
                                    </a:rPr>
                                    <m:t>2</m:t>
                                  </m:r>
                                </m:e>
                              </m:eqArr>
                            </m:e>
                          </m:mr>
                        </m:m>
                      </m:e>
                    </m:d>
                    <m:r>
                      <a:rPr lang="en-PH" sz="1900" i="1">
                        <a:latin typeface="Cambria Math"/>
                      </a:rPr>
                      <m:t>+</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3</m:t>
                        </m:r>
                      </m:sub>
                    </m:sSub>
                    <m:d>
                      <m:dPr>
                        <m:begChr m:val="["/>
                        <m:endChr m:val="]"/>
                        <m:ctrlPr>
                          <a:rPr lang="en-PH" sz="1900" i="1">
                            <a:latin typeface="Cambria Math" panose="02040503050406030204" pitchFamily="18" charset="0"/>
                          </a:rPr>
                        </m:ctrlPr>
                      </m:dPr>
                      <m:e>
                        <m:m>
                          <m:mPr>
                            <m:mcs>
                              <m:mc>
                                <m:mcPr>
                                  <m:count m:val="1"/>
                                  <m:mcJc m:val="center"/>
                                </m:mcPr>
                              </m:mc>
                            </m:mcs>
                            <m:ctrlPr>
                              <a:rPr lang="en-PH" sz="1900" i="1">
                                <a:latin typeface="Cambria Math" panose="02040503050406030204" pitchFamily="18" charset="0"/>
                              </a:rPr>
                            </m:ctrlPr>
                          </m:mPr>
                          <m:mr>
                            <m:e>
                              <m:r>
                                <m:rPr>
                                  <m:brk m:alnAt="7"/>
                                </m:rPr>
                                <a:rPr lang="en-PH" sz="1900" i="1">
                                  <a:latin typeface="Cambria Math"/>
                                </a:rPr>
                                <m:t>1</m:t>
                              </m:r>
                            </m:e>
                          </m:mr>
                          <m:mr>
                            <m:e>
                              <m:r>
                                <a:rPr lang="en-PH" sz="1900" i="1">
                                  <a:latin typeface="Cambria Math"/>
                                </a:rPr>
                                <m:t>1</m:t>
                              </m:r>
                            </m:e>
                          </m:mr>
                          <m:mr>
                            <m:e>
                              <m:eqArr>
                                <m:eqArrPr>
                                  <m:ctrlPr>
                                    <a:rPr lang="en-PH" sz="1900" i="1">
                                      <a:latin typeface="Cambria Math" panose="02040503050406030204" pitchFamily="18" charset="0"/>
                                    </a:rPr>
                                  </m:ctrlPr>
                                </m:eqArrPr>
                                <m:e>
                                  <m:r>
                                    <a:rPr lang="en-PH" sz="1900" i="1">
                                      <a:latin typeface="Cambria Math"/>
                                    </a:rPr>
                                    <m:t>1</m:t>
                                  </m:r>
                                </m:e>
                                <m:e>
                                  <m:r>
                                    <a:rPr lang="en-PH" sz="1900" i="1">
                                      <a:latin typeface="Cambria Math"/>
                                    </a:rPr>
                                    <m:t>3</m:t>
                                  </m:r>
                                </m:e>
                              </m:eqArr>
                            </m:e>
                          </m:mr>
                        </m:m>
                      </m:e>
                    </m:d>
                    <m:r>
                      <a:rPr lang="en-PH" sz="1900" i="1">
                        <a:latin typeface="Cambria Math"/>
                      </a:rPr>
                      <m:t>=0</m:t>
                    </m:r>
                  </m:oMath>
                </a14:m>
                <a:endParaRPr lang="en-PH" sz="1900" i="1" dirty="0"/>
              </a:p>
              <a:p>
                <a:pPr marL="0" indent="0">
                  <a:buNone/>
                </a:pPr>
                <a:r>
                  <a:rPr lang="en-PH" sz="1900" i="1" dirty="0"/>
                  <a:t>	</a:t>
                </a:r>
                <a:endParaRPr lang="en-PH" sz="1900" dirty="0"/>
              </a:p>
              <a:p>
                <a:pPr marL="0" indent="0">
                  <a:buNone/>
                </a:pPr>
                <a14:m>
                  <m:oMathPara xmlns:m="http://schemas.openxmlformats.org/officeDocument/2006/math">
                    <m:oMathParaPr>
                      <m:jc m:val="centerGroup"/>
                    </m:oMathParaPr>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1</m:t>
                          </m:r>
                        </m:sub>
                      </m:sSub>
                      <m:r>
                        <a:rPr lang="en-PH" sz="2000" b="0" i="0" smtClean="0">
                          <a:latin typeface="Cambria Math"/>
                        </a:rPr>
                        <m:t>            + </m:t>
                      </m:r>
                      <m:sSub>
                        <m:sSubPr>
                          <m:ctrlPr>
                            <a:rPr lang="en-PH" sz="2000" b="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3</m:t>
                          </m:r>
                        </m:sub>
                      </m:sSub>
                      <m:r>
                        <a:rPr lang="en-PH" sz="2000" b="0" i="1" smtClean="0">
                          <a:latin typeface="Cambria Math"/>
                        </a:rPr>
                        <m:t>=0</m:t>
                      </m:r>
                    </m:oMath>
                  </m:oMathPara>
                </a14:m>
                <a:endParaRPr lang="en-PH" sz="2000" dirty="0"/>
              </a:p>
              <a:p>
                <a:pPr marL="0" indent="0">
                  <a:buNone/>
                </a:pPr>
                <a14:m>
                  <m:oMathPara xmlns:m="http://schemas.openxmlformats.org/officeDocument/2006/math">
                    <m:oMathParaPr>
                      <m:jc m:val="centerGroup"/>
                    </m:oMathParaPr>
                    <m:oMath xmlns:m="http://schemas.openxmlformats.org/officeDocument/2006/math">
                      <m:r>
                        <a:rPr lang="en-PH" sz="2000" b="0" i="1" smtClean="0">
                          <a:latin typeface="Cambria Math"/>
                        </a:rPr>
                        <m:t>          </m:t>
                      </m:r>
                      <m:sSub>
                        <m:sSubPr>
                          <m:ctrlPr>
                            <a:rPr lang="en-PH" sz="2000" b="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2</m:t>
                          </m:r>
                        </m:sub>
                      </m:sSub>
                      <m:r>
                        <a:rPr lang="en-PH" sz="2000">
                          <a:latin typeface="Cambria Math"/>
                        </a:rPr>
                        <m:t> + </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3</m:t>
                          </m:r>
                        </m:sub>
                      </m:sSub>
                      <m:r>
                        <a:rPr lang="en-PH" sz="2000" i="1">
                          <a:latin typeface="Cambria Math"/>
                        </a:rPr>
                        <m:t>=0</m:t>
                      </m:r>
                    </m:oMath>
                  </m:oMathPara>
                </a14:m>
                <a:endParaRPr lang="en-PH" sz="2000" dirty="0"/>
              </a:p>
              <a:p>
                <a:pPr marL="0" indent="0">
                  <a:buNone/>
                </a:pPr>
                <a14:m>
                  <m:oMathPara xmlns:m="http://schemas.openxmlformats.org/officeDocument/2006/math">
                    <m:oMathParaPr>
                      <m:jc m:val="centerGroup"/>
                    </m:oMathParaPr>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1</m:t>
                          </m:r>
                        </m:sub>
                      </m:sSub>
                      <m:r>
                        <a:rPr lang="en-PH" sz="2000">
                          <a:latin typeface="Cambria Math"/>
                        </a:rPr>
                        <m:t>  + </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2</m:t>
                          </m:r>
                        </m:sub>
                      </m:sSub>
                      <m:r>
                        <a:rPr lang="en-PH" sz="2000">
                          <a:latin typeface="Cambria Math"/>
                        </a:rPr>
                        <m:t> + </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3</m:t>
                          </m:r>
                        </m:sub>
                      </m:sSub>
                      <m:r>
                        <a:rPr lang="en-PH" sz="2000" i="1">
                          <a:latin typeface="Cambria Math"/>
                        </a:rPr>
                        <m:t>=0</m:t>
                      </m:r>
                    </m:oMath>
                  </m:oMathPara>
                </a14:m>
                <a:endParaRPr lang="en-PH" sz="2000" i="1" dirty="0"/>
              </a:p>
              <a:p>
                <a:pPr marL="0" indent="0" algn="ctr">
                  <a:buNone/>
                </a:pPr>
                <a14:m>
                  <m:oMath xmlns:m="http://schemas.openxmlformats.org/officeDocument/2006/math">
                    <m:sSub>
                      <m:sSubPr>
                        <m:ctrlPr>
                          <a:rPr lang="en-PH" sz="2000" i="1">
                            <a:latin typeface="Cambria Math" panose="02040503050406030204" pitchFamily="18" charset="0"/>
                          </a:rPr>
                        </m:ctrlPr>
                      </m:sSubPr>
                      <m:e>
                        <m:r>
                          <a:rPr lang="en-PH" sz="2000" b="0" i="1" smtClean="0">
                            <a:latin typeface="Cambria Math"/>
                          </a:rPr>
                          <m:t>2</m:t>
                        </m:r>
                        <m:r>
                          <a:rPr lang="en-PH" sz="2000" i="1">
                            <a:latin typeface="Cambria Math"/>
                          </a:rPr>
                          <m:t>𝑐</m:t>
                        </m:r>
                      </m:e>
                      <m:sub>
                        <m:r>
                          <a:rPr lang="en-PH" sz="2000" i="1">
                            <a:latin typeface="Cambria Math"/>
                          </a:rPr>
                          <m:t>1</m:t>
                        </m:r>
                      </m:sub>
                    </m:sSub>
                    <m:r>
                      <a:rPr lang="en-PH" sz="2000">
                        <a:latin typeface="Cambria Math"/>
                      </a:rPr>
                      <m:t>+</m:t>
                    </m:r>
                    <m:r>
                      <a:rPr lang="en-PH" sz="2000" b="0" i="0" smtClean="0">
                        <a:latin typeface="Cambria Math"/>
                      </a:rPr>
                      <m:t>2</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2</m:t>
                        </m:r>
                      </m:sub>
                    </m:sSub>
                    <m:r>
                      <a:rPr lang="en-PH" sz="2000">
                        <a:latin typeface="Cambria Math"/>
                      </a:rPr>
                      <m:t>+</m:t>
                    </m:r>
                    <m:r>
                      <a:rPr lang="en-PH" sz="2000" b="0" i="0" smtClean="0">
                        <a:latin typeface="Cambria Math"/>
                      </a:rPr>
                      <m:t>3</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3</m:t>
                        </m:r>
                      </m:sub>
                    </m:sSub>
                    <m:r>
                      <a:rPr lang="en-PH" sz="2000" i="1">
                        <a:latin typeface="Cambria Math"/>
                      </a:rPr>
                      <m:t>=0</m:t>
                    </m:r>
                  </m:oMath>
                </a14:m>
                <a:r>
                  <a:rPr lang="en-PH" sz="2000" i="1" dirty="0"/>
                  <a:t>   </a:t>
                </a:r>
              </a:p>
              <a:p>
                <a:pPr marL="0" indent="0">
                  <a:buNone/>
                </a:pPr>
                <a:r>
                  <a:rPr lang="en-PH" sz="2000" i="1" dirty="0"/>
                  <a:t> write its augmented matrix:</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PH" sz="1800" i="1" smtClean="0">
                              <a:latin typeface="Cambria Math" panose="02040503050406030204" pitchFamily="18" charset="0"/>
                            </a:rPr>
                          </m:ctrlPr>
                        </m:dPr>
                        <m:e>
                          <m:m>
                            <m:mPr>
                              <m:mcs>
                                <m:mc>
                                  <m:mcPr>
                                    <m:count m:val="3"/>
                                    <m:mcJc m:val="center"/>
                                  </m:mcPr>
                                </m:mc>
                              </m:mcs>
                              <m:ctrlPr>
                                <a:rPr lang="en-PH" sz="1800" i="1" smtClean="0">
                                  <a:latin typeface="Cambria Math" panose="02040503050406030204" pitchFamily="18" charset="0"/>
                                </a:rPr>
                              </m:ctrlPr>
                            </m:mPr>
                            <m:mr>
                              <m:e>
                                <m:r>
                                  <m:rPr>
                                    <m:brk m:alnAt="7"/>
                                  </m:rPr>
                                  <a:rPr lang="en-PH" sz="1800" b="0" i="1" smtClean="0">
                                    <a:latin typeface="Cambria Math"/>
                                  </a:rPr>
                                  <m:t>1</m:t>
                                </m:r>
                              </m:e>
                              <m:e>
                                <m:r>
                                  <a:rPr lang="en-PH" sz="1800" b="0" i="1" smtClean="0">
                                    <a:latin typeface="Cambria Math"/>
                                  </a:rPr>
                                  <m:t>0</m:t>
                                </m:r>
                              </m:e>
                              <m:e>
                                <m:r>
                                  <a:rPr lang="en-PH" sz="1800" b="0" i="1" smtClean="0">
                                    <a:latin typeface="Cambria Math"/>
                                  </a:rPr>
                                  <m:t>1</m:t>
                                </m:r>
                              </m:e>
                            </m:mr>
                            <m:mr>
                              <m:e>
                                <m:r>
                                  <a:rPr lang="en-PH" sz="1800" b="0" i="1" smtClean="0">
                                    <a:latin typeface="Cambria Math"/>
                                  </a:rPr>
                                  <m:t>0</m:t>
                                </m:r>
                              </m:e>
                              <m:e>
                                <m:r>
                                  <a:rPr lang="en-PH" sz="1800" b="0" i="1" smtClean="0">
                                    <a:latin typeface="Cambria Math"/>
                                  </a:rPr>
                                  <m:t>1</m:t>
                                </m:r>
                              </m:e>
                              <m:e>
                                <m:r>
                                  <a:rPr lang="en-PH" sz="1800" b="0" i="1" smtClean="0">
                                    <a:latin typeface="Cambria Math"/>
                                  </a:rPr>
                                  <m:t>1</m:t>
                                </m:r>
                              </m:e>
                            </m:mr>
                            <m:mr>
                              <m:e>
                                <m:eqArr>
                                  <m:eqArrPr>
                                    <m:ctrlPr>
                                      <a:rPr lang="en-PH" sz="1800" i="1" smtClean="0">
                                        <a:latin typeface="Cambria Math" panose="02040503050406030204" pitchFamily="18" charset="0"/>
                                      </a:rPr>
                                    </m:ctrlPr>
                                  </m:eqArrPr>
                                  <m:e>
                                    <m:r>
                                      <a:rPr lang="en-PH" sz="1800" b="0" i="1" smtClean="0">
                                        <a:latin typeface="Cambria Math"/>
                                      </a:rPr>
                                      <m:t>1</m:t>
                                    </m:r>
                                  </m:e>
                                  <m:e>
                                    <m:r>
                                      <a:rPr lang="en-PH" sz="2000" b="0" i="1" smtClean="0">
                                        <a:latin typeface="Cambria Math"/>
                                      </a:rPr>
                                      <m:t>2</m:t>
                                    </m:r>
                                  </m:e>
                                </m:eqArr>
                              </m:e>
                              <m:e>
                                <m:eqArr>
                                  <m:eqArrPr>
                                    <m:ctrlPr>
                                      <a:rPr lang="en-PH" sz="1800" i="1" smtClean="0">
                                        <a:latin typeface="Cambria Math" panose="02040503050406030204" pitchFamily="18" charset="0"/>
                                      </a:rPr>
                                    </m:ctrlPr>
                                  </m:eqArrPr>
                                  <m:e>
                                    <m:r>
                                      <a:rPr lang="en-PH" sz="1800" b="0" i="1" smtClean="0">
                                        <a:latin typeface="Cambria Math"/>
                                      </a:rPr>
                                      <m:t>1</m:t>
                                    </m:r>
                                  </m:e>
                                  <m:e>
                                    <m:r>
                                      <a:rPr lang="en-PH" sz="2000" b="0" i="1" smtClean="0">
                                        <a:latin typeface="Cambria Math"/>
                                      </a:rPr>
                                      <m:t>2</m:t>
                                    </m:r>
                                  </m:e>
                                </m:eqArr>
                              </m:e>
                              <m:e>
                                <m:eqArr>
                                  <m:eqArrPr>
                                    <m:ctrlPr>
                                      <a:rPr lang="en-PH" sz="1800" i="1" smtClean="0">
                                        <a:latin typeface="Cambria Math" panose="02040503050406030204" pitchFamily="18" charset="0"/>
                                      </a:rPr>
                                    </m:ctrlPr>
                                  </m:eqArrPr>
                                  <m:e>
                                    <m:r>
                                      <a:rPr lang="en-PH" sz="1800" b="0" i="1" smtClean="0">
                                        <a:latin typeface="Cambria Math"/>
                                      </a:rPr>
                                      <m:t>1</m:t>
                                    </m:r>
                                    <m:r>
                                      <a:rPr lang="en-US" sz="1800" b="0" i="1" smtClean="0">
                                        <a:latin typeface="Cambria Math" panose="02040503050406030204" pitchFamily="18" charset="0"/>
                                      </a:rPr>
                                      <m:t> </m:t>
                                    </m:r>
                                  </m:e>
                                  <m:e>
                                    <m:r>
                                      <a:rPr lang="en-PH" sz="2000" b="0" i="1" smtClean="0">
                                        <a:latin typeface="Cambria Math"/>
                                      </a:rPr>
                                      <m:t>3</m:t>
                                    </m:r>
                                  </m:e>
                                </m:eqArr>
                              </m:e>
                            </m:mr>
                          </m:m>
                          <m:r>
                            <a:rPr lang="en-PH" sz="1800" b="0" i="1" smtClean="0">
                              <a:latin typeface="Cambria Math"/>
                            </a:rPr>
                            <m:t>  </m:t>
                          </m:r>
                          <m:m>
                            <m:mPr>
                              <m:mcs>
                                <m:mc>
                                  <m:mcPr>
                                    <m:count m:val="2"/>
                                    <m:mcJc m:val="center"/>
                                  </m:mcPr>
                                </m:mc>
                              </m:mcs>
                              <m:ctrlPr>
                                <a:rPr lang="en-PH" sz="1800" b="0" i="1" smtClean="0">
                                  <a:latin typeface="Cambria Math" panose="02040503050406030204" pitchFamily="18" charset="0"/>
                                </a:rPr>
                              </m:ctrlPr>
                            </m:mPr>
                            <m:mr>
                              <m:e>
                                <m:r>
                                  <m:rPr>
                                    <m:brk m:alnAt="7"/>
                                  </m:rPr>
                                  <a:rPr lang="en-PH" sz="1800" b="0" i="1" smtClean="0">
                                    <a:latin typeface="Cambria Math"/>
                                  </a:rPr>
                                  <m:t>:</m:t>
                                </m:r>
                              </m:e>
                              <m:e>
                                <m:r>
                                  <a:rPr lang="en-PH" sz="1800" b="0" i="1" smtClean="0">
                                    <a:latin typeface="Cambria Math"/>
                                  </a:rPr>
                                  <m:t>0</m:t>
                                </m:r>
                              </m:e>
                            </m:mr>
                            <m:mr>
                              <m:e>
                                <m:r>
                                  <a:rPr lang="en-PH" sz="1800" b="0" i="1" smtClean="0">
                                    <a:latin typeface="Cambria Math"/>
                                  </a:rPr>
                                  <m:t>:</m:t>
                                </m:r>
                              </m:e>
                              <m:e>
                                <m:r>
                                  <a:rPr lang="en-PH" sz="1800" b="0" i="1" smtClean="0">
                                    <a:latin typeface="Cambria Math"/>
                                  </a:rPr>
                                  <m:t>0</m:t>
                                </m:r>
                              </m:e>
                            </m:mr>
                            <m:mr>
                              <m:e>
                                <m:r>
                                  <a:rPr lang="en-PH" sz="1800" b="0" i="1" smtClean="0">
                                    <a:latin typeface="Cambria Math"/>
                                  </a:rPr>
                                  <m:t>:</m:t>
                                </m:r>
                              </m:e>
                              <m:e>
                                <m:eqArr>
                                  <m:eqArrPr>
                                    <m:ctrlPr>
                                      <a:rPr lang="en-PH" sz="1800" b="0" i="1" smtClean="0">
                                        <a:latin typeface="Cambria Math" panose="02040503050406030204" pitchFamily="18" charset="0"/>
                                      </a:rPr>
                                    </m:ctrlPr>
                                  </m:eqArrPr>
                                  <m:e>
                                    <m:r>
                                      <a:rPr lang="en-PH" sz="1800" b="0" i="1" smtClean="0">
                                        <a:latin typeface="Cambria Math"/>
                                      </a:rPr>
                                      <m:t>0</m:t>
                                    </m:r>
                                  </m:e>
                                  <m:e>
                                    <m:r>
                                      <a:rPr lang="en-PH" sz="2000" b="0" i="1" smtClean="0">
                                        <a:latin typeface="Cambria Math"/>
                                      </a:rPr>
                                      <m:t>0</m:t>
                                    </m:r>
                                  </m:e>
                                </m:eqArr>
                              </m:e>
                            </m:mr>
                          </m:m>
                        </m:e>
                      </m:d>
                    </m:oMath>
                  </m:oMathPara>
                </a14:m>
                <a:endParaRPr lang="en-PH" sz="2000" i="1" dirty="0"/>
              </a:p>
              <a:p>
                <a:pPr marL="0" indent="0">
                  <a:buNone/>
                </a:pPr>
                <a:endParaRPr lang="en-PH" sz="20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667" t="-750"/>
                </a:stretch>
              </a:blipFill>
            </p:spPr>
            <p:txBody>
              <a:bodyPr/>
              <a:lstStyle/>
              <a:p>
                <a:r>
                  <a:rPr lang="en-PH">
                    <a:noFill/>
                  </a:rPr>
                  <a:t> </a:t>
                </a:r>
              </a:p>
            </p:txBody>
          </p:sp>
        </mc:Fallback>
      </mc:AlternateContent>
    </p:spTree>
    <p:extLst>
      <p:ext uri="{BB962C8B-B14F-4D97-AF65-F5344CB8AC3E}">
        <p14:creationId xmlns:p14="http://schemas.microsoft.com/office/powerpoint/2010/main" val="30844141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76200" y="1600200"/>
                <a:ext cx="8839200" cy="4876800"/>
              </a:xfrm>
            </p:spPr>
            <p:txBody>
              <a:bodyPr>
                <a:normAutofit/>
              </a:bodyPr>
              <a:lstStyle/>
              <a:p>
                <a:pPr marL="0" indent="0">
                  <a:buNone/>
                </a:pPr>
                <a:r>
                  <a:rPr lang="en-PH" sz="1900" i="1" dirty="0"/>
                  <a:t>Cont.</a:t>
                </a:r>
              </a:p>
              <a:p>
                <a:pPr marL="0" indent="0">
                  <a:buNone/>
                </a:pPr>
                <a:r>
                  <a:rPr lang="en-PH" sz="1900" dirty="0"/>
                  <a:t> </a:t>
                </a:r>
                <a:r>
                  <a:rPr lang="en-PH" sz="2000" i="1" dirty="0"/>
                  <a:t> reduced to row echelon form:</a:t>
                </a:r>
              </a:p>
              <a:p>
                <a:pPr marL="0" indent="0">
                  <a:buNone/>
                </a:pPr>
                <a14:m>
                  <m:oMath xmlns:m="http://schemas.openxmlformats.org/officeDocument/2006/math">
                    <m:d>
                      <m:dPr>
                        <m:begChr m:val="["/>
                        <m:endChr m:val="]"/>
                        <m:ctrlPr>
                          <a:rPr lang="en-PH" sz="2000" i="1" smtClean="0">
                            <a:latin typeface="Cambria Math" panose="02040503050406030204" pitchFamily="18" charset="0"/>
                          </a:rPr>
                        </m:ctrlPr>
                      </m:dPr>
                      <m:e>
                        <m:m>
                          <m:mPr>
                            <m:mcs>
                              <m:mc>
                                <m:mcPr>
                                  <m:count m:val="3"/>
                                  <m:mcJc m:val="center"/>
                                </m:mcPr>
                              </m:mc>
                            </m:mcs>
                            <m:ctrlPr>
                              <a:rPr lang="en-PH" sz="2000" i="1" smtClean="0">
                                <a:latin typeface="Cambria Math" panose="02040503050406030204" pitchFamily="18" charset="0"/>
                              </a:rPr>
                            </m:ctrlPr>
                          </m:mPr>
                          <m:mr>
                            <m:e>
                              <m:r>
                                <m:rPr>
                                  <m:brk m:alnAt="7"/>
                                </m:rPr>
                                <a:rPr lang="en-PH" sz="2000" b="0" i="1" smtClean="0">
                                  <a:latin typeface="Cambria Math"/>
                                </a:rPr>
                                <m:t>1</m:t>
                              </m:r>
                            </m:e>
                            <m:e>
                              <m:r>
                                <a:rPr lang="en-PH" sz="2000" b="0" i="1" smtClean="0">
                                  <a:latin typeface="Cambria Math"/>
                                </a:rPr>
                                <m:t>0</m:t>
                              </m:r>
                            </m:e>
                            <m:e>
                              <m:r>
                                <a:rPr lang="en-PH" sz="2000" b="0" i="1" smtClean="0">
                                  <a:latin typeface="Cambria Math"/>
                                </a:rPr>
                                <m:t>1</m:t>
                              </m:r>
                            </m:e>
                          </m:mr>
                          <m:mr>
                            <m:e>
                              <m:r>
                                <a:rPr lang="en-PH" sz="2000" b="0" i="1" smtClean="0">
                                  <a:latin typeface="Cambria Math"/>
                                </a:rPr>
                                <m:t>0</m:t>
                              </m:r>
                            </m:e>
                            <m:e>
                              <m:r>
                                <a:rPr lang="en-PH" sz="2000" b="0" i="1" smtClean="0">
                                  <a:latin typeface="Cambria Math"/>
                                </a:rPr>
                                <m:t>1</m:t>
                              </m:r>
                            </m:e>
                            <m:e>
                              <m:r>
                                <a:rPr lang="en-PH" sz="2000" b="0" i="1" smtClean="0">
                                  <a:latin typeface="Cambria Math"/>
                                </a:rPr>
                                <m:t>1</m:t>
                              </m:r>
                            </m:e>
                          </m:mr>
                          <m:mr>
                            <m:e>
                              <m:eqArr>
                                <m:eqArrPr>
                                  <m:ctrlPr>
                                    <a:rPr lang="en-PH" sz="2000" i="1" smtClean="0">
                                      <a:latin typeface="Cambria Math" panose="02040503050406030204" pitchFamily="18" charset="0"/>
                                    </a:rPr>
                                  </m:ctrlPr>
                                </m:eqArrPr>
                                <m:e>
                                  <m:r>
                                    <a:rPr lang="en-PH" sz="2000" b="0" i="1" smtClean="0">
                                      <a:latin typeface="Cambria Math"/>
                                    </a:rPr>
                                    <m:t>1</m:t>
                                  </m:r>
                                </m:e>
                                <m:e>
                                  <m:r>
                                    <a:rPr lang="en-PH" sz="2000" b="0" i="1" smtClean="0">
                                      <a:latin typeface="Cambria Math"/>
                                    </a:rPr>
                                    <m:t>2</m:t>
                                  </m:r>
                                </m:e>
                              </m:eqArr>
                            </m:e>
                            <m:e>
                              <m:eqArr>
                                <m:eqArrPr>
                                  <m:ctrlPr>
                                    <a:rPr lang="en-PH" sz="2000" i="1" smtClean="0">
                                      <a:latin typeface="Cambria Math" panose="02040503050406030204" pitchFamily="18" charset="0"/>
                                    </a:rPr>
                                  </m:ctrlPr>
                                </m:eqArrPr>
                                <m:e>
                                  <m:r>
                                    <a:rPr lang="en-PH" sz="2000" b="0" i="1" smtClean="0">
                                      <a:latin typeface="Cambria Math"/>
                                    </a:rPr>
                                    <m:t>1</m:t>
                                  </m:r>
                                </m:e>
                                <m:e>
                                  <m:r>
                                    <a:rPr lang="en-PH" sz="2000" b="0" i="1" smtClean="0">
                                      <a:latin typeface="Cambria Math"/>
                                    </a:rPr>
                                    <m:t>2</m:t>
                                  </m:r>
                                </m:e>
                              </m:eqArr>
                            </m:e>
                            <m:e>
                              <m:eqArr>
                                <m:eqArrPr>
                                  <m:ctrlPr>
                                    <a:rPr lang="en-PH" sz="2000" i="1" smtClean="0">
                                      <a:latin typeface="Cambria Math" panose="02040503050406030204" pitchFamily="18" charset="0"/>
                                    </a:rPr>
                                  </m:ctrlPr>
                                </m:eqArrPr>
                                <m:e>
                                  <m:r>
                                    <a:rPr lang="en-PH" sz="2000" b="0" i="1" smtClean="0">
                                      <a:latin typeface="Cambria Math"/>
                                    </a:rPr>
                                    <m:t>1</m:t>
                                  </m:r>
                                </m:e>
                                <m:e>
                                  <m:r>
                                    <a:rPr lang="en-PH" sz="2000" b="0" i="1" smtClean="0">
                                      <a:latin typeface="Cambria Math"/>
                                    </a:rPr>
                                    <m:t>3</m:t>
                                  </m:r>
                                </m:e>
                              </m:eqArr>
                            </m:e>
                          </m:mr>
                        </m:m>
                        <m:r>
                          <a:rPr lang="en-PH" sz="2000" b="0" i="1" smtClean="0">
                            <a:latin typeface="Cambria Math"/>
                          </a:rPr>
                          <m:t>  </m:t>
                        </m:r>
                        <m:m>
                          <m:mPr>
                            <m:mcs>
                              <m:mc>
                                <m:mcPr>
                                  <m:count m:val="2"/>
                                  <m:mcJc m:val="center"/>
                                </m:mcPr>
                              </m:mc>
                            </m:mcs>
                            <m:ctrlPr>
                              <a:rPr lang="en-PH" sz="2000" b="0" i="1" smtClean="0">
                                <a:latin typeface="Cambria Math" panose="02040503050406030204" pitchFamily="18" charset="0"/>
                              </a:rPr>
                            </m:ctrlPr>
                          </m:mPr>
                          <m:mr>
                            <m:e>
                              <m:r>
                                <m:rPr>
                                  <m:brk m:alnAt="7"/>
                                </m:rPr>
                                <a:rPr lang="en-PH" sz="2000" b="0" i="1" smtClean="0">
                                  <a:latin typeface="Cambria Math"/>
                                </a:rPr>
                                <m:t>:</m:t>
                              </m:r>
                            </m:e>
                            <m:e>
                              <m:r>
                                <a:rPr lang="en-PH" sz="2000" b="0" i="1" smtClean="0">
                                  <a:latin typeface="Cambria Math"/>
                                </a:rPr>
                                <m:t>0</m:t>
                              </m:r>
                            </m:e>
                          </m:mr>
                          <m:mr>
                            <m:e>
                              <m:r>
                                <a:rPr lang="en-PH" sz="2000" b="0" i="1" smtClean="0">
                                  <a:latin typeface="Cambria Math"/>
                                </a:rPr>
                                <m:t>:</m:t>
                              </m:r>
                            </m:e>
                            <m:e>
                              <m:r>
                                <a:rPr lang="en-PH" sz="2000" b="0" i="1" smtClean="0">
                                  <a:latin typeface="Cambria Math"/>
                                </a:rPr>
                                <m:t>0</m:t>
                              </m:r>
                            </m:e>
                          </m:mr>
                          <m:mr>
                            <m:e>
                              <m:r>
                                <a:rPr lang="en-PH" sz="2000" b="0" i="1" smtClean="0">
                                  <a:latin typeface="Cambria Math"/>
                                </a:rPr>
                                <m:t>:</m:t>
                              </m:r>
                            </m:e>
                            <m:e>
                              <m:eqArr>
                                <m:eqArrPr>
                                  <m:ctrlPr>
                                    <a:rPr lang="en-PH" sz="2000" b="0" i="1" smtClean="0">
                                      <a:latin typeface="Cambria Math" panose="02040503050406030204" pitchFamily="18" charset="0"/>
                                    </a:rPr>
                                  </m:ctrlPr>
                                </m:eqArrPr>
                                <m:e>
                                  <m:r>
                                    <a:rPr lang="en-PH" sz="2000" b="0" i="1" smtClean="0">
                                      <a:latin typeface="Cambria Math"/>
                                    </a:rPr>
                                    <m:t>0</m:t>
                                  </m:r>
                                </m:e>
                                <m:e>
                                  <m:r>
                                    <a:rPr lang="en-PH" sz="2000" b="0" i="1" smtClean="0">
                                      <a:latin typeface="Cambria Math"/>
                                    </a:rPr>
                                    <m:t>0</m:t>
                                  </m:r>
                                </m:e>
                              </m:eqArr>
                            </m:e>
                          </m:mr>
                        </m:m>
                      </m:e>
                    </m:d>
                    <m:r>
                      <a:rPr lang="en-PH" sz="2000" i="1" smtClean="0">
                        <a:latin typeface="Cambria Math"/>
                        <a:ea typeface="Cambria Math"/>
                      </a:rPr>
                      <m:t>≈</m:t>
                    </m:r>
                    <m:r>
                      <a:rPr lang="en-PH" sz="2000" b="0" i="1" smtClean="0">
                        <a:latin typeface="Cambria Math"/>
                        <a:ea typeface="Cambria Math"/>
                      </a:rPr>
                      <m:t> </m:t>
                    </m:r>
                    <m:d>
                      <m:dPr>
                        <m:begChr m:val="["/>
                        <m:endChr m:val="]"/>
                        <m:ctrlPr>
                          <a:rPr lang="en-PH" sz="2000" i="1">
                            <a:latin typeface="Cambria Math" panose="02040503050406030204" pitchFamily="18" charset="0"/>
                          </a:rPr>
                        </m:ctrlPr>
                      </m:dPr>
                      <m:e>
                        <m:m>
                          <m:mPr>
                            <m:mcs>
                              <m:mc>
                                <m:mcPr>
                                  <m:count m:val="3"/>
                                  <m:mcJc m:val="center"/>
                                </m:mcPr>
                              </m:mc>
                            </m:mcs>
                            <m:ctrlPr>
                              <a:rPr lang="en-PH" sz="2000" i="1">
                                <a:latin typeface="Cambria Math" panose="02040503050406030204" pitchFamily="18" charset="0"/>
                              </a:rPr>
                            </m:ctrlPr>
                          </m:mPr>
                          <m:mr>
                            <m:e>
                              <m:r>
                                <m:rPr>
                                  <m:brk m:alnAt="7"/>
                                </m:rPr>
                                <a:rPr lang="en-PH" sz="2000" i="1">
                                  <a:latin typeface="Cambria Math"/>
                                </a:rPr>
                                <m:t>1</m:t>
                              </m:r>
                            </m:e>
                            <m:e>
                              <m:r>
                                <a:rPr lang="en-PH" sz="2000" i="1">
                                  <a:latin typeface="Cambria Math"/>
                                </a:rPr>
                                <m:t>0</m:t>
                              </m:r>
                            </m:e>
                            <m:e>
                              <m:r>
                                <a:rPr lang="en-PH" sz="2000" i="1">
                                  <a:latin typeface="Cambria Math"/>
                                </a:rPr>
                                <m:t>1</m:t>
                              </m:r>
                            </m:e>
                          </m:mr>
                          <m:mr>
                            <m:e>
                              <m:r>
                                <a:rPr lang="en-PH" sz="2000" i="1">
                                  <a:latin typeface="Cambria Math"/>
                                </a:rPr>
                                <m:t>0</m:t>
                              </m:r>
                            </m:e>
                            <m:e>
                              <m:r>
                                <a:rPr lang="en-PH" sz="2000" i="1">
                                  <a:latin typeface="Cambria Math"/>
                                </a:rPr>
                                <m:t>1</m:t>
                              </m:r>
                            </m:e>
                            <m:e>
                              <m:r>
                                <a:rPr lang="en-PH" sz="2000" i="1">
                                  <a:latin typeface="Cambria Math"/>
                                </a:rPr>
                                <m:t>1</m:t>
                              </m:r>
                            </m:e>
                          </m:mr>
                          <m:mr>
                            <m:e>
                              <m:eqArr>
                                <m:eqArrPr>
                                  <m:ctrlPr>
                                    <a:rPr lang="en-PH" sz="2000" i="1">
                                      <a:latin typeface="Cambria Math" panose="02040503050406030204" pitchFamily="18" charset="0"/>
                                    </a:rPr>
                                  </m:ctrlPr>
                                </m:eqArrPr>
                                <m:e>
                                  <m:r>
                                    <a:rPr lang="en-PH" sz="2000" b="0" i="1" smtClean="0">
                                      <a:latin typeface="Cambria Math"/>
                                    </a:rPr>
                                    <m:t>0</m:t>
                                  </m:r>
                                </m:e>
                                <m:e>
                                  <m:r>
                                    <a:rPr lang="en-PH" sz="2000" b="0" i="1" smtClean="0">
                                      <a:latin typeface="Cambria Math"/>
                                    </a:rPr>
                                    <m:t>0</m:t>
                                  </m:r>
                                </m:e>
                              </m:eqArr>
                            </m:e>
                            <m:e>
                              <m:eqArr>
                                <m:eqArrPr>
                                  <m:ctrlPr>
                                    <a:rPr lang="en-PH" sz="2000" i="1">
                                      <a:latin typeface="Cambria Math" panose="02040503050406030204" pitchFamily="18" charset="0"/>
                                    </a:rPr>
                                  </m:ctrlPr>
                                </m:eqArrPr>
                                <m:e>
                                  <m:r>
                                    <a:rPr lang="en-PH" sz="2000" i="1">
                                      <a:latin typeface="Cambria Math"/>
                                    </a:rPr>
                                    <m:t>1</m:t>
                                  </m:r>
                                </m:e>
                                <m:e>
                                  <m:r>
                                    <a:rPr lang="en-PH" sz="2000" i="1">
                                      <a:latin typeface="Cambria Math"/>
                                    </a:rPr>
                                    <m:t>2</m:t>
                                  </m:r>
                                </m:e>
                              </m:eqArr>
                            </m:e>
                            <m:e>
                              <m:eqArr>
                                <m:eqArrPr>
                                  <m:ctrlPr>
                                    <a:rPr lang="en-PH" sz="2000" i="1">
                                      <a:latin typeface="Cambria Math" panose="02040503050406030204" pitchFamily="18" charset="0"/>
                                    </a:rPr>
                                  </m:ctrlPr>
                                </m:eqArrPr>
                                <m:e>
                                  <m:r>
                                    <a:rPr lang="en-PH" sz="2000" b="0" i="1" smtClean="0">
                                      <a:latin typeface="Cambria Math"/>
                                    </a:rPr>
                                    <m:t>0</m:t>
                                  </m:r>
                                </m:e>
                                <m:e>
                                  <m:r>
                                    <a:rPr lang="en-PH" sz="2000" b="0" i="1" smtClean="0">
                                      <a:latin typeface="Cambria Math"/>
                                    </a:rPr>
                                    <m:t>2</m:t>
                                  </m:r>
                                </m:e>
                              </m:eqArr>
                            </m:e>
                          </m:mr>
                        </m:m>
                        <m:r>
                          <a:rPr lang="en-PH" sz="2000" i="1">
                            <a:latin typeface="Cambria Math"/>
                          </a:rPr>
                          <m:t>  </m:t>
                        </m:r>
                        <m:m>
                          <m:mPr>
                            <m:mcs>
                              <m:mc>
                                <m:mcPr>
                                  <m:count m:val="2"/>
                                  <m:mcJc m:val="center"/>
                                </m:mcPr>
                              </m:mc>
                            </m:mcs>
                            <m:ctrlPr>
                              <a:rPr lang="en-PH" sz="2000" i="1">
                                <a:latin typeface="Cambria Math" panose="02040503050406030204" pitchFamily="18" charset="0"/>
                              </a:rPr>
                            </m:ctrlPr>
                          </m:mPr>
                          <m:mr>
                            <m:e>
                              <m:r>
                                <m:rPr>
                                  <m:brk m:alnAt="7"/>
                                </m:rPr>
                                <a:rPr lang="en-PH" sz="2000" i="1">
                                  <a:latin typeface="Cambria Math"/>
                                </a:rPr>
                                <m:t>:</m:t>
                              </m:r>
                            </m:e>
                            <m:e>
                              <m:r>
                                <a:rPr lang="en-PH" sz="2000" i="1">
                                  <a:latin typeface="Cambria Math"/>
                                </a:rPr>
                                <m:t>0</m:t>
                              </m:r>
                            </m:e>
                          </m:mr>
                          <m:mr>
                            <m:e>
                              <m:r>
                                <a:rPr lang="en-PH" sz="2000" i="1">
                                  <a:latin typeface="Cambria Math"/>
                                </a:rPr>
                                <m:t>:</m:t>
                              </m:r>
                            </m:e>
                            <m:e>
                              <m:r>
                                <a:rPr lang="en-PH" sz="2000" i="1">
                                  <a:latin typeface="Cambria Math"/>
                                </a:rPr>
                                <m:t>0</m:t>
                              </m:r>
                            </m:e>
                          </m:mr>
                          <m:mr>
                            <m:e>
                              <m:r>
                                <a:rPr lang="en-PH" sz="2000" i="1">
                                  <a:latin typeface="Cambria Math"/>
                                </a:rPr>
                                <m:t>:</m:t>
                              </m:r>
                            </m:e>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mr>
                        </m:m>
                      </m:e>
                    </m:d>
                    <m:r>
                      <a:rPr lang="en-PH" sz="2000" i="1">
                        <a:latin typeface="Cambria Math"/>
                        <a:ea typeface="Cambria Math"/>
                      </a:rPr>
                      <m:t>≈ </m:t>
                    </m:r>
                    <m:d>
                      <m:dPr>
                        <m:begChr m:val="["/>
                        <m:endChr m:val="]"/>
                        <m:ctrlPr>
                          <a:rPr lang="en-PH" sz="2000" i="1">
                            <a:latin typeface="Cambria Math" panose="02040503050406030204" pitchFamily="18" charset="0"/>
                          </a:rPr>
                        </m:ctrlPr>
                      </m:dPr>
                      <m:e>
                        <m:m>
                          <m:mPr>
                            <m:mcs>
                              <m:mc>
                                <m:mcPr>
                                  <m:count m:val="3"/>
                                  <m:mcJc m:val="center"/>
                                </m:mcPr>
                              </m:mc>
                            </m:mcs>
                            <m:ctrlPr>
                              <a:rPr lang="en-PH" sz="2000" i="1">
                                <a:latin typeface="Cambria Math" panose="02040503050406030204" pitchFamily="18" charset="0"/>
                              </a:rPr>
                            </m:ctrlPr>
                          </m:mPr>
                          <m:mr>
                            <m:e>
                              <m:r>
                                <m:rPr>
                                  <m:brk m:alnAt="7"/>
                                </m:rPr>
                                <a:rPr lang="en-PH" sz="2000" i="1">
                                  <a:latin typeface="Cambria Math"/>
                                </a:rPr>
                                <m:t>1</m:t>
                              </m:r>
                            </m:e>
                            <m:e>
                              <m:r>
                                <a:rPr lang="en-PH" sz="2000" i="1">
                                  <a:latin typeface="Cambria Math"/>
                                </a:rPr>
                                <m:t>0</m:t>
                              </m:r>
                            </m:e>
                            <m:e>
                              <m:r>
                                <a:rPr lang="en-PH" sz="2000" i="1">
                                  <a:latin typeface="Cambria Math"/>
                                </a:rPr>
                                <m:t>1</m:t>
                              </m:r>
                            </m:e>
                          </m:mr>
                          <m:mr>
                            <m:e>
                              <m:r>
                                <a:rPr lang="en-PH" sz="2000" i="1">
                                  <a:latin typeface="Cambria Math"/>
                                </a:rPr>
                                <m:t>0</m:t>
                              </m:r>
                            </m:e>
                            <m:e>
                              <m:r>
                                <a:rPr lang="en-PH" sz="2000" i="1">
                                  <a:latin typeface="Cambria Math"/>
                                </a:rPr>
                                <m:t>1</m:t>
                              </m:r>
                            </m:e>
                            <m:e>
                              <m:r>
                                <a:rPr lang="en-PH" sz="2000" i="1">
                                  <a:latin typeface="Cambria Math"/>
                                </a:rPr>
                                <m:t>1</m:t>
                              </m:r>
                            </m:e>
                          </m:mr>
                          <m:mr>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e>
                              <m:eqArr>
                                <m:eqArrPr>
                                  <m:ctrlPr>
                                    <a:rPr lang="en-PH" sz="2000" i="1">
                                      <a:latin typeface="Cambria Math" panose="02040503050406030204" pitchFamily="18" charset="0"/>
                                    </a:rPr>
                                  </m:ctrlPr>
                                </m:eqArrPr>
                                <m:e>
                                  <m:r>
                                    <a:rPr lang="en-PH" sz="2000" b="0" i="1" smtClean="0">
                                      <a:latin typeface="Cambria Math"/>
                                    </a:rPr>
                                    <m:t>0</m:t>
                                  </m:r>
                                </m:e>
                                <m:e>
                                  <m:r>
                                    <a:rPr lang="en-PH" sz="2000" b="0" i="1" smtClean="0">
                                      <a:latin typeface="Cambria Math"/>
                                    </a:rPr>
                                    <m:t>0</m:t>
                                  </m:r>
                                </m:e>
                              </m:eqArr>
                            </m:e>
                            <m:e>
                              <m:eqArr>
                                <m:eqArrPr>
                                  <m:ctrlPr>
                                    <a:rPr lang="en-PH" sz="2000" i="1">
                                      <a:latin typeface="Cambria Math" panose="02040503050406030204" pitchFamily="18" charset="0"/>
                                    </a:rPr>
                                  </m:ctrlPr>
                                </m:eqArrPr>
                                <m:e>
                                  <m:r>
                                    <a:rPr lang="en-PH" sz="2000" b="0" i="1" smtClean="0">
                                      <a:latin typeface="Cambria Math"/>
                                    </a:rPr>
                                    <m:t>−1</m:t>
                                  </m:r>
                                </m:e>
                                <m:e>
                                  <m:r>
                                    <a:rPr lang="en-PH" sz="2000" b="0" i="1" smtClean="0">
                                      <a:latin typeface="Cambria Math"/>
                                    </a:rPr>
                                    <m:t>0</m:t>
                                  </m:r>
                                </m:e>
                              </m:eqArr>
                            </m:e>
                          </m:mr>
                        </m:m>
                        <m:r>
                          <a:rPr lang="en-PH" sz="2000" i="1">
                            <a:latin typeface="Cambria Math"/>
                          </a:rPr>
                          <m:t>  </m:t>
                        </m:r>
                        <m:m>
                          <m:mPr>
                            <m:mcs>
                              <m:mc>
                                <m:mcPr>
                                  <m:count m:val="2"/>
                                  <m:mcJc m:val="center"/>
                                </m:mcPr>
                              </m:mc>
                            </m:mcs>
                            <m:ctrlPr>
                              <a:rPr lang="en-PH" sz="2000" i="1">
                                <a:latin typeface="Cambria Math" panose="02040503050406030204" pitchFamily="18" charset="0"/>
                              </a:rPr>
                            </m:ctrlPr>
                          </m:mPr>
                          <m:mr>
                            <m:e>
                              <m:r>
                                <m:rPr>
                                  <m:brk m:alnAt="7"/>
                                </m:rPr>
                                <a:rPr lang="en-PH" sz="2000" i="1">
                                  <a:latin typeface="Cambria Math"/>
                                </a:rPr>
                                <m:t>:</m:t>
                              </m:r>
                            </m:e>
                            <m:e>
                              <m:r>
                                <a:rPr lang="en-PH" sz="2000" i="1">
                                  <a:latin typeface="Cambria Math"/>
                                </a:rPr>
                                <m:t>0</m:t>
                              </m:r>
                            </m:e>
                          </m:mr>
                          <m:mr>
                            <m:e>
                              <m:r>
                                <a:rPr lang="en-PH" sz="2000" i="1">
                                  <a:latin typeface="Cambria Math"/>
                                </a:rPr>
                                <m:t>:</m:t>
                              </m:r>
                            </m:e>
                            <m:e>
                              <m:r>
                                <a:rPr lang="en-PH" sz="2000" i="1">
                                  <a:latin typeface="Cambria Math"/>
                                </a:rPr>
                                <m:t>0</m:t>
                              </m:r>
                            </m:e>
                          </m:mr>
                          <m:mr>
                            <m:e>
                              <m:r>
                                <a:rPr lang="en-PH" sz="2000" i="1">
                                  <a:latin typeface="Cambria Math"/>
                                </a:rPr>
                                <m:t>:</m:t>
                              </m:r>
                            </m:e>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mr>
                        </m:m>
                      </m:e>
                    </m:d>
                  </m:oMath>
                </a14:m>
                <a:r>
                  <a:rPr lang="en-PH" sz="2000" dirty="0">
                    <a:ea typeface="Cambria Math"/>
                  </a:rPr>
                  <a:t> </a:t>
                </a:r>
                <a14:m>
                  <m:oMath xmlns:m="http://schemas.openxmlformats.org/officeDocument/2006/math">
                    <m:r>
                      <a:rPr lang="en-PH" sz="2000" i="1">
                        <a:latin typeface="Cambria Math"/>
                        <a:ea typeface="Cambria Math"/>
                      </a:rPr>
                      <m:t>≈ </m:t>
                    </m:r>
                    <m:d>
                      <m:dPr>
                        <m:begChr m:val="["/>
                        <m:endChr m:val="]"/>
                        <m:ctrlPr>
                          <a:rPr lang="en-PH" sz="2000" i="1">
                            <a:latin typeface="Cambria Math" panose="02040503050406030204" pitchFamily="18" charset="0"/>
                          </a:rPr>
                        </m:ctrlPr>
                      </m:dPr>
                      <m:e>
                        <m:m>
                          <m:mPr>
                            <m:mcs>
                              <m:mc>
                                <m:mcPr>
                                  <m:count m:val="3"/>
                                  <m:mcJc m:val="center"/>
                                </m:mcPr>
                              </m:mc>
                            </m:mcs>
                            <m:ctrlPr>
                              <a:rPr lang="en-PH" sz="2000" i="1">
                                <a:latin typeface="Cambria Math" panose="02040503050406030204" pitchFamily="18" charset="0"/>
                              </a:rPr>
                            </m:ctrlPr>
                          </m:mPr>
                          <m:mr>
                            <m:e>
                              <m:r>
                                <m:rPr>
                                  <m:brk m:alnAt="7"/>
                                </m:rPr>
                                <a:rPr lang="en-PH" sz="2000" i="1">
                                  <a:latin typeface="Cambria Math"/>
                                </a:rPr>
                                <m:t>1</m:t>
                              </m:r>
                            </m:e>
                            <m:e>
                              <m:r>
                                <a:rPr lang="en-PH" sz="2000" i="1">
                                  <a:latin typeface="Cambria Math"/>
                                </a:rPr>
                                <m:t>0</m:t>
                              </m:r>
                            </m:e>
                            <m:e>
                              <m:r>
                                <a:rPr lang="en-PH" sz="2000" i="1">
                                  <a:latin typeface="Cambria Math"/>
                                </a:rPr>
                                <m:t>1</m:t>
                              </m:r>
                            </m:e>
                          </m:mr>
                          <m:mr>
                            <m:e>
                              <m:r>
                                <a:rPr lang="en-PH" sz="2000" i="1">
                                  <a:latin typeface="Cambria Math"/>
                                </a:rPr>
                                <m:t>0</m:t>
                              </m:r>
                            </m:e>
                            <m:e>
                              <m:r>
                                <a:rPr lang="en-PH" sz="2000" i="1">
                                  <a:latin typeface="Cambria Math"/>
                                </a:rPr>
                                <m:t>1</m:t>
                              </m:r>
                            </m:e>
                            <m:e>
                              <m:r>
                                <a:rPr lang="en-PH" sz="2000" i="1">
                                  <a:latin typeface="Cambria Math"/>
                                </a:rPr>
                                <m:t>1</m:t>
                              </m:r>
                            </m:e>
                          </m:mr>
                          <m:mr>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e>
                              <m:eqArr>
                                <m:eqArrPr>
                                  <m:ctrlPr>
                                    <a:rPr lang="en-PH" sz="2000" i="1">
                                      <a:latin typeface="Cambria Math" panose="02040503050406030204" pitchFamily="18" charset="0"/>
                                    </a:rPr>
                                  </m:ctrlPr>
                                </m:eqArrPr>
                                <m:e>
                                  <m:r>
                                    <a:rPr lang="en-PH" sz="2000" i="1">
                                      <a:latin typeface="Cambria Math"/>
                                    </a:rPr>
                                    <m:t>1</m:t>
                                  </m:r>
                                </m:e>
                                <m:e>
                                  <m:r>
                                    <a:rPr lang="en-PH" sz="2000" i="1">
                                      <a:latin typeface="Cambria Math"/>
                                    </a:rPr>
                                    <m:t>0</m:t>
                                  </m:r>
                                </m:e>
                              </m:eqArr>
                            </m:e>
                          </m:mr>
                        </m:m>
                        <m:r>
                          <a:rPr lang="en-PH" sz="2000" i="1">
                            <a:latin typeface="Cambria Math"/>
                          </a:rPr>
                          <m:t>  </m:t>
                        </m:r>
                        <m:m>
                          <m:mPr>
                            <m:mcs>
                              <m:mc>
                                <m:mcPr>
                                  <m:count m:val="2"/>
                                  <m:mcJc m:val="center"/>
                                </m:mcPr>
                              </m:mc>
                            </m:mcs>
                            <m:ctrlPr>
                              <a:rPr lang="en-PH" sz="2000" i="1">
                                <a:latin typeface="Cambria Math" panose="02040503050406030204" pitchFamily="18" charset="0"/>
                              </a:rPr>
                            </m:ctrlPr>
                          </m:mPr>
                          <m:mr>
                            <m:e>
                              <m:r>
                                <m:rPr>
                                  <m:brk m:alnAt="7"/>
                                </m:rPr>
                                <a:rPr lang="en-PH" sz="2000" i="1">
                                  <a:latin typeface="Cambria Math"/>
                                </a:rPr>
                                <m:t>:</m:t>
                              </m:r>
                            </m:e>
                            <m:e>
                              <m:r>
                                <a:rPr lang="en-PH" sz="2000" i="1">
                                  <a:latin typeface="Cambria Math"/>
                                </a:rPr>
                                <m:t>0</m:t>
                              </m:r>
                            </m:e>
                          </m:mr>
                          <m:mr>
                            <m:e>
                              <m:r>
                                <a:rPr lang="en-PH" sz="2000" i="1">
                                  <a:latin typeface="Cambria Math"/>
                                </a:rPr>
                                <m:t>:</m:t>
                              </m:r>
                            </m:e>
                            <m:e>
                              <m:r>
                                <a:rPr lang="en-PH" sz="2000" i="1">
                                  <a:latin typeface="Cambria Math"/>
                                </a:rPr>
                                <m:t>0</m:t>
                              </m:r>
                            </m:e>
                          </m:mr>
                          <m:mr>
                            <m:e>
                              <m:r>
                                <a:rPr lang="en-PH" sz="2000" i="1">
                                  <a:latin typeface="Cambria Math"/>
                                </a:rPr>
                                <m:t>:</m:t>
                              </m:r>
                            </m:e>
                            <m:e>
                              <m:eqArr>
                                <m:eqArrPr>
                                  <m:ctrlPr>
                                    <a:rPr lang="en-PH" sz="2000" i="1">
                                      <a:latin typeface="Cambria Math" panose="02040503050406030204" pitchFamily="18" charset="0"/>
                                    </a:rPr>
                                  </m:ctrlPr>
                                </m:eqArrPr>
                                <m:e>
                                  <m:r>
                                    <a:rPr lang="en-PH" sz="2000" i="1">
                                      <a:latin typeface="Cambria Math"/>
                                    </a:rPr>
                                    <m:t>0</m:t>
                                  </m:r>
                                </m:e>
                                <m:e>
                                  <m:r>
                                    <a:rPr lang="en-PH" sz="2000" i="1">
                                      <a:latin typeface="Cambria Math"/>
                                    </a:rPr>
                                    <m:t>0</m:t>
                                  </m:r>
                                </m:e>
                              </m:eqArr>
                            </m:e>
                          </m:mr>
                        </m:m>
                      </m:e>
                    </m:d>
                  </m:oMath>
                </a14:m>
                <a:endParaRPr lang="en-PH" sz="2000" i="1" dirty="0"/>
              </a:p>
              <a:p>
                <a:pPr marL="0" indent="0">
                  <a:buNone/>
                </a:pPr>
                <a:r>
                  <a:rPr lang="en-PH" sz="2000" dirty="0"/>
                  <a:t>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𝑅</m:t>
                        </m:r>
                      </m:e>
                      <m:sub>
                        <m:r>
                          <a:rPr lang="en-PH" sz="2000" b="0" i="1" smtClean="0">
                            <a:latin typeface="Cambria Math"/>
                          </a:rPr>
                          <m:t>3</m:t>
                        </m:r>
                      </m:sub>
                    </m:sSub>
                    <m:r>
                      <a:rPr lang="en-PH" sz="2000" b="0" i="1" smtClean="0">
                        <a:latin typeface="Cambria Math"/>
                      </a:rPr>
                      <m:t>=−1</m:t>
                    </m:r>
                    <m:sSub>
                      <m:sSubPr>
                        <m:ctrlPr>
                          <a:rPr lang="en-PH" sz="2000" b="0" i="1" smtClean="0">
                            <a:latin typeface="Cambria Math" panose="02040503050406030204" pitchFamily="18" charset="0"/>
                          </a:rPr>
                        </m:ctrlPr>
                      </m:sSubPr>
                      <m:e>
                        <m:r>
                          <a:rPr lang="en-PH" sz="2000" b="0" i="1" smtClean="0">
                            <a:latin typeface="Cambria Math"/>
                          </a:rPr>
                          <m:t>𝑅</m:t>
                        </m:r>
                      </m:e>
                      <m:sub>
                        <m:r>
                          <a:rPr lang="en-PH" sz="2000" b="0" i="1" smtClean="0">
                            <a:latin typeface="Cambria Math"/>
                          </a:rPr>
                          <m:t>1</m:t>
                        </m:r>
                      </m:sub>
                    </m:sSub>
                    <m:r>
                      <a:rPr lang="en-PH" sz="2000" b="0" i="1" smtClean="0">
                        <a:latin typeface="Cambria Math"/>
                      </a:rPr>
                      <m:t>+</m:t>
                    </m:r>
                    <m:sSub>
                      <m:sSubPr>
                        <m:ctrlPr>
                          <a:rPr lang="en-PH" sz="2000" b="0" i="1" smtClean="0">
                            <a:latin typeface="Cambria Math" panose="02040503050406030204" pitchFamily="18" charset="0"/>
                          </a:rPr>
                        </m:ctrlPr>
                      </m:sSubPr>
                      <m:e>
                        <m:r>
                          <a:rPr lang="en-PH" sz="2000" b="0" i="1" smtClean="0">
                            <a:latin typeface="Cambria Math"/>
                          </a:rPr>
                          <m:t>𝑅</m:t>
                        </m:r>
                      </m:e>
                      <m:sub>
                        <m:r>
                          <a:rPr lang="en-PH" sz="2000" b="0" i="1" smtClean="0">
                            <a:latin typeface="Cambria Math"/>
                          </a:rPr>
                          <m:t>3</m:t>
                        </m:r>
                      </m:sub>
                    </m:sSub>
                  </m:oMath>
                </a14:m>
                <a:r>
                  <a:rPr lang="en-PH" sz="2000" i="1" dirty="0"/>
                  <a: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3</m:t>
                        </m:r>
                      </m:sub>
                    </m:sSub>
                    <m:r>
                      <a:rPr lang="en-PH" sz="2000" i="1">
                        <a:latin typeface="Cambria Math"/>
                      </a:rPr>
                      <m:t>=−1</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2</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3</m:t>
                        </m:r>
                      </m:sub>
                    </m:sSub>
                  </m:oMath>
                </a14:m>
                <a:r>
                  <a:rPr lang="en-PH" sz="2000" i="1" dirty="0"/>
                  <a: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3</m:t>
                        </m:r>
                      </m:sub>
                    </m:sSub>
                    <m:r>
                      <a:rPr lang="en-PH" sz="2000" i="1">
                        <a:latin typeface="Cambria Math"/>
                      </a:rPr>
                      <m:t>=−1</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3</m:t>
                        </m:r>
                      </m:sub>
                    </m:sSub>
                  </m:oMath>
                </a14:m>
                <a:r>
                  <a:rPr lang="en-PH" sz="2000" i="1" dirty="0"/>
                  <a:t> </a:t>
                </a:r>
              </a:p>
              <a:p>
                <a:pPr marL="0" indent="0">
                  <a:buNone/>
                </a:pPr>
                <a:r>
                  <a:rPr lang="en-PH" sz="2000" dirty="0"/>
                  <a: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4</m:t>
                        </m:r>
                      </m:sub>
                    </m:sSub>
                    <m:r>
                      <a:rPr lang="en-PH" sz="2000" i="1">
                        <a:latin typeface="Cambria Math"/>
                      </a:rPr>
                      <m:t>=−</m:t>
                    </m:r>
                    <m:r>
                      <a:rPr lang="en-US" sz="2000" b="0" i="1" smtClean="0">
                        <a:latin typeface="Cambria Math" panose="02040503050406030204" pitchFamily="18" charset="0"/>
                      </a:rPr>
                      <m:t>2</m:t>
                    </m:r>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1</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4</m:t>
                        </m:r>
                      </m:sub>
                    </m:sSub>
                  </m:oMath>
                </a14:m>
                <a:r>
                  <a:rPr lang="en-PH" sz="2000" i="1" dirty="0"/>
                  <a: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4</m:t>
                        </m:r>
                      </m:sub>
                    </m:sSub>
                    <m:r>
                      <a:rPr lang="en-PH" sz="2000" i="1">
                        <a:latin typeface="Cambria Math"/>
                      </a:rPr>
                      <m:t>=−2</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2</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4</m:t>
                        </m:r>
                      </m:sub>
                    </m:sSub>
                  </m:oMath>
                </a14:m>
                <a:endParaRPr lang="en-PH" sz="2000" i="1" dirty="0"/>
              </a:p>
              <a:p>
                <a:pPr marL="0" indent="0">
                  <a:buNone/>
                </a:pPr>
                <a:r>
                  <a:rPr lang="en-PH" sz="2000" i="1" dirty="0"/>
                  <a:t>  </a:t>
                </a:r>
                <a14:m>
                  <m:oMath xmlns:m="http://schemas.openxmlformats.org/officeDocument/2006/math">
                    <m:r>
                      <a:rPr lang="en-PH" sz="2000" i="1">
                        <a:latin typeface="Cambria Math"/>
                        <a:ea typeface="Cambria Math"/>
                      </a:rPr>
                      <m:t>≈ </m:t>
                    </m:r>
                    <m:d>
                      <m:dPr>
                        <m:begChr m:val="["/>
                        <m:endChr m:val="]"/>
                        <m:ctrlPr>
                          <a:rPr lang="en-PH" sz="2000" i="1" smtClean="0">
                            <a:solidFill>
                              <a:srgbClr val="C00000"/>
                            </a:solidFill>
                            <a:latin typeface="Cambria Math" panose="02040503050406030204" pitchFamily="18" charset="0"/>
                          </a:rPr>
                        </m:ctrlPr>
                      </m:dPr>
                      <m:e>
                        <m:m>
                          <m:mPr>
                            <m:mcs>
                              <m:mc>
                                <m:mcPr>
                                  <m:count m:val="3"/>
                                  <m:mcJc m:val="center"/>
                                </m:mcPr>
                              </m:mc>
                            </m:mcs>
                            <m:ctrlPr>
                              <a:rPr lang="en-PH" sz="2000" i="1">
                                <a:solidFill>
                                  <a:srgbClr val="C00000"/>
                                </a:solidFill>
                                <a:latin typeface="Cambria Math" panose="02040503050406030204" pitchFamily="18" charset="0"/>
                              </a:rPr>
                            </m:ctrlPr>
                          </m:mPr>
                          <m:mr>
                            <m:e>
                              <m:r>
                                <m:rPr>
                                  <m:brk m:alnAt="7"/>
                                </m:rPr>
                                <a:rPr lang="en-PH" sz="2000" i="1">
                                  <a:solidFill>
                                    <a:srgbClr val="C00000"/>
                                  </a:solidFill>
                                  <a:latin typeface="Cambria Math"/>
                                </a:rPr>
                                <m:t>1</m:t>
                              </m:r>
                            </m:e>
                            <m:e>
                              <m:r>
                                <a:rPr lang="en-PH" sz="2000" i="1">
                                  <a:solidFill>
                                    <a:srgbClr val="C00000"/>
                                  </a:solidFill>
                                  <a:latin typeface="Cambria Math"/>
                                </a:rPr>
                                <m:t>0</m:t>
                              </m:r>
                            </m:e>
                            <m:e>
                              <m:r>
                                <a:rPr lang="en-PH" sz="2000" b="0" i="1" smtClean="0">
                                  <a:solidFill>
                                    <a:srgbClr val="C00000"/>
                                  </a:solidFill>
                                  <a:latin typeface="Cambria Math"/>
                                </a:rPr>
                                <m:t>0</m:t>
                              </m:r>
                            </m:e>
                          </m:mr>
                          <m:mr>
                            <m:e>
                              <m:r>
                                <a:rPr lang="en-PH" sz="2000" i="1">
                                  <a:solidFill>
                                    <a:srgbClr val="C00000"/>
                                  </a:solidFill>
                                  <a:latin typeface="Cambria Math"/>
                                </a:rPr>
                                <m:t>0</m:t>
                              </m:r>
                            </m:e>
                            <m:e>
                              <m:r>
                                <a:rPr lang="en-PH" sz="2000" i="1">
                                  <a:solidFill>
                                    <a:srgbClr val="C00000"/>
                                  </a:solidFill>
                                  <a:latin typeface="Cambria Math"/>
                                </a:rPr>
                                <m:t>1</m:t>
                              </m:r>
                            </m:e>
                            <m:e>
                              <m:r>
                                <a:rPr lang="en-PH" sz="2000" b="0" i="1" smtClean="0">
                                  <a:solidFill>
                                    <a:srgbClr val="C00000"/>
                                  </a:solidFill>
                                  <a:latin typeface="Cambria Math"/>
                                </a:rPr>
                                <m:t>0</m:t>
                              </m:r>
                            </m:e>
                          </m:mr>
                          <m:mr>
                            <m:e>
                              <m:eqArr>
                                <m:eqArrPr>
                                  <m:ctrlPr>
                                    <a:rPr lang="en-PH" sz="2000" i="1">
                                      <a:solidFill>
                                        <a:srgbClr val="C00000"/>
                                      </a:solidFill>
                                      <a:latin typeface="Cambria Math" panose="02040503050406030204" pitchFamily="18" charset="0"/>
                                    </a:rPr>
                                  </m:ctrlPr>
                                </m:eqArrPr>
                                <m:e>
                                  <m:r>
                                    <a:rPr lang="en-PH" sz="2000" i="1">
                                      <a:solidFill>
                                        <a:srgbClr val="C00000"/>
                                      </a:solidFill>
                                      <a:latin typeface="Cambria Math"/>
                                    </a:rPr>
                                    <m:t>0</m:t>
                                  </m:r>
                                </m:e>
                                <m:e>
                                  <m:r>
                                    <a:rPr lang="en-PH" sz="2000" i="1">
                                      <a:solidFill>
                                        <a:srgbClr val="C00000"/>
                                      </a:solidFill>
                                      <a:latin typeface="Cambria Math"/>
                                    </a:rPr>
                                    <m:t>0</m:t>
                                  </m:r>
                                </m:e>
                              </m:eqArr>
                            </m:e>
                            <m:e>
                              <m:eqArr>
                                <m:eqArrPr>
                                  <m:ctrlPr>
                                    <a:rPr lang="en-PH" sz="2000" i="1">
                                      <a:solidFill>
                                        <a:srgbClr val="C00000"/>
                                      </a:solidFill>
                                      <a:latin typeface="Cambria Math" panose="02040503050406030204" pitchFamily="18" charset="0"/>
                                    </a:rPr>
                                  </m:ctrlPr>
                                </m:eqArrPr>
                                <m:e>
                                  <m:r>
                                    <a:rPr lang="en-PH" sz="2000" i="1">
                                      <a:solidFill>
                                        <a:srgbClr val="C00000"/>
                                      </a:solidFill>
                                      <a:latin typeface="Cambria Math"/>
                                    </a:rPr>
                                    <m:t>0</m:t>
                                  </m:r>
                                </m:e>
                                <m:e>
                                  <m:r>
                                    <a:rPr lang="en-PH" sz="2000" i="1">
                                      <a:solidFill>
                                        <a:srgbClr val="C00000"/>
                                      </a:solidFill>
                                      <a:latin typeface="Cambria Math"/>
                                    </a:rPr>
                                    <m:t>0</m:t>
                                  </m:r>
                                </m:e>
                              </m:eqArr>
                            </m:e>
                            <m:e>
                              <m:eqArr>
                                <m:eqArrPr>
                                  <m:ctrlPr>
                                    <a:rPr lang="en-PH" sz="2000" i="1">
                                      <a:solidFill>
                                        <a:srgbClr val="C00000"/>
                                      </a:solidFill>
                                      <a:latin typeface="Cambria Math" panose="02040503050406030204" pitchFamily="18" charset="0"/>
                                    </a:rPr>
                                  </m:ctrlPr>
                                </m:eqArrPr>
                                <m:e>
                                  <m:r>
                                    <a:rPr lang="en-PH" sz="2000" i="1">
                                      <a:solidFill>
                                        <a:srgbClr val="C00000"/>
                                      </a:solidFill>
                                      <a:latin typeface="Cambria Math"/>
                                    </a:rPr>
                                    <m:t>1</m:t>
                                  </m:r>
                                </m:e>
                                <m:e>
                                  <m:r>
                                    <a:rPr lang="en-PH" sz="2000" i="1">
                                      <a:solidFill>
                                        <a:srgbClr val="C00000"/>
                                      </a:solidFill>
                                      <a:latin typeface="Cambria Math"/>
                                    </a:rPr>
                                    <m:t>0</m:t>
                                  </m:r>
                                </m:e>
                              </m:eqArr>
                            </m:e>
                          </m:mr>
                        </m:m>
                        <m:r>
                          <a:rPr lang="en-PH" sz="2000" i="1">
                            <a:solidFill>
                              <a:srgbClr val="C00000"/>
                            </a:solidFill>
                            <a:latin typeface="Cambria Math"/>
                          </a:rPr>
                          <m:t>  </m:t>
                        </m:r>
                        <m:m>
                          <m:mPr>
                            <m:mcs>
                              <m:mc>
                                <m:mcPr>
                                  <m:count m:val="2"/>
                                  <m:mcJc m:val="center"/>
                                </m:mcPr>
                              </m:mc>
                            </m:mcs>
                            <m:ctrlPr>
                              <a:rPr lang="en-PH" sz="2000" i="1">
                                <a:solidFill>
                                  <a:srgbClr val="C00000"/>
                                </a:solidFill>
                                <a:latin typeface="Cambria Math" panose="02040503050406030204" pitchFamily="18" charset="0"/>
                              </a:rPr>
                            </m:ctrlPr>
                          </m:mPr>
                          <m:mr>
                            <m:e>
                              <m:r>
                                <m:rPr>
                                  <m:brk m:alnAt="7"/>
                                </m:rPr>
                                <a:rPr lang="en-PH" sz="2000" i="1">
                                  <a:solidFill>
                                    <a:srgbClr val="C00000"/>
                                  </a:solidFill>
                                  <a:latin typeface="Cambria Math"/>
                                </a:rPr>
                                <m:t>:</m:t>
                              </m:r>
                            </m:e>
                            <m:e>
                              <m:r>
                                <a:rPr lang="en-PH" sz="2000" i="1">
                                  <a:solidFill>
                                    <a:srgbClr val="C00000"/>
                                  </a:solidFill>
                                  <a:latin typeface="Cambria Math"/>
                                </a:rPr>
                                <m:t>0</m:t>
                              </m:r>
                            </m:e>
                          </m:mr>
                          <m:mr>
                            <m:e>
                              <m:r>
                                <a:rPr lang="en-PH" sz="2000" i="1">
                                  <a:solidFill>
                                    <a:srgbClr val="C00000"/>
                                  </a:solidFill>
                                  <a:latin typeface="Cambria Math"/>
                                </a:rPr>
                                <m:t>:</m:t>
                              </m:r>
                            </m:e>
                            <m:e>
                              <m:r>
                                <a:rPr lang="en-PH" sz="2000" i="1">
                                  <a:solidFill>
                                    <a:srgbClr val="C00000"/>
                                  </a:solidFill>
                                  <a:latin typeface="Cambria Math"/>
                                </a:rPr>
                                <m:t>0</m:t>
                              </m:r>
                            </m:e>
                          </m:mr>
                          <m:mr>
                            <m:e>
                              <m:r>
                                <a:rPr lang="en-PH" sz="2000" i="1">
                                  <a:solidFill>
                                    <a:srgbClr val="C00000"/>
                                  </a:solidFill>
                                  <a:latin typeface="Cambria Math"/>
                                </a:rPr>
                                <m:t>:</m:t>
                              </m:r>
                            </m:e>
                            <m:e>
                              <m:eqArr>
                                <m:eqArrPr>
                                  <m:ctrlPr>
                                    <a:rPr lang="en-PH" sz="2000" i="1">
                                      <a:solidFill>
                                        <a:srgbClr val="C00000"/>
                                      </a:solidFill>
                                      <a:latin typeface="Cambria Math" panose="02040503050406030204" pitchFamily="18" charset="0"/>
                                    </a:rPr>
                                  </m:ctrlPr>
                                </m:eqArrPr>
                                <m:e>
                                  <m:r>
                                    <a:rPr lang="en-PH" sz="2000" i="1">
                                      <a:solidFill>
                                        <a:srgbClr val="C00000"/>
                                      </a:solidFill>
                                      <a:latin typeface="Cambria Math"/>
                                    </a:rPr>
                                    <m:t>0</m:t>
                                  </m:r>
                                </m:e>
                                <m:e>
                                  <m:r>
                                    <a:rPr lang="en-PH" sz="2000" i="1">
                                      <a:solidFill>
                                        <a:srgbClr val="C00000"/>
                                      </a:solidFill>
                                      <a:latin typeface="Cambria Math"/>
                                    </a:rPr>
                                    <m:t>0</m:t>
                                  </m:r>
                                </m:e>
                              </m:eqArr>
                            </m:e>
                          </m:mr>
                        </m:m>
                      </m:e>
                    </m:d>
                  </m:oMath>
                </a14:m>
                <a:endParaRPr lang="en-PH" sz="2000" i="1" dirty="0"/>
              </a:p>
              <a:p>
                <a:pPr marL="0" indent="0">
                  <a:buNone/>
                </a:pP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1</m:t>
                        </m:r>
                      </m:sub>
                    </m:sSub>
                    <m:r>
                      <a:rPr lang="en-PH" sz="2000" i="1">
                        <a:latin typeface="Cambria Math"/>
                      </a:rPr>
                      <m:t>=−1</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3</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1</m:t>
                        </m:r>
                      </m:sub>
                    </m:sSub>
                  </m:oMath>
                </a14:m>
                <a:r>
                  <a:rPr lang="en-PH" sz="2000" i="1" dirty="0"/>
                  <a:t> 		</a:t>
                </a:r>
              </a:p>
              <a:p>
                <a:pPr marL="0" indent="0">
                  <a:buNone/>
                </a:pPr>
                <a14:m>
                  <m:oMathPara xmlns:m="http://schemas.openxmlformats.org/officeDocument/2006/math">
                    <m:oMathParaPr>
                      <m:jc m:val="left"/>
                    </m:oMathParaPr>
                    <m:oMath xmlns:m="http://schemas.openxmlformats.org/officeDocument/2006/math">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2</m:t>
                          </m:r>
                        </m:sub>
                      </m:sSub>
                      <m:r>
                        <a:rPr lang="en-PH" sz="2000" i="1">
                          <a:latin typeface="Cambria Math"/>
                        </a:rPr>
                        <m:t>=−1</m:t>
                      </m:r>
                      <m:sSub>
                        <m:sSubPr>
                          <m:ctrlPr>
                            <a:rPr lang="en-PH" sz="2000" i="1">
                              <a:latin typeface="Cambria Math" panose="02040503050406030204" pitchFamily="18" charset="0"/>
                            </a:rPr>
                          </m:ctrlPr>
                        </m:sSubPr>
                        <m:e>
                          <m:r>
                            <a:rPr lang="en-PH" sz="2000" i="1">
                              <a:latin typeface="Cambria Math"/>
                            </a:rPr>
                            <m:t>𝑅</m:t>
                          </m:r>
                        </m:e>
                        <m:sub>
                          <m:r>
                            <a:rPr lang="en-PH" sz="2000" i="1">
                              <a:latin typeface="Cambria Math"/>
                            </a:rPr>
                            <m:t>1</m:t>
                          </m:r>
                        </m:sub>
                      </m:sSub>
                      <m:r>
                        <a:rPr lang="en-PH" sz="2000" i="1">
                          <a:latin typeface="Cambria Math"/>
                        </a:rPr>
                        <m:t>+</m:t>
                      </m:r>
                      <m:sSub>
                        <m:sSubPr>
                          <m:ctrlPr>
                            <a:rPr lang="en-PH" sz="2000" i="1">
                              <a:latin typeface="Cambria Math" panose="02040503050406030204" pitchFamily="18" charset="0"/>
                            </a:rPr>
                          </m:ctrlPr>
                        </m:sSubPr>
                        <m:e>
                          <m:r>
                            <a:rPr lang="en-PH" sz="2000" i="1">
                              <a:latin typeface="Cambria Math"/>
                            </a:rPr>
                            <m:t>𝑅</m:t>
                          </m:r>
                        </m:e>
                        <m:sub>
                          <m:r>
                            <a:rPr lang="en-PH" sz="2000" b="0" i="1" smtClean="0">
                              <a:latin typeface="Cambria Math"/>
                            </a:rPr>
                            <m:t>2</m:t>
                          </m:r>
                        </m:sub>
                      </m:sSub>
                    </m:oMath>
                  </m:oMathPara>
                </a14:m>
                <a:endParaRPr lang="en-PH" sz="20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76200" y="1600200"/>
                <a:ext cx="8839200" cy="4876800"/>
              </a:xfrm>
              <a:blipFill>
                <a:blip r:embed="rId2"/>
                <a:stretch>
                  <a:fillRect l="-690" t="-750"/>
                </a:stretch>
              </a:blipFill>
            </p:spPr>
            <p:txBody>
              <a:bodyPr/>
              <a:lstStyle/>
              <a:p>
                <a:r>
                  <a:rPr lang="en-US">
                    <a:noFill/>
                  </a:rPr>
                  <a:t> </a:t>
                </a:r>
              </a:p>
            </p:txBody>
          </p:sp>
        </mc:Fallback>
      </mc:AlternateContent>
      <p:sp>
        <p:nvSpPr>
          <p:cNvPr id="3" name="Rectangle 2"/>
          <p:cNvSpPr/>
          <p:nvPr/>
        </p:nvSpPr>
        <p:spPr>
          <a:xfrm>
            <a:off x="2743200" y="4800600"/>
            <a:ext cx="55626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6" name="TextBox 5">
            <a:extLst>
              <a:ext uri="{FF2B5EF4-FFF2-40B4-BE49-F238E27FC236}">
                <a16:creationId xmlns:a16="http://schemas.microsoft.com/office/drawing/2014/main" id="{3ECE8554-50A0-414B-A085-8D75D6E05721}"/>
              </a:ext>
            </a:extLst>
          </p:cNvPr>
          <p:cNvSpPr txBox="1"/>
          <p:nvPr/>
        </p:nvSpPr>
        <p:spPr>
          <a:xfrm>
            <a:off x="3581400" y="5096470"/>
            <a:ext cx="3810000" cy="923330"/>
          </a:xfrm>
          <a:prstGeom prst="rect">
            <a:avLst/>
          </a:prstGeom>
          <a:noFill/>
        </p:spPr>
        <p:txBody>
          <a:bodyPr wrap="square" rtlCol="0">
            <a:spAutoFit/>
          </a:bodyPr>
          <a:lstStyle/>
          <a:p>
            <a:r>
              <a:rPr lang="en-PH" sz="1800" i="1" dirty="0"/>
              <a:t>This indicate that c</a:t>
            </a:r>
            <a:r>
              <a:rPr lang="en-PH" sz="1800" i="1" baseline="-25000" dirty="0"/>
              <a:t>1</a:t>
            </a:r>
            <a:r>
              <a:rPr lang="en-PH" sz="1800" i="1" dirty="0"/>
              <a:t>= c</a:t>
            </a:r>
            <a:r>
              <a:rPr lang="en-PH" sz="1800" i="1" baseline="-25000" dirty="0"/>
              <a:t>2</a:t>
            </a:r>
            <a:r>
              <a:rPr lang="en-PH" sz="1800" i="1" dirty="0"/>
              <a:t> = c</a:t>
            </a:r>
            <a:r>
              <a:rPr lang="en-PH" sz="1800" i="1" baseline="-25000" dirty="0"/>
              <a:t>3</a:t>
            </a:r>
            <a:r>
              <a:rPr lang="en-PH" sz="1800" i="1" dirty="0"/>
              <a:t> =0, has trivial solution, thus the given vectors are linearly independent.</a:t>
            </a:r>
            <a:endParaRPr lang="en-US" dirty="0"/>
          </a:p>
        </p:txBody>
      </p:sp>
    </p:spTree>
    <p:extLst>
      <p:ext uri="{BB962C8B-B14F-4D97-AF65-F5344CB8AC3E}">
        <p14:creationId xmlns:p14="http://schemas.microsoft.com/office/powerpoint/2010/main" val="18004292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1900" i="1" dirty="0"/>
                  <a:t>Example #2</a:t>
                </a:r>
              </a:p>
              <a:p>
                <a:pPr marL="0" indent="0">
                  <a:buNone/>
                </a:pPr>
                <a:r>
                  <a:rPr lang="en-PH" sz="1900" i="1" dirty="0"/>
                  <a:t> </a:t>
                </a:r>
                <a:r>
                  <a:rPr lang="en-PH" sz="1900" dirty="0"/>
                  <a:t>Are the vectors </a:t>
                </a:r>
                <a14:m>
                  <m:oMath xmlns:m="http://schemas.openxmlformats.org/officeDocument/2006/math">
                    <m:r>
                      <a:rPr lang="en-PH" sz="1900" b="0" i="0" smtClean="0">
                        <a:latin typeface="Cambria Math"/>
                      </a:rPr>
                      <m:t> </m:t>
                    </m:r>
                    <m:r>
                      <a:rPr lang="en-PH" sz="190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1</m:t>
                        </m:r>
                      </m:sub>
                    </m:sSub>
                    <m:r>
                      <a:rPr lang="en-PH" sz="1900" b="0" i="1" smtClean="0">
                        <a:latin typeface="Cambria Math"/>
                      </a:rPr>
                      <m:t>=</m:t>
                    </m:r>
                    <m:r>
                      <a:rPr lang="en-US" sz="1900" b="0" i="1" smtClean="0">
                        <a:latin typeface="Cambria Math" panose="02040503050406030204" pitchFamily="18" charset="0"/>
                      </a:rPr>
                      <m:t> </m:t>
                    </m:r>
                    <m:d>
                      <m:dPr>
                        <m:begChr m:val="["/>
                        <m:endChr m:val="]"/>
                        <m:ctrlPr>
                          <a:rPr lang="en-US" sz="1900" b="0" i="1" smtClean="0">
                            <a:latin typeface="Cambria Math" panose="02040503050406030204" pitchFamily="18" charset="0"/>
                          </a:rPr>
                        </m:ctrlPr>
                      </m:dPr>
                      <m:e>
                        <m:m>
                          <m:mPr>
                            <m:mcs>
                              <m:mc>
                                <m:mcPr>
                                  <m:count m:val="1"/>
                                  <m:mcJc m:val="center"/>
                                </m:mcPr>
                              </m:mc>
                            </m:mcs>
                            <m:ctrlPr>
                              <a:rPr lang="en-US" sz="1900" b="0" i="1" smtClean="0">
                                <a:latin typeface="Cambria Math" panose="02040503050406030204" pitchFamily="18" charset="0"/>
                              </a:rPr>
                            </m:ctrlPr>
                          </m:mPr>
                          <m:mr>
                            <m:e>
                              <m:r>
                                <m:rPr>
                                  <m:brk m:alnAt="7"/>
                                </m:rPr>
                                <a:rPr lang="en-US" sz="1900" b="0" i="1" smtClean="0">
                                  <a:latin typeface="Cambria Math" panose="02040503050406030204" pitchFamily="18" charset="0"/>
                                </a:rPr>
                                <m:t>1</m:t>
                              </m:r>
                            </m:e>
                          </m:mr>
                          <m:mr>
                            <m:e>
                              <m:r>
                                <a:rPr lang="en-US" sz="1900" b="0" i="1" smtClean="0">
                                  <a:latin typeface="Cambria Math" panose="02040503050406030204" pitchFamily="18" charset="0"/>
                                </a:rPr>
                                <m:t>1</m:t>
                              </m:r>
                            </m:e>
                          </m:mr>
                          <m:mr>
                            <m:e>
                              <m:r>
                                <a:rPr lang="en-US" sz="1900" b="0" i="1" smtClean="0">
                                  <a:latin typeface="Cambria Math" panose="02040503050406030204" pitchFamily="18" charset="0"/>
                                </a:rPr>
                                <m:t>2</m:t>
                              </m:r>
                            </m:e>
                          </m:mr>
                        </m:m>
                      </m:e>
                    </m:d>
                    <m:r>
                      <a:rPr lang="en-PH" sz="1900" b="0" i="1" smtClean="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2 </m:t>
                        </m:r>
                      </m:sub>
                    </m:sSub>
                    <m:r>
                      <a:rPr lang="en-PH" sz="1900" b="0" i="1" smtClean="0">
                        <a:latin typeface="Cambria Math"/>
                      </a:rPr>
                      <m:t>=</m:t>
                    </m:r>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a:rPr lang="en-US" sz="1900" i="1">
                                  <a:latin typeface="Cambria Math" panose="02040503050406030204" pitchFamily="18" charset="0"/>
                                </a:rPr>
                                <m:t>2</m:t>
                              </m:r>
                            </m:e>
                          </m:mr>
                          <m:mr>
                            <m:e>
                              <m:r>
                                <a:rPr lang="en-US" sz="1900" i="1">
                                  <a:latin typeface="Cambria Math" panose="02040503050406030204" pitchFamily="18" charset="0"/>
                                </a:rPr>
                                <m:t>1</m:t>
                              </m:r>
                            </m:e>
                          </m:mr>
                          <m:mr>
                            <m:e>
                              <m:r>
                                <a:rPr lang="en-US" sz="1900" i="1">
                                  <a:latin typeface="Cambria Math" panose="02040503050406030204" pitchFamily="18" charset="0"/>
                                </a:rPr>
                                <m:t>0</m:t>
                              </m:r>
                            </m:e>
                          </m:mr>
                        </m:m>
                      </m:e>
                    </m:d>
                    <m:r>
                      <a:rPr lang="en-PH" sz="1900" b="0" i="1" smtClean="0">
                        <a:latin typeface="Cambria Math"/>
                      </a:rPr>
                      <m:t>,  </m:t>
                    </m:r>
                    <m:r>
                      <a:rPr lang="en-PH" sz="1900" b="0" i="1" smtClean="0">
                        <a:latin typeface="Cambria Math"/>
                      </a:rPr>
                      <m:t>𝑎𝑛𝑑</m:t>
                    </m:r>
                    <m:r>
                      <a:rPr lang="en-PH" sz="1900" b="0" i="1" smtClean="0">
                        <a:latin typeface="Cambria Math"/>
                      </a:rPr>
                      <m:t>      </m:t>
                    </m:r>
                    <m:sSub>
                      <m:sSubPr>
                        <m:ctrlPr>
                          <a:rPr lang="en-PH" sz="1900" b="0" i="1" smtClean="0">
                            <a:latin typeface="Cambria Math" panose="02040503050406030204" pitchFamily="18" charset="0"/>
                          </a:rPr>
                        </m:ctrlPr>
                      </m:sSubPr>
                      <m:e>
                        <m:r>
                          <a:rPr lang="en-PH" sz="1900" b="1" i="0" smtClean="0">
                            <a:latin typeface="Cambria Math"/>
                          </a:rPr>
                          <m:t>𝐯</m:t>
                        </m:r>
                      </m:e>
                      <m:sub>
                        <m:r>
                          <a:rPr lang="en-PH" sz="1900" b="0" i="1" smtClean="0">
                            <a:latin typeface="Cambria Math"/>
                          </a:rPr>
                          <m:t>3</m:t>
                        </m:r>
                      </m:sub>
                    </m:sSub>
                    <m:r>
                      <a:rPr lang="en-PH" sz="1900" b="0" i="1" smtClean="0">
                        <a:latin typeface="Cambria Math"/>
                      </a:rPr>
                      <m:t>=</m:t>
                    </m:r>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a:rPr lang="en-US" sz="1900" b="0" i="1" smtClean="0">
                                  <a:latin typeface="Cambria Math" panose="02040503050406030204" pitchFamily="18" charset="0"/>
                                </a:rPr>
                                <m:t>3</m:t>
                              </m:r>
                            </m:e>
                          </m:mr>
                          <m:mr>
                            <m:e>
                              <m:r>
                                <a:rPr lang="en-US" sz="1900" b="0" i="1" smtClean="0">
                                  <a:latin typeface="Cambria Math" panose="02040503050406030204" pitchFamily="18" charset="0"/>
                                </a:rPr>
                                <m:t>2</m:t>
                              </m:r>
                            </m:e>
                          </m:mr>
                          <m:mr>
                            <m:e>
                              <m:r>
                                <a:rPr lang="en-US" sz="1900" b="0" i="1" smtClean="0">
                                  <a:latin typeface="Cambria Math" panose="02040503050406030204" pitchFamily="18" charset="0"/>
                                </a:rPr>
                                <m:t>2</m:t>
                              </m:r>
                            </m:e>
                          </m:mr>
                        </m:m>
                      </m:e>
                    </m:d>
                  </m:oMath>
                </a14:m>
                <a:r>
                  <a:rPr lang="en-PH" sz="1900" dirty="0"/>
                  <a:t>  linearly dependent or linearly independent?</a:t>
                </a:r>
              </a:p>
              <a:p>
                <a:pPr marL="0" indent="0">
                  <a:buNone/>
                </a:pPr>
                <a:endParaRPr lang="en-PH" sz="1900" dirty="0"/>
              </a:p>
              <a:p>
                <a:pPr marL="0" indent="0">
                  <a:buNone/>
                </a:pPr>
                <a:endParaRPr lang="en-PH" sz="1900" dirty="0"/>
              </a:p>
              <a:p>
                <a:pPr marL="0" indent="0">
                  <a:buNone/>
                </a:pPr>
                <a:r>
                  <a:rPr lang="en-PH" sz="1900" dirty="0"/>
                  <a:t>Solution:</a:t>
                </a:r>
              </a:p>
              <a:p>
                <a:pPr marL="0" indent="0">
                  <a:buNone/>
                </a:pPr>
                <a:r>
                  <a:rPr lang="en-PH" sz="1900" i="1" dirty="0"/>
                  <a:t>Again, form the equation: </a:t>
                </a:r>
              </a:p>
              <a:p>
                <a:pPr marL="0" indent="0">
                  <a:buNone/>
                </a:pPr>
                <a:r>
                  <a:rPr lang="en-PH" sz="1900" i="1" dirty="0"/>
                  <a:t>			</a:t>
                </a: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sSub>
                      <m:sSubPr>
                        <m:ctrlPr>
                          <a:rPr lang="en-PH" sz="1900" i="1">
                            <a:latin typeface="Cambria Math" panose="02040503050406030204" pitchFamily="18" charset="0"/>
                          </a:rPr>
                        </m:ctrlPr>
                      </m:sSubPr>
                      <m:e>
                        <m:r>
                          <a:rPr lang="en-PH" sz="1900" b="1" i="0">
                            <a:latin typeface="Cambria Math"/>
                          </a:rPr>
                          <m:t>𝐯</m:t>
                        </m:r>
                      </m:e>
                      <m:sub>
                        <m:r>
                          <a:rPr lang="en-PH" sz="1900" i="1">
                            <a:latin typeface="Cambria Math"/>
                          </a:rPr>
                          <m:t>1</m:t>
                        </m:r>
                      </m:sub>
                    </m:sSub>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sSub>
                      <m:sSubPr>
                        <m:ctrlPr>
                          <a:rPr lang="en-PH" sz="1900" i="1">
                            <a:latin typeface="Cambria Math" panose="02040503050406030204" pitchFamily="18" charset="0"/>
                          </a:rPr>
                        </m:ctrlPr>
                      </m:sSubPr>
                      <m:e>
                        <m:r>
                          <a:rPr lang="en-PH" sz="1900" b="1" i="0">
                            <a:latin typeface="Cambria Math"/>
                          </a:rPr>
                          <m:t>𝐯</m:t>
                        </m:r>
                      </m:e>
                      <m:sub>
                        <m:r>
                          <a:rPr lang="en-PH" sz="1900" i="1">
                            <a:latin typeface="Cambria Math"/>
                          </a:rPr>
                          <m:t>2</m:t>
                        </m:r>
                      </m:sub>
                    </m:sSub>
                    <m:r>
                      <a:rPr lang="en-PH" sz="1900" i="1">
                        <a:latin typeface="Cambria Math"/>
                      </a:rPr>
                      <m:t>+</m:t>
                    </m:r>
                    <m:sSub>
                      <m:sSubPr>
                        <m:ctrlPr>
                          <a:rPr lang="en-PH" sz="1900" i="1">
                            <a:latin typeface="Cambria Math" panose="02040503050406030204" pitchFamily="18" charset="0"/>
                          </a:rPr>
                        </m:ctrlPr>
                      </m:sSubPr>
                      <m:e>
                        <m:r>
                          <a:rPr lang="en-PH" sz="1900" i="1">
                            <a:latin typeface="Cambria Math"/>
                          </a:rPr>
                          <m:t>𝑐</m:t>
                        </m:r>
                      </m:e>
                      <m:sub>
                        <m:r>
                          <a:rPr lang="en-PH" sz="1900" b="0" i="1" smtClean="0">
                            <a:latin typeface="Cambria Math"/>
                          </a:rPr>
                          <m:t>3</m:t>
                        </m:r>
                      </m:sub>
                    </m:sSub>
                    <m:sSub>
                      <m:sSubPr>
                        <m:ctrlPr>
                          <a:rPr lang="en-PH" sz="1900" i="1">
                            <a:latin typeface="Cambria Math" panose="02040503050406030204" pitchFamily="18" charset="0"/>
                          </a:rPr>
                        </m:ctrlPr>
                      </m:sSubPr>
                      <m:e>
                        <m:r>
                          <a:rPr lang="en-PH" sz="1900" b="1" i="0">
                            <a:latin typeface="Cambria Math"/>
                          </a:rPr>
                          <m:t>𝐯</m:t>
                        </m:r>
                      </m:e>
                      <m:sub>
                        <m:r>
                          <a:rPr lang="en-PH" sz="1900" b="0" i="1" smtClean="0">
                            <a:latin typeface="Cambria Math"/>
                          </a:rPr>
                          <m:t>3</m:t>
                        </m:r>
                      </m:sub>
                    </m:sSub>
                    <m:r>
                      <a:rPr lang="en-PH" sz="1900" b="0" i="1" smtClean="0">
                        <a:latin typeface="Cambria Math"/>
                      </a:rPr>
                      <m:t>=0</m:t>
                    </m:r>
                  </m:oMath>
                </a14:m>
                <a:endParaRPr lang="en-PH" sz="1900" b="0" dirty="0">
                  <a:latin typeface="Cambria Math"/>
                </a:endParaRPr>
              </a:p>
              <a:p>
                <a:pPr marL="0" indent="0">
                  <a:buNone/>
                </a:pPr>
                <a:endParaRPr lang="en-PH" sz="1900" dirty="0"/>
              </a:p>
              <a:p>
                <a:pPr marL="0" indent="0">
                  <a:buNone/>
                </a:pPr>
                <a:r>
                  <a:rPr lang="en-PH" sz="1900" i="1" dirty="0"/>
                  <a:t>substitute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i="1">
                            <a:latin typeface="Cambria Math"/>
                          </a:rPr>
                          <m:t>1</m:t>
                        </m:r>
                      </m:sub>
                    </m:sSub>
                  </m:oMath>
                </a14:m>
                <a:r>
                  <a:rPr lang="en-PH" sz="1900" i="1" dirty="0"/>
                  <a:t>,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b="0" i="1" smtClean="0">
                            <a:latin typeface="Cambria Math"/>
                          </a:rPr>
                          <m:t>2</m:t>
                        </m:r>
                      </m:sub>
                    </m:sSub>
                  </m:oMath>
                </a14:m>
                <a:r>
                  <a:rPr lang="en-PH" sz="1900" i="1" dirty="0"/>
                  <a:t>, </a:t>
                </a:r>
                <a14:m>
                  <m:oMath xmlns:m="http://schemas.openxmlformats.org/officeDocument/2006/math">
                    <m:sSub>
                      <m:sSubPr>
                        <m:ctrlPr>
                          <a:rPr lang="en-PH" sz="1900" i="1">
                            <a:latin typeface="Cambria Math" panose="02040503050406030204" pitchFamily="18" charset="0"/>
                          </a:rPr>
                        </m:ctrlPr>
                      </m:sSubPr>
                      <m:e>
                        <m:r>
                          <a:rPr lang="en-PH" sz="1900" b="1">
                            <a:latin typeface="Cambria Math"/>
                          </a:rPr>
                          <m:t>𝐯</m:t>
                        </m:r>
                      </m:e>
                      <m:sub>
                        <m:r>
                          <a:rPr lang="en-PH" sz="1900" b="0" i="1" smtClean="0">
                            <a:latin typeface="Cambria Math"/>
                          </a:rPr>
                          <m:t>3</m:t>
                        </m:r>
                      </m:sub>
                    </m:sSub>
                  </m:oMath>
                </a14:m>
                <a:r>
                  <a:rPr lang="en-PH" sz="1900" i="1" dirty="0"/>
                  <a:t> and solve for c</a:t>
                </a:r>
                <a:r>
                  <a:rPr lang="en-PH" sz="1900" i="1" baseline="-25000" dirty="0"/>
                  <a:t>1</a:t>
                </a:r>
                <a:r>
                  <a:rPr lang="en-PH" sz="1900" i="1" dirty="0"/>
                  <a:t>, c</a:t>
                </a:r>
                <a:r>
                  <a:rPr lang="en-PH" sz="1900" i="1" baseline="-25000" dirty="0"/>
                  <a:t>2</a:t>
                </a:r>
                <a:r>
                  <a:rPr lang="en-PH" sz="1900" i="1" dirty="0"/>
                  <a:t> and c</a:t>
                </a:r>
                <a:r>
                  <a:rPr lang="en-PH" sz="1900" i="1" baseline="-25000" dirty="0"/>
                  <a:t>3</a:t>
                </a:r>
                <a:r>
                  <a:rPr lang="en-PH" sz="1900" i="1" dirty="0"/>
                  <a:t>.</a:t>
                </a:r>
                <a:endParaRPr lang="en-PH" sz="1900"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667" t="-750" r="-74"/>
                </a:stretch>
              </a:blipFill>
            </p:spPr>
            <p:txBody>
              <a:bodyPr/>
              <a:lstStyle/>
              <a:p>
                <a:r>
                  <a:rPr lang="en-US">
                    <a:noFill/>
                  </a:rPr>
                  <a:t> </a:t>
                </a:r>
              </a:p>
            </p:txBody>
          </p:sp>
        </mc:Fallback>
      </mc:AlternateContent>
    </p:spTree>
    <p:extLst>
      <p:ext uri="{BB962C8B-B14F-4D97-AF65-F5344CB8AC3E}">
        <p14:creationId xmlns:p14="http://schemas.microsoft.com/office/powerpoint/2010/main" val="5108065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a:bodyPr>
              <a:lstStyle/>
              <a:p>
                <a:pPr marL="0" indent="0">
                  <a:buNone/>
                </a:pPr>
                <a:r>
                  <a:rPr lang="en-PH" sz="1900" i="1" dirty="0"/>
                  <a:t>Cont.</a:t>
                </a:r>
              </a:p>
              <a:p>
                <a:pPr marL="0" indent="0" algn="ctr">
                  <a:buNone/>
                </a:pPr>
                <a:r>
                  <a:rPr lang="en-PH" sz="1900" dirty="0"/>
                  <a:t> </a:t>
                </a:r>
                <a14:m>
                  <m:oMath xmlns:m="http://schemas.openxmlformats.org/officeDocument/2006/math">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1</m:t>
                        </m:r>
                      </m:sub>
                    </m:sSub>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m:rPr>
                                  <m:brk m:alnAt="7"/>
                                </m:rPr>
                                <a:rPr lang="en-US" sz="1900" i="1">
                                  <a:latin typeface="Cambria Math" panose="02040503050406030204" pitchFamily="18" charset="0"/>
                                </a:rPr>
                                <m:t>1</m:t>
                              </m:r>
                            </m:e>
                          </m:mr>
                          <m:mr>
                            <m:e>
                              <m:r>
                                <a:rPr lang="en-US" sz="1900" i="1">
                                  <a:latin typeface="Cambria Math" panose="02040503050406030204" pitchFamily="18" charset="0"/>
                                </a:rPr>
                                <m:t>1</m:t>
                              </m:r>
                            </m:e>
                          </m:mr>
                          <m:mr>
                            <m:e>
                              <m:r>
                                <a:rPr lang="en-US" sz="1900" i="1">
                                  <a:latin typeface="Cambria Math" panose="02040503050406030204" pitchFamily="18" charset="0"/>
                                </a:rPr>
                                <m:t>2</m:t>
                              </m:r>
                            </m:e>
                          </m:mr>
                        </m:m>
                      </m:e>
                    </m:d>
                    <m:r>
                      <a:rPr lang="en-PH" sz="1900" i="1">
                        <a:latin typeface="Cambria Math"/>
                      </a:rPr>
                      <m:t>+</m:t>
                    </m:r>
                    <m:r>
                      <m:rPr>
                        <m:nor/>
                      </m:rPr>
                      <a:rPr lang="en-PH" sz="1900" dirty="0"/>
                      <m:t> </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2</m:t>
                        </m:r>
                      </m:sub>
                    </m:sSub>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a:rPr lang="en-US" sz="1900" i="1">
                                  <a:latin typeface="Cambria Math" panose="02040503050406030204" pitchFamily="18" charset="0"/>
                                </a:rPr>
                                <m:t>2</m:t>
                              </m:r>
                            </m:e>
                          </m:mr>
                          <m:mr>
                            <m:e>
                              <m:r>
                                <a:rPr lang="en-US" sz="1900" i="1">
                                  <a:latin typeface="Cambria Math" panose="02040503050406030204" pitchFamily="18" charset="0"/>
                                </a:rPr>
                                <m:t>1</m:t>
                              </m:r>
                            </m:e>
                          </m:mr>
                          <m:mr>
                            <m:e>
                              <m:r>
                                <a:rPr lang="en-US" sz="1900" i="1">
                                  <a:latin typeface="Cambria Math" panose="02040503050406030204" pitchFamily="18" charset="0"/>
                                </a:rPr>
                                <m:t>0</m:t>
                              </m:r>
                            </m:e>
                          </m:mr>
                        </m:m>
                      </m:e>
                    </m:d>
                    <m:r>
                      <a:rPr lang="en-PH" sz="1900" i="1">
                        <a:latin typeface="Cambria Math"/>
                      </a:rPr>
                      <m:t>+</m:t>
                    </m:r>
                    <m:sSub>
                      <m:sSubPr>
                        <m:ctrlPr>
                          <a:rPr lang="en-PH" sz="1900" i="1">
                            <a:latin typeface="Cambria Math" panose="02040503050406030204" pitchFamily="18" charset="0"/>
                          </a:rPr>
                        </m:ctrlPr>
                      </m:sSubPr>
                      <m:e>
                        <m:r>
                          <a:rPr lang="en-PH" sz="1900" i="1">
                            <a:latin typeface="Cambria Math"/>
                          </a:rPr>
                          <m:t>𝑐</m:t>
                        </m:r>
                      </m:e>
                      <m:sub>
                        <m:r>
                          <a:rPr lang="en-PH" sz="1900" i="1">
                            <a:latin typeface="Cambria Math"/>
                          </a:rPr>
                          <m:t>3</m:t>
                        </m:r>
                      </m:sub>
                    </m:sSub>
                    <m:d>
                      <m:dPr>
                        <m:begChr m:val="["/>
                        <m:endChr m:val="]"/>
                        <m:ctrlPr>
                          <a:rPr lang="en-US" sz="1900" i="1">
                            <a:latin typeface="Cambria Math" panose="02040503050406030204" pitchFamily="18" charset="0"/>
                          </a:rPr>
                        </m:ctrlPr>
                      </m:dPr>
                      <m:e>
                        <m:m>
                          <m:mPr>
                            <m:mcs>
                              <m:mc>
                                <m:mcPr>
                                  <m:count m:val="1"/>
                                  <m:mcJc m:val="center"/>
                                </m:mcPr>
                              </m:mc>
                            </m:mcs>
                            <m:ctrlPr>
                              <a:rPr lang="en-US" sz="1900" i="1">
                                <a:latin typeface="Cambria Math" panose="02040503050406030204" pitchFamily="18" charset="0"/>
                              </a:rPr>
                            </m:ctrlPr>
                          </m:mPr>
                          <m:mr>
                            <m:e>
                              <m:r>
                                <a:rPr lang="en-US" sz="1900" i="1">
                                  <a:latin typeface="Cambria Math" panose="02040503050406030204" pitchFamily="18" charset="0"/>
                                </a:rPr>
                                <m:t>3</m:t>
                              </m:r>
                            </m:e>
                          </m:mr>
                          <m:mr>
                            <m:e>
                              <m:r>
                                <a:rPr lang="en-US" sz="1900" i="1">
                                  <a:latin typeface="Cambria Math" panose="02040503050406030204" pitchFamily="18" charset="0"/>
                                </a:rPr>
                                <m:t>2</m:t>
                              </m:r>
                            </m:e>
                          </m:mr>
                          <m:mr>
                            <m:e>
                              <m:r>
                                <a:rPr lang="en-US" sz="1900" i="1">
                                  <a:latin typeface="Cambria Math" panose="02040503050406030204" pitchFamily="18" charset="0"/>
                                </a:rPr>
                                <m:t>2</m:t>
                              </m:r>
                            </m:e>
                          </m:mr>
                        </m:m>
                      </m:e>
                    </m:d>
                    <m:r>
                      <a:rPr lang="en-PH" sz="1900" i="1">
                        <a:latin typeface="Cambria Math"/>
                      </a:rPr>
                      <m:t>=0</m:t>
                    </m:r>
                  </m:oMath>
                </a14:m>
                <a:endParaRPr lang="en-PH" sz="1900" i="1" dirty="0"/>
              </a:p>
              <a:p>
                <a:pPr marL="0" indent="0">
                  <a:buNone/>
                </a:pPr>
                <a:r>
                  <a:rPr lang="en-PH" sz="1900" i="1" dirty="0"/>
                  <a:t>	</a:t>
                </a:r>
                <a:endParaRPr lang="en-PH" sz="1900" dirty="0"/>
              </a:p>
              <a:p>
                <a:pPr marL="0" indent="0">
                  <a:buNone/>
                </a:pPr>
                <a:r>
                  <a:rPr lang="en-PH" sz="2000" i="1" dirty="0"/>
                  <a:t>  its augmented matrix:        </a:t>
                </a:r>
                <a14:m>
                  <m:oMath xmlns:m="http://schemas.openxmlformats.org/officeDocument/2006/math">
                    <m:d>
                      <m:dPr>
                        <m:begChr m:val="["/>
                        <m:endChr m:val="]"/>
                        <m:ctrlPr>
                          <a:rPr lang="en-PH" sz="1800" i="1">
                            <a:latin typeface="Cambria Math" panose="02040503050406030204" pitchFamily="18" charset="0"/>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3</m:t>
                              </m:r>
                            </m:e>
                          </m:mr>
                          <m:mr>
                            <m:e>
                              <m:r>
                                <a:rPr lang="en-PH" sz="1800" i="1">
                                  <a:latin typeface="Cambria Math"/>
                                </a:rPr>
                                <m:t>1</m:t>
                              </m:r>
                            </m:e>
                            <m:e>
                              <m:r>
                                <a:rPr lang="en-PH" sz="1800" i="1">
                                  <a:latin typeface="Cambria Math"/>
                                </a:rPr>
                                <m:t>1</m:t>
                              </m:r>
                            </m:e>
                            <m:e>
                              <m:r>
                                <a:rPr lang="en-PH" sz="1800" i="1">
                                  <a:latin typeface="Cambria Math"/>
                                </a:rPr>
                                <m:t>2</m:t>
                              </m:r>
                            </m:e>
                          </m:mr>
                          <m:mr>
                            <m:e>
                              <m:r>
                                <a:rPr lang="en-PH" sz="1800" i="1">
                                  <a:latin typeface="Cambria Math"/>
                                </a:rPr>
                                <m:t>2</m:t>
                              </m:r>
                            </m:e>
                            <m:e>
                              <m:r>
                                <a:rPr lang="en-PH" sz="1800" i="1">
                                  <a:latin typeface="Cambria Math"/>
                                </a:rPr>
                                <m:t>0</m:t>
                              </m:r>
                            </m:e>
                            <m:e>
                              <m:r>
                                <a:rPr lang="en-PH" sz="1800" i="1">
                                  <a:latin typeface="Cambria Math"/>
                                </a:rPr>
                                <m:t>2</m:t>
                              </m:r>
                            </m:e>
                          </m:mr>
                        </m:m>
                      </m:e>
                    </m:d>
                    <m:r>
                      <m:rPr>
                        <m:nor/>
                      </m:rPr>
                      <a:rPr lang="en-PH" sz="1800" dirty="0"/>
                      <m:t> </m:t>
                    </m:r>
                  </m:oMath>
                </a14:m>
                <a:endParaRPr lang="en-PH" sz="1800" dirty="0"/>
              </a:p>
              <a:p>
                <a:pPr marL="0" indent="0">
                  <a:buNone/>
                </a:pPr>
                <a:endParaRPr lang="en-PH" sz="1800" dirty="0"/>
              </a:p>
              <a:p>
                <a:pPr marL="0" indent="0">
                  <a:buNone/>
                </a:pPr>
                <a14:m>
                  <m:oMathPara xmlns:m="http://schemas.openxmlformats.org/officeDocument/2006/math">
                    <m:oMathParaPr>
                      <m:jc m:val="centerGroup"/>
                    </m:oMathParaPr>
                    <m:oMath xmlns:m="http://schemas.openxmlformats.org/officeDocument/2006/math">
                      <m:r>
                        <m:rPr>
                          <m:nor/>
                        </m:rPr>
                        <a:rPr lang="en-PH" sz="1800" dirty="0"/>
                        <m:t>Reduce</m:t>
                      </m:r>
                      <m:r>
                        <m:rPr>
                          <m:nor/>
                        </m:rPr>
                        <a:rPr lang="en-PH" sz="1800" dirty="0"/>
                        <m:t> </m:t>
                      </m:r>
                      <m:r>
                        <m:rPr>
                          <m:nor/>
                        </m:rPr>
                        <a:rPr lang="en-PH" sz="1800" dirty="0"/>
                        <m:t>to</m:t>
                      </m:r>
                      <m:r>
                        <m:rPr>
                          <m:nor/>
                        </m:rPr>
                        <a:rPr lang="en-PH" sz="1800" dirty="0"/>
                        <m:t> </m:t>
                      </m:r>
                      <m:r>
                        <m:rPr>
                          <m:nor/>
                        </m:rPr>
                        <a:rPr lang="en-PH" sz="1800" dirty="0"/>
                        <m:t>row</m:t>
                      </m:r>
                      <m:r>
                        <m:rPr>
                          <m:nor/>
                        </m:rPr>
                        <a:rPr lang="en-PH" sz="1800" dirty="0"/>
                        <m:t> </m:t>
                      </m:r>
                      <m:r>
                        <m:rPr>
                          <m:nor/>
                        </m:rPr>
                        <a:rPr lang="en-PH" sz="1800" dirty="0"/>
                        <m:t>echelon</m:t>
                      </m:r>
                      <m:r>
                        <m:rPr>
                          <m:nor/>
                        </m:rPr>
                        <a:rPr lang="en-PH" sz="1800" dirty="0"/>
                        <m:t> </m:t>
                      </m:r>
                      <m:r>
                        <m:rPr>
                          <m:nor/>
                        </m:rPr>
                        <a:rPr lang="en-PH" sz="1800" dirty="0"/>
                        <m:t>form</m:t>
                      </m:r>
                      <m:r>
                        <m:rPr>
                          <m:nor/>
                        </m:rPr>
                        <a:rPr lang="en-PH" sz="1800" dirty="0"/>
                        <m:t> </m:t>
                      </m:r>
                      <m:r>
                        <m:rPr>
                          <m:nor/>
                        </m:rPr>
                        <a:rPr lang="en-PH" sz="1800" dirty="0"/>
                        <m:t>to</m:t>
                      </m:r>
                      <m:r>
                        <m:rPr>
                          <m:nor/>
                        </m:rPr>
                        <a:rPr lang="en-PH" sz="1800" dirty="0"/>
                        <m:t> </m:t>
                      </m:r>
                      <m:r>
                        <m:rPr>
                          <m:nor/>
                        </m:rPr>
                        <a:rPr lang="en-PH" sz="1800" dirty="0"/>
                        <m:t>solve</m:t>
                      </m:r>
                      <m:r>
                        <m:rPr>
                          <m:nor/>
                        </m:rPr>
                        <a:rPr lang="en-PH" sz="1800" dirty="0"/>
                        <m:t> </m:t>
                      </m:r>
                      <m:r>
                        <m:rPr>
                          <m:nor/>
                        </m:rPr>
                        <a:rPr lang="en-PH" sz="1800" dirty="0"/>
                        <m:t>for</m:t>
                      </m:r>
                      <m:r>
                        <m:rPr>
                          <m:nor/>
                        </m:rPr>
                        <a:rPr lang="en-PH" sz="1800" dirty="0"/>
                        <m:t> </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1</m:t>
                          </m:r>
                        </m:sub>
                      </m:sSub>
                      <m:r>
                        <m:rPr>
                          <m:nor/>
                        </m:rPr>
                        <a:rPr lang="en-PH" sz="1800" dirty="0"/>
                        <m:t>, </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2</m:t>
                          </m:r>
                        </m:sub>
                      </m:sSub>
                      <m:r>
                        <m:rPr>
                          <m:nor/>
                        </m:rPr>
                        <a:rPr lang="en-PH" sz="1800" dirty="0"/>
                        <m:t> , </m:t>
                      </m:r>
                      <m:r>
                        <m:rPr>
                          <m:nor/>
                        </m:rPr>
                        <a:rPr lang="en-PH" sz="1800" dirty="0"/>
                        <m:t>and</m:t>
                      </m:r>
                      <m:r>
                        <m:rPr>
                          <m:nor/>
                        </m:rPr>
                        <a:rPr lang="en-PH" sz="1800" dirty="0"/>
                        <m:t> </m:t>
                      </m:r>
                      <m:sSub>
                        <m:sSubPr>
                          <m:ctrlPr>
                            <a:rPr lang="en-PH" sz="1800" i="1">
                              <a:latin typeface="Cambria Math" panose="02040503050406030204" pitchFamily="18" charset="0"/>
                            </a:rPr>
                          </m:ctrlPr>
                        </m:sSubPr>
                        <m:e>
                          <m:r>
                            <a:rPr lang="en-PH" sz="1800" i="1">
                              <a:latin typeface="Cambria Math"/>
                            </a:rPr>
                            <m:t>𝑐</m:t>
                          </m:r>
                        </m:e>
                        <m:sub>
                          <m:r>
                            <a:rPr lang="en-PH" sz="1800" i="1">
                              <a:latin typeface="Cambria Math"/>
                            </a:rPr>
                            <m:t>3</m:t>
                          </m:r>
                        </m:sub>
                      </m:sSub>
                    </m:oMath>
                  </m:oMathPara>
                </a14:m>
                <a:endParaRPr lang="en-PH" sz="1800"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PH" sz="1800" i="1">
                              <a:latin typeface="Cambria Math" panose="02040503050406030204" pitchFamily="18" charset="0"/>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3</m:t>
                                </m:r>
                              </m:e>
                            </m:mr>
                            <m:mr>
                              <m:e>
                                <m:r>
                                  <a:rPr lang="en-PH" sz="1800" i="1">
                                    <a:latin typeface="Cambria Math"/>
                                  </a:rPr>
                                  <m:t>1</m:t>
                                </m:r>
                              </m:e>
                              <m:e>
                                <m:r>
                                  <a:rPr lang="en-PH" sz="1800" i="1">
                                    <a:latin typeface="Cambria Math"/>
                                  </a:rPr>
                                  <m:t>1</m:t>
                                </m:r>
                              </m:e>
                              <m:e>
                                <m:r>
                                  <a:rPr lang="en-PH" sz="1800" i="1">
                                    <a:latin typeface="Cambria Math"/>
                                  </a:rPr>
                                  <m:t>2</m:t>
                                </m:r>
                              </m:e>
                            </m:mr>
                            <m:mr>
                              <m:e>
                                <m:r>
                                  <a:rPr lang="en-PH" sz="1800" i="1">
                                    <a:latin typeface="Cambria Math"/>
                                  </a:rPr>
                                  <m:t>2</m:t>
                                </m:r>
                              </m:e>
                              <m:e>
                                <m:r>
                                  <a:rPr lang="en-PH" sz="1800" i="1">
                                    <a:latin typeface="Cambria Math"/>
                                  </a:rPr>
                                  <m:t>0</m:t>
                                </m:r>
                              </m:e>
                              <m:e>
                                <m:r>
                                  <a:rPr lang="en-PH" sz="1800" i="1">
                                    <a:latin typeface="Cambria Math"/>
                                  </a:rPr>
                                  <m:t>2</m:t>
                                </m:r>
                              </m:e>
                            </m:mr>
                          </m:m>
                        </m:e>
                      </m:d>
                      <m:r>
                        <a:rPr lang="en-PH" sz="1800" i="1">
                          <a:latin typeface="Cambria Math"/>
                          <a:ea typeface="Cambria Math"/>
                        </a:rPr>
                        <m:t>≈  </m:t>
                      </m:r>
                      <m:d>
                        <m:dPr>
                          <m:begChr m:val="["/>
                          <m:endChr m:val="]"/>
                          <m:ctrlPr>
                            <a:rPr lang="en-PH" sz="1800" i="1">
                              <a:latin typeface="Cambria Math" panose="02040503050406030204" pitchFamily="18" charset="0"/>
                              <a:ea typeface="Cambria Math"/>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1</m:t>
                                </m:r>
                              </m:e>
                            </m:mr>
                            <m:mr>
                              <m:e>
                                <m:r>
                                  <a:rPr lang="en-PH" sz="1800" i="1">
                                    <a:latin typeface="Cambria Math"/>
                                  </a:rPr>
                                  <m:t>0</m:t>
                                </m:r>
                              </m:e>
                              <m:e>
                                <m:r>
                                  <a:rPr lang="en-PH" sz="1800" i="1">
                                    <a:latin typeface="Cambria Math"/>
                                  </a:rPr>
                                  <m:t>−1</m:t>
                                </m:r>
                              </m:e>
                              <m:e>
                                <m:r>
                                  <a:rPr lang="en-PH" sz="1800" i="1">
                                    <a:latin typeface="Cambria Math"/>
                                  </a:rPr>
                                  <m:t>−1</m:t>
                                </m:r>
                              </m:e>
                            </m:mr>
                            <m:mr>
                              <m:e>
                                <m:r>
                                  <a:rPr lang="en-PH" sz="1800" i="1">
                                    <a:latin typeface="Cambria Math"/>
                                  </a:rPr>
                                  <m:t>0</m:t>
                                </m:r>
                              </m:e>
                              <m:e>
                                <m:r>
                                  <a:rPr lang="en-PH" sz="1800" i="1">
                                    <a:latin typeface="Cambria Math"/>
                                  </a:rPr>
                                  <m:t>−4</m:t>
                                </m:r>
                              </m:e>
                              <m:e>
                                <m:r>
                                  <a:rPr lang="en-PH" sz="1800" i="1">
                                    <a:latin typeface="Cambria Math"/>
                                  </a:rPr>
                                  <m:t>−4</m:t>
                                </m:r>
                              </m:e>
                            </m:mr>
                          </m:m>
                        </m:e>
                      </m:d>
                      <m:r>
                        <a:rPr lang="en-PH" sz="1800" i="1">
                          <a:latin typeface="Cambria Math"/>
                          <a:ea typeface="Cambria Math"/>
                        </a:rPr>
                        <m:t>  ≈ </m:t>
                      </m:r>
                      <m:d>
                        <m:dPr>
                          <m:begChr m:val="["/>
                          <m:endChr m:val="]"/>
                          <m:ctrlPr>
                            <a:rPr lang="en-PH" sz="1800" i="1">
                              <a:latin typeface="Cambria Math" panose="02040503050406030204" pitchFamily="18" charset="0"/>
                              <a:ea typeface="Cambria Math"/>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1</m:t>
                                </m:r>
                              </m:e>
                            </m:mr>
                            <m:mr>
                              <m:e>
                                <m:r>
                                  <a:rPr lang="en-PH" sz="1800" i="1">
                                    <a:latin typeface="Cambria Math"/>
                                  </a:rPr>
                                  <m:t>0</m:t>
                                </m:r>
                              </m:e>
                              <m:e>
                                <m:r>
                                  <a:rPr lang="en-PH" sz="1800" i="1">
                                    <a:latin typeface="Cambria Math"/>
                                  </a:rPr>
                                  <m:t>1</m:t>
                                </m:r>
                              </m:e>
                              <m:e>
                                <m:r>
                                  <a:rPr lang="en-PH" sz="1800" i="1">
                                    <a:latin typeface="Cambria Math"/>
                                  </a:rPr>
                                  <m:t>1</m:t>
                                </m:r>
                              </m:e>
                            </m:mr>
                            <m:mr>
                              <m:e>
                                <m:r>
                                  <a:rPr lang="en-PH" sz="1800" i="1">
                                    <a:latin typeface="Cambria Math"/>
                                  </a:rPr>
                                  <m:t>0</m:t>
                                </m:r>
                              </m:e>
                              <m:e>
                                <m:r>
                                  <a:rPr lang="en-PH" sz="1800" i="1">
                                    <a:latin typeface="Cambria Math"/>
                                  </a:rPr>
                                  <m:t>4</m:t>
                                </m:r>
                              </m:e>
                              <m:e>
                                <m:r>
                                  <a:rPr lang="en-PH" sz="1800" i="1">
                                    <a:latin typeface="Cambria Math"/>
                                  </a:rPr>
                                  <m:t>4</m:t>
                                </m:r>
                              </m:e>
                            </m:mr>
                          </m:m>
                        </m:e>
                      </m:d>
                      <m:r>
                        <a:rPr lang="en-PH" sz="1800" i="1">
                          <a:latin typeface="Cambria Math"/>
                          <a:ea typeface="Cambria Math"/>
                        </a:rPr>
                        <m:t> ≈ </m:t>
                      </m:r>
                      <m:d>
                        <m:dPr>
                          <m:begChr m:val="["/>
                          <m:endChr m:val="]"/>
                          <m:ctrlPr>
                            <a:rPr lang="en-PH" sz="1800" i="1">
                              <a:latin typeface="Cambria Math" panose="02040503050406030204" pitchFamily="18" charset="0"/>
                              <a:ea typeface="Cambria Math"/>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3</m:t>
                                </m:r>
                              </m:e>
                            </m:mr>
                            <m:mr>
                              <m:e>
                                <m:r>
                                  <a:rPr lang="en-PH" sz="1800" i="1">
                                    <a:latin typeface="Cambria Math"/>
                                  </a:rPr>
                                  <m:t>0</m:t>
                                </m:r>
                              </m:e>
                              <m:e>
                                <m:r>
                                  <a:rPr lang="en-PH" sz="1800" i="1">
                                    <a:latin typeface="Cambria Math"/>
                                  </a:rPr>
                                  <m:t>1</m:t>
                                </m:r>
                              </m:e>
                              <m:e>
                                <m:r>
                                  <a:rPr lang="en-PH" sz="1800" i="1">
                                    <a:latin typeface="Cambria Math"/>
                                  </a:rPr>
                                  <m:t>1</m:t>
                                </m:r>
                              </m:e>
                            </m:mr>
                            <m:mr>
                              <m:e>
                                <m:r>
                                  <a:rPr lang="en-PH" sz="1800" i="1">
                                    <a:latin typeface="Cambria Math"/>
                                  </a:rPr>
                                  <m:t>0</m:t>
                                </m:r>
                              </m:e>
                              <m:e>
                                <m:r>
                                  <a:rPr lang="en-PH" sz="1800" i="1">
                                    <a:latin typeface="Cambria Math"/>
                                  </a:rPr>
                                  <m:t>0</m:t>
                                </m:r>
                              </m:e>
                              <m:e>
                                <m:r>
                                  <a:rPr lang="en-PH" sz="1800" i="1">
                                    <a:latin typeface="Cambria Math"/>
                                  </a:rPr>
                                  <m:t>0</m:t>
                                </m:r>
                              </m:e>
                            </m:mr>
                          </m:m>
                        </m:e>
                      </m:d>
                      <m:r>
                        <a:rPr lang="en-PH" sz="1800" i="1">
                          <a:latin typeface="Cambria Math"/>
                          <a:ea typeface="Cambria Math"/>
                        </a:rPr>
                        <m:t>≈ </m:t>
                      </m:r>
                      <m:d>
                        <m:dPr>
                          <m:begChr m:val="["/>
                          <m:endChr m:val="]"/>
                          <m:ctrlPr>
                            <a:rPr lang="en-PH" sz="1800" i="1">
                              <a:latin typeface="Cambria Math" panose="02040503050406030204" pitchFamily="18" charset="0"/>
                              <a:ea typeface="Cambria Math"/>
                            </a:rPr>
                          </m:ctrlPr>
                        </m:dPr>
                        <m:e>
                          <m:m>
                            <m:mPr>
                              <m:mcs>
                                <m:mc>
                                  <m:mcPr>
                                    <m:count m:val="3"/>
                                    <m:mcJc m:val="center"/>
                                  </m:mcPr>
                                </m:mc>
                              </m:mcs>
                              <m:ctrlPr>
                                <a:rPr lang="en-PH" sz="1800" i="1">
                                  <a:latin typeface="Cambria Math" panose="02040503050406030204" pitchFamily="18" charset="0"/>
                                </a:rPr>
                              </m:ctrlPr>
                            </m:mPr>
                            <m:mr>
                              <m:e>
                                <m:r>
                                  <m:rPr>
                                    <m:brk m:alnAt="7"/>
                                  </m:rPr>
                                  <a:rPr lang="en-PH" sz="1800" i="1">
                                    <a:latin typeface="Cambria Math"/>
                                  </a:rPr>
                                  <m:t>1</m:t>
                                </m:r>
                              </m:e>
                              <m:e>
                                <m:r>
                                  <a:rPr lang="en-PH" sz="1800" i="1">
                                    <a:latin typeface="Cambria Math"/>
                                  </a:rPr>
                                  <m:t>0</m:t>
                                </m:r>
                              </m:e>
                              <m:e>
                                <m:r>
                                  <a:rPr lang="en-PH" sz="1800" i="1">
                                    <a:latin typeface="Cambria Math"/>
                                  </a:rPr>
                                  <m:t>1</m:t>
                                </m:r>
                              </m:e>
                            </m:mr>
                            <m:mr>
                              <m:e>
                                <m:r>
                                  <a:rPr lang="en-PH" sz="1800" i="1">
                                    <a:latin typeface="Cambria Math"/>
                                  </a:rPr>
                                  <m:t>0</m:t>
                                </m:r>
                              </m:e>
                              <m:e>
                                <m:r>
                                  <a:rPr lang="en-PH" sz="1800" i="1">
                                    <a:latin typeface="Cambria Math"/>
                                  </a:rPr>
                                  <m:t>1</m:t>
                                </m:r>
                              </m:e>
                              <m:e>
                                <m:r>
                                  <a:rPr lang="en-PH" sz="1800" i="1">
                                    <a:latin typeface="Cambria Math"/>
                                  </a:rPr>
                                  <m:t>1</m:t>
                                </m:r>
                              </m:e>
                            </m:mr>
                            <m:mr>
                              <m:e>
                                <m:r>
                                  <a:rPr lang="en-PH" sz="1800" i="1">
                                    <a:latin typeface="Cambria Math"/>
                                  </a:rPr>
                                  <m:t>0</m:t>
                                </m:r>
                              </m:e>
                              <m:e>
                                <m:r>
                                  <a:rPr lang="en-PH" sz="1800" i="1">
                                    <a:latin typeface="Cambria Math"/>
                                  </a:rPr>
                                  <m:t>0</m:t>
                                </m:r>
                              </m:e>
                              <m:e>
                                <m:r>
                                  <a:rPr lang="en-PH" sz="1800" i="1">
                                    <a:latin typeface="Cambria Math"/>
                                  </a:rPr>
                                  <m:t>0</m:t>
                                </m:r>
                              </m:e>
                            </m:mr>
                          </m:m>
                        </m:e>
                      </m:d>
                      <m:r>
                        <m:rPr>
                          <m:nor/>
                        </m:rPr>
                        <a:rPr lang="en-PH" sz="1800" i="1" dirty="0"/>
                        <m:t>  </m:t>
                      </m:r>
                    </m:oMath>
                  </m:oMathPara>
                </a14:m>
                <a:endParaRPr lang="en-PH" sz="1800" i="1" dirty="0"/>
              </a:p>
              <a:p>
                <a:pPr marL="0" indent="0">
                  <a:buNone/>
                </a:pPr>
                <a14:m>
                  <m:oMath xmlns:m="http://schemas.openxmlformats.org/officeDocument/2006/math">
                    <m:r>
                      <m:rPr>
                        <m:nor/>
                      </m:rPr>
                      <a:rPr lang="en-PH" sz="1800" i="1" dirty="0"/>
                      <m:t>                </m:t>
                    </m:r>
                    <m:sSub>
                      <m:sSubPr>
                        <m:ctrlPr>
                          <a:rPr lang="en-PH" sz="1400" i="1">
                            <a:latin typeface="Cambria Math" panose="02040503050406030204" pitchFamily="18" charset="0"/>
                          </a:rPr>
                        </m:ctrlPr>
                      </m:sSubPr>
                      <m:e>
                        <m:r>
                          <a:rPr lang="en-PH" sz="1400" i="1">
                            <a:latin typeface="Cambria Math"/>
                          </a:rPr>
                          <m:t>        </m:t>
                        </m:r>
                        <m:r>
                          <a:rPr lang="en-PH" sz="1400" i="1">
                            <a:latin typeface="Cambria Math"/>
                          </a:rPr>
                          <m:t>𝑅</m:t>
                        </m:r>
                      </m:e>
                      <m:sub>
                        <m:r>
                          <a:rPr lang="en-PH" sz="1400" i="1">
                            <a:latin typeface="Cambria Math"/>
                          </a:rPr>
                          <m:t>2</m:t>
                        </m:r>
                      </m:sub>
                    </m:sSub>
                    <m:r>
                      <a:rPr lang="en-PH" sz="1400" i="1">
                        <a:latin typeface="Cambria Math"/>
                      </a:rPr>
                      <m:t>= </m:t>
                    </m:r>
                    <m:sSub>
                      <m:sSubPr>
                        <m:ctrlPr>
                          <a:rPr lang="en-PH" sz="1400" i="1">
                            <a:latin typeface="Cambria Math" panose="02040503050406030204" pitchFamily="18" charset="0"/>
                          </a:rPr>
                        </m:ctrlPr>
                      </m:sSubPr>
                      <m:e>
                        <m:r>
                          <a:rPr lang="en-PH" sz="1400" i="1">
                            <a:latin typeface="Cambria Math"/>
                          </a:rPr>
                          <m:t>−1</m:t>
                        </m:r>
                        <m:r>
                          <a:rPr lang="en-PH" sz="1400" i="1">
                            <a:latin typeface="Cambria Math"/>
                          </a:rPr>
                          <m:t>𝑅</m:t>
                        </m:r>
                      </m:e>
                      <m:sub>
                        <m:r>
                          <a:rPr lang="en-PH" sz="1400" i="1">
                            <a:latin typeface="Cambria Math"/>
                          </a:rPr>
                          <m:t>1</m:t>
                        </m:r>
                      </m:sub>
                    </m:sSub>
                    <m:r>
                      <a:rPr lang="en-PH" sz="1400" i="1">
                        <a:latin typeface="Cambria Math"/>
                      </a:rPr>
                      <m:t>+ </m:t>
                    </m:r>
                    <m:sSub>
                      <m:sSubPr>
                        <m:ctrlPr>
                          <a:rPr lang="en-PH" sz="1400" i="1">
                            <a:latin typeface="Cambria Math" panose="02040503050406030204" pitchFamily="18" charset="0"/>
                          </a:rPr>
                        </m:ctrlPr>
                      </m:sSubPr>
                      <m:e>
                        <m:r>
                          <a:rPr lang="en-PH" sz="1400" i="1">
                            <a:latin typeface="Cambria Math"/>
                          </a:rPr>
                          <m:t>𝑅</m:t>
                        </m:r>
                      </m:e>
                      <m:sub>
                        <m:r>
                          <a:rPr lang="en-PH" sz="1400" i="1">
                            <a:latin typeface="Cambria Math"/>
                          </a:rPr>
                          <m:t>2</m:t>
                        </m:r>
                      </m:sub>
                    </m:sSub>
                    <m:r>
                      <a:rPr lang="en-PH" sz="1400" i="1">
                        <a:latin typeface="Cambria Math"/>
                      </a:rPr>
                      <m:t>  </m:t>
                    </m:r>
                    <m:r>
                      <m:rPr>
                        <m:nor/>
                      </m:rPr>
                      <a:rPr lang="en-PH" sz="1600" i="1" dirty="0"/>
                      <m:t>     </m:t>
                    </m:r>
                    <m:sSub>
                      <m:sSubPr>
                        <m:ctrlPr>
                          <a:rPr lang="en-PH" sz="1400" i="1">
                            <a:latin typeface="Cambria Math" panose="02040503050406030204" pitchFamily="18" charset="0"/>
                          </a:rPr>
                        </m:ctrlPr>
                      </m:sSubPr>
                      <m:e>
                        <m:r>
                          <a:rPr lang="en-PH" sz="1400" i="1">
                            <a:latin typeface="Cambria Math"/>
                          </a:rPr>
                          <m:t>𝑅</m:t>
                        </m:r>
                      </m:e>
                      <m:sub>
                        <m:r>
                          <a:rPr lang="en-PH" sz="1400" i="1">
                            <a:latin typeface="Cambria Math"/>
                          </a:rPr>
                          <m:t>2</m:t>
                        </m:r>
                      </m:sub>
                    </m:sSub>
                    <m:r>
                      <a:rPr lang="en-PH" sz="1400" i="1">
                        <a:latin typeface="Cambria Math"/>
                      </a:rPr>
                      <m:t>= </m:t>
                    </m:r>
                    <m:sSub>
                      <m:sSubPr>
                        <m:ctrlPr>
                          <a:rPr lang="en-PH" sz="1400" i="1">
                            <a:latin typeface="Cambria Math" panose="02040503050406030204" pitchFamily="18" charset="0"/>
                          </a:rPr>
                        </m:ctrlPr>
                      </m:sSubPr>
                      <m:e>
                        <m:r>
                          <a:rPr lang="en-PH" sz="1400" i="1">
                            <a:latin typeface="Cambria Math"/>
                          </a:rPr>
                          <m:t>−1</m:t>
                        </m:r>
                        <m:r>
                          <a:rPr lang="en-PH" sz="1400" i="1">
                            <a:latin typeface="Cambria Math"/>
                          </a:rPr>
                          <m:t>𝑅</m:t>
                        </m:r>
                      </m:e>
                      <m:sub>
                        <m:r>
                          <a:rPr lang="en-PH" sz="1400" i="1">
                            <a:latin typeface="Cambria Math"/>
                          </a:rPr>
                          <m:t>2</m:t>
                        </m:r>
                      </m:sub>
                    </m:sSub>
                    <m:r>
                      <a:rPr lang="en-PH" sz="1400" i="1">
                        <a:latin typeface="Cambria Math"/>
                      </a:rPr>
                      <m:t>                </m:t>
                    </m:r>
                    <m:sSub>
                      <m:sSubPr>
                        <m:ctrlPr>
                          <a:rPr lang="en-PH" sz="1400" i="1">
                            <a:latin typeface="Cambria Math" panose="02040503050406030204" pitchFamily="18" charset="0"/>
                          </a:rPr>
                        </m:ctrlPr>
                      </m:sSubPr>
                      <m:e>
                        <m:r>
                          <a:rPr lang="en-PH" sz="1400" i="1">
                            <a:latin typeface="Cambria Math"/>
                          </a:rPr>
                          <m:t>𝑅</m:t>
                        </m:r>
                      </m:e>
                      <m:sub>
                        <m:r>
                          <a:rPr lang="en-PH" sz="1400" i="1">
                            <a:latin typeface="Cambria Math"/>
                          </a:rPr>
                          <m:t>3</m:t>
                        </m:r>
                      </m:sub>
                    </m:sSub>
                    <m:r>
                      <a:rPr lang="en-PH" sz="1400" i="1">
                        <a:latin typeface="Cambria Math"/>
                      </a:rPr>
                      <m:t>= </m:t>
                    </m:r>
                    <m:sSub>
                      <m:sSubPr>
                        <m:ctrlPr>
                          <a:rPr lang="en-PH" sz="1400" i="1">
                            <a:latin typeface="Cambria Math" panose="02040503050406030204" pitchFamily="18" charset="0"/>
                          </a:rPr>
                        </m:ctrlPr>
                      </m:sSubPr>
                      <m:e>
                        <m:r>
                          <a:rPr lang="en-PH" sz="1400" i="1">
                            <a:latin typeface="Cambria Math"/>
                          </a:rPr>
                          <m:t>−4</m:t>
                        </m:r>
                        <m:r>
                          <a:rPr lang="en-PH" sz="1400" i="1">
                            <a:latin typeface="Cambria Math"/>
                          </a:rPr>
                          <m:t>𝑅</m:t>
                        </m:r>
                      </m:e>
                      <m:sub>
                        <m:r>
                          <a:rPr lang="en-PH" sz="1400" i="1">
                            <a:latin typeface="Cambria Math"/>
                          </a:rPr>
                          <m:t>2 </m:t>
                        </m:r>
                      </m:sub>
                    </m:sSub>
                    <m:r>
                      <a:rPr lang="en-PH" sz="1400" i="1">
                        <a:latin typeface="Cambria Math"/>
                      </a:rPr>
                      <m:t>+</m:t>
                    </m:r>
                    <m:sSub>
                      <m:sSubPr>
                        <m:ctrlPr>
                          <a:rPr lang="en-PH" sz="1400" i="1">
                            <a:latin typeface="Cambria Math" panose="02040503050406030204" pitchFamily="18" charset="0"/>
                          </a:rPr>
                        </m:ctrlPr>
                      </m:sSubPr>
                      <m:e>
                        <m:r>
                          <a:rPr lang="en-PH" sz="1400" i="1">
                            <a:latin typeface="Cambria Math"/>
                          </a:rPr>
                          <m:t>𝑅</m:t>
                        </m:r>
                      </m:e>
                      <m:sub>
                        <m:r>
                          <a:rPr lang="en-PH" sz="1400" i="1">
                            <a:latin typeface="Cambria Math"/>
                          </a:rPr>
                          <m:t>3</m:t>
                        </m:r>
                      </m:sub>
                    </m:sSub>
                    <m:r>
                      <m:rPr>
                        <m:nor/>
                      </m:rPr>
                      <a:rPr lang="en-PH" sz="1600" i="1" dirty="0"/>
                      <m:t>   </m:t>
                    </m:r>
                    <m:sSub>
                      <m:sSubPr>
                        <m:ctrlPr>
                          <a:rPr lang="en-PH" sz="1200" i="1">
                            <a:latin typeface="Cambria Math" panose="02040503050406030204" pitchFamily="18" charset="0"/>
                          </a:rPr>
                        </m:ctrlPr>
                      </m:sSubPr>
                      <m:e>
                        <m:r>
                          <a:rPr lang="en-PH" sz="1200" i="1">
                            <a:latin typeface="Cambria Math"/>
                          </a:rPr>
                          <m:t>𝑅</m:t>
                        </m:r>
                      </m:e>
                      <m:sub>
                        <m:r>
                          <a:rPr lang="en-PH" sz="1200" i="1">
                            <a:latin typeface="Cambria Math"/>
                          </a:rPr>
                          <m:t>1</m:t>
                        </m:r>
                      </m:sub>
                    </m:sSub>
                    <m:r>
                      <a:rPr lang="en-PH" sz="1200" i="1">
                        <a:latin typeface="Cambria Math"/>
                      </a:rPr>
                      <m:t>= </m:t>
                    </m:r>
                    <m:sSub>
                      <m:sSubPr>
                        <m:ctrlPr>
                          <a:rPr lang="en-PH" sz="1200" i="1">
                            <a:latin typeface="Cambria Math" panose="02040503050406030204" pitchFamily="18" charset="0"/>
                          </a:rPr>
                        </m:ctrlPr>
                      </m:sSubPr>
                      <m:e>
                        <m:r>
                          <a:rPr lang="en-PH" sz="1200" i="1">
                            <a:latin typeface="Cambria Math"/>
                          </a:rPr>
                          <m:t>−2</m:t>
                        </m:r>
                        <m:r>
                          <a:rPr lang="en-PH" sz="1200" i="1">
                            <a:latin typeface="Cambria Math"/>
                          </a:rPr>
                          <m:t>𝑅</m:t>
                        </m:r>
                      </m:e>
                      <m:sub>
                        <m:r>
                          <a:rPr lang="en-PH" sz="1200" i="1">
                            <a:latin typeface="Cambria Math"/>
                          </a:rPr>
                          <m:t>2</m:t>
                        </m:r>
                      </m:sub>
                    </m:sSub>
                  </m:oMath>
                </a14:m>
                <a:r>
                  <a:rPr lang="en-US" sz="1200" i="1" dirty="0">
                    <a:latin typeface="Cambria Math" panose="02040503050406030204" pitchFamily="18" charset="0"/>
                  </a:rPr>
                  <a:t>+</a:t>
                </a:r>
                <a:r>
                  <a:rPr lang="en-PH" sz="1200" dirty="0"/>
                  <a:t> </a:t>
                </a:r>
                <a14:m>
                  <m:oMath xmlns:m="http://schemas.openxmlformats.org/officeDocument/2006/math">
                    <m:sSub>
                      <m:sSubPr>
                        <m:ctrlPr>
                          <a:rPr lang="en-PH" sz="1200" i="1">
                            <a:latin typeface="Cambria Math" panose="02040503050406030204" pitchFamily="18" charset="0"/>
                          </a:rPr>
                        </m:ctrlPr>
                      </m:sSubPr>
                      <m:e>
                        <m:r>
                          <a:rPr lang="en-PH" sz="1200" i="1">
                            <a:latin typeface="Cambria Math"/>
                          </a:rPr>
                          <m:t>𝑅</m:t>
                        </m:r>
                      </m:e>
                      <m:sub>
                        <m:r>
                          <a:rPr lang="en-PH" sz="1200" i="1">
                            <a:latin typeface="Cambria Math"/>
                          </a:rPr>
                          <m:t>1</m:t>
                        </m:r>
                      </m:sub>
                    </m:sSub>
                  </m:oMath>
                </a14:m>
                <a:endParaRPr lang="en-US" sz="1200" i="1" dirty="0">
                  <a:latin typeface="Cambria Math" panose="02040503050406030204" pitchFamily="18" charset="0"/>
                </a:endParaRPr>
              </a:p>
              <a:p>
                <a:pPr marL="0" indent="0">
                  <a:buNone/>
                </a:pPr>
                <a:r>
                  <a:rPr lang="en-PH" sz="1600" dirty="0"/>
                  <a:t>   		          </a:t>
                </a:r>
                <a14:m>
                  <m:oMath xmlns:m="http://schemas.openxmlformats.org/officeDocument/2006/math">
                    <m:sSub>
                      <m:sSubPr>
                        <m:ctrlPr>
                          <a:rPr lang="en-PH" sz="1600" i="1">
                            <a:latin typeface="Cambria Math" panose="02040503050406030204" pitchFamily="18" charset="0"/>
                          </a:rPr>
                        </m:ctrlPr>
                      </m:sSubPr>
                      <m:e>
                        <m:r>
                          <a:rPr lang="en-PH" sz="1600" i="1">
                            <a:latin typeface="Cambria Math"/>
                          </a:rPr>
                          <m:t>𝑅</m:t>
                        </m:r>
                      </m:e>
                      <m:sub>
                        <m:r>
                          <a:rPr lang="en-PH" sz="1600" i="1">
                            <a:latin typeface="Cambria Math"/>
                          </a:rPr>
                          <m:t>3</m:t>
                        </m:r>
                      </m:sub>
                    </m:sSub>
                    <m:r>
                      <a:rPr lang="en-PH" sz="1600" i="1">
                        <a:latin typeface="Cambria Math"/>
                      </a:rPr>
                      <m:t>= </m:t>
                    </m:r>
                    <m:sSub>
                      <m:sSubPr>
                        <m:ctrlPr>
                          <a:rPr lang="en-PH" sz="1600" i="1">
                            <a:latin typeface="Cambria Math" panose="02040503050406030204" pitchFamily="18" charset="0"/>
                          </a:rPr>
                        </m:ctrlPr>
                      </m:sSubPr>
                      <m:e>
                        <m:r>
                          <a:rPr lang="en-PH" sz="1600" i="1">
                            <a:latin typeface="Cambria Math"/>
                          </a:rPr>
                          <m:t>−2</m:t>
                        </m:r>
                        <m:r>
                          <a:rPr lang="en-PH" sz="1600" i="1">
                            <a:latin typeface="Cambria Math"/>
                          </a:rPr>
                          <m:t>𝑅</m:t>
                        </m:r>
                      </m:e>
                      <m:sub>
                        <m:r>
                          <a:rPr lang="en-PH" sz="1600" i="1">
                            <a:latin typeface="Cambria Math"/>
                          </a:rPr>
                          <m:t>1</m:t>
                        </m:r>
                      </m:sub>
                    </m:sSub>
                    <m:r>
                      <a:rPr lang="en-PH" sz="1600" i="1">
                        <a:latin typeface="Cambria Math"/>
                      </a:rPr>
                      <m:t>+ </m:t>
                    </m:r>
                    <m:sSub>
                      <m:sSubPr>
                        <m:ctrlPr>
                          <a:rPr lang="en-PH" sz="1600" i="1">
                            <a:latin typeface="Cambria Math" panose="02040503050406030204" pitchFamily="18" charset="0"/>
                          </a:rPr>
                        </m:ctrlPr>
                      </m:sSubPr>
                      <m:e>
                        <m:r>
                          <a:rPr lang="en-PH" sz="1600" i="1">
                            <a:latin typeface="Cambria Math"/>
                          </a:rPr>
                          <m:t>𝑅</m:t>
                        </m:r>
                      </m:e>
                      <m:sub>
                        <m:r>
                          <a:rPr lang="en-PH" sz="1600" i="1">
                            <a:latin typeface="Cambria Math"/>
                          </a:rPr>
                          <m:t>3</m:t>
                        </m:r>
                      </m:sub>
                    </m:sSub>
                    <m:r>
                      <a:rPr lang="en-PH" sz="1600" i="1">
                        <a:latin typeface="Cambria Math" panose="02040503050406030204" pitchFamily="18" charset="0"/>
                      </a:rPr>
                      <m:t> </m:t>
                    </m:r>
                  </m:oMath>
                </a14:m>
                <a:r>
                  <a:rPr lang="en-PH" sz="1600" dirty="0"/>
                  <a:t>	</a:t>
                </a:r>
                <a14:m>
                  <m:oMath xmlns:m="http://schemas.openxmlformats.org/officeDocument/2006/math">
                    <m:sSub>
                      <m:sSubPr>
                        <m:ctrlPr>
                          <a:rPr lang="en-PH" sz="1600" i="1">
                            <a:latin typeface="Cambria Math" panose="02040503050406030204" pitchFamily="18" charset="0"/>
                          </a:rPr>
                        </m:ctrlPr>
                      </m:sSubPr>
                      <m:e>
                        <m:r>
                          <a:rPr lang="en-PH" sz="1600" i="1">
                            <a:latin typeface="Cambria Math"/>
                          </a:rPr>
                          <m:t>𝑅</m:t>
                        </m:r>
                      </m:e>
                      <m:sub>
                        <m:r>
                          <a:rPr lang="en-PH" sz="1600" i="1">
                            <a:latin typeface="Cambria Math"/>
                          </a:rPr>
                          <m:t>3</m:t>
                        </m:r>
                      </m:sub>
                    </m:sSub>
                    <m:r>
                      <a:rPr lang="en-PH" sz="1600" i="1">
                        <a:latin typeface="Cambria Math"/>
                      </a:rPr>
                      <m:t>= </m:t>
                    </m:r>
                    <m:sSub>
                      <m:sSubPr>
                        <m:ctrlPr>
                          <a:rPr lang="en-PH" sz="1600" i="1">
                            <a:latin typeface="Cambria Math" panose="02040503050406030204" pitchFamily="18" charset="0"/>
                          </a:rPr>
                        </m:ctrlPr>
                      </m:sSubPr>
                      <m:e>
                        <m:r>
                          <a:rPr lang="en-PH" sz="1600" i="1">
                            <a:latin typeface="Cambria Math"/>
                          </a:rPr>
                          <m:t>−1</m:t>
                        </m:r>
                        <m:r>
                          <a:rPr lang="en-PH" sz="1600" i="1">
                            <a:latin typeface="Cambria Math"/>
                          </a:rPr>
                          <m:t>𝑅</m:t>
                        </m:r>
                      </m:e>
                      <m:sub>
                        <m:r>
                          <a:rPr lang="en-PH" sz="1600" i="1">
                            <a:latin typeface="Cambria Math"/>
                          </a:rPr>
                          <m:t>3 </m:t>
                        </m:r>
                      </m:sub>
                    </m:sSub>
                    <m:r>
                      <m:rPr>
                        <m:nor/>
                      </m:rPr>
                      <a:rPr lang="en-PH" sz="1800" i="1" dirty="0"/>
                      <m:t> </m:t>
                    </m:r>
                  </m:oMath>
                </a14:m>
                <a:endParaRPr lang="en-PH" sz="1800" i="1" dirty="0"/>
              </a:p>
              <a:p>
                <a:pPr marL="0" indent="0">
                  <a:buNone/>
                </a:pPr>
                <a:endParaRPr lang="en-PH" sz="20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a:blip r:embed="rId2"/>
                <a:stretch>
                  <a:fillRect l="-667" t="-750"/>
                </a:stretch>
              </a:blipFill>
            </p:spPr>
            <p:txBody>
              <a:bodyPr/>
              <a:lstStyle/>
              <a:p>
                <a:r>
                  <a:rPr lang="en-US">
                    <a:noFill/>
                  </a:rPr>
                  <a:t> </a:t>
                </a:r>
              </a:p>
            </p:txBody>
          </p:sp>
        </mc:Fallback>
      </mc:AlternateContent>
    </p:spTree>
    <p:extLst>
      <p:ext uri="{BB962C8B-B14F-4D97-AF65-F5344CB8AC3E}">
        <p14:creationId xmlns:p14="http://schemas.microsoft.com/office/powerpoint/2010/main" val="1950552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371600"/>
                <a:ext cx="8458200" cy="5105400"/>
              </a:xfrm>
            </p:spPr>
            <p:txBody>
              <a:bodyPr>
                <a:normAutofit/>
              </a:bodyPr>
              <a:lstStyle/>
              <a:p>
                <a:pPr marL="0" indent="0">
                  <a:buNone/>
                </a:pPr>
                <a:r>
                  <a:rPr lang="en-PH" sz="1600" i="1" dirty="0"/>
                  <a:t>Cont. </a:t>
                </a:r>
              </a:p>
              <a:p>
                <a:pPr marL="0" indent="0">
                  <a:buNone/>
                </a:pPr>
                <a:r>
                  <a:rPr lang="en-PH" sz="1600" i="1" dirty="0"/>
                  <a:t>This is equivalent to linear System</a:t>
                </a:r>
                <a:r>
                  <a:rPr lang="en-PH" sz="2000" i="1" dirty="0"/>
                  <a:t>     </a:t>
                </a:r>
                <a14:m>
                  <m:oMath xmlns:m="http://schemas.openxmlformats.org/officeDocument/2006/math">
                    <m:sSub>
                      <m:sSubPr>
                        <m:ctrlPr>
                          <a:rPr lang="en-PH" sz="200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1</m:t>
                        </m:r>
                      </m:sub>
                    </m:sSub>
                    <m:r>
                      <a:rPr lang="en-PH" sz="2000" b="0" i="1" smtClean="0">
                        <a:latin typeface="Cambria Math"/>
                      </a:rPr>
                      <m:t>   + </m:t>
                    </m:r>
                    <m:sSub>
                      <m:sSubPr>
                        <m:ctrlPr>
                          <a:rPr lang="en-PH" sz="2000" b="0" i="1" smtClean="0">
                            <a:latin typeface="Cambria Math" panose="02040503050406030204" pitchFamily="18" charset="0"/>
                          </a:rPr>
                        </m:ctrlPr>
                      </m:sSubPr>
                      <m:e>
                        <m:r>
                          <a:rPr lang="en-PH" sz="2000" b="0" i="1" smtClean="0">
                            <a:latin typeface="Cambria Math"/>
                          </a:rPr>
                          <m:t>𝑐</m:t>
                        </m:r>
                      </m:e>
                      <m:sub>
                        <m:r>
                          <a:rPr lang="en-PH" sz="2000" b="0" i="1" smtClean="0">
                            <a:latin typeface="Cambria Math"/>
                          </a:rPr>
                          <m:t>3</m:t>
                        </m:r>
                      </m:sub>
                    </m:sSub>
                    <m:r>
                      <a:rPr lang="en-PH" sz="2000" b="0" i="1" smtClean="0">
                        <a:latin typeface="Cambria Math"/>
                      </a:rPr>
                      <m:t>=0</m:t>
                    </m:r>
                  </m:oMath>
                </a14:m>
                <a:r>
                  <a:rPr lang="en-PH" sz="2000" i="1" dirty="0"/>
                  <a:t>  </a:t>
                </a:r>
                <a:r>
                  <a:rPr lang="en-PH" sz="2000" i="1" dirty="0">
                    <a:sym typeface="Wingdings" panose="05000000000000000000" pitchFamily="2" charset="2"/>
                  </a:rPr>
                  <a:t> </a:t>
                </a:r>
                <a14:m>
                  <m:oMath xmlns:m="http://schemas.openxmlformats.org/officeDocument/2006/math">
                    <m:sSub>
                      <m:sSubPr>
                        <m:ctrlPr>
                          <a:rPr lang="en-PH" sz="2000" i="1">
                            <a:latin typeface="Cambria Math" panose="02040503050406030204" pitchFamily="18" charset="0"/>
                            <a:sym typeface="Wingdings" pitchFamily="2" charset="2"/>
                          </a:rPr>
                        </m:ctrlPr>
                      </m:sSubPr>
                      <m:e>
                        <m:r>
                          <a:rPr lang="en-PH" sz="2000" i="1">
                            <a:latin typeface="Cambria Math"/>
                            <a:sym typeface="Wingdings" pitchFamily="2" charset="2"/>
                          </a:rPr>
                          <m:t>𝑐</m:t>
                        </m:r>
                      </m:e>
                      <m:sub>
                        <m:r>
                          <a:rPr lang="en-PH" sz="2000" i="1">
                            <a:latin typeface="Cambria Math"/>
                            <a:sym typeface="Wingdings" pitchFamily="2" charset="2"/>
                          </a:rPr>
                          <m:t>1</m:t>
                        </m:r>
                      </m:sub>
                    </m:sSub>
                    <m:r>
                      <a:rPr lang="en-PH" sz="2000" i="1">
                        <a:latin typeface="Cambria Math"/>
                        <a:sym typeface="Wingdings" pitchFamily="2" charset="2"/>
                      </a:rPr>
                      <m:t>=</m:t>
                    </m:r>
                    <m:sSub>
                      <m:sSubPr>
                        <m:ctrlPr>
                          <a:rPr lang="en-PH" sz="2000" i="1">
                            <a:latin typeface="Cambria Math" panose="02040503050406030204" pitchFamily="18" charset="0"/>
                            <a:sym typeface="Wingdings" pitchFamily="2" charset="2"/>
                          </a:rPr>
                        </m:ctrlPr>
                      </m:sSubPr>
                      <m:e>
                        <m:r>
                          <a:rPr lang="en-PH" sz="2000" i="1">
                            <a:latin typeface="Cambria Math"/>
                            <a:sym typeface="Wingdings" pitchFamily="2" charset="2"/>
                          </a:rPr>
                          <m:t>−</m:t>
                        </m:r>
                        <m:r>
                          <a:rPr lang="en-PH" sz="2000" i="1">
                            <a:latin typeface="Cambria Math"/>
                            <a:sym typeface="Wingdings" pitchFamily="2" charset="2"/>
                          </a:rPr>
                          <m:t>𝑐</m:t>
                        </m:r>
                      </m:e>
                      <m:sub>
                        <m:r>
                          <a:rPr lang="en-PH" sz="2000" i="1">
                            <a:latin typeface="Cambria Math"/>
                            <a:sym typeface="Wingdings" pitchFamily="2" charset="2"/>
                          </a:rPr>
                          <m:t>3</m:t>
                        </m:r>
                      </m:sub>
                    </m:sSub>
                  </m:oMath>
                </a14:m>
                <a:endParaRPr lang="en-PH" sz="2000" i="1" dirty="0"/>
              </a:p>
              <a:p>
                <a:pPr marL="0" indent="0">
                  <a:buNone/>
                </a:pPr>
                <a:r>
                  <a:rPr lang="en-PH" sz="2000" i="1" dirty="0"/>
                  <a:t>		                          </a:t>
                </a:r>
                <a14:m>
                  <m:oMath xmlns:m="http://schemas.openxmlformats.org/officeDocument/2006/math">
                    <m:sSub>
                      <m:sSubPr>
                        <m:ctrlPr>
                          <a:rPr lang="en-PH" sz="2000" i="1">
                            <a:latin typeface="Cambria Math" panose="02040503050406030204" pitchFamily="18" charset="0"/>
                          </a:rPr>
                        </m:ctrlPr>
                      </m:sSubPr>
                      <m:e>
                        <m:r>
                          <a:rPr lang="en-PH" sz="2000" i="1">
                            <a:latin typeface="Cambria Math"/>
                          </a:rPr>
                          <m:t>𝑐</m:t>
                        </m:r>
                      </m:e>
                      <m:sub>
                        <m:r>
                          <a:rPr lang="en-PH" sz="2000" b="0" i="1" smtClean="0">
                            <a:latin typeface="Cambria Math"/>
                          </a:rPr>
                          <m:t>2</m:t>
                        </m:r>
                      </m:sub>
                    </m:sSub>
                    <m:r>
                      <a:rPr lang="en-PH" sz="2000" i="1">
                        <a:latin typeface="Cambria Math"/>
                      </a:rPr>
                      <m:t>+ </m:t>
                    </m:r>
                    <m:sSub>
                      <m:sSubPr>
                        <m:ctrlPr>
                          <a:rPr lang="en-PH" sz="2000" i="1">
                            <a:latin typeface="Cambria Math" panose="02040503050406030204" pitchFamily="18" charset="0"/>
                          </a:rPr>
                        </m:ctrlPr>
                      </m:sSubPr>
                      <m:e>
                        <m:r>
                          <a:rPr lang="en-PH" sz="2000" i="1">
                            <a:latin typeface="Cambria Math"/>
                          </a:rPr>
                          <m:t>𝑐</m:t>
                        </m:r>
                      </m:e>
                      <m:sub>
                        <m:r>
                          <a:rPr lang="en-PH" sz="2000" i="1">
                            <a:latin typeface="Cambria Math"/>
                          </a:rPr>
                          <m:t>3</m:t>
                        </m:r>
                      </m:sub>
                    </m:sSub>
                    <m:r>
                      <a:rPr lang="en-PH" sz="2000" i="1">
                        <a:latin typeface="Cambria Math"/>
                      </a:rPr>
                      <m:t>=0</m:t>
                    </m:r>
                  </m:oMath>
                </a14:m>
                <a:r>
                  <a:rPr lang="en-PH" sz="2000" i="1" dirty="0"/>
                  <a:t>  </a:t>
                </a:r>
                <a:r>
                  <a:rPr lang="en-PH" sz="2000" i="1" dirty="0">
                    <a:sym typeface="Wingdings" panose="05000000000000000000" pitchFamily="2" charset="2"/>
                  </a:rPr>
                  <a:t> </a:t>
                </a:r>
                <a14:m>
                  <m:oMath xmlns:m="http://schemas.openxmlformats.org/officeDocument/2006/math">
                    <m:sSub>
                      <m:sSubPr>
                        <m:ctrlPr>
                          <a:rPr lang="en-PH" sz="2000" i="1">
                            <a:latin typeface="Cambria Math" panose="02040503050406030204" pitchFamily="18" charset="0"/>
                            <a:sym typeface="Wingdings" pitchFamily="2" charset="2"/>
                          </a:rPr>
                        </m:ctrlPr>
                      </m:sSubPr>
                      <m:e>
                        <m:r>
                          <a:rPr lang="en-US" sz="2000" i="1">
                            <a:latin typeface="Cambria Math" panose="02040503050406030204" pitchFamily="18" charset="0"/>
                            <a:sym typeface="Wingdings" pitchFamily="2" charset="2"/>
                          </a:rPr>
                          <m:t>    </m:t>
                        </m:r>
                        <m:r>
                          <a:rPr lang="en-PH" sz="2000" i="1">
                            <a:latin typeface="Cambria Math"/>
                            <a:sym typeface="Wingdings" pitchFamily="2" charset="2"/>
                          </a:rPr>
                          <m:t>𝑐</m:t>
                        </m:r>
                      </m:e>
                      <m:sub>
                        <m:r>
                          <a:rPr lang="en-PH" sz="2000" i="1">
                            <a:latin typeface="Cambria Math"/>
                            <a:sym typeface="Wingdings" pitchFamily="2" charset="2"/>
                          </a:rPr>
                          <m:t>2</m:t>
                        </m:r>
                      </m:sub>
                    </m:sSub>
                    <m:r>
                      <a:rPr lang="en-PH" sz="2000" i="1">
                        <a:latin typeface="Cambria Math"/>
                        <a:sym typeface="Wingdings" pitchFamily="2" charset="2"/>
                      </a:rPr>
                      <m:t>= </m:t>
                    </m:r>
                    <m:sSub>
                      <m:sSubPr>
                        <m:ctrlPr>
                          <a:rPr lang="en-PH" sz="2000" i="1">
                            <a:latin typeface="Cambria Math" panose="02040503050406030204" pitchFamily="18" charset="0"/>
                            <a:sym typeface="Wingdings" pitchFamily="2" charset="2"/>
                          </a:rPr>
                        </m:ctrlPr>
                      </m:sSubPr>
                      <m:e>
                        <m:r>
                          <a:rPr lang="en-PH" sz="2000" i="1">
                            <a:latin typeface="Cambria Math"/>
                            <a:sym typeface="Wingdings" pitchFamily="2" charset="2"/>
                          </a:rPr>
                          <m:t>−</m:t>
                        </m:r>
                        <m:r>
                          <a:rPr lang="en-PH" sz="2000" i="1">
                            <a:latin typeface="Cambria Math"/>
                            <a:sym typeface="Wingdings" pitchFamily="2" charset="2"/>
                          </a:rPr>
                          <m:t>𝑐</m:t>
                        </m:r>
                      </m:e>
                      <m:sub>
                        <m:r>
                          <a:rPr lang="en-PH" sz="2000" i="1">
                            <a:latin typeface="Cambria Math"/>
                            <a:sym typeface="Wingdings" pitchFamily="2" charset="2"/>
                          </a:rPr>
                          <m:t>3</m:t>
                        </m:r>
                      </m:sub>
                    </m:sSub>
                  </m:oMath>
                </a14:m>
                <a:endParaRPr lang="en-PH" sz="2000" i="1" dirty="0"/>
              </a:p>
              <a:p>
                <a:pPr marL="0" indent="0">
                  <a:buNone/>
                </a:pPr>
                <a:r>
                  <a:rPr lang="en-PH" sz="2000" i="1" dirty="0"/>
                  <a:t>			</a:t>
                </a:r>
                <a:r>
                  <a:rPr lang="en-PH" sz="1600" i="1" dirty="0"/>
                  <a:t>let </a:t>
                </a:r>
                <a14:m>
                  <m:oMath xmlns:m="http://schemas.openxmlformats.org/officeDocument/2006/math">
                    <m:sSub>
                      <m:sSubPr>
                        <m:ctrlPr>
                          <a:rPr lang="en-PH" sz="1800" i="1">
                            <a:latin typeface="Cambria Math" panose="02040503050406030204" pitchFamily="18" charset="0"/>
                            <a:sym typeface="Wingdings" pitchFamily="2" charset="2"/>
                          </a:rPr>
                        </m:ctrlPr>
                      </m:sSubPr>
                      <m:e>
                        <m:r>
                          <a:rPr lang="en-PH" sz="1800" i="1">
                            <a:latin typeface="Cambria Math"/>
                            <a:sym typeface="Wingdings" pitchFamily="2" charset="2"/>
                          </a:rPr>
                          <m:t>𝑐</m:t>
                        </m:r>
                      </m:e>
                      <m:sub>
                        <m:r>
                          <a:rPr lang="en-PH" sz="1800" b="0" i="1" smtClean="0">
                            <a:latin typeface="Cambria Math"/>
                            <a:sym typeface="Wingdings" pitchFamily="2" charset="2"/>
                          </a:rPr>
                          <m:t>3</m:t>
                        </m:r>
                      </m:sub>
                    </m:sSub>
                    <m:r>
                      <a:rPr lang="en-PH" sz="1800" i="1">
                        <a:latin typeface="Cambria Math"/>
                        <a:sym typeface="Wingdings" pitchFamily="2" charset="2"/>
                      </a:rPr>
                      <m:t>=</m:t>
                    </m:r>
                    <m:r>
                      <a:rPr lang="en-PH" sz="1800" b="0" i="1" smtClean="0">
                        <a:latin typeface="Cambria Math"/>
                        <a:sym typeface="Wingdings" pitchFamily="2" charset="2"/>
                      </a:rPr>
                      <m:t>𝑟</m:t>
                    </m:r>
                  </m:oMath>
                </a14:m>
                <a:r>
                  <a:rPr lang="en-PH" sz="1600" i="1" dirty="0"/>
                  <a:t>  , where r </a:t>
                </a:r>
                <a:r>
                  <a:rPr lang="el-GR" sz="1600" i="1" dirty="0">
                    <a:latin typeface="Lucida Sans Unicode"/>
                    <a:cs typeface="Lucida Sans Unicode"/>
                  </a:rPr>
                  <a:t>ε</a:t>
                </a:r>
                <a:r>
                  <a:rPr lang="en-PH" sz="1600" i="1" dirty="0">
                    <a:latin typeface="Lucida Sans Unicode"/>
                    <a:cs typeface="Lucida Sans Unicode"/>
                  </a:rPr>
                  <a:t> </a:t>
                </a:r>
                <a:r>
                  <a:rPr lang="el-GR" sz="1600" i="1" dirty="0">
                    <a:latin typeface="Lucida Sans Unicode"/>
                    <a:cs typeface="Lucida Sans Unicode"/>
                  </a:rPr>
                  <a:t>ℛ</a:t>
                </a:r>
                <a:r>
                  <a:rPr lang="en-PH" sz="1600" i="1" dirty="0">
                    <a:latin typeface="Lucida Sans Unicode"/>
                    <a:cs typeface="Lucida Sans Unicode"/>
                  </a:rPr>
                  <a:t> (set of real nos.)</a:t>
                </a:r>
              </a:p>
              <a:p>
                <a:pPr marL="0" indent="0" algn="ctr">
                  <a:buNone/>
                </a:pPr>
                <a:r>
                  <a:rPr lang="en-PH" sz="1800" i="1" dirty="0">
                    <a:sym typeface="Wingdings" pitchFamily="2" charset="2"/>
                  </a:rPr>
                  <a:t> </a:t>
                </a:r>
                <a14:m>
                  <m:oMath xmlns:m="http://schemas.openxmlformats.org/officeDocument/2006/math">
                    <m:sSub>
                      <m:sSubPr>
                        <m:ctrlPr>
                          <a:rPr lang="en-PH" sz="1800" i="1" smtClean="0">
                            <a:latin typeface="Cambria Math" panose="02040503050406030204" pitchFamily="18" charset="0"/>
                            <a:sym typeface="Wingdings" pitchFamily="2" charset="2"/>
                          </a:rPr>
                        </m:ctrlPr>
                      </m:sSubPr>
                      <m:e>
                        <m:r>
                          <a:rPr lang="en-PH" sz="1800" b="0" i="1" smtClean="0">
                            <a:latin typeface="Cambria Math"/>
                            <a:sym typeface="Wingdings" pitchFamily="2" charset="2"/>
                          </a:rPr>
                          <m:t>𝑐</m:t>
                        </m:r>
                      </m:e>
                      <m:sub>
                        <m:r>
                          <a:rPr lang="en-PH" sz="1800" b="0" i="1" smtClean="0">
                            <a:latin typeface="Cambria Math"/>
                            <a:sym typeface="Wingdings" pitchFamily="2" charset="2"/>
                          </a:rPr>
                          <m:t>1</m:t>
                        </m:r>
                      </m:sub>
                    </m:sSub>
                    <m:r>
                      <a:rPr lang="en-PH" sz="1800" b="0" i="1" smtClean="0">
                        <a:latin typeface="Cambria Math"/>
                        <a:sym typeface="Wingdings" pitchFamily="2" charset="2"/>
                      </a:rPr>
                      <m:t>=−</m:t>
                    </m:r>
                    <m:r>
                      <a:rPr lang="en-PH" sz="1800" b="0" i="1" smtClean="0">
                        <a:latin typeface="Cambria Math"/>
                        <a:sym typeface="Wingdings" pitchFamily="2" charset="2"/>
                      </a:rPr>
                      <m:t>𝑟</m:t>
                    </m:r>
                  </m:oMath>
                </a14:m>
                <a:r>
                  <a:rPr lang="en-PH" sz="1800" i="1" dirty="0">
                    <a:latin typeface="Lucida Sans Unicode"/>
                    <a:cs typeface="Lucida Sans Unicode"/>
                  </a:rPr>
                  <a:t> ; </a:t>
                </a:r>
                <a14:m>
                  <m:oMath xmlns:m="http://schemas.openxmlformats.org/officeDocument/2006/math">
                    <m:sSub>
                      <m:sSubPr>
                        <m:ctrlPr>
                          <a:rPr lang="en-PH" sz="1800" i="1">
                            <a:latin typeface="Cambria Math" panose="02040503050406030204" pitchFamily="18" charset="0"/>
                            <a:sym typeface="Wingdings" pitchFamily="2" charset="2"/>
                          </a:rPr>
                        </m:ctrlPr>
                      </m:sSubPr>
                      <m:e>
                        <m:r>
                          <a:rPr lang="en-US" sz="1800" b="0" i="1" smtClean="0">
                            <a:latin typeface="Cambria Math" panose="02040503050406030204" pitchFamily="18" charset="0"/>
                            <a:sym typeface="Wingdings" pitchFamily="2" charset="2"/>
                          </a:rPr>
                          <m:t>𝑎𝑛𝑑</m:t>
                        </m:r>
                        <m:r>
                          <a:rPr lang="en-US" sz="1800" b="0" i="1" smtClean="0">
                            <a:latin typeface="Cambria Math" panose="02040503050406030204" pitchFamily="18" charset="0"/>
                            <a:sym typeface="Wingdings" pitchFamily="2" charset="2"/>
                          </a:rPr>
                          <m:t>    </m:t>
                        </m:r>
                        <m:r>
                          <a:rPr lang="en-PH" sz="1800" i="1">
                            <a:latin typeface="Cambria Math"/>
                            <a:sym typeface="Wingdings" pitchFamily="2" charset="2"/>
                          </a:rPr>
                          <m:t>𝑐</m:t>
                        </m:r>
                      </m:e>
                      <m:sub>
                        <m:r>
                          <a:rPr lang="en-PH" sz="1800" i="1">
                            <a:latin typeface="Cambria Math"/>
                            <a:sym typeface="Wingdings" pitchFamily="2" charset="2"/>
                          </a:rPr>
                          <m:t>2</m:t>
                        </m:r>
                      </m:sub>
                    </m:sSub>
                    <m:r>
                      <a:rPr lang="en-PH" sz="1800" i="1">
                        <a:latin typeface="Cambria Math"/>
                        <a:sym typeface="Wingdings" pitchFamily="2" charset="2"/>
                      </a:rPr>
                      <m:t>= −</m:t>
                    </m:r>
                    <m:r>
                      <a:rPr lang="en-PH" sz="1800" i="1">
                        <a:latin typeface="Cambria Math"/>
                        <a:sym typeface="Wingdings" pitchFamily="2" charset="2"/>
                      </a:rPr>
                      <m:t>𝑟</m:t>
                    </m:r>
                  </m:oMath>
                </a14:m>
                <a:endParaRPr lang="en-PH" sz="1800" i="1" dirty="0">
                  <a:latin typeface="Lucida Sans Unicode"/>
                  <a:cs typeface="Lucida Sans Unicode"/>
                </a:endParaRPr>
              </a:p>
              <a:p>
                <a:pPr marL="0" indent="0" algn="ctr">
                  <a:buNone/>
                </a:pPr>
                <a:endParaRPr lang="en-PH" sz="1800" i="1" dirty="0">
                  <a:latin typeface="Lucida Sans Unicode"/>
                  <a:cs typeface="Lucida Sans Unicode"/>
                </a:endParaRPr>
              </a:p>
              <a:p>
                <a:pPr marL="0" indent="0" algn="ctr">
                  <a:buNone/>
                </a:pPr>
                <a:r>
                  <a:rPr lang="en-PH" sz="1600" i="1" dirty="0">
                    <a:latin typeface="Lucida Sans Unicode"/>
                    <a:cs typeface="Lucida Sans Unicode"/>
                  </a:rPr>
                  <a:t>This means that the vectors has infinitely many  solution. </a:t>
                </a:r>
              </a:p>
              <a:p>
                <a:pPr marL="0" indent="0">
                  <a:buNone/>
                </a:pPr>
                <a:r>
                  <a:rPr lang="en-PH" sz="1600" i="1" dirty="0">
                    <a:latin typeface="Lucida Sans Unicode"/>
                    <a:cs typeface="Lucida Sans Unicode"/>
                  </a:rPr>
                  <a:t>A particular solution is when  r = -1 then  c</a:t>
                </a:r>
                <a:r>
                  <a:rPr lang="en-PH" sz="1600" i="1" baseline="-25000" dirty="0">
                    <a:latin typeface="Lucida Sans Unicode"/>
                    <a:cs typeface="Lucida Sans Unicode"/>
                  </a:rPr>
                  <a:t>1</a:t>
                </a:r>
                <a:r>
                  <a:rPr lang="en-PH" sz="1600" i="1" dirty="0">
                    <a:latin typeface="Lucida Sans Unicode"/>
                    <a:cs typeface="Lucida Sans Unicode"/>
                  </a:rPr>
                  <a:t>=1, c</a:t>
                </a:r>
                <a:r>
                  <a:rPr lang="en-PH" sz="1600" i="1" baseline="-25000" dirty="0">
                    <a:latin typeface="Lucida Sans Unicode"/>
                    <a:cs typeface="Lucida Sans Unicode"/>
                  </a:rPr>
                  <a:t>2</a:t>
                </a:r>
                <a:r>
                  <a:rPr lang="en-PH" sz="1600" i="1" dirty="0">
                    <a:latin typeface="Lucida Sans Unicode"/>
                    <a:cs typeface="Lucida Sans Unicode"/>
                  </a:rPr>
                  <a:t>=1 and c</a:t>
                </a:r>
                <a:r>
                  <a:rPr lang="en-PH" sz="1600" i="1" baseline="-25000" dirty="0">
                    <a:latin typeface="Lucida Sans Unicode"/>
                    <a:cs typeface="Lucida Sans Unicode"/>
                  </a:rPr>
                  <a:t>3</a:t>
                </a:r>
                <a:r>
                  <a:rPr lang="en-PH" sz="1600" i="1" dirty="0">
                    <a:latin typeface="Lucida Sans Unicode"/>
                    <a:cs typeface="Lucida Sans Unicode"/>
                  </a:rPr>
                  <a:t>=-1,  then we have the linear combination:     </a:t>
                </a:r>
                <a14:m>
                  <m:oMath xmlns:m="http://schemas.openxmlformats.org/officeDocument/2006/math">
                    <m:sSub>
                      <m:sSubPr>
                        <m:ctrlPr>
                          <a:rPr lang="en-PH" sz="1600" b="1" i="1" smtClean="0">
                            <a:latin typeface="Cambria Math" panose="02040503050406030204" pitchFamily="18" charset="0"/>
                            <a:cs typeface="Lucida Sans Unicode"/>
                          </a:rPr>
                        </m:ctrlPr>
                      </m:sSubPr>
                      <m:e>
                        <m:r>
                          <a:rPr lang="en-PH" sz="1600" b="1" i="0" smtClean="0">
                            <a:latin typeface="Cambria Math"/>
                            <a:cs typeface="Lucida Sans Unicode"/>
                          </a:rPr>
                          <m:t>𝐯</m:t>
                        </m:r>
                      </m:e>
                      <m:sub>
                        <m:r>
                          <a:rPr lang="en-PH" sz="1600" b="1" i="0" smtClean="0">
                            <a:latin typeface="Cambria Math"/>
                            <a:cs typeface="Lucida Sans Unicode"/>
                          </a:rPr>
                          <m:t>𝟏</m:t>
                        </m:r>
                      </m:sub>
                    </m:sSub>
                    <m:r>
                      <a:rPr lang="en-PH" sz="1600" b="1" i="0" smtClean="0">
                        <a:latin typeface="Cambria Math"/>
                        <a:cs typeface="Lucida Sans Unicode"/>
                      </a:rPr>
                      <m:t>+</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i="0" smtClean="0">
                            <a:latin typeface="Cambria Math"/>
                            <a:cs typeface="Lucida Sans Unicode"/>
                          </a:rPr>
                          <m:t>𝟐</m:t>
                        </m:r>
                      </m:sub>
                    </m:sSub>
                    <m:r>
                      <a:rPr lang="en-PH" sz="1600" b="1" i="1" smtClean="0">
                        <a:latin typeface="Cambria Math"/>
                        <a:cs typeface="Lucida Sans Unicode"/>
                      </a:rPr>
                      <m:t>−</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i="0" smtClean="0">
                            <a:latin typeface="Cambria Math"/>
                            <a:cs typeface="Lucida Sans Unicode"/>
                          </a:rPr>
                          <m:t>𝟑</m:t>
                        </m:r>
                      </m:sub>
                    </m:sSub>
                    <m:r>
                      <a:rPr lang="en-PH" sz="1600" b="1" i="1" smtClean="0">
                        <a:latin typeface="Cambria Math"/>
                        <a:cs typeface="Lucida Sans Unicode"/>
                      </a:rPr>
                      <m:t>=</m:t>
                    </m:r>
                    <m:r>
                      <a:rPr lang="en-PH" sz="1600" b="1" i="1" smtClean="0">
                        <a:latin typeface="Cambria Math"/>
                        <a:cs typeface="Lucida Sans Unicode"/>
                      </a:rPr>
                      <m:t>𝟎</m:t>
                    </m:r>
                  </m:oMath>
                </a14:m>
                <a:endParaRPr lang="en-PH" sz="1600" i="1" dirty="0">
                  <a:latin typeface="Lucida Sans Unicode"/>
                  <a:cs typeface="Lucida Sans Unicode"/>
                </a:endParaRPr>
              </a:p>
              <a:p>
                <a:pPr marL="0" indent="0">
                  <a:buNone/>
                </a:pPr>
                <a:endParaRPr lang="en-PH" sz="1600" i="1" dirty="0">
                  <a:latin typeface="Lucida Sans Unicode"/>
                  <a:cs typeface="Lucida Sans Unicode"/>
                </a:endParaRPr>
              </a:p>
              <a:p>
                <a:pPr marL="0" indent="0">
                  <a:buNone/>
                </a:pPr>
                <a:r>
                  <a:rPr lang="en-PH" sz="1600" i="1" dirty="0">
                    <a:latin typeface="Lucida Sans Unicode"/>
                    <a:cs typeface="Lucida Sans Unicode"/>
                  </a:rPr>
                  <a:t>When r= 2,  then c</a:t>
                </a:r>
                <a:r>
                  <a:rPr lang="en-PH" sz="1600" i="1" baseline="-25000" dirty="0">
                    <a:latin typeface="Lucida Sans Unicode"/>
                    <a:cs typeface="Lucida Sans Unicode"/>
                  </a:rPr>
                  <a:t>1</a:t>
                </a:r>
                <a:r>
                  <a:rPr lang="en-PH" sz="1600" i="1" dirty="0">
                    <a:latin typeface="Lucida Sans Unicode"/>
                    <a:cs typeface="Lucida Sans Unicode"/>
                  </a:rPr>
                  <a:t>= -2, c</a:t>
                </a:r>
                <a:r>
                  <a:rPr lang="en-PH" sz="1600" i="1" baseline="-25000" dirty="0">
                    <a:latin typeface="Lucida Sans Unicode"/>
                    <a:cs typeface="Lucida Sans Unicode"/>
                  </a:rPr>
                  <a:t>2</a:t>
                </a:r>
                <a:r>
                  <a:rPr lang="en-PH" sz="1600" i="1" dirty="0">
                    <a:latin typeface="Lucida Sans Unicode"/>
                    <a:cs typeface="Lucida Sans Unicode"/>
                  </a:rPr>
                  <a:t>=-2 and c</a:t>
                </a:r>
                <a:r>
                  <a:rPr lang="en-PH" sz="1600" i="1" baseline="-25000" dirty="0">
                    <a:latin typeface="Lucida Sans Unicode"/>
                    <a:cs typeface="Lucida Sans Unicode"/>
                  </a:rPr>
                  <a:t>3</a:t>
                </a:r>
                <a:r>
                  <a:rPr lang="en-PH" sz="1600" i="1" dirty="0">
                    <a:latin typeface="Lucida Sans Unicode"/>
                    <a:cs typeface="Lucida Sans Unicode"/>
                  </a:rPr>
                  <a:t>=2, hence we have, </a:t>
                </a:r>
                <a14:m>
                  <m:oMath xmlns:m="http://schemas.openxmlformats.org/officeDocument/2006/math">
                    <m:sSub>
                      <m:sSubPr>
                        <m:ctrlPr>
                          <a:rPr lang="en-PH" sz="1600" b="1" i="1">
                            <a:latin typeface="Cambria Math" panose="02040503050406030204" pitchFamily="18" charset="0"/>
                            <a:cs typeface="Lucida Sans Unicode"/>
                          </a:rPr>
                        </m:ctrlPr>
                      </m:sSubPr>
                      <m:e>
                        <m:r>
                          <a:rPr lang="en-PH" sz="1600" b="1" i="0" smtClean="0">
                            <a:latin typeface="Cambria Math"/>
                            <a:cs typeface="Lucida Sans Unicode"/>
                          </a:rPr>
                          <m:t>  −</m:t>
                        </m:r>
                        <m:r>
                          <a:rPr lang="en-PH" sz="1600" b="1" i="0" smtClean="0">
                            <a:latin typeface="Cambria Math"/>
                            <a:cs typeface="Lucida Sans Unicode"/>
                          </a:rPr>
                          <m:t>𝟐𝐯</m:t>
                        </m:r>
                      </m:e>
                      <m:sub>
                        <m:r>
                          <a:rPr lang="en-PH" sz="1600" b="1">
                            <a:latin typeface="Cambria Math"/>
                            <a:cs typeface="Lucida Sans Unicode"/>
                          </a:rPr>
                          <m:t>𝟏</m:t>
                        </m:r>
                      </m:sub>
                    </m:sSub>
                    <m:r>
                      <a:rPr lang="en-PH" sz="1600" b="1" i="1" smtClean="0">
                        <a:latin typeface="Cambria Math"/>
                        <a:cs typeface="Lucida Sans Unicode"/>
                      </a:rPr>
                      <m:t>−</m:t>
                    </m:r>
                    <m:r>
                      <a:rPr lang="en-PH" sz="1600" b="1" i="1" smtClean="0">
                        <a:latin typeface="Cambria Math"/>
                        <a:cs typeface="Lucida Sans Unicode"/>
                      </a:rPr>
                      <m:t>𝟐</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a:latin typeface="Cambria Math"/>
                            <a:cs typeface="Lucida Sans Unicode"/>
                          </a:rPr>
                          <m:t>𝟐</m:t>
                        </m:r>
                      </m:sub>
                    </m:sSub>
                    <m:r>
                      <a:rPr lang="en-PH" sz="1600" b="1" i="1" smtClean="0">
                        <a:latin typeface="Cambria Math"/>
                        <a:cs typeface="Lucida Sans Unicode"/>
                      </a:rPr>
                      <m:t>+</m:t>
                    </m:r>
                    <m:r>
                      <a:rPr lang="en-PH" sz="1600" b="1" i="1" smtClean="0">
                        <a:latin typeface="Cambria Math"/>
                        <a:cs typeface="Lucida Sans Unicode"/>
                      </a:rPr>
                      <m:t>𝟐</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a:latin typeface="Cambria Math"/>
                            <a:cs typeface="Lucida Sans Unicode"/>
                          </a:rPr>
                          <m:t>𝟑</m:t>
                        </m:r>
                      </m:sub>
                    </m:sSub>
                    <m:r>
                      <a:rPr lang="en-PH" sz="1600" b="1" i="1">
                        <a:latin typeface="Cambria Math"/>
                        <a:cs typeface="Lucida Sans Unicode"/>
                      </a:rPr>
                      <m:t>=</m:t>
                    </m:r>
                    <m:r>
                      <a:rPr lang="en-PH" sz="1600" b="1" i="1">
                        <a:latin typeface="Cambria Math"/>
                        <a:cs typeface="Lucida Sans Unicode"/>
                      </a:rPr>
                      <m:t>𝟎</m:t>
                    </m:r>
                  </m:oMath>
                </a14:m>
                <a:endParaRPr lang="en-PH" sz="1600" i="1" dirty="0">
                  <a:latin typeface="Lucida Sans Unicode"/>
                  <a:cs typeface="Lucida Sans Unicode"/>
                </a:endParaRPr>
              </a:p>
              <a:p>
                <a:pPr marL="0" indent="0">
                  <a:buNone/>
                </a:pPr>
                <a:r>
                  <a:rPr lang="en-PH" sz="1600" i="1" dirty="0">
                    <a:latin typeface="Lucida Sans Unicode"/>
                    <a:cs typeface="Lucida Sans Unicode"/>
                  </a:rPr>
                  <a:t> </a:t>
                </a:r>
              </a:p>
              <a:p>
                <a:pPr marL="0" indent="0">
                  <a:buNone/>
                </a:pPr>
                <a:r>
                  <a:rPr lang="en-PH" sz="1600" i="1" dirty="0">
                    <a:solidFill>
                      <a:srgbClr val="0070C0"/>
                    </a:solidFill>
                    <a:latin typeface="Lucida Sans Unicode"/>
                    <a:cs typeface="Lucida Sans Unicode"/>
                  </a:rPr>
                  <a:t>Therefore the vector is linearly dependent.</a:t>
                </a:r>
              </a:p>
              <a:p>
                <a:pPr marL="0" indent="0">
                  <a:buNone/>
                </a:pPr>
                <a:endParaRPr lang="en-PH" sz="1600" i="1" dirty="0">
                  <a:solidFill>
                    <a:srgbClr val="0070C0"/>
                  </a:solidFill>
                  <a:latin typeface="Lucida Sans Unicode"/>
                  <a:cs typeface="Lucida Sans Unicode"/>
                </a:endParaRPr>
              </a:p>
              <a:p>
                <a:pPr marL="0" indent="0">
                  <a:buNone/>
                </a:pPr>
                <a:r>
                  <a:rPr lang="en-PH" sz="1600" i="1" dirty="0">
                    <a:latin typeface="Lucida Sans Unicode"/>
                    <a:cs typeface="Lucida Sans Unicode"/>
                  </a:rPr>
                  <a:t>(Note: If we would observed  the given vectors,  we say that :   </a:t>
                </a:r>
                <a14:m>
                  <m:oMath xmlns:m="http://schemas.openxmlformats.org/officeDocument/2006/math">
                    <m:sSub>
                      <m:sSubPr>
                        <m:ctrlPr>
                          <a:rPr lang="en-PH" sz="1600" b="1" i="1">
                            <a:latin typeface="Cambria Math" panose="02040503050406030204" pitchFamily="18" charset="0"/>
                            <a:cs typeface="Lucida Sans Unicode"/>
                          </a:rPr>
                        </m:ctrlPr>
                      </m:sSubPr>
                      <m:e>
                        <m:r>
                          <a:rPr lang="en-PH" sz="1600" b="1" i="0" smtClean="0">
                            <a:latin typeface="Cambria Math"/>
                            <a:cs typeface="Lucida Sans Unicode"/>
                          </a:rPr>
                          <m:t> </m:t>
                        </m:r>
                        <m:r>
                          <a:rPr lang="en-PH" sz="1600" b="1">
                            <a:latin typeface="Cambria Math"/>
                            <a:cs typeface="Lucida Sans Unicode"/>
                          </a:rPr>
                          <m:t>𝐯</m:t>
                        </m:r>
                      </m:e>
                      <m:sub>
                        <m:r>
                          <a:rPr lang="en-PH" sz="1600" b="1">
                            <a:latin typeface="Cambria Math"/>
                            <a:cs typeface="Lucida Sans Unicode"/>
                          </a:rPr>
                          <m:t>𝟏</m:t>
                        </m:r>
                      </m:sub>
                    </m:sSub>
                    <m:r>
                      <a:rPr lang="en-PH" sz="1600" b="1">
                        <a:latin typeface="Cambria Math"/>
                        <a:cs typeface="Lucida Sans Unicode"/>
                      </a:rPr>
                      <m:t>+</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a:latin typeface="Cambria Math"/>
                            <a:cs typeface="Lucida Sans Unicode"/>
                          </a:rPr>
                          <m:t>𝟐</m:t>
                        </m:r>
                      </m:sub>
                    </m:sSub>
                    <m:r>
                      <a:rPr lang="en-PH" sz="1600" b="1" i="1" smtClean="0">
                        <a:latin typeface="Cambria Math"/>
                        <a:cs typeface="Lucida Sans Unicode"/>
                      </a:rPr>
                      <m:t>=</m:t>
                    </m:r>
                    <m:sSub>
                      <m:sSubPr>
                        <m:ctrlPr>
                          <a:rPr lang="en-PH" sz="1600" b="1" i="1">
                            <a:latin typeface="Cambria Math" panose="02040503050406030204" pitchFamily="18" charset="0"/>
                            <a:cs typeface="Lucida Sans Unicode"/>
                          </a:rPr>
                        </m:ctrlPr>
                      </m:sSubPr>
                      <m:e>
                        <m:r>
                          <a:rPr lang="en-PH" sz="1600" b="1">
                            <a:latin typeface="Cambria Math"/>
                            <a:cs typeface="Lucida Sans Unicode"/>
                          </a:rPr>
                          <m:t>𝐯</m:t>
                        </m:r>
                      </m:e>
                      <m:sub>
                        <m:r>
                          <a:rPr lang="en-PH" sz="1600" b="1">
                            <a:latin typeface="Cambria Math"/>
                            <a:cs typeface="Lucida Sans Unicode"/>
                          </a:rPr>
                          <m:t>𝟑</m:t>
                        </m:r>
                      </m:sub>
                    </m:sSub>
                  </m:oMath>
                </a14:m>
                <a:r>
                  <a:rPr lang="en-PH" sz="1400" i="1"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371600"/>
                <a:ext cx="8458200" cy="5105400"/>
              </a:xfrm>
              <a:blipFill>
                <a:blip r:embed="rId2"/>
                <a:stretch>
                  <a:fillRect l="-360" t="-358" r="-1009"/>
                </a:stretch>
              </a:blipFill>
            </p:spPr>
            <p:txBody>
              <a:bodyPr/>
              <a:lstStyle/>
              <a:p>
                <a:r>
                  <a:rPr lang="en-US">
                    <a:noFill/>
                  </a:rPr>
                  <a:t> </a:t>
                </a:r>
              </a:p>
            </p:txBody>
          </p:sp>
        </mc:Fallback>
      </mc:AlternateContent>
    </p:spTree>
    <p:extLst>
      <p:ext uri="{BB962C8B-B14F-4D97-AF65-F5344CB8AC3E}">
        <p14:creationId xmlns:p14="http://schemas.microsoft.com/office/powerpoint/2010/main" val="32799795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BCB5-5785-45A3-BB36-BBD820C84604}"/>
              </a:ext>
            </a:extLst>
          </p:cNvPr>
          <p:cNvSpPr>
            <a:spLocks noGrp="1"/>
          </p:cNvSpPr>
          <p:nvPr>
            <p:ph type="title"/>
          </p:nvPr>
        </p:nvSpPr>
        <p:spPr/>
        <p:txBody>
          <a:bodyPr/>
          <a:lstStyle/>
          <a:p>
            <a:r>
              <a:rPr lang="en-US" dirty="0"/>
              <a:t>Try This!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1867A-A411-4DF2-8216-0087D96BD762}"/>
                  </a:ext>
                </a:extLst>
              </p:cNvPr>
              <p:cNvSpPr>
                <a:spLocks noGrp="1"/>
              </p:cNvSpPr>
              <p:nvPr>
                <p:ph idx="1"/>
              </p:nvPr>
            </p:nvSpPr>
            <p:spPr>
              <a:xfrm>
                <a:off x="457200" y="1371600"/>
                <a:ext cx="8229600" cy="5105400"/>
              </a:xfrm>
            </p:spPr>
            <p:txBody>
              <a:bodyPr>
                <a:normAutofit/>
              </a:bodyPr>
              <a:lstStyle/>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Determine whether the vectors </a:t>
                </a:r>
                <a14:m>
                  <m:oMath xmlns:m="http://schemas.openxmlformats.org/officeDocument/2006/math">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−5</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PH" sz="2000" dirty="0">
                    <a:effectLst/>
                    <a:latin typeface="Calibri" panose="020F0502020204030204" pitchFamily="34" charset="0"/>
                    <a:ea typeface="Times New Roman" panose="02020603050405020304" pitchFamily="18" charset="0"/>
                    <a:cs typeface="Times New Roman" panose="02020603050405020304" pitchFamily="18" charset="0"/>
                  </a:rPr>
                  <a:t>are linearly dependent or linearly independent.</a:t>
                </a:r>
              </a:p>
              <a:p>
                <a:pPr marL="0" indent="0">
                  <a:buNone/>
                </a:pPr>
                <a:endParaRPr lang="en-PH"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Solution:</a:t>
                </a:r>
              </a:p>
              <a:p>
                <a:pPr marL="0" indent="0">
                  <a:buNone/>
                </a:pPr>
                <a14:m>
                  <m:oMath xmlns:m="http://schemas.openxmlformats.org/officeDocument/2006/math">
                    <m:d>
                      <m:dPr>
                        <m:begChr m:val="["/>
                        <m:endChr m:val="]"/>
                        <m:ctrlPr>
                          <a:rPr lang="en-US" sz="2000" i="1" smtClean="0">
                            <a:effectLst/>
                            <a:latin typeface="Cambria Math" panose="02040503050406030204" pitchFamily="18" charset="0"/>
                            <a:cs typeface="Times New Roman" panose="02020603050405020304" pitchFamily="18" charset="0"/>
                          </a:rPr>
                        </m:ctrlPr>
                      </m:dPr>
                      <m:e>
                        <m:m>
                          <m:mPr>
                            <m:mcs>
                              <m:mc>
                                <m:mcPr>
                                  <m:count m:val="3"/>
                                  <m:mcJc m:val="center"/>
                                </m:mcPr>
                              </m:mc>
                            </m:mcs>
                            <m:ctrlPr>
                              <a:rPr lang="en-US" sz="2000" i="1" smtClean="0">
                                <a:effectLst/>
                                <a:latin typeface="Cambria Math" panose="02040503050406030204" pitchFamily="18" charset="0"/>
                                <a:cs typeface="Times New Roman" panose="02020603050405020304" pitchFamily="18" charset="0"/>
                              </a:rPr>
                            </m:ctrlPr>
                          </m:mPr>
                          <m:mr>
                            <m:e>
                              <m:r>
                                <m:rPr>
                                  <m:brk m:alnAt="7"/>
                                </m:rP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2</m:t>
                              </m:r>
                            </m:e>
                            <m:e>
                              <m:r>
                                <a:rPr lang="en-US" sz="2000" b="0" i="1" smtClean="0">
                                  <a:effectLst/>
                                  <a:latin typeface="Cambria Math" panose="02040503050406030204" pitchFamily="18" charset="0"/>
                                  <a:cs typeface="Times New Roman" panose="02020603050405020304" pitchFamily="18" charset="0"/>
                                </a:rPr>
                                <m:t>1</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−5</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3</m:t>
                              </m:r>
                            </m:e>
                            <m:e>
                              <m:r>
                                <a:rPr lang="en-US" sz="2000" b="0" i="1" smtClean="0">
                                  <a:effectLst/>
                                  <a:latin typeface="Cambria Math" panose="02040503050406030204" pitchFamily="18" charset="0"/>
                                  <a:cs typeface="Times New Roman" panose="02020603050405020304" pitchFamily="18" charset="0"/>
                                </a:rPr>
                                <m:t>3</m:t>
                              </m:r>
                            </m:e>
                          </m:mr>
                        </m:m>
                      </m:e>
                    </m:d>
                    <m:r>
                      <a:rPr lang="en-US" sz="2000" b="0" i="1" smtClean="0">
                        <a:effectLst/>
                        <a:latin typeface="Cambria Math" panose="02040503050406030204" pitchFamily="18" charset="0"/>
                        <a:cs typeface="Times New Roman" panose="02020603050405020304" pitchFamily="18" charset="0"/>
                      </a:rPr>
                      <m:t> </m:t>
                    </m:r>
                    <m:m>
                      <m:mPr>
                        <m:mcs>
                          <m:mc>
                            <m:mcPr>
                              <m:count m:val="2"/>
                              <m:mcJc m:val="center"/>
                            </m:mcPr>
                          </m:mc>
                        </m:mcs>
                        <m:ctrlPr>
                          <a:rPr lang="en-US" sz="2000" b="0" i="1" smtClean="0">
                            <a:effectLst/>
                            <a:latin typeface="Cambria Math" panose="02040503050406030204" pitchFamily="18" charset="0"/>
                            <a:cs typeface="Times New Roman" panose="02020603050405020304" pitchFamily="18" charset="0"/>
                          </a:rPr>
                        </m:ctrlPr>
                      </m:mPr>
                      <m:mr>
                        <m:e>
                          <m:r>
                            <m:rPr>
                              <m:brk m:alnAt="7"/>
                            </m:rP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2</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−1</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3</m:t>
                          </m:r>
                        </m:e>
                      </m:mr>
                    </m:m>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 [-3 + (-10)+ 3] – [-1 + (-15) +6] = -10 +10 = 0 </a:t>
                </a:r>
              </a:p>
              <a:p>
                <a:pPr marL="0" indent="0">
                  <a:buNone/>
                </a:pPr>
                <a:r>
                  <a:rPr lang="en-US" sz="2800" dirty="0"/>
                  <a:t> The determinant is zero, then the set of vectors are linearly dependent.</a:t>
                </a:r>
              </a:p>
            </p:txBody>
          </p:sp>
        </mc:Choice>
        <mc:Fallback xmlns="">
          <p:sp>
            <p:nvSpPr>
              <p:cNvPr id="3" name="Content Placeholder 2">
                <a:extLst>
                  <a:ext uri="{FF2B5EF4-FFF2-40B4-BE49-F238E27FC236}">
                    <a16:creationId xmlns:a16="http://schemas.microsoft.com/office/drawing/2014/main" id="{25E1867A-A411-4DF2-8216-0087D96BD762}"/>
                  </a:ext>
                </a:extLst>
              </p:cNvPr>
              <p:cNvSpPr>
                <a:spLocks noGrp="1" noRot="1" noChangeAspect="1" noMove="1" noResize="1" noEditPoints="1" noAdjustHandles="1" noChangeArrowheads="1" noChangeShapeType="1" noTextEdit="1"/>
              </p:cNvSpPr>
              <p:nvPr>
                <p:ph idx="1"/>
              </p:nvPr>
            </p:nvSpPr>
            <p:spPr>
              <a:xfrm>
                <a:off x="457200" y="1371600"/>
                <a:ext cx="8229600" cy="5105400"/>
              </a:xfrm>
              <a:blipFill>
                <a:blip r:embed="rId2"/>
                <a:stretch>
                  <a:fillRect l="-1481"/>
                </a:stretch>
              </a:blipFill>
            </p:spPr>
            <p:txBody>
              <a:bodyPr/>
              <a:lstStyle/>
              <a:p>
                <a:r>
                  <a:rPr lang="en-US">
                    <a:noFill/>
                  </a:rPr>
                  <a:t> </a:t>
                </a:r>
              </a:p>
            </p:txBody>
          </p:sp>
        </mc:Fallback>
      </mc:AlternateContent>
    </p:spTree>
    <p:extLst>
      <p:ext uri="{BB962C8B-B14F-4D97-AF65-F5344CB8AC3E}">
        <p14:creationId xmlns:p14="http://schemas.microsoft.com/office/powerpoint/2010/main" val="8506938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BCB5-5785-45A3-BB36-BBD820C84604}"/>
              </a:ext>
            </a:extLst>
          </p:cNvPr>
          <p:cNvSpPr>
            <a:spLocks noGrp="1"/>
          </p:cNvSpPr>
          <p:nvPr>
            <p:ph type="title"/>
          </p:nvPr>
        </p:nvSpPr>
        <p:spPr/>
        <p:txBody>
          <a:bodyPr/>
          <a:lstStyle/>
          <a:p>
            <a:r>
              <a:rPr lang="en-US" dirty="0"/>
              <a:t>Try This!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1867A-A411-4DF2-8216-0087D96BD762}"/>
                  </a:ext>
                </a:extLst>
              </p:cNvPr>
              <p:cNvSpPr>
                <a:spLocks noGrp="1"/>
              </p:cNvSpPr>
              <p:nvPr>
                <p:ph idx="1"/>
              </p:nvPr>
            </p:nvSpPr>
            <p:spPr>
              <a:xfrm>
                <a:off x="457200" y="1371600"/>
                <a:ext cx="8534400" cy="5105400"/>
              </a:xfrm>
            </p:spPr>
            <p:txBody>
              <a:bodyPr>
                <a:normAutofit fontScale="92500" lnSpcReduction="10000"/>
              </a:bodyPr>
              <a:lstStyle/>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Determine whether the vectors </a:t>
                </a:r>
                <a14:m>
                  <m:oMath xmlns:m="http://schemas.openxmlformats.org/officeDocument/2006/math">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−5</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PH" sz="2000" dirty="0">
                    <a:effectLst/>
                    <a:latin typeface="Calibri" panose="020F0502020204030204" pitchFamily="34" charset="0"/>
                    <a:ea typeface="Times New Roman" panose="02020603050405020304" pitchFamily="18" charset="0"/>
                    <a:cs typeface="Times New Roman" panose="02020603050405020304" pitchFamily="18" charset="0"/>
                  </a:rPr>
                  <a:t>are linearly dependent or linearly independent.</a:t>
                </a:r>
              </a:p>
              <a:p>
                <a:pPr marL="0" indent="0">
                  <a:buNone/>
                </a:pPr>
                <a:endParaRPr lang="en-PH"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Solution:   </a:t>
                </a:r>
                <a14:m>
                  <m:oMath xmlns:m="http://schemas.openxmlformats.org/officeDocument/2006/math">
                    <m:sSub>
                      <m:sSubPr>
                        <m:ctrlPr>
                          <a:rPr lang="en-PH" sz="2000" i="1" smtClean="0">
                            <a:effectLst/>
                            <a:latin typeface="Cambria Math" panose="02040503050406030204" pitchFamily="18" charset="0"/>
                            <a:cs typeface="Times New Roman" panose="02020603050405020304" pitchFamily="18" charset="0"/>
                          </a:rPr>
                        </m:ctrlPr>
                      </m:sSubPr>
                      <m:e>
                        <m:r>
                          <a:rPr lang="en-US" sz="2000" b="0" i="1" smtClean="0">
                            <a:effectLst/>
                            <a:latin typeface="Cambria Math" panose="02040503050406030204" pitchFamily="18" charset="0"/>
                            <a:cs typeface="Times New Roman" panose="02020603050405020304" pitchFamily="18" charset="0"/>
                          </a:rPr>
                          <m:t>𝑐</m:t>
                        </m:r>
                      </m:e>
                      <m:sub>
                        <m:r>
                          <a:rPr lang="en-US" sz="2000" b="0" i="1" smtClean="0">
                            <a:effectLst/>
                            <a:latin typeface="Cambria Math" panose="02040503050406030204" pitchFamily="18" charset="0"/>
                            <a:cs typeface="Times New Roman" panose="02020603050405020304" pitchFamily="18" charset="0"/>
                          </a:rPr>
                          <m:t>1</m:t>
                        </m:r>
                      </m:sub>
                    </m:sSub>
                    <m:sSub>
                      <m:sSubPr>
                        <m:ctrlPr>
                          <a:rPr lang="en-PH" sz="2000" b="1" i="1" smtClean="0">
                            <a:effectLst/>
                            <a:latin typeface="Cambria Math" panose="02040503050406030204" pitchFamily="18" charset="0"/>
                            <a:cs typeface="Times New Roman" panose="02020603050405020304" pitchFamily="18" charset="0"/>
                          </a:rPr>
                        </m:ctrlPr>
                      </m:sSubPr>
                      <m:e>
                        <m:r>
                          <a:rPr lang="en-US" sz="2000" b="1" i="0" smtClean="0">
                            <a:effectLst/>
                            <a:latin typeface="Cambria Math" panose="02040503050406030204" pitchFamily="18" charset="0"/>
                            <a:cs typeface="Times New Roman" panose="02020603050405020304" pitchFamily="18" charset="0"/>
                          </a:rPr>
                          <m:t>𝐯</m:t>
                        </m:r>
                      </m:e>
                      <m:sub>
                        <m:r>
                          <a:rPr lang="en-US" sz="2000" b="1" i="0" smtClean="0">
                            <a:effectLst/>
                            <a:latin typeface="Cambria Math" panose="02040503050406030204" pitchFamily="18" charset="0"/>
                            <a:cs typeface="Times New Roman" panose="02020603050405020304" pitchFamily="18" charset="0"/>
                          </a:rPr>
                          <m:t>𝟏</m:t>
                        </m:r>
                      </m:sub>
                    </m:sSub>
                  </m:oMath>
                </a14:m>
                <a:r>
                  <a:rPr lang="en-PH" sz="2000"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PH"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𝑐</m:t>
                        </m:r>
                      </m:e>
                      <m:sub>
                        <m:r>
                          <a:rPr lang="en-US" sz="2000" b="0" i="1" smtClean="0">
                            <a:latin typeface="Cambria Math" panose="02040503050406030204" pitchFamily="18" charset="0"/>
                            <a:cs typeface="Times New Roman" panose="02020603050405020304" pitchFamily="18" charset="0"/>
                          </a:rPr>
                          <m:t>2</m:t>
                        </m:r>
                      </m:sub>
                    </m:sSub>
                    <m:sSub>
                      <m:sSubPr>
                        <m:ctrlPr>
                          <a:rPr lang="en-PH" sz="2000" b="1" i="1">
                            <a:latin typeface="Cambria Math" panose="02040503050406030204" pitchFamily="18" charset="0"/>
                            <a:cs typeface="Times New Roman" panose="02020603050405020304" pitchFamily="18" charset="0"/>
                          </a:rPr>
                        </m:ctrlPr>
                      </m:sSubPr>
                      <m:e>
                        <m:r>
                          <a:rPr lang="en-US" sz="2000" b="1">
                            <a:latin typeface="Cambria Math" panose="02040503050406030204" pitchFamily="18" charset="0"/>
                            <a:cs typeface="Times New Roman" panose="02020603050405020304" pitchFamily="18" charset="0"/>
                          </a:rPr>
                          <m:t>𝐯</m:t>
                        </m:r>
                      </m:e>
                      <m:sub>
                        <m:r>
                          <a:rPr lang="en-US" sz="2000" b="1" i="0" smtClean="0">
                            <a:latin typeface="Cambria Math" panose="02040503050406030204" pitchFamily="18" charset="0"/>
                            <a:cs typeface="Times New Roman" panose="02020603050405020304" pitchFamily="18" charset="0"/>
                          </a:rPr>
                          <m:t>𝟐</m:t>
                        </m:r>
                      </m:sub>
                    </m:sSub>
                    <m:r>
                      <a:rPr lang="en-US" sz="2000" b="1" i="1" smtClean="0">
                        <a:latin typeface="Cambria Math" panose="02040503050406030204" pitchFamily="18" charset="0"/>
                        <a:cs typeface="Times New Roman" panose="02020603050405020304" pitchFamily="18" charset="0"/>
                      </a:rPr>
                      <m:t>+</m:t>
                    </m:r>
                    <m:sSub>
                      <m:sSubPr>
                        <m:ctrlPr>
                          <a:rPr lang="en-PH" sz="2000" i="1">
                            <a:latin typeface="Cambria Math" panose="02040503050406030204" pitchFamily="18" charset="0"/>
                            <a:cs typeface="Times New Roman" panose="02020603050405020304" pitchFamily="18" charset="0"/>
                          </a:rPr>
                        </m:ctrlPr>
                      </m:sSubPr>
                      <m:e>
                        <m:r>
                          <a:rPr lang="en-US" sz="2000" i="1">
                            <a:latin typeface="Cambria Math" panose="02040503050406030204" pitchFamily="18" charset="0"/>
                            <a:cs typeface="Times New Roman" panose="02020603050405020304" pitchFamily="18" charset="0"/>
                          </a:rPr>
                          <m:t>𝑐</m:t>
                        </m:r>
                      </m:e>
                      <m:sub>
                        <m:r>
                          <a:rPr lang="en-US" sz="2000" b="0" i="1" smtClean="0">
                            <a:latin typeface="Cambria Math" panose="02040503050406030204" pitchFamily="18" charset="0"/>
                            <a:cs typeface="Times New Roman" panose="02020603050405020304" pitchFamily="18" charset="0"/>
                          </a:rPr>
                          <m:t>3</m:t>
                        </m:r>
                      </m:sub>
                    </m:sSub>
                    <m:sSub>
                      <m:sSubPr>
                        <m:ctrlPr>
                          <a:rPr lang="en-PH" sz="2000" b="1" i="1">
                            <a:latin typeface="Cambria Math" panose="02040503050406030204" pitchFamily="18" charset="0"/>
                            <a:cs typeface="Times New Roman" panose="02020603050405020304" pitchFamily="18" charset="0"/>
                          </a:rPr>
                        </m:ctrlPr>
                      </m:sSubPr>
                      <m:e>
                        <m:r>
                          <a:rPr lang="en-US" sz="2000" b="1">
                            <a:latin typeface="Cambria Math" panose="02040503050406030204" pitchFamily="18" charset="0"/>
                            <a:cs typeface="Times New Roman" panose="02020603050405020304" pitchFamily="18" charset="0"/>
                          </a:rPr>
                          <m:t>𝐯</m:t>
                        </m:r>
                      </m:e>
                      <m:sub>
                        <m:r>
                          <a:rPr lang="en-US" sz="2000" b="1" i="0" smtClean="0">
                            <a:latin typeface="Cambria Math" panose="02040503050406030204" pitchFamily="18" charset="0"/>
                            <a:cs typeface="Times New Roman" panose="02020603050405020304" pitchFamily="18" charset="0"/>
                          </a:rPr>
                          <m:t>𝟑</m:t>
                        </m:r>
                      </m:sub>
                    </m:sSub>
                    <m:r>
                      <a:rPr lang="en-US" sz="2000" b="1" i="1" smtClean="0">
                        <a:latin typeface="Cambria Math" panose="02040503050406030204" pitchFamily="18" charset="0"/>
                        <a:cs typeface="Times New Roman" panose="02020603050405020304" pitchFamily="18" charset="0"/>
                      </a:rPr>
                      <m:t>=</m:t>
                    </m:r>
                    <m:r>
                      <a:rPr lang="en-US" sz="2000" b="1" i="1" smtClean="0">
                        <a:latin typeface="Cambria Math" panose="02040503050406030204" pitchFamily="18" charset="0"/>
                        <a:cs typeface="Times New Roman" panose="02020603050405020304" pitchFamily="18" charset="0"/>
                      </a:rPr>
                      <m:t>𝟎</m:t>
                    </m:r>
                  </m:oMath>
                </a14:m>
                <a:endParaRPr lang="en-PH" sz="20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14:m>
                  <m:oMath xmlns:m="http://schemas.openxmlformats.org/officeDocument/2006/math">
                    <m:d>
                      <m:dPr>
                        <m:begChr m:val="["/>
                        <m:endChr m:val="]"/>
                        <m:ctrlPr>
                          <a:rPr lang="en-US" sz="2000" i="1" smtClean="0">
                            <a:effectLst/>
                            <a:latin typeface="Cambria Math" panose="02040503050406030204" pitchFamily="18" charset="0"/>
                            <a:cs typeface="Times New Roman" panose="02020603050405020304" pitchFamily="18" charset="0"/>
                          </a:rPr>
                        </m:ctrlPr>
                      </m:dPr>
                      <m:e>
                        <m:m>
                          <m:mPr>
                            <m:mcs>
                              <m:mc>
                                <m:mcPr>
                                  <m:count m:val="3"/>
                                  <m:mcJc m:val="center"/>
                                </m:mcPr>
                              </m:mc>
                            </m:mcs>
                            <m:ctrlPr>
                              <a:rPr lang="en-US" sz="2000" i="1" smtClean="0">
                                <a:effectLst/>
                                <a:latin typeface="Cambria Math" panose="02040503050406030204" pitchFamily="18" charset="0"/>
                                <a:cs typeface="Times New Roman" panose="02020603050405020304" pitchFamily="18" charset="0"/>
                              </a:rPr>
                            </m:ctrlPr>
                          </m:mPr>
                          <m:mr>
                            <m:e>
                              <m:r>
                                <m:rPr>
                                  <m:brk m:alnAt="7"/>
                                </m:rP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2</m:t>
                              </m:r>
                            </m:e>
                            <m:e>
                              <m:r>
                                <a:rPr lang="en-US" sz="2000" b="0" i="1" smtClean="0">
                                  <a:effectLst/>
                                  <a:latin typeface="Cambria Math" panose="02040503050406030204" pitchFamily="18" charset="0"/>
                                  <a:cs typeface="Times New Roman" panose="02020603050405020304" pitchFamily="18" charset="0"/>
                                </a:rPr>
                                <m:t>1</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−5</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3</m:t>
                              </m:r>
                            </m:e>
                            <m:e>
                              <m:r>
                                <a:rPr lang="en-US" sz="2000" b="0" i="1" smtClean="0">
                                  <a:effectLst/>
                                  <a:latin typeface="Cambria Math" panose="02040503050406030204" pitchFamily="18" charset="0"/>
                                  <a:cs typeface="Times New Roman" panose="02020603050405020304" pitchFamily="18" charset="0"/>
                                </a:rPr>
                                <m:t>3</m:t>
                              </m:r>
                            </m:e>
                          </m:mr>
                        </m:m>
                      </m:e>
                    </m:d>
                    <m:r>
                      <a:rPr lang="en-US" sz="2000" i="1"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US" sz="2000" dirty="0">
                    <a:cs typeface="Times New Roman" panose="02020603050405020304" pitchFamily="18" charset="0"/>
                  </a:rPr>
                  <a:t> </a:t>
                </a:r>
                <a14:m>
                  <m:oMath xmlns:m="http://schemas.openxmlformats.org/officeDocument/2006/math">
                    <m:d>
                      <m:dPr>
                        <m:begChr m:val="["/>
                        <m:endChr m:val="]"/>
                        <m:ctrlPr>
                          <a:rPr lang="en-US" sz="2000" i="1">
                            <a:latin typeface="Cambria Math" panose="02040503050406030204" pitchFamily="18" charset="0"/>
                            <a:cs typeface="Times New Roman" panose="02020603050405020304" pitchFamily="18" charset="0"/>
                          </a:rPr>
                        </m:ctrlPr>
                      </m:dPr>
                      <m:e>
                        <m:m>
                          <m:mPr>
                            <m:mcs>
                              <m:mc>
                                <m:mcPr>
                                  <m:count m:val="3"/>
                                  <m:mcJc m:val="center"/>
                                </m:mcPr>
                              </m:mc>
                            </m:mcs>
                            <m:ctrlPr>
                              <a:rPr lang="en-US" sz="2000" i="1">
                                <a:latin typeface="Cambria Math" panose="02040503050406030204" pitchFamily="18" charset="0"/>
                                <a:cs typeface="Times New Roman" panose="02020603050405020304" pitchFamily="18" charset="0"/>
                              </a:rPr>
                            </m:ctrlPr>
                          </m:mPr>
                          <m:mr>
                            <m:e>
                              <m:r>
                                <m:rPr>
                                  <m:brk m:alnAt="7"/>
                                </m:rPr>
                                <a:rPr lang="en-US" sz="2000" i="1">
                                  <a:latin typeface="Cambria Math" panose="02040503050406030204" pitchFamily="18" charset="0"/>
                                  <a:cs typeface="Times New Roman" panose="02020603050405020304" pitchFamily="18" charset="0"/>
                                </a:rPr>
                                <m:t>1</m:t>
                              </m:r>
                            </m:e>
                            <m:e>
                              <m:r>
                                <a:rPr lang="en-US" sz="2000" i="1">
                                  <a:latin typeface="Cambria Math" panose="02040503050406030204" pitchFamily="18" charset="0"/>
                                  <a:cs typeface="Times New Roman" panose="02020603050405020304" pitchFamily="18" charset="0"/>
                                </a:rPr>
                                <m:t>2</m:t>
                              </m:r>
                            </m:e>
                            <m:e>
                              <m:r>
                                <a:rPr lang="en-US" sz="2000" i="1">
                                  <a:latin typeface="Cambria Math" panose="02040503050406030204" pitchFamily="18" charset="0"/>
                                  <a:cs typeface="Times New Roman" panose="02020603050405020304" pitchFamily="18" charset="0"/>
                                </a:rPr>
                                <m:t>1</m:t>
                              </m:r>
                            </m:e>
                          </m:mr>
                          <m:mr>
                            <m:e>
                              <m:r>
                                <a:rPr lang="en-US" sz="2000" b="0" i="1" smtClean="0">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−3</m:t>
                              </m:r>
                            </m:e>
                            <m:e>
                              <m:r>
                                <a:rPr lang="en-US" sz="2000" b="0" i="1" smtClean="0">
                                  <a:latin typeface="Cambria Math" panose="02040503050406030204" pitchFamily="18" charset="0"/>
                                  <a:cs typeface="Times New Roman" panose="02020603050405020304" pitchFamily="18" charset="0"/>
                                </a:rPr>
                                <m:t>−6</m:t>
                              </m:r>
                            </m:e>
                          </m:mr>
                          <m:mr>
                            <m:e>
                              <m:r>
                                <a:rPr lang="en-US" sz="2000" b="0" i="1" smtClean="0">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1</m:t>
                              </m:r>
                            </m:e>
                            <m:e>
                              <m:r>
                                <a:rPr lang="en-US" sz="2000" b="0" i="1" smtClean="0">
                                  <a:latin typeface="Cambria Math" panose="02040503050406030204" pitchFamily="18" charset="0"/>
                                  <a:cs typeface="Times New Roman" panose="02020603050405020304" pitchFamily="18" charset="0"/>
                                </a:rPr>
                                <m:t>2</m:t>
                              </m:r>
                            </m:e>
                          </m:mr>
                        </m:m>
                      </m:e>
                    </m:d>
                    <m:r>
                      <a:rPr lang="en-US" sz="2000" b="0" i="1" smtClean="0">
                        <a:latin typeface="Cambria Math" panose="02040503050406030204" pitchFamily="18" charset="0"/>
                        <a:cs typeface="Times New Roman" panose="02020603050405020304" pitchFamily="18" charset="0"/>
                      </a:rPr>
                      <m:t> </m:t>
                    </m:r>
                    <m:r>
                      <a:rPr lang="en-US" sz="20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000" i="1">
                            <a:latin typeface="Cambria Math" panose="02040503050406030204" pitchFamily="18" charset="0"/>
                            <a:cs typeface="Times New Roman" panose="02020603050405020304" pitchFamily="18" charset="0"/>
                          </a:rPr>
                        </m:ctrlPr>
                      </m:dPr>
                      <m:e>
                        <m:m>
                          <m:mPr>
                            <m:mcs>
                              <m:mc>
                                <m:mcPr>
                                  <m:count m:val="3"/>
                                  <m:mcJc m:val="center"/>
                                </m:mcPr>
                              </m:mc>
                            </m:mcs>
                            <m:ctrlPr>
                              <a:rPr lang="en-US" sz="2000" i="1">
                                <a:latin typeface="Cambria Math" panose="02040503050406030204" pitchFamily="18" charset="0"/>
                                <a:cs typeface="Times New Roman" panose="02020603050405020304" pitchFamily="18" charset="0"/>
                              </a:rPr>
                            </m:ctrlPr>
                          </m:mPr>
                          <m:mr>
                            <m:e>
                              <m:r>
                                <m:rPr>
                                  <m:brk m:alnAt="7"/>
                                </m:rPr>
                                <a:rPr lang="en-US" sz="2000" i="1">
                                  <a:latin typeface="Cambria Math" panose="02040503050406030204" pitchFamily="18" charset="0"/>
                                  <a:cs typeface="Times New Roman" panose="02020603050405020304" pitchFamily="18" charset="0"/>
                                </a:rPr>
                                <m:t>1</m:t>
                              </m:r>
                            </m:e>
                            <m:e>
                              <m:r>
                                <a:rPr lang="en-US" sz="2000" i="1">
                                  <a:latin typeface="Cambria Math" panose="02040503050406030204" pitchFamily="18" charset="0"/>
                                  <a:cs typeface="Times New Roman" panose="02020603050405020304" pitchFamily="18" charset="0"/>
                                </a:rPr>
                                <m:t>2</m:t>
                              </m:r>
                            </m:e>
                            <m:e>
                              <m:r>
                                <a:rPr lang="en-US" sz="2000" i="1">
                                  <a:latin typeface="Cambria Math" panose="02040503050406030204" pitchFamily="18" charset="0"/>
                                  <a:cs typeface="Times New Roman" panose="02020603050405020304" pitchFamily="18" charset="0"/>
                                </a:rPr>
                                <m:t>1</m:t>
                              </m:r>
                            </m:e>
                          </m:mr>
                          <m:mr>
                            <m:e>
                              <m:r>
                                <a:rPr lang="en-US" sz="2000" i="1">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1</m:t>
                              </m:r>
                            </m:e>
                            <m:e>
                              <m:r>
                                <a:rPr lang="en-US" sz="2000" b="0" i="1" smtClean="0">
                                  <a:latin typeface="Cambria Math" panose="02040503050406030204" pitchFamily="18" charset="0"/>
                                  <a:cs typeface="Times New Roman" panose="02020603050405020304" pitchFamily="18" charset="0"/>
                                </a:rPr>
                                <m:t>2</m:t>
                              </m:r>
                            </m:e>
                          </m:mr>
                          <m:mr>
                            <m:e>
                              <m:r>
                                <a:rPr lang="en-US" sz="2000" i="1">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−3</m:t>
                              </m:r>
                            </m:e>
                            <m:e>
                              <m:r>
                                <a:rPr lang="en-US" sz="2000" b="0" i="1" smtClean="0">
                                  <a:latin typeface="Cambria Math" panose="02040503050406030204" pitchFamily="18" charset="0"/>
                                  <a:cs typeface="Times New Roman" panose="02020603050405020304" pitchFamily="18" charset="0"/>
                                </a:rPr>
                                <m:t>−6</m:t>
                              </m:r>
                            </m:e>
                          </m:mr>
                        </m:m>
                      </m:e>
                    </m:d>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000" i="1">
                            <a:latin typeface="Cambria Math" panose="02040503050406030204" pitchFamily="18" charset="0"/>
                            <a:cs typeface="Times New Roman" panose="02020603050405020304" pitchFamily="18" charset="0"/>
                          </a:rPr>
                        </m:ctrlPr>
                      </m:dPr>
                      <m:e>
                        <m:m>
                          <m:mPr>
                            <m:mcs>
                              <m:mc>
                                <m:mcPr>
                                  <m:count m:val="3"/>
                                  <m:mcJc m:val="center"/>
                                </m:mcPr>
                              </m:mc>
                            </m:mcs>
                            <m:ctrlPr>
                              <a:rPr lang="en-US" sz="2000" i="1">
                                <a:latin typeface="Cambria Math" panose="02040503050406030204" pitchFamily="18" charset="0"/>
                                <a:cs typeface="Times New Roman" panose="02020603050405020304" pitchFamily="18" charset="0"/>
                              </a:rPr>
                            </m:ctrlPr>
                          </m:mPr>
                          <m:mr>
                            <m:e>
                              <m:r>
                                <m:rPr>
                                  <m:brk m:alnAt="7"/>
                                </m:rPr>
                                <a:rPr lang="en-US" sz="2000" i="1">
                                  <a:latin typeface="Cambria Math" panose="02040503050406030204" pitchFamily="18" charset="0"/>
                                  <a:cs typeface="Times New Roman" panose="02020603050405020304" pitchFamily="18" charset="0"/>
                                </a:rPr>
                                <m:t>1</m:t>
                              </m:r>
                            </m:e>
                            <m:e>
                              <m:r>
                                <a:rPr lang="en-US" sz="2000" i="1">
                                  <a:latin typeface="Cambria Math" panose="02040503050406030204" pitchFamily="18" charset="0"/>
                                  <a:cs typeface="Times New Roman" panose="02020603050405020304" pitchFamily="18" charset="0"/>
                                </a:rPr>
                                <m:t>2</m:t>
                              </m:r>
                            </m:e>
                            <m:e>
                              <m:r>
                                <a:rPr lang="en-US" sz="2000" i="1">
                                  <a:latin typeface="Cambria Math" panose="02040503050406030204" pitchFamily="18" charset="0"/>
                                  <a:cs typeface="Times New Roman" panose="02020603050405020304" pitchFamily="18" charset="0"/>
                                </a:rPr>
                                <m:t>1</m:t>
                              </m:r>
                            </m:e>
                          </m:mr>
                          <m:mr>
                            <m:e>
                              <m:r>
                                <a:rPr lang="en-US" sz="2000" i="1">
                                  <a:latin typeface="Cambria Math" panose="02040503050406030204" pitchFamily="18" charset="0"/>
                                  <a:cs typeface="Times New Roman" panose="02020603050405020304" pitchFamily="18" charset="0"/>
                                </a:rPr>
                                <m:t>0</m:t>
                              </m:r>
                            </m:e>
                            <m:e>
                              <m:r>
                                <a:rPr lang="en-US" sz="2000" i="1">
                                  <a:latin typeface="Cambria Math" panose="02040503050406030204" pitchFamily="18" charset="0"/>
                                  <a:cs typeface="Times New Roman" panose="02020603050405020304" pitchFamily="18" charset="0"/>
                                </a:rPr>
                                <m:t>1</m:t>
                              </m:r>
                            </m:e>
                            <m:e>
                              <m:r>
                                <a:rPr lang="en-US" sz="2000" i="1">
                                  <a:latin typeface="Cambria Math" panose="02040503050406030204" pitchFamily="18" charset="0"/>
                                  <a:cs typeface="Times New Roman" panose="02020603050405020304" pitchFamily="18" charset="0"/>
                                </a:rPr>
                                <m:t>2</m:t>
                              </m:r>
                            </m:e>
                          </m:mr>
                          <m:mr>
                            <m:e>
                              <m:r>
                                <a:rPr lang="en-US" sz="2000" i="1">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0</m:t>
                              </m:r>
                            </m:e>
                          </m:mr>
                        </m:m>
                      </m:e>
                    </m:d>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sz="2000" i="1">
                            <a:latin typeface="Cambria Math" panose="02040503050406030204" pitchFamily="18" charset="0"/>
                            <a:cs typeface="Times New Roman" panose="02020603050405020304" pitchFamily="18" charset="0"/>
                          </a:rPr>
                        </m:ctrlPr>
                      </m:dPr>
                      <m:e>
                        <m:m>
                          <m:mPr>
                            <m:mcs>
                              <m:mc>
                                <m:mcPr>
                                  <m:count m:val="3"/>
                                  <m:mcJc m:val="center"/>
                                </m:mcPr>
                              </m:mc>
                            </m:mcs>
                            <m:ctrlPr>
                              <a:rPr lang="en-US" sz="2000" i="1">
                                <a:latin typeface="Cambria Math" panose="02040503050406030204" pitchFamily="18" charset="0"/>
                                <a:cs typeface="Times New Roman" panose="02020603050405020304" pitchFamily="18" charset="0"/>
                              </a:rPr>
                            </m:ctrlPr>
                          </m:mPr>
                          <m:mr>
                            <m:e>
                              <m:r>
                                <m:rPr>
                                  <m:brk m:alnAt="7"/>
                                </m:rPr>
                                <a:rPr lang="en-US" sz="2000" i="1">
                                  <a:latin typeface="Cambria Math" panose="02040503050406030204" pitchFamily="18" charset="0"/>
                                  <a:cs typeface="Times New Roman" panose="02020603050405020304" pitchFamily="18" charset="0"/>
                                </a:rPr>
                                <m:t>1</m:t>
                              </m:r>
                            </m:e>
                            <m:e>
                              <m:r>
                                <a:rPr lang="en-US" sz="2000" b="0" i="1" smtClean="0">
                                  <a:latin typeface="Cambria Math" panose="02040503050406030204" pitchFamily="18" charset="0"/>
                                  <a:cs typeface="Times New Roman" panose="02020603050405020304" pitchFamily="18" charset="0"/>
                                </a:rPr>
                                <m:t>0</m:t>
                              </m:r>
                            </m:e>
                            <m:e>
                              <m:r>
                                <a:rPr lang="en-US" sz="2000" b="0" i="1" smtClean="0">
                                  <a:latin typeface="Cambria Math" panose="02040503050406030204" pitchFamily="18" charset="0"/>
                                  <a:cs typeface="Times New Roman" panose="02020603050405020304" pitchFamily="18" charset="0"/>
                                </a:rPr>
                                <m:t>−3</m:t>
                              </m:r>
                            </m:e>
                          </m:mr>
                          <m:mr>
                            <m:e>
                              <m:r>
                                <a:rPr lang="en-US" sz="2000" i="1">
                                  <a:latin typeface="Cambria Math" panose="02040503050406030204" pitchFamily="18" charset="0"/>
                                  <a:cs typeface="Times New Roman" panose="02020603050405020304" pitchFamily="18" charset="0"/>
                                </a:rPr>
                                <m:t>0</m:t>
                              </m:r>
                            </m:e>
                            <m:e>
                              <m:r>
                                <a:rPr lang="en-US" sz="2000" i="1">
                                  <a:latin typeface="Cambria Math" panose="02040503050406030204" pitchFamily="18" charset="0"/>
                                  <a:cs typeface="Times New Roman" panose="02020603050405020304" pitchFamily="18" charset="0"/>
                                </a:rPr>
                                <m:t>1</m:t>
                              </m:r>
                            </m:e>
                            <m:e>
                              <m:r>
                                <a:rPr lang="en-US" sz="2000" i="1">
                                  <a:latin typeface="Cambria Math" panose="02040503050406030204" pitchFamily="18" charset="0"/>
                                  <a:cs typeface="Times New Roman" panose="02020603050405020304" pitchFamily="18" charset="0"/>
                                </a:rPr>
                                <m:t>2</m:t>
                              </m:r>
                            </m:e>
                          </m:mr>
                          <m:mr>
                            <m:e>
                              <m:r>
                                <a:rPr lang="en-US" sz="2000" i="1">
                                  <a:latin typeface="Cambria Math" panose="02040503050406030204" pitchFamily="18" charset="0"/>
                                  <a:cs typeface="Times New Roman" panose="02020603050405020304" pitchFamily="18" charset="0"/>
                                </a:rPr>
                                <m:t>0</m:t>
                              </m:r>
                            </m:e>
                            <m:e>
                              <m:r>
                                <a:rPr lang="en-US" sz="2000" i="1">
                                  <a:latin typeface="Cambria Math" panose="02040503050406030204" pitchFamily="18" charset="0"/>
                                  <a:cs typeface="Times New Roman" panose="02020603050405020304" pitchFamily="18" charset="0"/>
                                </a:rPr>
                                <m:t>0</m:t>
                              </m:r>
                            </m:e>
                            <m:e>
                              <m:r>
                                <a:rPr lang="en-US" sz="2000" i="1">
                                  <a:latin typeface="Cambria Math" panose="02040503050406030204" pitchFamily="18" charset="0"/>
                                  <a:cs typeface="Times New Roman" panose="02020603050405020304" pitchFamily="18" charset="0"/>
                                </a:rPr>
                                <m:t>0</m:t>
                              </m:r>
                            </m:e>
                          </m:mr>
                        </m:m>
                      </m:e>
                    </m:d>
                  </m:oMath>
                </a14:m>
                <a:endParaRPr lang="en-US" sz="20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US" sz="2800" dirty="0"/>
                  <a:t> </a:t>
                </a:r>
                <a14:m>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2</m:t>
                        </m:r>
                      </m:sub>
                    </m:sSub>
                  </m:oMath>
                </a14:m>
                <a:r>
                  <a:rPr lang="en-US" b="0" i="1" dirty="0">
                    <a:latin typeface="Cambria Math" panose="02040503050406030204" pitchFamily="18" charset="0"/>
                  </a:rPr>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2</m:t>
                        </m:r>
                      </m:sub>
                    </m:sSub>
                    <m:r>
                      <a:rPr lang="en-US" b="0" i="1" dirty="0" smtClean="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𝑅</m:t>
                        </m:r>
                      </m:e>
                      <m:sub>
                        <m:r>
                          <a:rPr lang="en-US" b="0" i="1" dirty="0" smtClean="0">
                            <a:latin typeface="Cambria Math" panose="02040503050406030204" pitchFamily="18" charset="0"/>
                            <a:ea typeface="Cambria Math" panose="02040503050406030204" pitchFamily="18" charset="0"/>
                          </a:rPr>
                          <m:t>3</m:t>
                        </m:r>
                      </m:sub>
                    </m:sSub>
                  </m:oMath>
                </a14:m>
                <a:r>
                  <a:rPr lang="en-US" b="0" i="1" dirty="0">
                    <a:latin typeface="Cambria Math" panose="02040503050406030204" pitchFamily="18" charset="0"/>
                  </a:rPr>
                  <a:t>         </a:t>
                </a:r>
                <a14:m>
                  <m:oMath xmlns:m="http://schemas.openxmlformats.org/officeDocument/2006/math">
                    <m:r>
                      <a:rPr lang="en-US" b="0" i="1" dirty="0" smtClean="0">
                        <a:latin typeface="Cambria Math" panose="02040503050406030204" pitchFamily="18" charset="0"/>
                      </a:rPr>
                      <m:t>3</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3</m:t>
                        </m:r>
                      </m:sub>
                    </m:sSub>
                  </m:oMath>
                </a14:m>
                <a:r>
                  <a:rPr lang="en-US" b="0" i="1" dirty="0">
                    <a:latin typeface="Cambria Math" panose="02040503050406030204" pitchFamily="18" charset="0"/>
                  </a:rPr>
                  <a:t>       </a:t>
                </a:r>
                <a14:m>
                  <m:oMath xmlns:m="http://schemas.openxmlformats.org/officeDocument/2006/math">
                    <m:r>
                      <a:rPr lang="en-US" b="0" i="1" dirty="0" smtClean="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𝑅</m:t>
                        </m:r>
                      </m:e>
                      <m:sub>
                        <m:r>
                          <a:rPr lang="en-US" b="0" i="1" dirty="0" smtClean="0">
                            <a:latin typeface="Cambria Math" panose="02040503050406030204" pitchFamily="18" charset="0"/>
                          </a:rPr>
                          <m:t>1</m:t>
                        </m:r>
                      </m:sub>
                    </m:sSub>
                  </m:oMath>
                </a14:m>
                <a:endParaRPr lang="en-US"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3</m:t>
                          </m:r>
                        </m:sub>
                      </m:sSub>
                    </m:oMath>
                  </m:oMathPara>
                </a14:m>
                <a:endParaRPr lang="en-US" dirty="0"/>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3</m:t>
                        </m:r>
                        <m:r>
                          <a:rPr lang="en-US" b="0" i="1" smtClean="0">
                            <a:latin typeface="Cambria Math" panose="02040503050406030204" pitchFamily="18" charset="0"/>
                          </a:rPr>
                          <m:t>𝑐</m:t>
                        </m:r>
                      </m:e>
                      <m:sub>
                        <m:r>
                          <a:rPr lang="en-US" b="0" i="1" smtClean="0">
                            <a:latin typeface="Cambria Math" panose="02040503050406030204" pitchFamily="18" charset="0"/>
                          </a:rPr>
                          <m:t>3</m:t>
                        </m:r>
                      </m:sub>
                    </m:sSub>
                    <m:r>
                      <a:rPr lang="en-US" b="0" i="1" smtClean="0">
                        <a:latin typeface="Cambria Math" panose="02040503050406030204" pitchFamily="18" charset="0"/>
                      </a:rPr>
                      <m:t>=0</m:t>
                    </m:r>
                  </m:oMath>
                </a14:m>
                <a:r>
                  <a:rPr lang="en-US" dirty="0"/>
                  <a:t>    </a:t>
                </a:r>
                <a:r>
                  <a:rPr lang="en-US" dirty="0">
                    <a:sym typeface="Wingdings" panose="05000000000000000000" pitchFamily="2" charset="2"/>
                  </a:rPr>
                  <a:t> </a:t>
                </a:r>
                <a14:m>
                  <m:oMath xmlns:m="http://schemas.openxmlformats.org/officeDocument/2006/math">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𝑐</m:t>
                        </m:r>
                      </m:e>
                      <m:sub>
                        <m:r>
                          <a:rPr lang="en-US" b="0" i="1" smtClean="0">
                            <a:latin typeface="Cambria Math" panose="02040503050406030204" pitchFamily="18" charset="0"/>
                            <a:sym typeface="Wingdings" panose="05000000000000000000" pitchFamily="2" charset="2"/>
                          </a:rPr>
                          <m:t>1</m:t>
                        </m:r>
                      </m:sub>
                    </m:sSub>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3</m:t>
                    </m:r>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𝑐</m:t>
                        </m:r>
                      </m:e>
                      <m:sub>
                        <m:r>
                          <a:rPr lang="en-US" i="1">
                            <a:latin typeface="Cambria Math" panose="02040503050406030204" pitchFamily="18" charset="0"/>
                            <a:sym typeface="Wingdings" panose="05000000000000000000" pitchFamily="2" charset="2"/>
                          </a:rPr>
                          <m:t>3</m:t>
                        </m:r>
                      </m:sub>
                    </m:sSub>
                  </m:oMath>
                </a14:m>
                <a:endParaRPr lang="en-US" dirty="0"/>
              </a:p>
              <a:p>
                <a:pPr marL="0" indent="0">
                  <a:buNone/>
                </a:pPr>
                <a14:m>
                  <m:oMath xmlns:m="http://schemas.openxmlformats.org/officeDocument/2006/math">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𝑐</m:t>
                        </m:r>
                      </m:e>
                      <m:sub>
                        <m:r>
                          <a:rPr lang="en-US" b="0" i="1" smtClean="0">
                            <a:latin typeface="Cambria Math" panose="02040503050406030204" pitchFamily="18" charset="0"/>
                          </a:rPr>
                          <m:t>3</m:t>
                        </m:r>
                      </m:sub>
                    </m:sSub>
                    <m:r>
                      <a:rPr lang="en-US" b="0" i="1" smtClean="0">
                        <a:latin typeface="Cambria Math" panose="02040503050406030204" pitchFamily="18" charset="0"/>
                      </a:rPr>
                      <m:t>=0</m:t>
                    </m:r>
                  </m:oMath>
                </a14:m>
                <a:r>
                  <a:rPr lang="en-US" dirty="0"/>
                  <a:t>  </a:t>
                </a:r>
                <a:r>
                  <a:rPr lang="en-US" dirty="0">
                    <a:sym typeface="Wingdings" panose="05000000000000000000" pitchFamily="2" charset="2"/>
                  </a:rPr>
                  <a:t> </a:t>
                </a:r>
                <a14:m>
                  <m:oMath xmlns:m="http://schemas.openxmlformats.org/officeDocument/2006/math">
                    <m:sSub>
                      <m:sSubPr>
                        <m:ctrlPr>
                          <a:rPr lang="en-US"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𝑐</m:t>
                        </m:r>
                      </m:e>
                      <m:sub>
                        <m:r>
                          <a:rPr lang="en-US" b="0" i="1" smtClean="0">
                            <a:latin typeface="Cambria Math" panose="02040503050406030204" pitchFamily="18" charset="0"/>
                            <a:sym typeface="Wingdings" panose="05000000000000000000" pitchFamily="2" charset="2"/>
                          </a:rPr>
                          <m:t>2</m:t>
                        </m:r>
                      </m:sub>
                    </m:sSub>
                    <m:r>
                      <a:rPr lang="en-US" b="0" i="1" smtClean="0">
                        <a:latin typeface="Cambria Math" panose="02040503050406030204" pitchFamily="18" charset="0"/>
                        <a:sym typeface="Wingdings" panose="05000000000000000000" pitchFamily="2" charset="2"/>
                      </a:rPr>
                      <m:t>=−2</m:t>
                    </m:r>
                    <m:sSub>
                      <m:sSubPr>
                        <m:ctrlPr>
                          <a:rPr lang="en-US" b="0" i="1" smtClean="0">
                            <a:latin typeface="Cambria Math" panose="02040503050406030204" pitchFamily="18" charset="0"/>
                            <a:sym typeface="Wingdings" panose="05000000000000000000" pitchFamily="2" charset="2"/>
                          </a:rPr>
                        </m:ctrlPr>
                      </m:sSubPr>
                      <m:e>
                        <m:r>
                          <a:rPr lang="en-US" b="0" i="1" smtClean="0">
                            <a:latin typeface="Cambria Math" panose="02040503050406030204" pitchFamily="18" charset="0"/>
                            <a:sym typeface="Wingdings" panose="05000000000000000000" pitchFamily="2" charset="2"/>
                          </a:rPr>
                          <m:t>𝑐</m:t>
                        </m:r>
                      </m:e>
                      <m:sub>
                        <m:r>
                          <a:rPr lang="en-US" b="0" i="1" smtClean="0">
                            <a:latin typeface="Cambria Math" panose="02040503050406030204" pitchFamily="18" charset="0"/>
                            <a:sym typeface="Wingdings" panose="05000000000000000000" pitchFamily="2" charset="2"/>
                          </a:rPr>
                          <m:t>3</m:t>
                        </m:r>
                      </m:sub>
                    </m:sSub>
                  </m:oMath>
                </a14:m>
                <a:endParaRPr lang="en-US" dirty="0"/>
              </a:p>
              <a:p>
                <a:pPr marL="0" indent="0">
                  <a:buNone/>
                </a:pPr>
                <a:r>
                  <a:rPr lang="en-US" dirty="0"/>
                  <a:t>     Let </a:t>
                </a:r>
                <a14:m>
                  <m:oMath xmlns:m="http://schemas.openxmlformats.org/officeDocument/2006/math">
                    <m:sSub>
                      <m:sSubPr>
                        <m:ctrlPr>
                          <a:rPr lang="en-US" i="1" smtClean="0">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𝑐</m:t>
                        </m:r>
                      </m:e>
                      <m:sub>
                        <m:r>
                          <a:rPr lang="en-US" i="1">
                            <a:latin typeface="Cambria Math" panose="02040503050406030204" pitchFamily="18" charset="0"/>
                            <a:sym typeface="Wingdings" panose="05000000000000000000" pitchFamily="2" charset="2"/>
                          </a:rPr>
                          <m:t>3</m:t>
                        </m:r>
                      </m:sub>
                    </m:sSub>
                    <m:r>
                      <a:rPr lang="en-US" b="0" i="1" smtClean="0">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𝑟</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𝑟</m:t>
                    </m:r>
                    <m:r>
                      <a:rPr lang="en-US" b="0" i="1" smtClean="0">
                        <a:latin typeface="Cambria Math" panose="02040503050406030204" pitchFamily="18" charset="0"/>
                        <a:ea typeface="Cambria Math" panose="02040503050406030204" pitchFamily="18" charset="0"/>
                        <a:sym typeface="Wingdings" panose="05000000000000000000" pitchFamily="2" charset="2"/>
                      </a:rPr>
                      <m:t>∈</m:t>
                    </m:r>
                    <m:r>
                      <a:rPr lang="en-US" b="0" i="1" smtClean="0">
                        <a:latin typeface="Cambria Math" panose="02040503050406030204" pitchFamily="18" charset="0"/>
                        <a:ea typeface="Cambria Math" panose="02040503050406030204" pitchFamily="18" charset="0"/>
                        <a:sym typeface="Wingdings" panose="05000000000000000000" pitchFamily="2" charset="2"/>
                      </a:rPr>
                      <m:t>𝑅</m:t>
                    </m:r>
                  </m:oMath>
                </a14:m>
                <a:r>
                  <a:rPr lang="en-US" dirty="0"/>
                  <a:t>  ,then  </a:t>
                </a:r>
                <a14:m>
                  <m:oMath xmlns:m="http://schemas.openxmlformats.org/officeDocument/2006/math">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𝑐</m:t>
                        </m:r>
                      </m:e>
                      <m:sub>
                        <m:r>
                          <a:rPr lang="en-US" i="1">
                            <a:latin typeface="Cambria Math" panose="02040503050406030204" pitchFamily="18" charset="0"/>
                            <a:sym typeface="Wingdings" panose="05000000000000000000" pitchFamily="2" charset="2"/>
                          </a:rPr>
                          <m:t>1</m:t>
                        </m:r>
                      </m:sub>
                    </m:sSub>
                    <m:r>
                      <a:rPr lang="en-US" i="1">
                        <a:latin typeface="Cambria Math" panose="02040503050406030204" pitchFamily="18" charset="0"/>
                        <a:sym typeface="Wingdings" panose="05000000000000000000" pitchFamily="2" charset="2"/>
                      </a:rPr>
                      <m:t>=3</m:t>
                    </m:r>
                    <m:r>
                      <a:rPr lang="en-US" b="0" i="1" smtClean="0">
                        <a:latin typeface="Cambria Math" panose="02040503050406030204" pitchFamily="18" charset="0"/>
                        <a:sym typeface="Wingdings" panose="05000000000000000000" pitchFamily="2" charset="2"/>
                      </a:rPr>
                      <m:t>𝑟</m:t>
                    </m:r>
                  </m:oMath>
                </a14:m>
                <a:r>
                  <a:rPr lang="en-US" dirty="0"/>
                  <a:t>  and </a:t>
                </a:r>
                <a14:m>
                  <m:oMath xmlns:m="http://schemas.openxmlformats.org/officeDocument/2006/math">
                    <m:sSub>
                      <m:sSubPr>
                        <m:ctrlPr>
                          <a:rPr lang="en-US" i="1">
                            <a:latin typeface="Cambria Math" panose="02040503050406030204" pitchFamily="18" charset="0"/>
                            <a:sym typeface="Wingdings" panose="05000000000000000000" pitchFamily="2" charset="2"/>
                          </a:rPr>
                        </m:ctrlPr>
                      </m:sSubPr>
                      <m:e>
                        <m:r>
                          <a:rPr lang="en-US" i="1">
                            <a:latin typeface="Cambria Math" panose="02040503050406030204" pitchFamily="18" charset="0"/>
                            <a:sym typeface="Wingdings" panose="05000000000000000000" pitchFamily="2" charset="2"/>
                          </a:rPr>
                          <m:t>𝑐</m:t>
                        </m:r>
                      </m:e>
                      <m:sub>
                        <m:r>
                          <a:rPr lang="en-US" i="1">
                            <a:latin typeface="Cambria Math" panose="02040503050406030204" pitchFamily="18" charset="0"/>
                            <a:sym typeface="Wingdings" panose="05000000000000000000" pitchFamily="2" charset="2"/>
                          </a:rPr>
                          <m:t>2</m:t>
                        </m:r>
                      </m:sub>
                    </m:sSub>
                    <m:r>
                      <a:rPr lang="en-US" i="1">
                        <a:latin typeface="Cambria Math" panose="02040503050406030204" pitchFamily="18" charset="0"/>
                        <a:sym typeface="Wingdings" panose="05000000000000000000" pitchFamily="2" charset="2"/>
                      </a:rPr>
                      <m:t>=−2</m:t>
                    </m:r>
                  </m:oMath>
                </a14:m>
                <a:r>
                  <a:rPr lang="en-US" dirty="0"/>
                  <a:t>r</a:t>
                </a:r>
              </a:p>
              <a:p>
                <a:pPr marL="0" indent="0">
                  <a:buNone/>
                </a:pPr>
                <a:r>
                  <a:rPr lang="en-US" dirty="0"/>
                  <a:t> Let r=1 , then the linear combination is </a:t>
                </a:r>
                <a14:m>
                  <m:oMath xmlns:m="http://schemas.openxmlformats.org/officeDocument/2006/math">
                    <m:r>
                      <a:rPr lang="en-US" sz="2400" i="1" smtClean="0">
                        <a:effectLst/>
                        <a:latin typeface="Cambria Math" panose="02040503050406030204" pitchFamily="18" charset="0"/>
                        <a:cs typeface="Times New Roman" panose="02020603050405020304" pitchFamily="18" charset="0"/>
                      </a:rPr>
                      <m:t>3</m:t>
                    </m:r>
                    <m:sSub>
                      <m:sSubPr>
                        <m:ctrlPr>
                          <a:rPr lang="en-PH" sz="2400" b="1" i="1" smtClean="0">
                            <a:effectLst/>
                            <a:latin typeface="Cambria Math" panose="02040503050406030204" pitchFamily="18" charset="0"/>
                            <a:cs typeface="Times New Roman" panose="02020603050405020304" pitchFamily="18" charset="0"/>
                          </a:rPr>
                        </m:ctrlPr>
                      </m:sSubPr>
                      <m:e>
                        <m:r>
                          <a:rPr lang="en-US" sz="2400" b="1" i="0" smtClean="0">
                            <a:effectLst/>
                            <a:latin typeface="Cambria Math" panose="02040503050406030204" pitchFamily="18" charset="0"/>
                            <a:cs typeface="Times New Roman" panose="02020603050405020304" pitchFamily="18" charset="0"/>
                          </a:rPr>
                          <m:t>𝐯</m:t>
                        </m:r>
                      </m:e>
                      <m:sub>
                        <m:r>
                          <a:rPr lang="en-US" sz="2400" b="1" i="0" smtClean="0">
                            <a:effectLst/>
                            <a:latin typeface="Cambria Math" panose="02040503050406030204" pitchFamily="18" charset="0"/>
                            <a:cs typeface="Times New Roman" panose="02020603050405020304" pitchFamily="18" charset="0"/>
                          </a:rPr>
                          <m:t>𝟏</m:t>
                        </m:r>
                      </m:sub>
                    </m:sSub>
                  </m:oMath>
                </a14:m>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b="1" i="0" smtClean="0">
                        <a:latin typeface="Cambria Math" panose="02040503050406030204" pitchFamily="18" charset="0"/>
                        <a:cs typeface="Times New Roman" panose="02020603050405020304" pitchFamily="18" charset="0"/>
                      </a:rPr>
                      <m:t>𝟐</m:t>
                    </m:r>
                    <m:r>
                      <a:rPr lang="en-US" sz="2400" b="1" i="0" smtClean="0">
                        <a:latin typeface="Cambria Math" panose="02040503050406030204" pitchFamily="18" charset="0"/>
                        <a:cs typeface="Times New Roman" panose="02020603050405020304" pitchFamily="18" charset="0"/>
                      </a:rPr>
                      <m:t> </m:t>
                    </m:r>
                    <m:sSub>
                      <m:sSubPr>
                        <m:ctrlPr>
                          <a:rPr lang="en-PH" sz="2400" b="1" i="1">
                            <a:latin typeface="Cambria Math" panose="02040503050406030204" pitchFamily="18" charset="0"/>
                            <a:cs typeface="Times New Roman" panose="02020603050405020304" pitchFamily="18" charset="0"/>
                          </a:rPr>
                        </m:ctrlPr>
                      </m:sSubPr>
                      <m:e>
                        <m:r>
                          <a:rPr lang="en-US" sz="2400" b="1">
                            <a:latin typeface="Cambria Math" panose="02040503050406030204" pitchFamily="18" charset="0"/>
                            <a:cs typeface="Times New Roman" panose="02020603050405020304" pitchFamily="18" charset="0"/>
                          </a:rPr>
                          <m:t>𝐯</m:t>
                        </m:r>
                      </m:e>
                      <m:sub>
                        <m:r>
                          <a:rPr lang="en-US" sz="2400" b="1" i="0" smtClean="0">
                            <a:latin typeface="Cambria Math" panose="02040503050406030204" pitchFamily="18" charset="0"/>
                            <a:cs typeface="Times New Roman" panose="02020603050405020304" pitchFamily="18" charset="0"/>
                          </a:rPr>
                          <m:t>𝟐</m:t>
                        </m:r>
                      </m:sub>
                    </m:sSub>
                    <m:r>
                      <a:rPr lang="en-US" sz="2400" b="1" i="1" smtClean="0">
                        <a:latin typeface="Cambria Math" panose="02040503050406030204" pitchFamily="18" charset="0"/>
                        <a:cs typeface="Times New Roman" panose="02020603050405020304" pitchFamily="18" charset="0"/>
                      </a:rPr>
                      <m:t>+</m:t>
                    </m:r>
                    <m:sSub>
                      <m:sSubPr>
                        <m:ctrlPr>
                          <a:rPr lang="en-PH" sz="2400" b="1" i="1">
                            <a:latin typeface="Cambria Math" panose="02040503050406030204" pitchFamily="18" charset="0"/>
                            <a:cs typeface="Times New Roman" panose="02020603050405020304" pitchFamily="18" charset="0"/>
                          </a:rPr>
                        </m:ctrlPr>
                      </m:sSubPr>
                      <m:e>
                        <m:r>
                          <a:rPr lang="en-US" sz="2400" b="1">
                            <a:latin typeface="Cambria Math" panose="02040503050406030204" pitchFamily="18" charset="0"/>
                            <a:cs typeface="Times New Roman" panose="02020603050405020304" pitchFamily="18" charset="0"/>
                          </a:rPr>
                          <m:t>𝐯</m:t>
                        </m:r>
                      </m:e>
                      <m:sub>
                        <m:r>
                          <a:rPr lang="en-US" sz="2400" b="1" i="0" smtClean="0">
                            <a:latin typeface="Cambria Math" panose="02040503050406030204" pitchFamily="18" charset="0"/>
                            <a:cs typeface="Times New Roman" panose="02020603050405020304" pitchFamily="18" charset="0"/>
                          </a:rPr>
                          <m:t>𝟑</m:t>
                        </m:r>
                      </m:sub>
                    </m:sSub>
                    <m:r>
                      <a:rPr lang="en-US" sz="2400" b="1" i="1" smtClean="0">
                        <a:latin typeface="Cambria Math" panose="02040503050406030204" pitchFamily="18" charset="0"/>
                        <a:cs typeface="Times New Roman" panose="02020603050405020304" pitchFamily="18" charset="0"/>
                      </a:rPr>
                      <m:t>=</m:t>
                    </m:r>
                    <m:r>
                      <a:rPr lang="en-US" sz="2400" b="1" i="1" smtClean="0">
                        <a:latin typeface="Cambria Math" panose="02040503050406030204" pitchFamily="18" charset="0"/>
                        <a:cs typeface="Times New Roman" panose="02020603050405020304" pitchFamily="18" charset="0"/>
                      </a:rPr>
                      <m:t>𝟎</m:t>
                    </m:r>
                  </m:oMath>
                </a14:m>
                <a:endParaRPr lang="en-US" dirty="0"/>
              </a:p>
            </p:txBody>
          </p:sp>
        </mc:Choice>
        <mc:Fallback xmlns="">
          <p:sp>
            <p:nvSpPr>
              <p:cNvPr id="3" name="Content Placeholder 2">
                <a:extLst>
                  <a:ext uri="{FF2B5EF4-FFF2-40B4-BE49-F238E27FC236}">
                    <a16:creationId xmlns:a16="http://schemas.microsoft.com/office/drawing/2014/main" id="{25E1867A-A411-4DF2-8216-0087D96BD762}"/>
                  </a:ext>
                </a:extLst>
              </p:cNvPr>
              <p:cNvSpPr>
                <a:spLocks noGrp="1" noRot="1" noChangeAspect="1" noMove="1" noResize="1" noEditPoints="1" noAdjustHandles="1" noChangeArrowheads="1" noChangeShapeType="1" noTextEdit="1"/>
              </p:cNvSpPr>
              <p:nvPr>
                <p:ph idx="1"/>
              </p:nvPr>
            </p:nvSpPr>
            <p:spPr>
              <a:xfrm>
                <a:off x="457200" y="1371600"/>
                <a:ext cx="8534400" cy="5105400"/>
              </a:xfrm>
              <a:blipFill>
                <a:blip r:embed="rId2"/>
                <a:stretch>
                  <a:fillRect l="-643" r="-429"/>
                </a:stretch>
              </a:blipFill>
            </p:spPr>
            <p:txBody>
              <a:bodyPr/>
              <a:lstStyle/>
              <a:p>
                <a:r>
                  <a:rPr lang="en-US">
                    <a:noFill/>
                  </a:rPr>
                  <a:t> </a:t>
                </a:r>
              </a:p>
            </p:txBody>
          </p:sp>
        </mc:Fallback>
      </mc:AlternateContent>
    </p:spTree>
    <p:extLst>
      <p:ext uri="{BB962C8B-B14F-4D97-AF65-F5344CB8AC3E}">
        <p14:creationId xmlns:p14="http://schemas.microsoft.com/office/powerpoint/2010/main" val="28635634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BCB5-5785-45A3-BB36-BBD820C84604}"/>
              </a:ext>
            </a:extLst>
          </p:cNvPr>
          <p:cNvSpPr>
            <a:spLocks noGrp="1"/>
          </p:cNvSpPr>
          <p:nvPr>
            <p:ph type="title"/>
          </p:nvPr>
        </p:nvSpPr>
        <p:spPr/>
        <p:txBody>
          <a:bodyPr/>
          <a:lstStyle/>
          <a:p>
            <a:r>
              <a:rPr lang="en-US" dirty="0"/>
              <a:t>Try This!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1867A-A411-4DF2-8216-0087D96BD762}"/>
                  </a:ext>
                </a:extLst>
              </p:cNvPr>
              <p:cNvSpPr>
                <a:spLocks noGrp="1"/>
              </p:cNvSpPr>
              <p:nvPr>
                <p:ph idx="1"/>
              </p:nvPr>
            </p:nvSpPr>
            <p:spPr>
              <a:xfrm>
                <a:off x="457200" y="1371600"/>
                <a:ext cx="8229600" cy="5105400"/>
              </a:xfrm>
            </p:spPr>
            <p:txBody>
              <a:bodyPr>
                <a:normAutofit/>
              </a:bodyPr>
              <a:lstStyle/>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Determine whether the vectors </a:t>
                </a:r>
                <a14:m>
                  <m:oMath xmlns:m="http://schemas.openxmlformats.org/officeDocument/2006/math">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2</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PH" sz="2000" b="1" i="1">
                            <a:effectLst/>
                            <a:latin typeface="Cambria Math" panose="02040503050406030204" pitchFamily="18" charset="0"/>
                            <a:ea typeface="Times New Roman" panose="02020603050405020304" pitchFamily="18" charset="0"/>
                            <a:cs typeface="Times New Roman" panose="02020603050405020304" pitchFamily="18" charset="0"/>
                          </a:rPr>
                          <m:t>𝐯</m:t>
                        </m:r>
                      </m:e>
                      <m: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sub>
                    </m:sSub>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mP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−5</m:t>
                              </m:r>
                            </m:e>
                          </m:mr>
                          <m:mr>
                            <m:e>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3</m:t>
                              </m:r>
                            </m:e>
                          </m:mr>
                        </m:m>
                      </m:e>
                    </m:d>
                    <m:r>
                      <a:rPr lang="en-PH"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PH" sz="2000" dirty="0">
                    <a:effectLst/>
                    <a:latin typeface="Calibri" panose="020F0502020204030204" pitchFamily="34" charset="0"/>
                    <a:ea typeface="Times New Roman" panose="02020603050405020304" pitchFamily="18" charset="0"/>
                    <a:cs typeface="Times New Roman" panose="02020603050405020304" pitchFamily="18" charset="0"/>
                  </a:rPr>
                  <a:t>are linearly dependent or linearly independent.</a:t>
                </a:r>
              </a:p>
              <a:p>
                <a:pPr marL="0" indent="0">
                  <a:buNone/>
                </a:pPr>
                <a:endParaRPr lang="en-PH" sz="2000" dirty="0">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r>
                  <a:rPr lang="en-PH" sz="2000" dirty="0">
                    <a:effectLst/>
                    <a:latin typeface="Calibri" panose="020F0502020204030204" pitchFamily="34" charset="0"/>
                    <a:ea typeface="Times New Roman" panose="02020603050405020304" pitchFamily="18" charset="0"/>
                    <a:cs typeface="Times New Roman" panose="02020603050405020304" pitchFamily="18" charset="0"/>
                  </a:rPr>
                  <a:t>Solution:</a:t>
                </a:r>
              </a:p>
              <a:p>
                <a:pPr marL="0" indent="0">
                  <a:buNone/>
                </a:pPr>
                <a14:m>
                  <m:oMath xmlns:m="http://schemas.openxmlformats.org/officeDocument/2006/math">
                    <m:d>
                      <m:dPr>
                        <m:begChr m:val="["/>
                        <m:endChr m:val="]"/>
                        <m:ctrlPr>
                          <a:rPr lang="en-US" sz="2000" i="1" smtClean="0">
                            <a:effectLst/>
                            <a:latin typeface="Cambria Math" panose="02040503050406030204" pitchFamily="18" charset="0"/>
                            <a:cs typeface="Times New Roman" panose="02020603050405020304" pitchFamily="18" charset="0"/>
                          </a:rPr>
                        </m:ctrlPr>
                      </m:dPr>
                      <m:e>
                        <m:m>
                          <m:mPr>
                            <m:mcs>
                              <m:mc>
                                <m:mcPr>
                                  <m:count m:val="3"/>
                                  <m:mcJc m:val="center"/>
                                </m:mcPr>
                              </m:mc>
                            </m:mcs>
                            <m:ctrlPr>
                              <a:rPr lang="en-US" sz="2000" i="1" smtClean="0">
                                <a:effectLst/>
                                <a:latin typeface="Cambria Math" panose="02040503050406030204" pitchFamily="18" charset="0"/>
                                <a:cs typeface="Times New Roman" panose="02020603050405020304" pitchFamily="18" charset="0"/>
                              </a:rPr>
                            </m:ctrlPr>
                          </m:mPr>
                          <m:mr>
                            <m:e>
                              <m:r>
                                <m:rPr>
                                  <m:brk m:alnAt="7"/>
                                </m:rP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2</m:t>
                              </m:r>
                            </m:e>
                            <m:e>
                              <m:r>
                                <a:rPr lang="en-US" sz="2000" b="0" i="1" smtClean="0">
                                  <a:effectLst/>
                                  <a:latin typeface="Cambria Math" panose="02040503050406030204" pitchFamily="18" charset="0"/>
                                  <a:cs typeface="Times New Roman" panose="02020603050405020304" pitchFamily="18" charset="0"/>
                                </a:rPr>
                                <m:t>1</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−5</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3</m:t>
                              </m:r>
                            </m:e>
                            <m:e>
                              <m:r>
                                <a:rPr lang="en-US" sz="2000" b="0" i="1" smtClean="0">
                                  <a:effectLst/>
                                  <a:latin typeface="Cambria Math" panose="02040503050406030204" pitchFamily="18" charset="0"/>
                                  <a:cs typeface="Times New Roman" panose="02020603050405020304" pitchFamily="18" charset="0"/>
                                </a:rPr>
                                <m:t>3</m:t>
                              </m:r>
                            </m:e>
                          </m:mr>
                        </m:m>
                      </m:e>
                    </m:d>
                    <m:r>
                      <a:rPr lang="en-US" sz="2000" b="0" i="1" smtClean="0">
                        <a:effectLst/>
                        <a:latin typeface="Cambria Math" panose="02040503050406030204" pitchFamily="18" charset="0"/>
                        <a:cs typeface="Times New Roman" panose="02020603050405020304" pitchFamily="18" charset="0"/>
                      </a:rPr>
                      <m:t> </m:t>
                    </m:r>
                    <m:m>
                      <m:mPr>
                        <m:mcs>
                          <m:mc>
                            <m:mcPr>
                              <m:count m:val="2"/>
                              <m:mcJc m:val="center"/>
                            </m:mcPr>
                          </m:mc>
                        </m:mcs>
                        <m:ctrlPr>
                          <a:rPr lang="en-US" sz="2000" b="0" i="1" smtClean="0">
                            <a:effectLst/>
                            <a:latin typeface="Cambria Math" panose="02040503050406030204" pitchFamily="18" charset="0"/>
                            <a:cs typeface="Times New Roman" panose="02020603050405020304" pitchFamily="18" charset="0"/>
                          </a:rPr>
                        </m:ctrlPr>
                      </m:mPr>
                      <m:mr>
                        <m:e>
                          <m:r>
                            <m:rPr>
                              <m:brk m:alnAt="7"/>
                            </m:rP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2</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−1</m:t>
                          </m:r>
                        </m:e>
                      </m:mr>
                      <m:mr>
                        <m:e>
                          <m:r>
                            <a:rPr lang="en-US" sz="2000" b="0" i="1" smtClean="0">
                              <a:effectLst/>
                              <a:latin typeface="Cambria Math" panose="02040503050406030204" pitchFamily="18" charset="0"/>
                              <a:cs typeface="Times New Roman" panose="02020603050405020304" pitchFamily="18" charset="0"/>
                            </a:rPr>
                            <m:t>1</m:t>
                          </m:r>
                        </m:e>
                        <m:e>
                          <m:r>
                            <a:rPr lang="en-US" sz="2000" b="0" i="1" smtClean="0">
                              <a:effectLst/>
                              <a:latin typeface="Cambria Math" panose="02040503050406030204" pitchFamily="18" charset="0"/>
                              <a:cs typeface="Times New Roman" panose="02020603050405020304" pitchFamily="18" charset="0"/>
                            </a:rPr>
                            <m:t>3</m:t>
                          </m:r>
                        </m:e>
                      </m:mr>
                    </m:m>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 [-3 + (-10)+ 3] – [-1 + (-15) +6] = -10 +10 = 0 </a:t>
                </a:r>
              </a:p>
              <a:p>
                <a:pPr marL="0" indent="0">
                  <a:buNone/>
                </a:pPr>
                <a:r>
                  <a:rPr lang="en-US" sz="2800" dirty="0"/>
                  <a:t> The determinant is zero, then the set of vectors are linearly dependent.</a:t>
                </a:r>
              </a:p>
            </p:txBody>
          </p:sp>
        </mc:Choice>
        <mc:Fallback xmlns="">
          <p:sp>
            <p:nvSpPr>
              <p:cNvPr id="3" name="Content Placeholder 2">
                <a:extLst>
                  <a:ext uri="{FF2B5EF4-FFF2-40B4-BE49-F238E27FC236}">
                    <a16:creationId xmlns:a16="http://schemas.microsoft.com/office/drawing/2014/main" id="{25E1867A-A411-4DF2-8216-0087D96BD762}"/>
                  </a:ext>
                </a:extLst>
              </p:cNvPr>
              <p:cNvSpPr>
                <a:spLocks noGrp="1" noRot="1" noChangeAspect="1" noMove="1" noResize="1" noEditPoints="1" noAdjustHandles="1" noChangeArrowheads="1" noChangeShapeType="1" noTextEdit="1"/>
              </p:cNvSpPr>
              <p:nvPr>
                <p:ph idx="1"/>
              </p:nvPr>
            </p:nvSpPr>
            <p:spPr>
              <a:xfrm>
                <a:off x="457200" y="1371600"/>
                <a:ext cx="8229600" cy="5105400"/>
              </a:xfrm>
              <a:blipFill>
                <a:blip r:embed="rId2"/>
                <a:stretch>
                  <a:fillRect l="-1481"/>
                </a:stretch>
              </a:blipFill>
            </p:spPr>
            <p:txBody>
              <a:bodyPr/>
              <a:lstStyle/>
              <a:p>
                <a:r>
                  <a:rPr lang="en-US">
                    <a:noFill/>
                  </a:rPr>
                  <a:t> </a:t>
                </a:r>
              </a:p>
            </p:txBody>
          </p:sp>
        </mc:Fallback>
      </mc:AlternateContent>
    </p:spTree>
    <p:extLst>
      <p:ext uri="{BB962C8B-B14F-4D97-AF65-F5344CB8AC3E}">
        <p14:creationId xmlns:p14="http://schemas.microsoft.com/office/powerpoint/2010/main" val="304241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BCB5-5785-45A3-BB36-BBD820C84604}"/>
              </a:ext>
            </a:extLst>
          </p:cNvPr>
          <p:cNvSpPr>
            <a:spLocks noGrp="1"/>
          </p:cNvSpPr>
          <p:nvPr>
            <p:ph type="title"/>
          </p:nvPr>
        </p:nvSpPr>
        <p:spPr/>
        <p:txBody>
          <a:bodyPr/>
          <a:lstStyle/>
          <a:p>
            <a:r>
              <a:rPr lang="en-US" dirty="0"/>
              <a:t>Try This!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5E1867A-A411-4DF2-8216-0087D96BD762}"/>
                  </a:ext>
                </a:extLst>
              </p:cNvPr>
              <p:cNvSpPr>
                <a:spLocks noGrp="1"/>
              </p:cNvSpPr>
              <p:nvPr>
                <p:ph idx="1"/>
              </p:nvPr>
            </p:nvSpPr>
            <p:spPr>
              <a:xfrm>
                <a:off x="457200" y="1371600"/>
                <a:ext cx="8458200" cy="5105400"/>
              </a:xfrm>
            </p:spPr>
            <p:txBody>
              <a:bodyPr/>
              <a:lstStyle/>
              <a:p>
                <a:pPr marL="0" lvl="0" indent="0">
                  <a:buNone/>
                </a:pPr>
                <a:r>
                  <a:rPr lang="en-PH" dirty="0"/>
                  <a:t>1. Determine whether the vectors </a:t>
                </a:r>
                <a14:m>
                  <m:oMath xmlns:m="http://schemas.openxmlformats.org/officeDocument/2006/math">
                    <m:sSub>
                      <m:sSubPr>
                        <m:ctrlPr>
                          <a:rPr lang="en-US" i="1">
                            <a:latin typeface="Cambria Math" panose="02040503050406030204" pitchFamily="18" charset="0"/>
                          </a:rPr>
                        </m:ctrlPr>
                      </m:sSubPr>
                      <m:e>
                        <m:r>
                          <a:rPr lang="en-PH" b="1" i="1">
                            <a:latin typeface="Cambria Math" panose="02040503050406030204" pitchFamily="18" charset="0"/>
                          </a:rPr>
                          <m:t>𝐯</m:t>
                        </m:r>
                      </m:e>
                      <m:sub>
                        <m:r>
                          <a:rPr lang="en-PH" i="1">
                            <a:latin typeface="Cambria Math" panose="02040503050406030204" pitchFamily="18" charset="0"/>
                          </a:rPr>
                          <m:t>1</m:t>
                        </m:r>
                      </m:sub>
                    </m:sSub>
                    <m:r>
                      <a:rPr lang="en-PH" i="1">
                        <a:latin typeface="Cambria Math" panose="02040503050406030204" pitchFamily="18" charset="0"/>
                      </a:rPr>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PH" i="1">
                                  <a:latin typeface="Cambria Math" panose="02040503050406030204" pitchFamily="18" charset="0"/>
                                </a:rPr>
                                <m:t>1</m:t>
                              </m:r>
                            </m:e>
                          </m:mr>
                          <m:mr>
                            <m:e>
                              <m:r>
                                <a:rPr lang="en-PH" i="1">
                                  <a:latin typeface="Cambria Math" panose="02040503050406030204" pitchFamily="18" charset="0"/>
                                </a:rPr>
                                <m:t>−2</m:t>
                              </m:r>
                            </m:e>
                          </m:mr>
                          <m:mr>
                            <m:e>
                              <m:r>
                                <a:rPr lang="en-PH" i="1">
                                  <a:latin typeface="Cambria Math" panose="02040503050406030204" pitchFamily="18" charset="0"/>
                                </a:rPr>
                                <m:t>−3</m:t>
                              </m:r>
                            </m:e>
                          </m:mr>
                        </m:m>
                      </m:e>
                    </m:d>
                    <m:r>
                      <a:rPr lang="en-PH" i="1">
                        <a:latin typeface="Cambria Math" panose="02040503050406030204" pitchFamily="18" charset="0"/>
                      </a:rPr>
                      <m:t>, </m:t>
                    </m:r>
                    <m:sSub>
                      <m:sSubPr>
                        <m:ctrlPr>
                          <a:rPr lang="en-US" i="1">
                            <a:latin typeface="Cambria Math" panose="02040503050406030204" pitchFamily="18" charset="0"/>
                          </a:rPr>
                        </m:ctrlPr>
                      </m:sSubPr>
                      <m:e>
                        <m:r>
                          <a:rPr lang="en-US" b="1" i="1" smtClean="0">
                            <a:latin typeface="Cambria Math" panose="02040503050406030204" pitchFamily="18" charset="0"/>
                          </a:rPr>
                          <m:t>  </m:t>
                        </m:r>
                        <m:r>
                          <a:rPr lang="en-PH" b="1" i="1">
                            <a:latin typeface="Cambria Math" panose="02040503050406030204" pitchFamily="18" charset="0"/>
                          </a:rPr>
                          <m:t>𝐯</m:t>
                        </m:r>
                      </m:e>
                      <m:sub>
                        <m:r>
                          <a:rPr lang="en-PH" i="1">
                            <a:latin typeface="Cambria Math" panose="02040503050406030204" pitchFamily="18" charset="0"/>
                          </a:rPr>
                          <m:t>2</m:t>
                        </m:r>
                      </m:sub>
                    </m:sSub>
                    <m:r>
                      <a:rPr lang="en-PH" i="1">
                        <a:latin typeface="Cambria Math" panose="02040503050406030204" pitchFamily="18" charset="0"/>
                      </a:rPr>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PH" i="1">
                                  <a:latin typeface="Cambria Math" panose="02040503050406030204" pitchFamily="18" charset="0"/>
                                </a:rPr>
                                <m:t>2</m:t>
                              </m:r>
                            </m:e>
                          </m:mr>
                          <m:mr>
                            <m:e>
                              <m:r>
                                <a:rPr lang="en-PH" i="1">
                                  <a:latin typeface="Cambria Math" panose="02040503050406030204" pitchFamily="18" charset="0"/>
                                </a:rPr>
                                <m:t>3</m:t>
                              </m:r>
                            </m:e>
                          </m:mr>
                          <m:mr>
                            <m:e>
                              <m:r>
                                <a:rPr lang="en-PH" i="1">
                                  <a:latin typeface="Cambria Math" panose="02040503050406030204" pitchFamily="18" charset="0"/>
                                </a:rPr>
                                <m:t>−1</m:t>
                              </m:r>
                            </m:e>
                          </m:mr>
                        </m:m>
                      </m:e>
                    </m:d>
                    <m:r>
                      <a:rPr lang="en-PH" i="1">
                        <a:latin typeface="Cambria Math" panose="02040503050406030204" pitchFamily="18" charset="0"/>
                      </a:rPr>
                      <m:t>, </m:t>
                    </m:r>
                    <m:r>
                      <a:rPr lang="en-PH" i="1">
                        <a:latin typeface="Cambria Math" panose="02040503050406030204" pitchFamily="18" charset="0"/>
                      </a:rPr>
                      <m:t>𝑎𝑛𝑑</m:t>
                    </m:r>
                    <m:r>
                      <a:rPr lang="en-PH" i="1">
                        <a:latin typeface="Cambria Math" panose="02040503050406030204" pitchFamily="18" charset="0"/>
                      </a:rPr>
                      <m:t> </m:t>
                    </m:r>
                  </m:oMath>
                </a14:m>
                <a:endParaRPr lang="en-US" i="1" dirty="0">
                  <a:latin typeface="Cambria Math" panose="02040503050406030204" pitchFamily="18" charset="0"/>
                </a:endParaRPr>
              </a:p>
              <a:p>
                <a:pPr marL="0" lvl="0" indent="0">
                  <a:buNone/>
                </a:pPr>
                <a14:m>
                  <m:oMath xmlns:m="http://schemas.openxmlformats.org/officeDocument/2006/math">
                    <m:r>
                      <a:rPr lang="en-PH" i="1">
                        <a:latin typeface="Cambria Math" panose="02040503050406030204" pitchFamily="18" charset="0"/>
                      </a:rPr>
                      <m:t> </m:t>
                    </m:r>
                    <m:sSub>
                      <m:sSubPr>
                        <m:ctrlPr>
                          <a:rPr lang="en-US" i="1">
                            <a:latin typeface="Cambria Math" panose="02040503050406030204" pitchFamily="18" charset="0"/>
                          </a:rPr>
                        </m:ctrlPr>
                      </m:sSubPr>
                      <m:e>
                        <m:r>
                          <a:rPr lang="en-PH" b="1" i="1">
                            <a:latin typeface="Cambria Math" panose="02040503050406030204" pitchFamily="18" charset="0"/>
                          </a:rPr>
                          <m:t>𝐯</m:t>
                        </m:r>
                      </m:e>
                      <m:sub>
                        <m:r>
                          <a:rPr lang="en-PH" i="1">
                            <a:latin typeface="Cambria Math" panose="02040503050406030204" pitchFamily="18" charset="0"/>
                          </a:rPr>
                          <m:t>3</m:t>
                        </m:r>
                      </m:sub>
                    </m:sSub>
                    <m:r>
                      <a:rPr lang="en-PH" i="1">
                        <a:latin typeface="Cambria Math" panose="02040503050406030204" pitchFamily="18" charset="0"/>
                      </a:rPr>
                      <m:t>= </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r>
                                <a:rPr lang="en-PH" i="1">
                                  <a:latin typeface="Cambria Math" panose="02040503050406030204" pitchFamily="18" charset="0"/>
                                </a:rPr>
                                <m:t>3</m:t>
                              </m:r>
                            </m:e>
                          </m:mr>
                          <m:mr>
                            <m:e>
                              <m:r>
                                <a:rPr lang="en-PH" i="1">
                                  <a:latin typeface="Cambria Math" panose="02040503050406030204" pitchFamily="18" charset="0"/>
                                </a:rPr>
                                <m:t>2</m:t>
                              </m:r>
                            </m:e>
                          </m:mr>
                          <m:mr>
                            <m:e>
                              <m:r>
                                <a:rPr lang="en-PH" i="1">
                                  <a:latin typeface="Cambria Math" panose="02040503050406030204" pitchFamily="18" charset="0"/>
                                </a:rPr>
                                <m:t>1</m:t>
                              </m:r>
                            </m:e>
                          </m:mr>
                        </m:m>
                      </m:e>
                    </m:d>
                    <m:r>
                      <a:rPr lang="en-PH" i="1">
                        <a:latin typeface="Cambria Math" panose="02040503050406030204" pitchFamily="18" charset="0"/>
                      </a:rPr>
                      <m:t>, </m:t>
                    </m:r>
                  </m:oMath>
                </a14:m>
                <a:r>
                  <a:rPr lang="en-PH" dirty="0"/>
                  <a:t>are linearly dependent or linearly independent.</a:t>
                </a:r>
                <a:endParaRPr lang="en-US" dirty="0"/>
              </a:p>
              <a:p>
                <a:pPr marL="0" indent="0">
                  <a:buNone/>
                </a:pPr>
                <a:endParaRPr lang="en-US" dirty="0"/>
              </a:p>
              <a:p>
                <a:pPr marL="0" indent="0">
                  <a:buNone/>
                </a:pPr>
                <a:r>
                  <a:rPr lang="en-US" dirty="0"/>
                  <a:t>2. 𝐯1 = [ 2 −1 1 ] , 𝐯2 = [ 4 −7 −1 ], and 𝐯3 = [ 1 2 2 ] </a:t>
                </a:r>
              </a:p>
              <a:p>
                <a:pPr marL="0" indent="0">
                  <a:buNone/>
                </a:pPr>
                <a:r>
                  <a:rPr lang="en-PH" dirty="0"/>
                  <a:t>are linearly dependent or linearly independent.</a:t>
                </a: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5E1867A-A411-4DF2-8216-0087D96BD762}"/>
                  </a:ext>
                </a:extLst>
              </p:cNvPr>
              <p:cNvSpPr>
                <a:spLocks noGrp="1" noRot="1" noChangeAspect="1" noMove="1" noResize="1" noEditPoints="1" noAdjustHandles="1" noChangeArrowheads="1" noChangeShapeType="1" noTextEdit="1"/>
              </p:cNvSpPr>
              <p:nvPr>
                <p:ph idx="1"/>
              </p:nvPr>
            </p:nvSpPr>
            <p:spPr>
              <a:xfrm>
                <a:off x="457200" y="1371600"/>
                <a:ext cx="8458200" cy="5105400"/>
              </a:xfrm>
              <a:blipFill>
                <a:blip r:embed="rId2"/>
                <a:stretch>
                  <a:fillRect l="-1081"/>
                </a:stretch>
              </a:blipFill>
            </p:spPr>
            <p:txBody>
              <a:bodyPr/>
              <a:lstStyle/>
              <a:p>
                <a:r>
                  <a:rPr lang="en-US">
                    <a:noFill/>
                  </a:rPr>
                  <a:t> </a:t>
                </a:r>
              </a:p>
            </p:txBody>
          </p:sp>
        </mc:Fallback>
      </mc:AlternateContent>
    </p:spTree>
    <p:extLst>
      <p:ext uri="{BB962C8B-B14F-4D97-AF65-F5344CB8AC3E}">
        <p14:creationId xmlns:p14="http://schemas.microsoft.com/office/powerpoint/2010/main" val="35515360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PH" dirty="0"/>
              <a:t>Linear Independence</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1371600"/>
                <a:ext cx="8458200" cy="5105400"/>
              </a:xfrm>
            </p:spPr>
            <p:txBody>
              <a:bodyPr>
                <a:normAutofit/>
              </a:bodyPr>
              <a:lstStyle/>
              <a:p>
                <a:pPr marL="0" indent="0">
                  <a:buNone/>
                </a:pPr>
                <a:r>
                  <a:rPr lang="en-PH" sz="2000" i="1" dirty="0">
                    <a:solidFill>
                      <a:srgbClr val="0070C0"/>
                    </a:solidFill>
                  </a:rPr>
                  <a:t>Another solution to determine the linear dependence or independence is through the use of determinants: </a:t>
                </a:r>
              </a:p>
              <a:p>
                <a:pPr marL="0" indent="0">
                  <a:buNone/>
                </a:pPr>
                <a:endParaRPr lang="en-PH" sz="1800" i="1" dirty="0"/>
              </a:p>
              <a:p>
                <a:pPr marL="0" indent="0">
                  <a:buNone/>
                </a:pPr>
                <a:r>
                  <a:rPr lang="en-PH" sz="1800" i="1" dirty="0"/>
                  <a:t>Condition:</a:t>
                </a:r>
              </a:p>
              <a:p>
                <a:pPr marL="0" indent="0">
                  <a:buNone/>
                </a:pPr>
                <a:r>
                  <a:rPr lang="en-PH" sz="1800" dirty="0"/>
                  <a:t>  If the determinants of the coefficient matrix is 0, then the vectors are </a:t>
                </a:r>
                <a:r>
                  <a:rPr lang="en-PH" sz="1800" b="1" dirty="0"/>
                  <a:t>linearly dependent</a:t>
                </a:r>
                <a:r>
                  <a:rPr lang="en-PH" sz="1800" dirty="0"/>
                  <a:t>, and if the determinant is non-zero then the vectors are </a:t>
                </a:r>
                <a:r>
                  <a:rPr lang="en-PH" sz="1800" b="1" dirty="0"/>
                  <a:t>linearly independent</a:t>
                </a:r>
                <a:r>
                  <a:rPr lang="en-PH" sz="1800" dirty="0"/>
                  <a:t>.</a:t>
                </a:r>
              </a:p>
              <a:p>
                <a:pPr marL="0" indent="0">
                  <a:buNone/>
                </a:pPr>
                <a:r>
                  <a:rPr lang="en-PH" sz="1800" i="1" dirty="0"/>
                  <a:t> </a:t>
                </a:r>
              </a:p>
              <a:p>
                <a:pPr marL="0" indent="0">
                  <a:buNone/>
                </a:pPr>
                <a:r>
                  <a:rPr lang="en-PH" sz="1800" i="1" dirty="0"/>
                  <a:t>In example #2, write the coefficient matrix and compute the determinant:</a:t>
                </a:r>
              </a:p>
              <a:p>
                <a:pPr marL="0" indent="0">
                  <a:buNone/>
                </a:pPr>
                <a:r>
                  <a:rPr lang="en-PH" sz="1800" b="0" dirty="0">
                    <a:ea typeface="Cambria Math"/>
                  </a:rPr>
                  <a:t>  </a:t>
                </a:r>
                <a14:m>
                  <m:oMath xmlns:m="http://schemas.openxmlformats.org/officeDocument/2006/math">
                    <m:d>
                      <m:dPr>
                        <m:begChr m:val="|"/>
                        <m:endChr m:val="|"/>
                        <m:ctrlPr>
                          <a:rPr lang="en-PH" sz="1800" b="0" i="1" smtClean="0">
                            <a:latin typeface="Cambria Math" panose="02040503050406030204" pitchFamily="18" charset="0"/>
                            <a:ea typeface="Cambria Math"/>
                          </a:rPr>
                        </m:ctrlPr>
                      </m:dPr>
                      <m:e>
                        <m:m>
                          <m:mPr>
                            <m:mcs>
                              <m:mc>
                                <m:mcPr>
                                  <m:count m:val="3"/>
                                  <m:mcJc m:val="center"/>
                                </m:mcPr>
                              </m:mc>
                            </m:mcs>
                            <m:ctrlPr>
                              <a:rPr lang="en-PH" sz="1800" i="1" smtClean="0">
                                <a:latin typeface="Cambria Math" panose="02040503050406030204" pitchFamily="18" charset="0"/>
                              </a:rPr>
                            </m:ctrlPr>
                          </m:mPr>
                          <m:mr>
                            <m:e>
                              <m:r>
                                <m:rPr>
                                  <m:brk m:alnAt="7"/>
                                </m:rPr>
                                <a:rPr lang="en-PH" sz="1800" i="1">
                                  <a:latin typeface="Cambria Math"/>
                                </a:rPr>
                                <m:t>1</m:t>
                              </m:r>
                            </m:e>
                            <m:e>
                              <m:r>
                                <a:rPr lang="en-PH" sz="1800" i="1">
                                  <a:latin typeface="Cambria Math"/>
                                </a:rPr>
                                <m:t>2</m:t>
                              </m:r>
                            </m:e>
                            <m:e>
                              <m:r>
                                <a:rPr lang="en-PH" sz="1800" i="1">
                                  <a:latin typeface="Cambria Math"/>
                                </a:rPr>
                                <m:t>3</m:t>
                              </m:r>
                            </m:e>
                          </m:mr>
                          <m:mr>
                            <m:e>
                              <m:r>
                                <a:rPr lang="en-US" sz="1800" b="0" i="1" smtClean="0">
                                  <a:latin typeface="Cambria Math" panose="02040503050406030204" pitchFamily="18" charset="0"/>
                                </a:rPr>
                                <m:t>1</m:t>
                              </m:r>
                            </m:e>
                            <m:e>
                              <m:r>
                                <a:rPr lang="en-US" sz="1800" b="0" i="1" smtClean="0">
                                  <a:latin typeface="Cambria Math" panose="02040503050406030204" pitchFamily="18" charset="0"/>
                                </a:rPr>
                                <m:t>1</m:t>
                              </m:r>
                            </m:e>
                            <m:e>
                              <m:r>
                                <a:rPr lang="en-PH" sz="1800" i="1">
                                  <a:latin typeface="Cambria Math"/>
                                </a:rPr>
                                <m:t>2</m:t>
                              </m:r>
                            </m:e>
                          </m:mr>
                          <m:mr>
                            <m:e>
                              <m:r>
                                <a:rPr lang="en-US" sz="1800" b="0" i="1" smtClean="0">
                                  <a:latin typeface="Cambria Math" panose="02040503050406030204" pitchFamily="18" charset="0"/>
                                </a:rPr>
                                <m:t>2</m:t>
                              </m:r>
                            </m:e>
                            <m:e>
                              <m:r>
                                <a:rPr lang="en-US" sz="1800" b="0" i="1" smtClean="0">
                                  <a:latin typeface="Cambria Math" panose="02040503050406030204" pitchFamily="18" charset="0"/>
                                </a:rPr>
                                <m:t>0</m:t>
                              </m:r>
                            </m:e>
                            <m:e>
                              <m:r>
                                <a:rPr lang="en-US" sz="1800" b="0" i="1" smtClean="0">
                                  <a:latin typeface="Cambria Math" panose="02040503050406030204" pitchFamily="18" charset="0"/>
                                </a:rPr>
                                <m:t>2</m:t>
                              </m:r>
                            </m:e>
                          </m:mr>
                        </m:m>
                      </m:e>
                    </m:d>
                    <m:r>
                      <a:rPr lang="en-PH" sz="1800" b="0" i="1" smtClean="0">
                        <a:latin typeface="Cambria Math"/>
                        <a:ea typeface="Cambria Math"/>
                      </a:rPr>
                      <m:t>  </m:t>
                    </m:r>
                    <m:m>
                      <m:mPr>
                        <m:mcs>
                          <m:mc>
                            <m:mcPr>
                              <m:count m:val="2"/>
                              <m:mcJc m:val="center"/>
                            </m:mcPr>
                          </m:mc>
                        </m:mcs>
                        <m:ctrlPr>
                          <a:rPr lang="en-PH" sz="1800" b="0" i="1" smtClean="0">
                            <a:latin typeface="Cambria Math" panose="02040503050406030204" pitchFamily="18" charset="0"/>
                            <a:ea typeface="Cambria Math"/>
                          </a:rPr>
                        </m:ctrlPr>
                      </m:mPr>
                      <m:mr>
                        <m:e>
                          <m:r>
                            <m:rPr>
                              <m:brk m:alnAt="7"/>
                            </m:rPr>
                            <a:rPr lang="en-PH" sz="1800" b="0" i="1" smtClean="0">
                              <a:latin typeface="Cambria Math"/>
                              <a:ea typeface="Cambria Math"/>
                            </a:rPr>
                            <m:t>1</m:t>
                          </m:r>
                        </m:e>
                        <m:e>
                          <m:r>
                            <a:rPr lang="en-PH" sz="1800" b="0" i="1" smtClean="0">
                              <a:latin typeface="Cambria Math"/>
                              <a:ea typeface="Cambria Math"/>
                            </a:rPr>
                            <m:t>2</m:t>
                          </m:r>
                        </m:e>
                      </m:mr>
                      <m:mr>
                        <m:e>
                          <m:r>
                            <a:rPr lang="en-US" sz="1800" b="0" i="1" smtClean="0">
                              <a:latin typeface="Cambria Math" panose="02040503050406030204" pitchFamily="18" charset="0"/>
                              <a:ea typeface="Cambria Math"/>
                            </a:rPr>
                            <m:t>1</m:t>
                          </m:r>
                        </m:e>
                        <m:e>
                          <m:r>
                            <a:rPr lang="en-US" sz="1800" b="0" i="1" smtClean="0">
                              <a:latin typeface="Cambria Math" panose="02040503050406030204" pitchFamily="18" charset="0"/>
                              <a:ea typeface="Cambria Math"/>
                            </a:rPr>
                            <m:t>1</m:t>
                          </m:r>
                        </m:e>
                      </m:mr>
                      <m:mr>
                        <m:e>
                          <m:r>
                            <a:rPr lang="en-US" sz="1800" b="0" i="1" smtClean="0">
                              <a:latin typeface="Cambria Math" panose="02040503050406030204" pitchFamily="18" charset="0"/>
                              <a:ea typeface="Cambria Math"/>
                            </a:rPr>
                            <m:t>2</m:t>
                          </m:r>
                        </m:e>
                        <m:e>
                          <m:r>
                            <a:rPr lang="en-US" sz="1800" b="0" i="1" smtClean="0">
                              <a:latin typeface="Cambria Math" panose="02040503050406030204" pitchFamily="18" charset="0"/>
                              <a:ea typeface="Cambria Math"/>
                            </a:rPr>
                            <m:t>0</m:t>
                          </m:r>
                        </m:e>
                      </m:mr>
                    </m:m>
                    <m:r>
                      <a:rPr lang="en-PH" sz="1800" b="0" i="1" smtClean="0">
                        <a:latin typeface="Cambria Math"/>
                        <a:ea typeface="Cambria Math"/>
                      </a:rPr>
                      <m:t>=</m:t>
                    </m:r>
                  </m:oMath>
                </a14:m>
                <a:r>
                  <a:rPr lang="en-PH" sz="2000" i="1" dirty="0"/>
                  <a:t> </a:t>
                </a:r>
                <a14:m>
                  <m:oMath xmlns:m="http://schemas.openxmlformats.org/officeDocument/2006/math">
                    <m:d>
                      <m:dPr>
                        <m:ctrlPr>
                          <a:rPr lang="en-PH" sz="2000" b="0" i="1" dirty="0" smtClean="0">
                            <a:latin typeface="Cambria Math" panose="02040503050406030204" pitchFamily="18" charset="0"/>
                          </a:rPr>
                        </m:ctrlPr>
                      </m:dPr>
                      <m:e>
                        <m:r>
                          <a:rPr lang="en-US" sz="2000" b="0" i="1" dirty="0" smtClean="0">
                            <a:latin typeface="Cambria Math" panose="02040503050406030204" pitchFamily="18" charset="0"/>
                          </a:rPr>
                          <m:t>2</m:t>
                        </m:r>
                        <m:r>
                          <a:rPr lang="en-PH" sz="2000" b="0" i="1" dirty="0" smtClean="0">
                            <a:latin typeface="Cambria Math"/>
                          </a:rPr>
                          <m:t>+</m:t>
                        </m:r>
                        <m:r>
                          <a:rPr lang="en-US" sz="2000" b="0" i="1" dirty="0" smtClean="0">
                            <a:latin typeface="Cambria Math" panose="02040503050406030204" pitchFamily="18" charset="0"/>
                          </a:rPr>
                          <m:t>8</m:t>
                        </m:r>
                        <m:r>
                          <a:rPr lang="en-PH" sz="2000" b="0" i="1" dirty="0" smtClean="0">
                            <a:latin typeface="Cambria Math"/>
                          </a:rPr>
                          <m:t>+</m:t>
                        </m:r>
                        <m:r>
                          <a:rPr lang="en-US" sz="2000" b="0" i="1" dirty="0" smtClean="0">
                            <a:latin typeface="Cambria Math" panose="02040503050406030204" pitchFamily="18" charset="0"/>
                          </a:rPr>
                          <m:t>0</m:t>
                        </m:r>
                      </m:e>
                    </m:d>
                    <m:r>
                      <a:rPr lang="en-PH" sz="2000" b="0" i="1" dirty="0" smtClean="0">
                        <a:latin typeface="Cambria Math"/>
                      </a:rPr>
                      <m:t>−</m:t>
                    </m:r>
                    <m:d>
                      <m:dPr>
                        <m:ctrlPr>
                          <a:rPr lang="en-PH" sz="2000" b="0" i="1" dirty="0" smtClean="0">
                            <a:latin typeface="Cambria Math" panose="02040503050406030204" pitchFamily="18" charset="0"/>
                          </a:rPr>
                        </m:ctrlPr>
                      </m:dPr>
                      <m:e>
                        <m:r>
                          <a:rPr lang="en-US" sz="2000" b="0" i="1" dirty="0" smtClean="0">
                            <a:latin typeface="Cambria Math" panose="02040503050406030204" pitchFamily="18" charset="0"/>
                          </a:rPr>
                          <m:t>6</m:t>
                        </m:r>
                        <m:r>
                          <a:rPr lang="en-PH" sz="2000" b="0" i="1" dirty="0" smtClean="0">
                            <a:latin typeface="Cambria Math"/>
                          </a:rPr>
                          <m:t>+</m:t>
                        </m:r>
                        <m:r>
                          <a:rPr lang="en-US" sz="2000" b="0" i="1" dirty="0" smtClean="0">
                            <a:latin typeface="Cambria Math" panose="02040503050406030204" pitchFamily="18" charset="0"/>
                          </a:rPr>
                          <m:t>0</m:t>
                        </m:r>
                        <m:r>
                          <a:rPr lang="en-PH" sz="2000" b="0" i="1" dirty="0" smtClean="0">
                            <a:latin typeface="Cambria Math"/>
                          </a:rPr>
                          <m:t>+</m:t>
                        </m:r>
                        <m:r>
                          <a:rPr lang="en-US" sz="2000" b="0" i="1" dirty="0" smtClean="0">
                            <a:latin typeface="Cambria Math" panose="02040503050406030204" pitchFamily="18" charset="0"/>
                          </a:rPr>
                          <m:t>4</m:t>
                        </m:r>
                      </m:e>
                    </m:d>
                    <m:r>
                      <a:rPr lang="en-PH" sz="2000" b="0" i="1" dirty="0" smtClean="0">
                        <a:latin typeface="Cambria Math"/>
                      </a:rPr>
                      <m:t>=</m:t>
                    </m:r>
                    <m:r>
                      <a:rPr lang="en-US" sz="2000" b="0" i="0" dirty="0" smtClean="0">
                        <a:latin typeface="Cambria Math" panose="02040503050406030204" pitchFamily="18" charset="0"/>
                      </a:rPr>
                      <m:t>0</m:t>
                    </m:r>
                  </m:oMath>
                </a14:m>
                <a:endParaRPr lang="en-PH" sz="2000" dirty="0"/>
              </a:p>
              <a:p>
                <a:pPr marL="0" indent="0">
                  <a:buNone/>
                </a:pPr>
                <a:endParaRPr lang="en-PH" sz="2000" i="1" dirty="0">
                  <a:latin typeface="Lucida Sans Unicode"/>
                  <a:cs typeface="Lucida Sans Unicode"/>
                </a:endParaRPr>
              </a:p>
              <a:p>
                <a:pPr marL="0" indent="0">
                  <a:buNone/>
                </a:pPr>
                <a:r>
                  <a:rPr lang="en-PH" sz="1800" i="1" dirty="0">
                    <a:solidFill>
                      <a:srgbClr val="0070C0"/>
                    </a:solidFill>
                    <a:latin typeface="Lucida Sans Unicode"/>
                    <a:cs typeface="Lucida Sans Unicode"/>
                  </a:rPr>
                  <a:t>Since the determinant is zero , then the vectors are linearly dependent.</a:t>
                </a:r>
              </a:p>
              <a:p>
                <a:pPr marL="0" indent="0">
                  <a:buNone/>
                </a:pPr>
                <a:endParaRPr lang="en-PH" sz="1800" i="1" dirty="0">
                  <a:solidFill>
                    <a:srgbClr val="0070C0"/>
                  </a:solidFill>
                  <a:latin typeface="Lucida Sans Unicode"/>
                  <a:cs typeface="Lucida Sans Unicode"/>
                </a:endParaRPr>
              </a:p>
              <a:p>
                <a:pPr marL="0" indent="0">
                  <a:buNone/>
                </a:pPr>
                <a:endParaRPr lang="en-PH" sz="16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1371600"/>
                <a:ext cx="8458200" cy="5105400"/>
              </a:xfrm>
              <a:blipFill>
                <a:blip r:embed="rId2"/>
                <a:stretch>
                  <a:fillRect l="-720" t="-477"/>
                </a:stretch>
              </a:blipFill>
            </p:spPr>
            <p:txBody>
              <a:bodyPr/>
              <a:lstStyle/>
              <a:p>
                <a:r>
                  <a:rPr lang="en-US">
                    <a:noFill/>
                  </a:rPr>
                  <a:t> </a:t>
                </a:r>
              </a:p>
            </p:txBody>
          </p:sp>
        </mc:Fallback>
      </mc:AlternateContent>
      <p:cxnSp>
        <p:nvCxnSpPr>
          <p:cNvPr id="5" name="Straight Arrow Connector 4"/>
          <p:cNvCxnSpPr/>
          <p:nvPr/>
        </p:nvCxnSpPr>
        <p:spPr>
          <a:xfrm>
            <a:off x="838200" y="4495800"/>
            <a:ext cx="609600" cy="4572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1219200" y="4495800"/>
            <a:ext cx="609600" cy="4572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a:off x="1524000" y="4419600"/>
            <a:ext cx="762000" cy="609600"/>
          </a:xfrm>
          <a:prstGeom prst="straightConnector1">
            <a:avLst/>
          </a:prstGeom>
          <a:ln>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cxnSpLocks/>
          </p:cNvCxnSpPr>
          <p:nvPr/>
        </p:nvCxnSpPr>
        <p:spPr>
          <a:xfrm flipV="1">
            <a:off x="914400" y="4343400"/>
            <a:ext cx="609600" cy="571500"/>
          </a:xfrm>
          <a:prstGeom prst="straightConnector1">
            <a:avLst/>
          </a:prstGeom>
          <a:ln>
            <a:solidFill>
              <a:srgbClr val="005DA2"/>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p:cNvCxnSpPr>
          <p:nvPr/>
        </p:nvCxnSpPr>
        <p:spPr>
          <a:xfrm flipV="1">
            <a:off x="1219200" y="4381500"/>
            <a:ext cx="609600" cy="533400"/>
          </a:xfrm>
          <a:prstGeom prst="straightConnector1">
            <a:avLst/>
          </a:prstGeom>
          <a:ln>
            <a:solidFill>
              <a:srgbClr val="005DA2"/>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flipV="1">
            <a:off x="1524000" y="4419600"/>
            <a:ext cx="609600" cy="533400"/>
          </a:xfrm>
          <a:prstGeom prst="straightConnector1">
            <a:avLst/>
          </a:prstGeom>
          <a:ln>
            <a:solidFill>
              <a:srgbClr val="005DA2"/>
            </a:solidFill>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8414659-7F28-4393-AAA6-3E7E9C6617FC}"/>
              </a:ext>
            </a:extLst>
          </p:cNvPr>
          <p:cNvSpPr txBox="1"/>
          <p:nvPr/>
        </p:nvSpPr>
        <p:spPr>
          <a:xfrm>
            <a:off x="533400" y="5968425"/>
            <a:ext cx="7391400" cy="584775"/>
          </a:xfrm>
          <a:prstGeom prst="rect">
            <a:avLst/>
          </a:prstGeom>
          <a:noFill/>
        </p:spPr>
        <p:txBody>
          <a:bodyPr wrap="square" rtlCol="0">
            <a:spAutoFit/>
          </a:bodyPr>
          <a:lstStyle/>
          <a:p>
            <a:r>
              <a:rPr lang="en-US" sz="1600" dirty="0"/>
              <a:t>Note that we cannot compute the determinants for example #1 since it is not a square matrix. </a:t>
            </a:r>
          </a:p>
        </p:txBody>
      </p:sp>
    </p:spTree>
    <p:extLst>
      <p:ext uri="{BB962C8B-B14F-4D97-AF65-F5344CB8AC3E}">
        <p14:creationId xmlns:p14="http://schemas.microsoft.com/office/powerpoint/2010/main" val="25373666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References:</a:t>
            </a:r>
          </a:p>
        </p:txBody>
      </p:sp>
      <p:sp>
        <p:nvSpPr>
          <p:cNvPr id="3" name="Content Placeholder 2"/>
          <p:cNvSpPr>
            <a:spLocks noGrp="1"/>
          </p:cNvSpPr>
          <p:nvPr>
            <p:ph idx="1"/>
          </p:nvPr>
        </p:nvSpPr>
        <p:spPr>
          <a:xfrm>
            <a:off x="457200" y="1600200"/>
            <a:ext cx="8229600" cy="4953000"/>
          </a:xfrm>
        </p:spPr>
        <p:txBody>
          <a:bodyPr>
            <a:noAutofit/>
          </a:bodyPr>
          <a:lstStyle/>
          <a:p>
            <a:r>
              <a:rPr lang="en-PH" sz="1600" dirty="0" err="1"/>
              <a:t>Kolman</a:t>
            </a:r>
            <a:r>
              <a:rPr lang="en-PH" sz="1600" dirty="0"/>
              <a:t> B. and Hill D. (2002), Elementary Linear Algebra (7</a:t>
            </a:r>
            <a:r>
              <a:rPr lang="en-PH" sz="1600" baseline="30000" dirty="0"/>
              <a:t>th</a:t>
            </a:r>
            <a:r>
              <a:rPr lang="en-PH" sz="1600" dirty="0"/>
              <a:t> Ed. O  	Pearson). New Jersey: Pearson Education Inc.</a:t>
            </a:r>
          </a:p>
          <a:p>
            <a:r>
              <a:rPr lang="en-PH" sz="1600" dirty="0"/>
              <a:t>Scott, G. What is Vector Space? Retrieved from 	http://www.math.toronto.edu/gscott/WhatVS.pdf</a:t>
            </a:r>
          </a:p>
          <a:p>
            <a:r>
              <a:rPr lang="en-PH" sz="1600" dirty="0"/>
              <a:t>Vector Spaces. Retrieved from</a:t>
            </a:r>
          </a:p>
          <a:p>
            <a:pPr marL="0" indent="0">
              <a:buNone/>
            </a:pPr>
            <a:r>
              <a:rPr lang="en-PH" sz="1600" dirty="0"/>
              <a:t>	 http://linear.ups.edu/html/section-VS.html</a:t>
            </a:r>
          </a:p>
          <a:p>
            <a:pPr marL="0" indent="0">
              <a:buNone/>
            </a:pPr>
            <a:endParaRPr lang="en-PH" sz="1600" dirty="0"/>
          </a:p>
          <a:p>
            <a:pPr marL="0" indent="0">
              <a:buNone/>
            </a:pPr>
            <a:r>
              <a:rPr lang="en-PH" sz="1600" dirty="0"/>
              <a:t>Videos:</a:t>
            </a:r>
          </a:p>
          <a:p>
            <a:pPr marL="0" indent="0">
              <a:buNone/>
            </a:pPr>
            <a:r>
              <a:rPr lang="en-PH" sz="1600" dirty="0"/>
              <a:t>Intro to Vector Spaces</a:t>
            </a:r>
          </a:p>
          <a:p>
            <a:pPr marL="0" indent="0">
              <a:buNone/>
            </a:pPr>
            <a:r>
              <a:rPr lang="en-PH" sz="1600" dirty="0"/>
              <a:t>     </a:t>
            </a:r>
            <a:r>
              <a:rPr lang="en-US" sz="1200" dirty="0">
                <a:hlinkClick r:id="rId2"/>
              </a:rPr>
              <a:t>(90) Vectors in Space - YouTube</a:t>
            </a:r>
            <a:r>
              <a:rPr lang="en-PH" sz="1600" dirty="0"/>
              <a:t> </a:t>
            </a:r>
          </a:p>
          <a:p>
            <a:pPr marL="0" indent="0">
              <a:buNone/>
            </a:pPr>
            <a:r>
              <a:rPr lang="en-PH" sz="1600" dirty="0"/>
              <a:t>    https://www.youtube.com/watch?v=YnuB9hpq1sU</a:t>
            </a:r>
          </a:p>
          <a:p>
            <a:pPr marL="0" indent="0">
              <a:buNone/>
            </a:pPr>
            <a:r>
              <a:rPr lang="en-PH" sz="1600" dirty="0"/>
              <a:t>     https://www.youtube.com/watch?v=gcRbNKMpnXc </a:t>
            </a:r>
          </a:p>
          <a:p>
            <a:pPr marL="0" indent="0">
              <a:buNone/>
            </a:pPr>
            <a:r>
              <a:rPr lang="en-PH" sz="1600" dirty="0"/>
              <a:t>     https://www.youtube.com/watch?v=xo7NSDRt8HM</a:t>
            </a:r>
          </a:p>
          <a:p>
            <a:pPr marL="0" indent="0">
              <a:buNone/>
            </a:pPr>
            <a:r>
              <a:rPr lang="en-PH" sz="1600" dirty="0"/>
              <a:t>     </a:t>
            </a:r>
            <a:r>
              <a:rPr lang="en-PH" sz="1600" dirty="0">
                <a:hlinkClick r:id="rId3"/>
              </a:rPr>
              <a:t>https://www.youtube.com/watch?v=kNO9wQhLsEA</a:t>
            </a:r>
            <a:endParaRPr lang="en-PH" sz="1600" dirty="0"/>
          </a:p>
          <a:p>
            <a:pPr marL="0" indent="0">
              <a:buNone/>
            </a:pPr>
            <a:r>
              <a:rPr lang="en-PH" sz="1600" dirty="0"/>
              <a:t>Linear Independence</a:t>
            </a:r>
          </a:p>
          <a:p>
            <a:pPr marL="0" indent="0">
              <a:buNone/>
            </a:pPr>
            <a:r>
              <a:rPr lang="en-PH" sz="1600" dirty="0"/>
              <a:t>       https://www.youtube.com/watch?v=9kDpbZCK62Y</a:t>
            </a:r>
          </a:p>
          <a:p>
            <a:pPr marL="0" indent="0">
              <a:buNone/>
            </a:pPr>
            <a:r>
              <a:rPr lang="en-PH" sz="1600" dirty="0"/>
              <a:t>       </a:t>
            </a:r>
            <a:r>
              <a:rPr lang="en-PH" sz="1600" dirty="0">
                <a:hlinkClick r:id="rId4"/>
              </a:rPr>
              <a:t>https://www.youtube.com/watch?v=PDjkL3_N2bM</a:t>
            </a:r>
            <a:endParaRPr lang="en-PH" sz="1600" dirty="0"/>
          </a:p>
          <a:p>
            <a:pPr marL="0" indent="0">
              <a:buNone/>
            </a:pPr>
            <a:endParaRPr lang="en-PH" sz="1600" dirty="0"/>
          </a:p>
          <a:p>
            <a:endParaRPr lang="en-PH" sz="1600" dirty="0"/>
          </a:p>
        </p:txBody>
      </p:sp>
    </p:spTree>
    <p:extLst>
      <p:ext uri="{BB962C8B-B14F-4D97-AF65-F5344CB8AC3E}">
        <p14:creationId xmlns:p14="http://schemas.microsoft.com/office/powerpoint/2010/main" val="32813233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D6CC1A-C926-49C8-A002-9F224E3C26F2}"/>
              </a:ext>
            </a:extLst>
          </p:cNvPr>
          <p:cNvSpPr txBox="1"/>
          <p:nvPr/>
        </p:nvSpPr>
        <p:spPr>
          <a:xfrm>
            <a:off x="3505200" y="2743200"/>
            <a:ext cx="2514600" cy="461665"/>
          </a:xfrm>
          <a:prstGeom prst="rect">
            <a:avLst/>
          </a:prstGeom>
          <a:noFill/>
        </p:spPr>
        <p:txBody>
          <a:bodyPr wrap="square" rtlCol="0">
            <a:spAutoFit/>
          </a:bodyPr>
          <a:lstStyle/>
          <a:p>
            <a:r>
              <a:rPr lang="en-US" sz="2400" dirty="0">
                <a:solidFill>
                  <a:srgbClr val="0070C0"/>
                </a:solidFill>
              </a:rPr>
              <a:t>Thank you!</a:t>
            </a:r>
          </a:p>
        </p:txBody>
      </p:sp>
    </p:spTree>
    <p:extLst>
      <p:ext uri="{BB962C8B-B14F-4D97-AF65-F5344CB8AC3E}">
        <p14:creationId xmlns:p14="http://schemas.microsoft.com/office/powerpoint/2010/main" val="11849273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11438</TotalTime>
  <Words>6015</Words>
  <Application>Microsoft Office PowerPoint</Application>
  <PresentationFormat>On-screen Show (4:3)</PresentationFormat>
  <Paragraphs>725</Paragraphs>
  <Slides>78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Arial</vt:lpstr>
      <vt:lpstr>Calibri</vt:lpstr>
      <vt:lpstr>Cambria Math</vt:lpstr>
      <vt:lpstr>Lucida Sans Unicode</vt:lpstr>
      <vt:lpstr>Times New Roman</vt:lpstr>
      <vt:lpstr>Wingdings</vt:lpstr>
      <vt:lpstr>Clarity</vt:lpstr>
      <vt:lpstr>Real Vector Space</vt:lpstr>
      <vt:lpstr>Overview</vt:lpstr>
      <vt:lpstr>Topic Outline</vt:lpstr>
      <vt:lpstr>Learning Objectives</vt:lpstr>
      <vt:lpstr>Vector in plane</vt:lpstr>
      <vt:lpstr>Vectors in the Plane and in 3-Space</vt:lpstr>
      <vt:lpstr>Vectors in the Plane or R^2</vt:lpstr>
      <vt:lpstr>Vectors in the Plane</vt:lpstr>
      <vt:lpstr>Vectors in the Plane</vt:lpstr>
      <vt:lpstr>Vectors in the Plane</vt:lpstr>
      <vt:lpstr>Vectors in the Plane</vt:lpstr>
      <vt:lpstr>Vectors in the Plane</vt:lpstr>
      <vt:lpstr>Vectors in the Plane</vt:lpstr>
      <vt:lpstr>Vectors in the Plane</vt:lpstr>
      <vt:lpstr>Vectors in the Plane</vt:lpstr>
      <vt:lpstr>Vectors in the Plane</vt:lpstr>
      <vt:lpstr>Vectors in the Plane</vt:lpstr>
      <vt:lpstr>Vectors in the Plane</vt:lpstr>
      <vt:lpstr>Example 4</vt:lpstr>
      <vt:lpstr>Exercise 1:</vt:lpstr>
      <vt:lpstr>Vector in space</vt:lpstr>
      <vt:lpstr>Vectors in Space</vt:lpstr>
      <vt:lpstr>Vectors in Space</vt:lpstr>
      <vt:lpstr>Vectors in Space</vt:lpstr>
      <vt:lpstr>Vectors in Space</vt:lpstr>
      <vt:lpstr>Vectors in Space</vt:lpstr>
      <vt:lpstr>Vectors in Space</vt:lpstr>
      <vt:lpstr>Vectors in Space</vt:lpstr>
      <vt:lpstr>Vectors in Space</vt:lpstr>
      <vt:lpstr>Vectors in Space</vt:lpstr>
      <vt:lpstr>Vectors in Space</vt:lpstr>
      <vt:lpstr>Vectors in Space</vt:lpstr>
      <vt:lpstr>Vectors in Space</vt:lpstr>
      <vt:lpstr>Vectors in Space</vt:lpstr>
      <vt:lpstr>Vector space and subspaces</vt:lpstr>
      <vt:lpstr>Vector Space</vt:lpstr>
      <vt:lpstr>Vector Space Examples</vt:lpstr>
      <vt:lpstr>Vector Space Examples</vt:lpstr>
      <vt:lpstr>Vector Space Examples</vt:lpstr>
      <vt:lpstr>Vector Space Examples</vt:lpstr>
      <vt:lpstr>Vector Space Examples</vt:lpstr>
      <vt:lpstr>Vector Space Examples</vt:lpstr>
      <vt:lpstr>Vector Space Examples</vt:lpstr>
      <vt:lpstr>Subspaces</vt:lpstr>
      <vt:lpstr>Spanning sets</vt:lpstr>
      <vt:lpstr>Spanning Sets</vt:lpstr>
      <vt:lpstr>Spanning Sets</vt:lpstr>
      <vt:lpstr>Spanning Sets</vt:lpstr>
      <vt:lpstr>Spanning Sets</vt:lpstr>
      <vt:lpstr>Spanning Sets</vt:lpstr>
      <vt:lpstr>Spanning Sets</vt:lpstr>
      <vt:lpstr>Spanning Sets</vt:lpstr>
      <vt:lpstr>Spanning Sets</vt:lpstr>
      <vt:lpstr>Spanning Sets</vt:lpstr>
      <vt:lpstr>Spanning Sets</vt:lpstr>
      <vt:lpstr>Spanning Sets</vt:lpstr>
      <vt:lpstr>Spanning Sets</vt:lpstr>
      <vt:lpstr>Spanning Sets</vt:lpstr>
      <vt:lpstr>Linear Combination</vt:lpstr>
      <vt:lpstr>Linear Combination</vt:lpstr>
      <vt:lpstr>Linear Combination</vt:lpstr>
      <vt:lpstr>Linear Combination</vt:lpstr>
      <vt:lpstr>Linear Independence</vt:lpstr>
      <vt:lpstr>Linear Independence</vt:lpstr>
      <vt:lpstr>Linear Independence</vt:lpstr>
      <vt:lpstr>Linear Independence</vt:lpstr>
      <vt:lpstr>Linear Independence</vt:lpstr>
      <vt:lpstr>Linear Independence</vt:lpstr>
      <vt:lpstr>Linear Independence</vt:lpstr>
      <vt:lpstr>Linear Independence</vt:lpstr>
      <vt:lpstr>Linear Independence</vt:lpstr>
      <vt:lpstr>Try This!</vt:lpstr>
      <vt:lpstr>Try This!</vt:lpstr>
      <vt:lpstr>Try This!</vt:lpstr>
      <vt:lpstr>Try This!</vt:lpstr>
      <vt:lpstr>Linear Independence</vt:lpstr>
      <vt:lpstr>References:</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of linear equations</dc:title>
  <dc:creator>anna</dc:creator>
  <cp:lastModifiedBy>Registrar Head</cp:lastModifiedBy>
  <cp:revision>447</cp:revision>
  <dcterms:created xsi:type="dcterms:W3CDTF">2020-06-13T06:16:58Z</dcterms:created>
  <dcterms:modified xsi:type="dcterms:W3CDTF">2026-04-16T08:03:51Z</dcterms:modified>
</cp:coreProperties>
</file>